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6" d="100"/>
          <a:sy n="96" d="100"/>
        </p:scale>
        <p:origin x="60" y="2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43831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blocks, 90 minutes, two of them labs. Blocks 3 and 5 are hands-on. Do not let block 4 eat block 5.</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this live: run the template, show the blank output, then run one dev question through a finished bot so the room sees both ends.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they take one thing from block 1, this is it. Almost every Lv3 and Lv5 failure traces back to ignoring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this live. Ask about the Funding Scheme deadline and let the room watch it invent a date, then paste the real text in and ask again.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is the important addition. Most teams have never measured retrieval separately from answer accuracy, and it changes what they work on for the next fortnight.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Teams will want to change three things at once. Stop them. If a team finishes two cycles, push them at the k sweep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8F5"/>
        </a:solidFill>
        <a:effectLst/>
      </p:bgPr>
    </p:bg>
    <p:spTree>
      <p:nvGrpSpPr>
        <p:cNvPr id="1" name=""/>
        <p:cNvGrpSpPr/>
        <p:nvPr/>
      </p:nvGrpSpPr>
      <p:grpSpPr>
        <a:xfrm>
          <a:off x="0" y="0"/>
          <a:ext cx="0" cy="0"/>
          <a:chOff x="0" y="0"/>
          <a:chExt cx="0" cy="0"/>
        </a:xfrm>
      </p:grpSpPr>
      <p:sp>
        <p:nvSpPr>
          <p:cNvPr id="2" name="Shape 0"/>
          <p:cNvSpPr/>
          <p:nvPr/>
        </p:nvSpPr>
        <p:spPr>
          <a:xfrm>
            <a:off x="0" y="0"/>
            <a:ext cx="274320" cy="6858000"/>
          </a:xfrm>
          <a:prstGeom prst="rect">
            <a:avLst/>
          </a:prstGeom>
          <a:solidFill>
            <a:srgbClr val="C0402A"/>
          </a:solidFill>
          <a:ln/>
        </p:spPr>
        <p:txBody>
          <a:bodyPr/>
          <a:lstStyle/>
          <a:p>
            <a:endParaRPr lang="en-HK"/>
          </a:p>
        </p:txBody>
      </p:sp>
      <p:sp>
        <p:nvSpPr>
          <p:cNvPr id="3" name="Text 1"/>
          <p:cNvSpPr/>
          <p:nvPr/>
        </p:nvSpPr>
        <p:spPr>
          <a:xfrm>
            <a:off x="786384" y="1051560"/>
            <a:ext cx="10618927" cy="274320"/>
          </a:xfrm>
          <a:prstGeom prst="rect">
            <a:avLst/>
          </a:prstGeom>
          <a:noFill/>
          <a:ln/>
        </p:spPr>
        <p:txBody>
          <a:bodyPr wrap="square" lIns="0" tIns="0" rIns="0" bIns="0" rtlCol="0" anchor="ctr"/>
          <a:lstStyle/>
          <a:p>
            <a:pPr marL="0" indent="0">
              <a:buNone/>
            </a:pPr>
            <a:r>
              <a:rPr lang="en-US" sz="1200" b="1" kern="0" spc="260" dirty="0">
                <a:solidFill>
                  <a:srgbClr val="6E6A63"/>
                </a:solidFill>
                <a:latin typeface="Arial" pitchFamily="34" charset="0"/>
                <a:ea typeface="Arial" pitchFamily="34" charset="-122"/>
                <a:cs typeface="Arial" pitchFamily="34" charset="-120"/>
              </a:rPr>
              <a:t>WORKSHOP 1  ·  16 SEPTEMBER  ·  90 MINUTES</a:t>
            </a:r>
            <a:endParaRPr lang="en-US" sz="1200" dirty="0"/>
          </a:p>
        </p:txBody>
      </p:sp>
      <p:sp>
        <p:nvSpPr>
          <p:cNvPr id="4" name="Shape 2"/>
          <p:cNvSpPr/>
          <p:nvPr/>
        </p:nvSpPr>
        <p:spPr>
          <a:xfrm>
            <a:off x="786384" y="1444752"/>
            <a:ext cx="10618927" cy="10973"/>
          </a:xfrm>
          <a:prstGeom prst="rect">
            <a:avLst/>
          </a:prstGeom>
          <a:solidFill>
            <a:srgbClr val="D5D1CA"/>
          </a:solidFill>
          <a:ln/>
        </p:spPr>
        <p:txBody>
          <a:bodyPr/>
          <a:lstStyle/>
          <a:p>
            <a:endParaRPr lang="en-HK"/>
          </a:p>
        </p:txBody>
      </p:sp>
      <p:sp>
        <p:nvSpPr>
          <p:cNvPr id="5" name="Text 3"/>
          <p:cNvSpPr/>
          <p:nvPr/>
        </p:nvSpPr>
        <p:spPr>
          <a:xfrm>
            <a:off x="786384" y="1719072"/>
            <a:ext cx="7923047" cy="1737360"/>
          </a:xfrm>
          <a:prstGeom prst="rect">
            <a:avLst/>
          </a:prstGeom>
          <a:noFill/>
          <a:ln/>
        </p:spPr>
        <p:txBody>
          <a:bodyPr wrap="square" lIns="0" tIns="0" rIns="0" bIns="0" rtlCol="0" anchor="ctr"/>
          <a:lstStyle/>
          <a:p>
            <a:pPr marL="0" indent="0">
              <a:lnSpc>
                <a:spcPts val="5000"/>
              </a:lnSpc>
              <a:buNone/>
            </a:pPr>
            <a:r>
              <a:rPr lang="en-US" sz="4800" b="1" dirty="0">
                <a:solidFill>
                  <a:srgbClr val="141414"/>
                </a:solidFill>
                <a:latin typeface="Arial" pitchFamily="34" charset="0"/>
                <a:ea typeface="Arial" pitchFamily="34" charset="-122"/>
                <a:cs typeface="Arial" pitchFamily="34" charset="-120"/>
              </a:rPr>
              <a:t>The RAG Pipeline</a:t>
            </a:r>
            <a:endParaRPr lang="en-US" sz="4800" dirty="0"/>
          </a:p>
        </p:txBody>
      </p:sp>
      <p:sp>
        <p:nvSpPr>
          <p:cNvPr id="6" name="Text 4"/>
          <p:cNvSpPr/>
          <p:nvPr/>
        </p:nvSpPr>
        <p:spPr>
          <a:xfrm>
            <a:off x="786384" y="3703320"/>
            <a:ext cx="6125794" cy="914400"/>
          </a:xfrm>
          <a:prstGeom prst="rect">
            <a:avLst/>
          </a:prstGeom>
          <a:noFill/>
          <a:ln/>
        </p:spPr>
        <p:txBody>
          <a:bodyPr wrap="square" lIns="0" tIns="0" rIns="0" bIns="0" rtlCol="0" anchor="ctr"/>
          <a:lstStyle/>
          <a:p>
            <a:pPr marL="0" indent="0">
              <a:lnSpc>
                <a:spcPts val="2500"/>
              </a:lnSpc>
              <a:buNone/>
            </a:pPr>
            <a:r>
              <a:rPr lang="en-US" sz="1950" dirty="0">
                <a:solidFill>
                  <a:srgbClr val="6E6A63"/>
                </a:solidFill>
                <a:latin typeface="Arial" pitchFamily="34" charset="0"/>
                <a:ea typeface="Arial" pitchFamily="34" charset="-122"/>
                <a:cs typeface="Arial" pitchFamily="34" charset="-120"/>
              </a:rPr>
              <a:t>Levels 1 and 2. Retrieval, indexing, and measuring what you built.</a:t>
            </a:r>
            <a:endParaRPr lang="en-US" sz="1950" dirty="0"/>
          </a:p>
        </p:txBody>
      </p:sp>
      <p:sp>
        <p:nvSpPr>
          <p:cNvPr id="7" name="Shape 5"/>
          <p:cNvSpPr/>
          <p:nvPr/>
        </p:nvSpPr>
        <p:spPr>
          <a:xfrm>
            <a:off x="786384" y="5760720"/>
            <a:ext cx="10618927" cy="10973"/>
          </a:xfrm>
          <a:prstGeom prst="rect">
            <a:avLst/>
          </a:prstGeom>
          <a:solidFill>
            <a:srgbClr val="D5D1CA"/>
          </a:solidFill>
          <a:ln/>
        </p:spPr>
        <p:txBody>
          <a:bodyPr/>
          <a:lstStyle/>
          <a:p>
            <a:endParaRPr lang="en-HK"/>
          </a:p>
        </p:txBody>
      </p:sp>
      <p:sp>
        <p:nvSpPr>
          <p:cNvPr id="8" name="Text 6"/>
          <p:cNvSpPr/>
          <p:nvPr/>
        </p:nvSpPr>
        <p:spPr>
          <a:xfrm>
            <a:off x="786384" y="5907024"/>
            <a:ext cx="10618927" cy="274320"/>
          </a:xfrm>
          <a:prstGeom prst="rect">
            <a:avLst/>
          </a:prstGeom>
          <a:noFill/>
          <a:ln/>
        </p:spPr>
        <p:txBody>
          <a:bodyPr wrap="square" lIns="0" tIns="0" rIns="0" bIns="0" rtlCol="0" anchor="ctr"/>
          <a:lstStyle/>
          <a:p>
            <a:pPr marL="0" indent="0">
              <a:buNone/>
            </a:pPr>
            <a:r>
              <a:rPr lang="en-US" sz="1450" dirty="0">
                <a:solidFill>
                  <a:srgbClr val="9C978E"/>
                </a:solidFill>
                <a:latin typeface="Arial" pitchFamily="34" charset="0"/>
                <a:ea typeface="Arial" pitchFamily="34" charset="-122"/>
                <a:cs typeface="Arial" pitchFamily="34" charset="-120"/>
              </a:rPr>
              <a:t>Chatbot Challenge 2026  ·  Open lab for 30 minutes afterwards</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1212"/>
        </a:solidFill>
        <a:effectLst/>
      </p:bgPr>
    </p:bg>
    <p:spTree>
      <p:nvGrpSpPr>
        <p:cNvPr id="1" name=""/>
        <p:cNvGrpSpPr/>
        <p:nvPr/>
      </p:nvGrpSpPr>
      <p:grpSpPr>
        <a:xfrm>
          <a:off x="0" y="0"/>
          <a:ext cx="0" cy="0"/>
          <a:chOff x="0" y="0"/>
          <a:chExt cx="0" cy="0"/>
        </a:xfrm>
      </p:grpSpPr>
      <p:sp>
        <p:nvSpPr>
          <p:cNvPr id="2" name="Text 0"/>
          <p:cNvSpPr/>
          <p:nvPr/>
        </p:nvSpPr>
        <p:spPr>
          <a:xfrm>
            <a:off x="8899855" y="960120"/>
            <a:ext cx="3017520" cy="3200400"/>
          </a:xfrm>
          <a:prstGeom prst="rect">
            <a:avLst/>
          </a:prstGeom>
          <a:noFill/>
          <a:ln/>
        </p:spPr>
        <p:txBody>
          <a:bodyPr wrap="square" lIns="0" tIns="0" rIns="0" bIns="0" rtlCol="0" anchor="ctr"/>
          <a:lstStyle/>
          <a:p>
            <a:pPr marL="0" indent="0" algn="r">
              <a:buNone/>
            </a:pPr>
            <a:r>
              <a:rPr lang="en-US" sz="9600" b="1" dirty="0">
                <a:solidFill>
                  <a:srgbClr val="3D3934"/>
                </a:solidFill>
                <a:latin typeface="Arial" pitchFamily="34" charset="0"/>
                <a:ea typeface="Arial" pitchFamily="34" charset="-122"/>
                <a:cs typeface="Arial" pitchFamily="34" charset="-120"/>
              </a:rPr>
              <a:t>1</a:t>
            </a:r>
            <a:endParaRPr lang="en-US" sz="9600" dirty="0"/>
          </a:p>
        </p:txBody>
      </p:sp>
      <p:sp>
        <p:nvSpPr>
          <p:cNvPr id="3" name="Text 1"/>
          <p:cNvSpPr/>
          <p:nvPr/>
        </p:nvSpPr>
        <p:spPr>
          <a:xfrm>
            <a:off x="786384" y="1975104"/>
            <a:ext cx="10618927" cy="274320"/>
          </a:xfrm>
          <a:prstGeom prst="rect">
            <a:avLst/>
          </a:prstGeom>
          <a:noFill/>
          <a:ln/>
        </p:spPr>
        <p:txBody>
          <a:bodyPr wrap="square" lIns="0" tIns="0" rIns="0" bIns="0" rtlCol="0" anchor="ctr"/>
          <a:lstStyle/>
          <a:p>
            <a:pPr marL="0" indent="0">
              <a:buNone/>
            </a:pPr>
            <a:r>
              <a:rPr lang="en-US" sz="1200" b="1" kern="0" spc="260" dirty="0">
                <a:solidFill>
                  <a:srgbClr val="C0402A"/>
                </a:solidFill>
                <a:latin typeface="Arial" pitchFamily="34" charset="0"/>
                <a:ea typeface="Arial" pitchFamily="34" charset="-122"/>
                <a:cs typeface="Arial" pitchFamily="34" charset="-120"/>
              </a:rPr>
              <a:t>BLOCK 1</a:t>
            </a:r>
            <a:endParaRPr lang="en-US" sz="1200" dirty="0"/>
          </a:p>
        </p:txBody>
      </p:sp>
      <p:sp>
        <p:nvSpPr>
          <p:cNvPr id="4" name="Shape 2"/>
          <p:cNvSpPr/>
          <p:nvPr/>
        </p:nvSpPr>
        <p:spPr>
          <a:xfrm>
            <a:off x="786384" y="2377440"/>
            <a:ext cx="1371600" cy="20117"/>
          </a:xfrm>
          <a:prstGeom prst="rect">
            <a:avLst/>
          </a:prstGeom>
          <a:solidFill>
            <a:srgbClr val="C0402A"/>
          </a:solidFill>
          <a:ln/>
        </p:spPr>
        <p:txBody>
          <a:bodyPr/>
          <a:lstStyle/>
          <a:p>
            <a:endParaRPr lang="en-HK"/>
          </a:p>
        </p:txBody>
      </p:sp>
      <p:sp>
        <p:nvSpPr>
          <p:cNvPr id="5" name="Text 3"/>
          <p:cNvSpPr/>
          <p:nvPr/>
        </p:nvSpPr>
        <p:spPr>
          <a:xfrm>
            <a:off x="786384" y="2596896"/>
            <a:ext cx="7024421" cy="1188720"/>
          </a:xfrm>
          <a:prstGeom prst="rect">
            <a:avLst/>
          </a:prstGeom>
          <a:noFill/>
          <a:ln/>
        </p:spPr>
        <p:txBody>
          <a:bodyPr wrap="square" lIns="0" tIns="0" rIns="0" bIns="0" rtlCol="0" anchor="ctr"/>
          <a:lstStyle/>
          <a:p>
            <a:pPr marL="0" indent="0">
              <a:lnSpc>
                <a:spcPts val="4000"/>
              </a:lnSpc>
              <a:buNone/>
            </a:pPr>
            <a:r>
              <a:rPr lang="en-US" sz="3600" b="1" dirty="0">
                <a:solidFill>
                  <a:srgbClr val="FAF8F5"/>
                </a:solidFill>
                <a:latin typeface="Arial" pitchFamily="34" charset="0"/>
                <a:ea typeface="Arial" pitchFamily="34" charset="-122"/>
                <a:cs typeface="Arial" pitchFamily="34" charset="-120"/>
              </a:rPr>
              <a:t>Introduction &amp; Baseline</a:t>
            </a:r>
            <a:endParaRPr lang="en-US" sz="3600" dirty="0"/>
          </a:p>
        </p:txBody>
      </p:sp>
      <p:sp>
        <p:nvSpPr>
          <p:cNvPr id="6" name="Text 4"/>
          <p:cNvSpPr/>
          <p:nvPr/>
        </p:nvSpPr>
        <p:spPr>
          <a:xfrm>
            <a:off x="786384" y="3895344"/>
            <a:ext cx="6125794" cy="822960"/>
          </a:xfrm>
          <a:prstGeom prst="rect">
            <a:avLst/>
          </a:prstGeom>
          <a:noFill/>
          <a:ln/>
        </p:spPr>
        <p:txBody>
          <a:bodyPr wrap="square" lIns="0" tIns="0" rIns="0" bIns="0" rtlCol="0" anchor="ctr"/>
          <a:lstStyle/>
          <a:p>
            <a:pPr marL="0" indent="0">
              <a:lnSpc>
                <a:spcPts val="2300"/>
              </a:lnSpc>
              <a:buNone/>
            </a:pPr>
            <a:r>
              <a:rPr lang="en-US" sz="1750" dirty="0">
                <a:solidFill>
                  <a:srgbClr val="A8A39B"/>
                </a:solidFill>
                <a:latin typeface="Arial" pitchFamily="34" charset="0"/>
                <a:ea typeface="Arial" pitchFamily="34" charset="-122"/>
                <a:cs typeface="Arial" pitchFamily="34" charset="-120"/>
              </a:rPr>
              <a:t>Two constraints on the design, and your first score.</a:t>
            </a:r>
            <a:endParaRPr lang="en-US" sz="1750" dirty="0"/>
          </a:p>
        </p:txBody>
      </p:sp>
      <p:sp>
        <p:nvSpPr>
          <p:cNvPr id="7" name="Text 5"/>
          <p:cNvSpPr/>
          <p:nvPr/>
        </p:nvSpPr>
        <p:spPr>
          <a:xfrm>
            <a:off x="9210751" y="5358384"/>
            <a:ext cx="2194560" cy="310896"/>
          </a:xfrm>
          <a:prstGeom prst="rect">
            <a:avLst/>
          </a:prstGeom>
          <a:noFill/>
          <a:ln/>
        </p:spPr>
        <p:txBody>
          <a:bodyPr wrap="square" lIns="0" tIns="0" rIns="0" bIns="0" rtlCol="0" anchor="ctr"/>
          <a:lstStyle/>
          <a:p>
            <a:pPr marL="0" indent="0" algn="r">
              <a:buNone/>
            </a:pPr>
            <a:r>
              <a:rPr lang="en-US" sz="1450" b="1" kern="0" spc="180" dirty="0">
                <a:solidFill>
                  <a:srgbClr val="C0402A"/>
                </a:solidFill>
                <a:latin typeface="Arial" pitchFamily="34" charset="0"/>
                <a:ea typeface="Arial" pitchFamily="34" charset="-122"/>
                <a:cs typeface="Arial" pitchFamily="34" charset="-120"/>
              </a:rPr>
              <a:t>10 MIN</a:t>
            </a:r>
            <a:endParaRPr lang="en-US" sz="1450" dirty="0"/>
          </a:p>
        </p:txBody>
      </p:sp>
      <p:sp>
        <p:nvSpPr>
          <p:cNvPr id="8" name="Shape 6"/>
          <p:cNvSpPr/>
          <p:nvPr/>
        </p:nvSpPr>
        <p:spPr>
          <a:xfrm>
            <a:off x="786384" y="5358384"/>
            <a:ext cx="585216" cy="292608"/>
          </a:xfrm>
          <a:prstGeom prst="rect">
            <a:avLst/>
          </a:prstGeom>
          <a:solidFill>
            <a:srgbClr val="121212"/>
          </a:solidFill>
          <a:ln w="9525">
            <a:solidFill>
              <a:srgbClr val="45423E"/>
            </a:solidFill>
            <a:prstDash val="solid"/>
          </a:ln>
        </p:spPr>
        <p:txBody>
          <a:bodyPr/>
          <a:lstStyle/>
          <a:p>
            <a:endParaRPr lang="en-HK"/>
          </a:p>
        </p:txBody>
      </p:sp>
      <p:sp>
        <p:nvSpPr>
          <p:cNvPr id="9" name="Text 7"/>
          <p:cNvSpPr/>
          <p:nvPr/>
        </p:nvSpPr>
        <p:spPr>
          <a:xfrm>
            <a:off x="786384" y="5358384"/>
            <a:ext cx="585216" cy="292608"/>
          </a:xfrm>
          <a:prstGeom prst="rect">
            <a:avLst/>
          </a:prstGeom>
          <a:noFill/>
          <a:ln/>
        </p:spPr>
        <p:txBody>
          <a:bodyPr wrap="square" lIns="0" tIns="0" rIns="0" bIns="0" rtlCol="0" anchor="ctr"/>
          <a:lstStyle/>
          <a:p>
            <a:pPr marL="0" indent="0" algn="ctr">
              <a:buNone/>
            </a:pPr>
            <a:r>
              <a:rPr lang="en-US" sz="1100" b="1" kern="0" spc="60" dirty="0">
                <a:solidFill>
                  <a:srgbClr val="B5B0A8"/>
                </a:solidFill>
                <a:latin typeface="Arial" pitchFamily="34" charset="0"/>
                <a:ea typeface="Arial" pitchFamily="34" charset="-122"/>
                <a:cs typeface="Arial" pitchFamily="34" charset="-120"/>
              </a:rPr>
              <a:t>LV1</a:t>
            </a:r>
            <a:endParaRPr lang="en-US" sz="1100" dirty="0"/>
          </a:p>
        </p:txBody>
      </p:sp>
      <p:sp>
        <p:nvSpPr>
          <p:cNvPr id="10" name="Shape 8"/>
          <p:cNvSpPr/>
          <p:nvPr/>
        </p:nvSpPr>
        <p:spPr>
          <a:xfrm>
            <a:off x="1463040" y="5358384"/>
            <a:ext cx="585216" cy="292608"/>
          </a:xfrm>
          <a:prstGeom prst="rect">
            <a:avLst/>
          </a:prstGeom>
          <a:solidFill>
            <a:srgbClr val="121212"/>
          </a:solidFill>
          <a:ln w="9525">
            <a:solidFill>
              <a:srgbClr val="45423E"/>
            </a:solidFill>
            <a:prstDash val="solid"/>
          </a:ln>
        </p:spPr>
        <p:txBody>
          <a:bodyPr/>
          <a:lstStyle/>
          <a:p>
            <a:endParaRPr lang="en-HK"/>
          </a:p>
        </p:txBody>
      </p:sp>
      <p:sp>
        <p:nvSpPr>
          <p:cNvPr id="11" name="Text 9"/>
          <p:cNvSpPr/>
          <p:nvPr/>
        </p:nvSpPr>
        <p:spPr>
          <a:xfrm>
            <a:off x="1463040" y="5358384"/>
            <a:ext cx="585216" cy="292608"/>
          </a:xfrm>
          <a:prstGeom prst="rect">
            <a:avLst/>
          </a:prstGeom>
          <a:noFill/>
          <a:ln/>
        </p:spPr>
        <p:txBody>
          <a:bodyPr wrap="square" lIns="0" tIns="0" rIns="0" bIns="0" rtlCol="0" anchor="ctr"/>
          <a:lstStyle/>
          <a:p>
            <a:pPr marL="0" indent="0" algn="ctr">
              <a:buNone/>
            </a:pPr>
            <a:r>
              <a:rPr lang="en-US" sz="1100" b="1" kern="0" spc="60" dirty="0">
                <a:solidFill>
                  <a:srgbClr val="B5B0A8"/>
                </a:solidFill>
                <a:latin typeface="Arial" pitchFamily="34" charset="0"/>
                <a:ea typeface="Arial" pitchFamily="34" charset="-122"/>
                <a:cs typeface="Arial" pitchFamily="34" charset="-120"/>
              </a:rPr>
              <a:t>LV2</a:t>
            </a:r>
            <a:endParaRPr lang="en-US" sz="1100" dirty="0"/>
          </a:p>
        </p:txBody>
      </p:sp>
      <p:sp>
        <p:nvSpPr>
          <p:cNvPr id="12" name="Shape 10"/>
          <p:cNvSpPr/>
          <p:nvPr/>
        </p:nvSpPr>
        <p:spPr>
          <a:xfrm>
            <a:off x="2139696" y="5358384"/>
            <a:ext cx="585216" cy="292608"/>
          </a:xfrm>
          <a:prstGeom prst="rect">
            <a:avLst/>
          </a:prstGeom>
          <a:solidFill>
            <a:srgbClr val="121212"/>
          </a:solidFill>
          <a:ln w="9525">
            <a:solidFill>
              <a:srgbClr val="45423E"/>
            </a:solidFill>
            <a:prstDash val="solid"/>
          </a:ln>
        </p:spPr>
        <p:txBody>
          <a:bodyPr/>
          <a:lstStyle/>
          <a:p>
            <a:endParaRPr lang="en-HK"/>
          </a:p>
        </p:txBody>
      </p:sp>
      <p:sp>
        <p:nvSpPr>
          <p:cNvPr id="13" name="Text 11"/>
          <p:cNvSpPr/>
          <p:nvPr/>
        </p:nvSpPr>
        <p:spPr>
          <a:xfrm>
            <a:off x="2139696" y="5358384"/>
            <a:ext cx="585216" cy="292608"/>
          </a:xfrm>
          <a:prstGeom prst="rect">
            <a:avLst/>
          </a:prstGeom>
          <a:noFill/>
          <a:ln/>
        </p:spPr>
        <p:txBody>
          <a:bodyPr wrap="square" lIns="0" tIns="0" rIns="0" bIns="0" rtlCol="0" anchor="ctr"/>
          <a:lstStyle/>
          <a:p>
            <a:pPr marL="0" indent="0" algn="ctr">
              <a:buNone/>
            </a:pPr>
            <a:r>
              <a:rPr lang="en-US" sz="1100" b="1" kern="0" spc="60" dirty="0">
                <a:solidFill>
                  <a:srgbClr val="B5B0A8"/>
                </a:solidFill>
                <a:latin typeface="Arial" pitchFamily="34" charset="0"/>
                <a:ea typeface="Arial" pitchFamily="34" charset="-122"/>
                <a:cs typeface="Arial" pitchFamily="34" charset="-120"/>
              </a:rPr>
              <a:t>LV3</a:t>
            </a:r>
            <a:endParaRPr lang="en-US" sz="1100" dirty="0"/>
          </a:p>
        </p:txBody>
      </p:sp>
      <p:sp>
        <p:nvSpPr>
          <p:cNvPr id="14" name="Shape 12"/>
          <p:cNvSpPr/>
          <p:nvPr/>
        </p:nvSpPr>
        <p:spPr>
          <a:xfrm>
            <a:off x="2816352" y="5358384"/>
            <a:ext cx="585216" cy="292608"/>
          </a:xfrm>
          <a:prstGeom prst="rect">
            <a:avLst/>
          </a:prstGeom>
          <a:solidFill>
            <a:srgbClr val="121212"/>
          </a:solidFill>
          <a:ln w="9525">
            <a:solidFill>
              <a:srgbClr val="45423E"/>
            </a:solidFill>
            <a:prstDash val="solid"/>
          </a:ln>
        </p:spPr>
        <p:txBody>
          <a:bodyPr/>
          <a:lstStyle/>
          <a:p>
            <a:endParaRPr lang="en-HK"/>
          </a:p>
        </p:txBody>
      </p:sp>
      <p:sp>
        <p:nvSpPr>
          <p:cNvPr id="15" name="Text 13"/>
          <p:cNvSpPr/>
          <p:nvPr/>
        </p:nvSpPr>
        <p:spPr>
          <a:xfrm>
            <a:off x="2816352" y="5358384"/>
            <a:ext cx="585216" cy="292608"/>
          </a:xfrm>
          <a:prstGeom prst="rect">
            <a:avLst/>
          </a:prstGeom>
          <a:noFill/>
          <a:ln/>
        </p:spPr>
        <p:txBody>
          <a:bodyPr wrap="square" lIns="0" tIns="0" rIns="0" bIns="0" rtlCol="0" anchor="ctr"/>
          <a:lstStyle/>
          <a:p>
            <a:pPr marL="0" indent="0" algn="ctr">
              <a:buNone/>
            </a:pPr>
            <a:r>
              <a:rPr lang="en-US" sz="1100" b="1" kern="0" spc="60" dirty="0">
                <a:solidFill>
                  <a:srgbClr val="B5B0A8"/>
                </a:solidFill>
                <a:latin typeface="Arial" pitchFamily="34" charset="0"/>
                <a:ea typeface="Arial" pitchFamily="34" charset="-122"/>
                <a:cs typeface="Arial" pitchFamily="34" charset="-120"/>
              </a:rPr>
              <a:t>LV4</a:t>
            </a:r>
            <a:endParaRPr lang="en-US" sz="1100" dirty="0"/>
          </a:p>
        </p:txBody>
      </p:sp>
      <p:sp>
        <p:nvSpPr>
          <p:cNvPr id="16" name="Shape 14"/>
          <p:cNvSpPr/>
          <p:nvPr/>
        </p:nvSpPr>
        <p:spPr>
          <a:xfrm>
            <a:off x="3493008" y="5358384"/>
            <a:ext cx="585216" cy="292608"/>
          </a:xfrm>
          <a:prstGeom prst="rect">
            <a:avLst/>
          </a:prstGeom>
          <a:solidFill>
            <a:srgbClr val="121212"/>
          </a:solidFill>
          <a:ln w="9525">
            <a:solidFill>
              <a:srgbClr val="45423E"/>
            </a:solidFill>
            <a:prstDash val="solid"/>
          </a:ln>
        </p:spPr>
        <p:txBody>
          <a:bodyPr/>
          <a:lstStyle/>
          <a:p>
            <a:endParaRPr lang="en-HK"/>
          </a:p>
        </p:txBody>
      </p:sp>
      <p:sp>
        <p:nvSpPr>
          <p:cNvPr id="17" name="Text 15"/>
          <p:cNvSpPr/>
          <p:nvPr/>
        </p:nvSpPr>
        <p:spPr>
          <a:xfrm>
            <a:off x="3493008" y="5358384"/>
            <a:ext cx="585216" cy="292608"/>
          </a:xfrm>
          <a:prstGeom prst="rect">
            <a:avLst/>
          </a:prstGeom>
          <a:noFill/>
          <a:ln/>
        </p:spPr>
        <p:txBody>
          <a:bodyPr wrap="square" lIns="0" tIns="0" rIns="0" bIns="0" rtlCol="0" anchor="ctr"/>
          <a:lstStyle/>
          <a:p>
            <a:pPr marL="0" indent="0" algn="ctr">
              <a:buNone/>
            </a:pPr>
            <a:r>
              <a:rPr lang="en-US" sz="1100" b="1" kern="0" spc="60" dirty="0">
                <a:solidFill>
                  <a:srgbClr val="B5B0A8"/>
                </a:solidFill>
                <a:latin typeface="Arial" pitchFamily="34" charset="0"/>
                <a:ea typeface="Arial" pitchFamily="34" charset="-122"/>
                <a:cs typeface="Arial" pitchFamily="34" charset="-120"/>
              </a:rPr>
              <a:t>LV5</a:t>
            </a:r>
            <a:endParaRPr lang="en-US" sz="1100" dirty="0"/>
          </a:p>
        </p:txBody>
      </p:sp>
      <p:sp>
        <p:nvSpPr>
          <p:cNvPr id="18" name="Text 16"/>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56534E"/>
                </a:solidFill>
                <a:latin typeface="Arial" pitchFamily="34" charset="0"/>
                <a:ea typeface="Arial" pitchFamily="34" charset="-122"/>
                <a:cs typeface="Arial"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75488"/>
            <a:ext cx="9720301"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The Starting Template</a:t>
            </a:r>
            <a:endParaRPr lang="en-US" sz="2900" dirty="0"/>
          </a:p>
        </p:txBody>
      </p:sp>
      <p:sp>
        <p:nvSpPr>
          <p:cNvPr id="3" name="Shape 1"/>
          <p:cNvSpPr/>
          <p:nvPr/>
        </p:nvSpPr>
        <p:spPr>
          <a:xfrm>
            <a:off x="786384" y="1207008"/>
            <a:ext cx="10618927" cy="10973"/>
          </a:xfrm>
          <a:prstGeom prst="rect">
            <a:avLst/>
          </a:prstGeom>
          <a:solidFill>
            <a:srgbClr val="D5D1CA"/>
          </a:solidFill>
          <a:ln/>
        </p:spPr>
        <p:txBody>
          <a:bodyPr/>
          <a:lstStyle/>
          <a:p>
            <a:endParaRPr lang="en-HK"/>
          </a:p>
        </p:txBody>
      </p:sp>
      <p:sp>
        <p:nvSpPr>
          <p:cNvPr id="4" name="Text 2"/>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03</a:t>
            </a:r>
            <a:endParaRPr lang="en-US" sz="1200" dirty="0"/>
          </a:p>
        </p:txBody>
      </p:sp>
      <p:sp>
        <p:nvSpPr>
          <p:cNvPr id="6" name="Shape 3"/>
          <p:cNvSpPr/>
          <p:nvPr/>
        </p:nvSpPr>
        <p:spPr>
          <a:xfrm>
            <a:off x="786384" y="1632387"/>
            <a:ext cx="6125794" cy="1587216"/>
          </a:xfrm>
          <a:prstGeom prst="rect">
            <a:avLst/>
          </a:prstGeom>
          <a:solidFill>
            <a:srgbClr val="F2EFEA"/>
          </a:solidFill>
          <a:ln/>
        </p:spPr>
        <p:txBody>
          <a:bodyPr/>
          <a:lstStyle/>
          <a:p>
            <a:endParaRPr lang="en-HK"/>
          </a:p>
        </p:txBody>
      </p:sp>
      <p:sp>
        <p:nvSpPr>
          <p:cNvPr id="7" name="Shape 4"/>
          <p:cNvSpPr/>
          <p:nvPr/>
        </p:nvSpPr>
        <p:spPr>
          <a:xfrm>
            <a:off x="786384" y="1632387"/>
            <a:ext cx="27432" cy="1587216"/>
          </a:xfrm>
          <a:prstGeom prst="rect">
            <a:avLst/>
          </a:prstGeom>
          <a:solidFill>
            <a:srgbClr val="C0402A"/>
          </a:solidFill>
          <a:ln/>
        </p:spPr>
        <p:txBody>
          <a:bodyPr/>
          <a:lstStyle/>
          <a:p>
            <a:endParaRPr lang="en-HK"/>
          </a:p>
        </p:txBody>
      </p:sp>
      <p:sp>
        <p:nvSpPr>
          <p:cNvPr id="8" name="Text 5"/>
          <p:cNvSpPr/>
          <p:nvPr/>
        </p:nvSpPr>
        <p:spPr>
          <a:xfrm>
            <a:off x="1042416" y="1825508"/>
            <a:ext cx="5686882" cy="1200973"/>
          </a:xfrm>
          <a:prstGeom prst="rect">
            <a:avLst/>
          </a:prstGeom>
          <a:noFill/>
          <a:ln/>
        </p:spPr>
        <p:txBody>
          <a:bodyPr wrap="square" lIns="0" tIns="0" rIns="0" bIns="0" rtlCol="0" anchor="t"/>
          <a:lstStyle/>
          <a:p>
            <a:pPr marL="0" indent="0">
              <a:lnSpc>
                <a:spcPts val="1900"/>
              </a:lnSpc>
              <a:buNone/>
            </a:pPr>
            <a:r>
              <a:rPr lang="en-US" sz="1300" dirty="0">
                <a:solidFill>
                  <a:srgbClr val="2A2724"/>
                </a:solidFill>
                <a:latin typeface="Courier New" pitchFamily="34" charset="0"/>
                <a:ea typeface="Courier New" pitchFamily="34" charset="-122"/>
                <a:cs typeface="Courier New" pitchFamily="34" charset="-120"/>
              </a:rPr>
              <a:t>$ python main.py "What faculty does the Innovation Wing belong to?"</a:t>
            </a:r>
            <a:endParaRPr lang="en-US" sz="1300" dirty="0"/>
          </a:p>
          <a:p>
            <a:pPr marL="0" indent="0">
              <a:lnSpc>
                <a:spcPts val="1900"/>
              </a:lnSpc>
              <a:buNone/>
            </a:pPr>
            <a:endParaRPr lang="en-US" sz="1300" dirty="0"/>
          </a:p>
          <a:p>
            <a:pPr marL="0" indent="0">
              <a:lnSpc>
                <a:spcPts val="1900"/>
              </a:lnSpc>
              <a:buNone/>
            </a:pPr>
            <a:r>
              <a:rPr lang="en-US" sz="1300" dirty="0">
                <a:solidFill>
                  <a:srgbClr val="2A2724"/>
                </a:solidFill>
                <a:latin typeface="Courier New" pitchFamily="34" charset="0"/>
                <a:ea typeface="Courier New" pitchFamily="34" charset="-122"/>
                <a:cs typeface="Courier New" pitchFamily="34" charset="-120"/>
              </a:rPr>
              <a:t>(blank line)</a:t>
            </a:r>
            <a:endParaRPr lang="en-US" sz="1300" dirty="0"/>
          </a:p>
        </p:txBody>
      </p:sp>
      <p:sp>
        <p:nvSpPr>
          <p:cNvPr id="9" name="Text 6"/>
          <p:cNvSpPr/>
          <p:nvPr/>
        </p:nvSpPr>
        <p:spPr>
          <a:xfrm>
            <a:off x="786384" y="3418759"/>
            <a:ext cx="6125794" cy="1086307"/>
          </a:xfrm>
          <a:prstGeom prst="rect">
            <a:avLst/>
          </a:prstGeom>
          <a:noFill/>
          <a:ln/>
        </p:spPr>
        <p:txBody>
          <a:bodyPr wrap="square" lIns="0" tIns="0" rIns="0" bIns="0" rtlCol="0" anchor="ctr"/>
          <a:lstStyle/>
          <a:p>
            <a:pPr marL="0" indent="0">
              <a:lnSpc>
                <a:spcPts val="2400"/>
              </a:lnSpc>
              <a:buNone/>
            </a:pPr>
            <a:r>
              <a:rPr lang="en-US" sz="1600" dirty="0">
                <a:solidFill>
                  <a:srgbClr val="141414"/>
                </a:solidFill>
                <a:latin typeface="Arial" pitchFamily="34" charset="0"/>
                <a:ea typeface="Arial" pitchFamily="34" charset="-122"/>
                <a:cs typeface="Arial" pitchFamily="34" charset="-120"/>
              </a:rPr>
              <a:t>The template runs end to end already. It does not scrape or retrieve anything, so every answer is an empty string. Confirm it runs on your machine before writing any code.</a:t>
            </a:r>
            <a:endParaRPr lang="en-US" sz="1600" dirty="0"/>
          </a:p>
        </p:txBody>
      </p:sp>
      <p:sp>
        <p:nvSpPr>
          <p:cNvPr id="11" name="Shape 8"/>
          <p:cNvSpPr/>
          <p:nvPr/>
        </p:nvSpPr>
        <p:spPr>
          <a:xfrm>
            <a:off x="7314514" y="1922069"/>
            <a:ext cx="3853053" cy="28968"/>
          </a:xfrm>
          <a:prstGeom prst="rect">
            <a:avLst/>
          </a:prstGeom>
          <a:solidFill>
            <a:srgbClr val="C0402A"/>
          </a:solidFill>
          <a:ln/>
        </p:spPr>
        <p:txBody>
          <a:bodyPr/>
          <a:lstStyle/>
          <a:p>
            <a:endParaRPr lang="en-HK"/>
          </a:p>
        </p:txBody>
      </p:sp>
      <p:sp>
        <p:nvSpPr>
          <p:cNvPr id="12" name="Text 9"/>
          <p:cNvSpPr/>
          <p:nvPr/>
        </p:nvSpPr>
        <p:spPr>
          <a:xfrm>
            <a:off x="7314514" y="2115190"/>
            <a:ext cx="3853053" cy="454304"/>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The working loop</a:t>
            </a:r>
            <a:endParaRPr lang="en-US" sz="1950" dirty="0"/>
          </a:p>
        </p:txBody>
      </p:sp>
      <p:sp>
        <p:nvSpPr>
          <p:cNvPr id="13" name="Text 10"/>
          <p:cNvSpPr/>
          <p:nvPr/>
        </p:nvSpPr>
        <p:spPr>
          <a:xfrm>
            <a:off x="7314514" y="2666055"/>
            <a:ext cx="3853053" cy="2943758"/>
          </a:xfrm>
          <a:prstGeom prst="rect">
            <a:avLst/>
          </a:prstGeom>
          <a:noFill/>
          <a:ln/>
        </p:spPr>
        <p:txBody>
          <a:bodyPr wrap="square" lIns="0" tIns="0" rIns="0" bIns="0" rtlCol="0" anchor="t"/>
          <a:lstStyle/>
          <a:p>
            <a:pPr marL="0" indent="0">
              <a:lnSpc>
                <a:spcPts val="2150"/>
              </a:lnSpc>
              <a:buNone/>
            </a:pPr>
            <a:r>
              <a:rPr lang="en-US" sz="1450" dirty="0">
                <a:solidFill>
                  <a:srgbClr val="141414"/>
                </a:solidFill>
                <a:latin typeface="Arial" pitchFamily="34" charset="0"/>
                <a:ea typeface="Arial" pitchFamily="34" charset="-122"/>
                <a:cs typeface="Arial" pitchFamily="34" charset="-120"/>
              </a:rPr>
              <a:t>1. Answer the 15 dev questions.</a:t>
            </a:r>
            <a:endParaRPr lang="en-US" sz="1450" dirty="0"/>
          </a:p>
          <a:p>
            <a:pPr marL="0" indent="0">
              <a:lnSpc>
                <a:spcPts val="2150"/>
              </a:lnSpc>
              <a:buNone/>
            </a:pPr>
            <a:r>
              <a:rPr lang="en-US" sz="1450" dirty="0">
                <a:solidFill>
                  <a:srgbClr val="141414"/>
                </a:solidFill>
                <a:latin typeface="Arial" pitchFamily="34" charset="0"/>
                <a:ea typeface="Arial" pitchFamily="34" charset="-122"/>
                <a:cs typeface="Arial" pitchFamily="34" charset="-120"/>
              </a:rPr>
              <a:t>2. Mark them against the answer key.</a:t>
            </a:r>
            <a:endParaRPr lang="en-US" sz="1450" dirty="0"/>
          </a:p>
          <a:p>
            <a:pPr marL="0" indent="0">
              <a:lnSpc>
                <a:spcPts val="2150"/>
              </a:lnSpc>
              <a:buNone/>
            </a:pPr>
            <a:r>
              <a:rPr lang="en-US" sz="1450" dirty="0">
                <a:solidFill>
                  <a:srgbClr val="141414"/>
                </a:solidFill>
                <a:latin typeface="Arial" pitchFamily="34" charset="0"/>
                <a:ea typeface="Arial" pitchFamily="34" charset="-122"/>
                <a:cs typeface="Arial" pitchFamily="34" charset="-120"/>
              </a:rPr>
              <a:t>3. Change one setting.</a:t>
            </a:r>
            <a:endParaRPr lang="en-US" sz="1450" dirty="0"/>
          </a:p>
          <a:p>
            <a:pPr marL="0" indent="0">
              <a:lnSpc>
                <a:spcPts val="2150"/>
              </a:lnSpc>
              <a:buNone/>
            </a:pPr>
            <a:r>
              <a:rPr lang="en-US" sz="1450" dirty="0">
                <a:solidFill>
                  <a:srgbClr val="141414"/>
                </a:solidFill>
                <a:latin typeface="Arial" pitchFamily="34" charset="0"/>
                <a:ea typeface="Arial" pitchFamily="34" charset="-122"/>
                <a:cs typeface="Arial" pitchFamily="34" charset="-120"/>
              </a:rPr>
              <a:t>4. Mark them again.</a:t>
            </a:r>
            <a:endParaRPr lang="en-US" sz="1450" dirty="0"/>
          </a:p>
          <a:p>
            <a:pPr marL="0" indent="0">
              <a:lnSpc>
                <a:spcPts val="2150"/>
              </a:lnSpc>
              <a:buNone/>
            </a:pPr>
            <a:r>
              <a:rPr lang="en-US" sz="1450" dirty="0">
                <a:solidFill>
                  <a:srgbClr val="141414"/>
                </a:solidFill>
                <a:latin typeface="Arial" pitchFamily="34" charset="0"/>
                <a:ea typeface="Arial" pitchFamily="34" charset="-122"/>
                <a:cs typeface="Arial" pitchFamily="34" charset="-120"/>
              </a:rPr>
              <a:t>5. Keep the change if the count went up.</a:t>
            </a:r>
            <a:endParaRPr lang="en-US" sz="1450" dirty="0"/>
          </a:p>
          <a:p>
            <a:pPr marL="0" indent="0">
              <a:lnSpc>
                <a:spcPts val="2150"/>
              </a:lnSpc>
              <a:buNone/>
            </a:pPr>
            <a:endParaRPr lang="en-US" sz="1450" dirty="0"/>
          </a:p>
          <a:p>
            <a:pPr marL="0" indent="0">
              <a:lnSpc>
                <a:spcPts val="2150"/>
              </a:lnSpc>
              <a:buNone/>
            </a:pPr>
            <a:r>
              <a:rPr lang="en-US" sz="1450" dirty="0">
                <a:solidFill>
                  <a:srgbClr val="141414"/>
                </a:solidFill>
                <a:latin typeface="Arial" pitchFamily="34" charset="0"/>
                <a:ea typeface="Arial" pitchFamily="34" charset="-122"/>
                <a:cs typeface="Arial" pitchFamily="34" charset="-120"/>
              </a:rPr>
              <a:t>Everything taught today is a candidate for step 3.</a:t>
            </a:r>
            <a:endParaRPr lang="en-US" sz="1450" dirty="0"/>
          </a:p>
        </p:txBody>
      </p:sp>
      <p:sp>
        <p:nvSpPr>
          <p:cNvPr id="14" name="Text 11"/>
          <p:cNvSpPr/>
          <p:nvPr/>
        </p:nvSpPr>
        <p:spPr>
          <a:xfrm>
            <a:off x="786384" y="4770608"/>
            <a:ext cx="6125794" cy="844906"/>
          </a:xfrm>
          <a:prstGeom prst="rect">
            <a:avLst/>
          </a:prstGeom>
          <a:noFill/>
          <a:ln/>
        </p:spPr>
        <p:txBody>
          <a:bodyPr wrap="square" lIns="0" tIns="0" rIns="0" bIns="0" rtlCol="0" anchor="ctr"/>
          <a:lstStyle/>
          <a:p>
            <a:pPr marL="0" indent="0">
              <a:lnSpc>
                <a:spcPts val="2300"/>
              </a:lnSpc>
              <a:buNone/>
            </a:pPr>
            <a:r>
              <a:rPr lang="en-US" sz="1550" dirty="0">
                <a:solidFill>
                  <a:srgbClr val="141414"/>
                </a:solidFill>
                <a:latin typeface="Arial" pitchFamily="34" charset="0"/>
                <a:ea typeface="Arial" pitchFamily="34" charset="-122"/>
                <a:cs typeface="Arial" pitchFamily="34" charset="-120"/>
              </a:rPr>
              <a:t>You mark your own answers. Fifteen questions takes about three minutes to read, and reading them shows you what the bot got wrong and how.</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9720301"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Ingestion vs Runtime</a:t>
            </a:r>
            <a:endParaRPr lang="en-US" sz="2900" dirty="0"/>
          </a:p>
        </p:txBody>
      </p:sp>
      <p:sp>
        <p:nvSpPr>
          <p:cNvPr id="4" name="Shape 2"/>
          <p:cNvSpPr/>
          <p:nvPr/>
        </p:nvSpPr>
        <p:spPr>
          <a:xfrm>
            <a:off x="786384" y="1426464"/>
            <a:ext cx="10618927" cy="10973"/>
          </a:xfrm>
          <a:prstGeom prst="rect">
            <a:avLst/>
          </a:prstGeom>
          <a:solidFill>
            <a:srgbClr val="D5D1CA"/>
          </a:solidFill>
          <a:ln/>
        </p:spPr>
        <p:txBody>
          <a:bodyPr/>
          <a:lstStyle/>
          <a:p>
            <a:endParaRPr lang="en-HK"/>
          </a:p>
        </p:txBody>
      </p:sp>
      <p:sp>
        <p:nvSpPr>
          <p:cNvPr id="5" name="Text 3"/>
          <p:cNvSpPr/>
          <p:nvPr/>
        </p:nvSpPr>
        <p:spPr>
          <a:xfrm>
            <a:off x="786384" y="1554480"/>
            <a:ext cx="8821674" cy="694944"/>
          </a:xfrm>
          <a:prstGeom prst="rect">
            <a:avLst/>
          </a:prstGeom>
          <a:noFill/>
          <a:ln/>
        </p:spPr>
        <p:txBody>
          <a:bodyPr wrap="square" lIns="0" tIns="0" rIns="0" bIns="0" rtlCol="0" anchor="ctr"/>
          <a:lstStyle/>
          <a:p>
            <a:pPr marL="0" indent="0">
              <a:lnSpc>
                <a:spcPts val="2200"/>
              </a:lnSpc>
              <a:buNone/>
            </a:pPr>
            <a:r>
              <a:rPr lang="en-US" sz="1750" dirty="0">
                <a:solidFill>
                  <a:srgbClr val="6E6A63"/>
                </a:solidFill>
                <a:latin typeface="Arial" pitchFamily="34" charset="0"/>
                <a:ea typeface="Arial" pitchFamily="34" charset="-122"/>
                <a:cs typeface="Arial" pitchFamily="34" charset="-120"/>
              </a:rPr>
              <a:t>The websites and the building do not change during the competition, so anything expensive can be computed once, saved to disk, and reused.</a:t>
            </a:r>
            <a:endParaRPr lang="en-US" sz="1750" dirty="0"/>
          </a:p>
        </p:txBody>
      </p:sp>
      <p:sp>
        <p:nvSpPr>
          <p:cNvPr id="6" name="Text 4"/>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04</a:t>
            </a:r>
            <a:endParaRPr lang="en-US" sz="1200" dirty="0"/>
          </a:p>
        </p:txBody>
      </p:sp>
      <p:sp>
        <p:nvSpPr>
          <p:cNvPr id="8" name="Shape 5"/>
          <p:cNvSpPr/>
          <p:nvPr/>
        </p:nvSpPr>
        <p:spPr>
          <a:xfrm>
            <a:off x="786384" y="2375498"/>
            <a:ext cx="5163160" cy="23517"/>
          </a:xfrm>
          <a:prstGeom prst="rect">
            <a:avLst/>
          </a:prstGeom>
          <a:solidFill>
            <a:srgbClr val="C0402A"/>
          </a:solidFill>
          <a:ln/>
        </p:spPr>
        <p:txBody>
          <a:bodyPr/>
          <a:lstStyle/>
          <a:p>
            <a:endParaRPr lang="en-HK"/>
          </a:p>
        </p:txBody>
      </p:sp>
      <p:sp>
        <p:nvSpPr>
          <p:cNvPr id="9" name="Text 6"/>
          <p:cNvSpPr/>
          <p:nvPr/>
        </p:nvSpPr>
        <p:spPr>
          <a:xfrm>
            <a:off x="786384" y="2532278"/>
            <a:ext cx="5163160" cy="368814"/>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Ingestion: unlimited</a:t>
            </a:r>
            <a:endParaRPr lang="en-US" sz="1950" dirty="0"/>
          </a:p>
        </p:txBody>
      </p:sp>
      <p:sp>
        <p:nvSpPr>
          <p:cNvPr id="10" name="Text 7"/>
          <p:cNvSpPr/>
          <p:nvPr/>
        </p:nvSpPr>
        <p:spPr>
          <a:xfrm>
            <a:off x="786384" y="2979483"/>
            <a:ext cx="5163160" cy="1804604"/>
          </a:xfrm>
          <a:prstGeom prst="rect">
            <a:avLst/>
          </a:prstGeom>
          <a:noFill/>
          <a:ln/>
        </p:spPr>
        <p:txBody>
          <a:bodyPr wrap="square" lIns="0" tIns="0" rIns="0" bIns="0" rtlCol="0" anchor="t"/>
          <a:lstStyle/>
          <a:p>
            <a:pPr marL="0" indent="0">
              <a:lnSpc>
                <a:spcPts val="2150"/>
              </a:lnSpc>
              <a:buNone/>
            </a:pPr>
            <a:r>
              <a:rPr lang="en-US" sz="1450" dirty="0">
                <a:solidFill>
                  <a:srgbClr val="141414"/>
                </a:solidFill>
                <a:latin typeface="Arial" pitchFamily="34" charset="0"/>
                <a:ea typeface="Arial" pitchFamily="34" charset="-122"/>
                <a:cs typeface="Arial" pitchFamily="34" charset="-120"/>
              </a:rPr>
              <a:t>Crawling every page.</a:t>
            </a:r>
            <a:endParaRPr lang="en-US" sz="1450" dirty="0"/>
          </a:p>
          <a:p>
            <a:pPr marL="0" indent="0">
              <a:lnSpc>
                <a:spcPts val="2150"/>
              </a:lnSpc>
              <a:buNone/>
            </a:pPr>
            <a:r>
              <a:rPr lang="en-US" sz="1450" dirty="0">
                <a:solidFill>
                  <a:srgbClr val="141414"/>
                </a:solidFill>
                <a:latin typeface="Arial" pitchFamily="34" charset="0"/>
                <a:ea typeface="Arial" pitchFamily="34" charset="-122"/>
                <a:cs typeface="Arial" pitchFamily="34" charset="-120"/>
              </a:rPr>
              <a:t>Chunking and embedding all of it.</a:t>
            </a:r>
            <a:endParaRPr lang="en-US" sz="1450" dirty="0"/>
          </a:p>
          <a:p>
            <a:pPr marL="0" indent="0">
              <a:lnSpc>
                <a:spcPts val="2150"/>
              </a:lnSpc>
              <a:buNone/>
            </a:pPr>
            <a:r>
              <a:rPr lang="en-US" sz="1450" dirty="0">
                <a:solidFill>
                  <a:srgbClr val="141414"/>
                </a:solidFill>
                <a:latin typeface="Arial" pitchFamily="34" charset="0"/>
                <a:ea typeface="Arial" pitchFamily="34" charset="-122"/>
                <a:cs typeface="Arial" pitchFamily="34" charset="-120"/>
              </a:rPr>
              <a:t>Describing several hundred images with a vision model.</a:t>
            </a:r>
            <a:endParaRPr lang="en-US" sz="1450" dirty="0"/>
          </a:p>
          <a:p>
            <a:pPr marL="0" indent="0">
              <a:lnSpc>
                <a:spcPts val="2150"/>
              </a:lnSpc>
              <a:buNone/>
            </a:pPr>
            <a:endParaRPr lang="en-US" sz="1450" dirty="0"/>
          </a:p>
          <a:p>
            <a:pPr marL="0" indent="0">
              <a:lnSpc>
                <a:spcPts val="2150"/>
              </a:lnSpc>
              <a:buNone/>
            </a:pPr>
            <a:r>
              <a:rPr lang="en-US" sz="1450" dirty="0">
                <a:solidFill>
                  <a:srgbClr val="141414"/>
                </a:solidFill>
                <a:latin typeface="Arial" pitchFamily="34" charset="0"/>
                <a:ea typeface="Arial" pitchFamily="34" charset="-122"/>
                <a:cs typeface="Arial" pitchFamily="34" charset="-120"/>
              </a:rPr>
              <a:t>You can run this overnight if you need to. It happens before the competition, so it is not timed.</a:t>
            </a:r>
            <a:endParaRPr lang="en-US" sz="1450" dirty="0"/>
          </a:p>
        </p:txBody>
      </p:sp>
      <p:sp>
        <p:nvSpPr>
          <p:cNvPr id="12" name="Shape 9"/>
          <p:cNvSpPr/>
          <p:nvPr/>
        </p:nvSpPr>
        <p:spPr>
          <a:xfrm>
            <a:off x="6479896" y="2406914"/>
            <a:ext cx="4687672" cy="23517"/>
          </a:xfrm>
          <a:prstGeom prst="rect">
            <a:avLst/>
          </a:prstGeom>
          <a:solidFill>
            <a:srgbClr val="C0402A"/>
          </a:solidFill>
          <a:ln/>
        </p:spPr>
        <p:txBody>
          <a:bodyPr/>
          <a:lstStyle/>
          <a:p>
            <a:endParaRPr lang="en-HK"/>
          </a:p>
        </p:txBody>
      </p:sp>
      <p:sp>
        <p:nvSpPr>
          <p:cNvPr id="13" name="Text 10"/>
          <p:cNvSpPr/>
          <p:nvPr/>
        </p:nvSpPr>
        <p:spPr>
          <a:xfrm>
            <a:off x="6479896" y="2563695"/>
            <a:ext cx="4687672" cy="368814"/>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Runtime: 30 seconds</a:t>
            </a:r>
            <a:endParaRPr lang="en-US" sz="1950" dirty="0"/>
          </a:p>
        </p:txBody>
      </p:sp>
      <p:sp>
        <p:nvSpPr>
          <p:cNvPr id="14" name="Text 11"/>
          <p:cNvSpPr/>
          <p:nvPr/>
        </p:nvSpPr>
        <p:spPr>
          <a:xfrm>
            <a:off x="6479896" y="3010899"/>
            <a:ext cx="4687672" cy="1804604"/>
          </a:xfrm>
          <a:prstGeom prst="rect">
            <a:avLst/>
          </a:prstGeom>
          <a:noFill/>
          <a:ln/>
        </p:spPr>
        <p:txBody>
          <a:bodyPr wrap="square" lIns="0" tIns="0" rIns="0" bIns="0" rtlCol="0" anchor="t"/>
          <a:lstStyle/>
          <a:p>
            <a:pPr marL="0" indent="0">
              <a:lnSpc>
                <a:spcPts val="2150"/>
              </a:lnSpc>
              <a:buNone/>
            </a:pPr>
            <a:r>
              <a:rPr lang="en-US" sz="1450" dirty="0">
                <a:solidFill>
                  <a:srgbClr val="141414"/>
                </a:solidFill>
                <a:latin typeface="Arial" pitchFamily="34" charset="0"/>
                <a:ea typeface="Arial" pitchFamily="34" charset="-122"/>
                <a:cs typeface="Arial" pitchFamily="34" charset="-120"/>
              </a:rPr>
              <a:t>One embedding call, roughly 200ms.</a:t>
            </a:r>
            <a:endParaRPr lang="en-US" sz="1450" dirty="0"/>
          </a:p>
          <a:p>
            <a:pPr marL="0" indent="0">
              <a:lnSpc>
                <a:spcPts val="2150"/>
              </a:lnSpc>
              <a:buNone/>
            </a:pPr>
            <a:r>
              <a:rPr lang="en-US" sz="1450" dirty="0">
                <a:solidFill>
                  <a:srgbClr val="141414"/>
                </a:solidFill>
                <a:latin typeface="Arial" pitchFamily="34" charset="0"/>
                <a:ea typeface="Arial" pitchFamily="34" charset="-122"/>
                <a:cs typeface="Arial" pitchFamily="34" charset="-120"/>
              </a:rPr>
              <a:t>Two to four model calls, 1 to 5s each.</a:t>
            </a:r>
            <a:endParaRPr lang="en-US" sz="1450" dirty="0"/>
          </a:p>
          <a:p>
            <a:pPr marL="0" indent="0">
              <a:lnSpc>
                <a:spcPts val="2150"/>
              </a:lnSpc>
              <a:buNone/>
            </a:pPr>
            <a:r>
              <a:rPr lang="en-US" sz="1450" dirty="0">
                <a:solidFill>
                  <a:srgbClr val="141414"/>
                </a:solidFill>
                <a:latin typeface="Arial" pitchFamily="34" charset="0"/>
                <a:ea typeface="Arial" pitchFamily="34" charset="-122"/>
                <a:cs typeface="Arial" pitchFamily="34" charset="-120"/>
              </a:rPr>
              <a:t>One vector search, a few milliseconds.</a:t>
            </a:r>
            <a:endParaRPr lang="en-US" sz="1450" dirty="0"/>
          </a:p>
          <a:p>
            <a:pPr marL="0" indent="0">
              <a:lnSpc>
                <a:spcPts val="2150"/>
              </a:lnSpc>
              <a:buNone/>
            </a:pPr>
            <a:endParaRPr lang="en-US" sz="1450" dirty="0"/>
          </a:p>
          <a:p>
            <a:pPr marL="0" indent="0">
              <a:lnSpc>
                <a:spcPts val="2150"/>
              </a:lnSpc>
              <a:buNone/>
            </a:pPr>
            <a:r>
              <a:rPr lang="en-US" sz="1450" dirty="0">
                <a:solidFill>
                  <a:srgbClr val="141414"/>
                </a:solidFill>
                <a:latin typeface="Arial" pitchFamily="34" charset="0"/>
                <a:ea typeface="Arial" pitchFamily="34" charset="-122"/>
                <a:cs typeface="Arial" pitchFamily="34" charset="-120"/>
              </a:rPr>
              <a:t>This is measured per question during the competition.</a:t>
            </a:r>
            <a:endParaRPr lang="en-US" sz="1450" dirty="0"/>
          </a:p>
        </p:txBody>
      </p:sp>
      <p:sp>
        <p:nvSpPr>
          <p:cNvPr id="15" name="Text 12"/>
          <p:cNvSpPr/>
          <p:nvPr/>
        </p:nvSpPr>
        <p:spPr>
          <a:xfrm>
            <a:off x="786384" y="5550295"/>
            <a:ext cx="9557034" cy="685913"/>
          </a:xfrm>
          <a:prstGeom prst="rect">
            <a:avLst/>
          </a:prstGeom>
          <a:noFill/>
          <a:ln/>
        </p:spPr>
        <p:txBody>
          <a:bodyPr wrap="square" lIns="0" tIns="0" rIns="0" bIns="0" rtlCol="0" anchor="ctr"/>
          <a:lstStyle/>
          <a:p>
            <a:pPr marL="0" indent="0">
              <a:lnSpc>
                <a:spcPts val="2400"/>
              </a:lnSpc>
              <a:buNone/>
            </a:pPr>
            <a:r>
              <a:rPr lang="en-US" sz="1600" dirty="0">
                <a:solidFill>
                  <a:srgbClr val="141414"/>
                </a:solidFill>
                <a:latin typeface="Arial" pitchFamily="34" charset="0"/>
                <a:ea typeface="Arial" pitchFamily="34" charset="-122"/>
                <a:cs typeface="Arial" pitchFamily="34" charset="-120"/>
              </a:rPr>
              <a:t>If a step does not depend on the question being asked, run it in advance and save the result to disk.</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9720301"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Scoring Strategy</a:t>
            </a:r>
            <a:endParaRPr lang="en-US" sz="2900" dirty="0"/>
          </a:p>
        </p:txBody>
      </p:sp>
      <p:sp>
        <p:nvSpPr>
          <p:cNvPr id="4" name="Shape 2"/>
          <p:cNvSpPr/>
          <p:nvPr/>
        </p:nvSpPr>
        <p:spPr>
          <a:xfrm>
            <a:off x="786384" y="1426464"/>
            <a:ext cx="10618927" cy="10973"/>
          </a:xfrm>
          <a:prstGeom prst="rect">
            <a:avLst/>
          </a:prstGeom>
          <a:solidFill>
            <a:srgbClr val="D5D1CA"/>
          </a:solidFill>
          <a:ln/>
        </p:spPr>
        <p:txBody>
          <a:bodyPr/>
          <a:lstStyle/>
          <a:p>
            <a:endParaRPr lang="en-HK"/>
          </a:p>
        </p:txBody>
      </p:sp>
      <p:sp>
        <p:nvSpPr>
          <p:cNvPr id="5" name="Text 3"/>
          <p:cNvSpPr/>
          <p:nvPr/>
        </p:nvSpPr>
        <p:spPr>
          <a:xfrm>
            <a:off x="786384" y="1554480"/>
            <a:ext cx="8821674" cy="694944"/>
          </a:xfrm>
          <a:prstGeom prst="rect">
            <a:avLst/>
          </a:prstGeom>
          <a:noFill/>
          <a:ln/>
        </p:spPr>
        <p:txBody>
          <a:bodyPr wrap="square" lIns="0" tIns="0" rIns="0" bIns="0" rtlCol="0" anchor="ctr"/>
          <a:lstStyle/>
          <a:p>
            <a:pPr marL="0" indent="0">
              <a:lnSpc>
                <a:spcPts val="2200"/>
              </a:lnSpc>
              <a:buNone/>
            </a:pPr>
            <a:r>
              <a:rPr lang="en-US" sz="1750" dirty="0">
                <a:solidFill>
                  <a:srgbClr val="6E6A63"/>
                </a:solidFill>
                <a:latin typeface="Arial" pitchFamily="34" charset="0"/>
                <a:ea typeface="Arial" pitchFamily="34" charset="-122"/>
                <a:cs typeface="Arial" pitchFamily="34" charset="-120"/>
              </a:rPr>
              <a:t>Scoring is 1 point for correct, 0.5 for partially correct, 0 for wrong. There is no penalty for a wrong answer.</a:t>
            </a:r>
            <a:endParaRPr lang="en-US" sz="1750" dirty="0"/>
          </a:p>
        </p:txBody>
      </p:sp>
      <p:sp>
        <p:nvSpPr>
          <p:cNvPr id="6" name="Text 4"/>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05</a:t>
            </a:r>
            <a:endParaRPr lang="en-US" sz="1200" dirty="0"/>
          </a:p>
        </p:txBody>
      </p:sp>
      <p:sp>
        <p:nvSpPr>
          <p:cNvPr id="7" name="Shape 5"/>
          <p:cNvSpPr/>
          <p:nvPr/>
        </p:nvSpPr>
        <p:spPr>
          <a:xfrm>
            <a:off x="786384" y="2398021"/>
            <a:ext cx="5163160" cy="21323"/>
          </a:xfrm>
          <a:prstGeom prst="rect">
            <a:avLst/>
          </a:prstGeom>
          <a:solidFill>
            <a:srgbClr val="D5D1CA"/>
          </a:solidFill>
          <a:ln/>
        </p:spPr>
        <p:txBody>
          <a:bodyPr/>
          <a:lstStyle/>
          <a:p>
            <a:endParaRPr lang="en-HK"/>
          </a:p>
        </p:txBody>
      </p:sp>
      <p:sp>
        <p:nvSpPr>
          <p:cNvPr id="8" name="Text 6"/>
          <p:cNvSpPr/>
          <p:nvPr/>
        </p:nvSpPr>
        <p:spPr>
          <a:xfrm>
            <a:off x="786384" y="2587561"/>
            <a:ext cx="5163160" cy="445880"/>
          </a:xfrm>
          <a:prstGeom prst="rect">
            <a:avLst/>
          </a:prstGeom>
          <a:noFill/>
          <a:ln/>
        </p:spPr>
        <p:txBody>
          <a:bodyPr wrap="square" lIns="0" tIns="0" rIns="0" bIns="0" rtlCol="0" anchor="ctr"/>
          <a:lstStyle/>
          <a:p>
            <a:pPr marL="0" indent="0">
              <a:lnSpc>
                <a:spcPts val="2350"/>
              </a:lnSpc>
              <a:buNone/>
            </a:pPr>
            <a:r>
              <a:rPr lang="en-US" sz="1950" b="1" dirty="0">
                <a:solidFill>
                  <a:srgbClr val="6E6A63"/>
                </a:solidFill>
                <a:latin typeface="Arial" pitchFamily="34" charset="0"/>
                <a:ea typeface="Arial" pitchFamily="34" charset="-122"/>
                <a:cs typeface="Arial" pitchFamily="34" charset="-120"/>
              </a:rPr>
              <a:t>Common advice elsewhere</a:t>
            </a:r>
            <a:endParaRPr lang="en-US" sz="1950" dirty="0"/>
          </a:p>
        </p:txBody>
      </p:sp>
      <p:sp>
        <p:nvSpPr>
          <p:cNvPr id="9" name="Text 7"/>
          <p:cNvSpPr/>
          <p:nvPr/>
        </p:nvSpPr>
        <p:spPr>
          <a:xfrm>
            <a:off x="786384" y="3128211"/>
            <a:ext cx="5163160" cy="865435"/>
          </a:xfrm>
          <a:prstGeom prst="rect">
            <a:avLst/>
          </a:prstGeom>
          <a:noFill/>
          <a:ln/>
        </p:spPr>
        <p:txBody>
          <a:bodyPr wrap="square" lIns="0" tIns="0" rIns="0" bIns="0" rtlCol="0" anchor="t"/>
          <a:lstStyle/>
          <a:p>
            <a:pPr marL="0" indent="0">
              <a:lnSpc>
                <a:spcPts val="2450"/>
              </a:lnSpc>
              <a:buNone/>
            </a:pPr>
            <a:r>
              <a:rPr lang="en-US" sz="1750" dirty="0">
                <a:solidFill>
                  <a:srgbClr val="6E6A63"/>
                </a:solidFill>
                <a:latin typeface="Arial" pitchFamily="34" charset="0"/>
                <a:ea typeface="Arial" pitchFamily="34" charset="-122"/>
                <a:cs typeface="Arial" pitchFamily="34" charset="-120"/>
              </a:rPr>
              <a:t>If retrieval looks weak, reply "I don’t know" rather than risk a made-up answer.</a:t>
            </a:r>
            <a:endParaRPr lang="en-US" sz="1750" dirty="0"/>
          </a:p>
        </p:txBody>
      </p:sp>
      <p:sp>
        <p:nvSpPr>
          <p:cNvPr id="10" name="Shape 8"/>
          <p:cNvSpPr/>
          <p:nvPr/>
        </p:nvSpPr>
        <p:spPr>
          <a:xfrm>
            <a:off x="6242152" y="2398021"/>
            <a:ext cx="5163160" cy="21323"/>
          </a:xfrm>
          <a:prstGeom prst="rect">
            <a:avLst/>
          </a:prstGeom>
          <a:solidFill>
            <a:srgbClr val="141414"/>
          </a:solidFill>
          <a:ln/>
        </p:spPr>
        <p:txBody>
          <a:bodyPr/>
          <a:lstStyle/>
          <a:p>
            <a:endParaRPr lang="en-HK"/>
          </a:p>
        </p:txBody>
      </p:sp>
      <p:sp>
        <p:nvSpPr>
          <p:cNvPr id="11" name="Text 9"/>
          <p:cNvSpPr/>
          <p:nvPr/>
        </p:nvSpPr>
        <p:spPr>
          <a:xfrm>
            <a:off x="6242152" y="2587561"/>
            <a:ext cx="5163160" cy="445880"/>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Correct here</a:t>
            </a:r>
            <a:endParaRPr lang="en-US" sz="1950" dirty="0"/>
          </a:p>
        </p:txBody>
      </p:sp>
      <p:sp>
        <p:nvSpPr>
          <p:cNvPr id="12" name="Text 10"/>
          <p:cNvSpPr/>
          <p:nvPr/>
        </p:nvSpPr>
        <p:spPr>
          <a:xfrm>
            <a:off x="6242152" y="3128211"/>
            <a:ext cx="5163160" cy="865435"/>
          </a:xfrm>
          <a:prstGeom prst="rect">
            <a:avLst/>
          </a:prstGeom>
          <a:noFill/>
          <a:ln/>
        </p:spPr>
        <p:txBody>
          <a:bodyPr wrap="square" lIns="0" tIns="0" rIns="0" bIns="0" rtlCol="0" anchor="t"/>
          <a:lstStyle/>
          <a:p>
            <a:pPr marL="0" indent="0">
              <a:lnSpc>
                <a:spcPts val="2450"/>
              </a:lnSpc>
              <a:buNone/>
            </a:pPr>
            <a:r>
              <a:rPr lang="en-US" sz="1750" dirty="0">
                <a:solidFill>
                  <a:srgbClr val="141414"/>
                </a:solidFill>
                <a:latin typeface="Arial" pitchFamily="34" charset="0"/>
                <a:ea typeface="Arial" pitchFamily="34" charset="-122"/>
                <a:cs typeface="Arial" pitchFamily="34" charset="-120"/>
              </a:rPr>
              <a:t>Always give your best answer. "I don’t know" scores 0, and a guess might score 0.5 or 1.</a:t>
            </a:r>
            <a:endParaRPr lang="en-US" sz="1750" dirty="0"/>
          </a:p>
        </p:txBody>
      </p:sp>
      <p:sp>
        <p:nvSpPr>
          <p:cNvPr id="13" name="Text 11"/>
          <p:cNvSpPr/>
          <p:nvPr/>
        </p:nvSpPr>
        <p:spPr>
          <a:xfrm>
            <a:off x="786384" y="4696195"/>
            <a:ext cx="9344656" cy="710775"/>
          </a:xfrm>
          <a:prstGeom prst="rect">
            <a:avLst/>
          </a:prstGeom>
          <a:noFill/>
          <a:ln/>
        </p:spPr>
        <p:txBody>
          <a:bodyPr wrap="square" lIns="0" tIns="0" rIns="0" bIns="0" rtlCol="0" anchor="ctr"/>
          <a:lstStyle/>
          <a:p>
            <a:pPr marL="0" indent="0">
              <a:lnSpc>
                <a:spcPts val="2400"/>
              </a:lnSpc>
              <a:buNone/>
            </a:pPr>
            <a:r>
              <a:rPr lang="en-US" sz="1600" dirty="0">
                <a:solidFill>
                  <a:srgbClr val="141414"/>
                </a:solidFill>
                <a:latin typeface="Arial" pitchFamily="34" charset="0"/>
                <a:ea typeface="Arial" pitchFamily="34" charset="-122"/>
                <a:cs typeface="Arial" pitchFamily="34" charset="-120"/>
              </a:rPr>
              <a:t>Still record when retrieval looks weak. Use it to decide which questions to work on, not whether to answer them.</a:t>
            </a:r>
            <a:endParaRPr lang="en-US" sz="1600" dirty="0"/>
          </a:p>
        </p:txBody>
      </p:sp>
      <p:sp>
        <p:nvSpPr>
          <p:cNvPr id="14" name="Text 12"/>
          <p:cNvSpPr/>
          <p:nvPr/>
        </p:nvSpPr>
        <p:spPr>
          <a:xfrm>
            <a:off x="786384" y="5525433"/>
            <a:ext cx="9344656" cy="710775"/>
          </a:xfrm>
          <a:prstGeom prst="rect">
            <a:avLst/>
          </a:prstGeom>
          <a:noFill/>
          <a:ln/>
        </p:spPr>
        <p:txBody>
          <a:bodyPr wrap="square" lIns="0" tIns="0" rIns="0" bIns="0" rtlCol="0" anchor="ctr"/>
          <a:lstStyle/>
          <a:p>
            <a:pPr marL="0" indent="0">
              <a:lnSpc>
                <a:spcPts val="2400"/>
              </a:lnSpc>
              <a:buNone/>
            </a:pPr>
            <a:r>
              <a:rPr lang="en-US" sz="1600" dirty="0">
                <a:solidFill>
                  <a:srgbClr val="141414"/>
                </a:solidFill>
                <a:latin typeface="Arial" pitchFamily="34" charset="0"/>
                <a:ea typeface="Arial" pitchFamily="34" charset="-122"/>
                <a:cs typeface="Arial" pitchFamily="34" charset="-120"/>
              </a:rPr>
              <a:t>Keep answers short. Judges mark on accuracy and completeness, and extra wrong detail around a correct fact can turn 1 point into 0.5.</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0EA"/>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C0402A"/>
                </a:solidFill>
                <a:latin typeface="Arial" pitchFamily="34" charset="0"/>
                <a:ea typeface="Arial" pitchFamily="34" charset="-122"/>
                <a:cs typeface="Arial" pitchFamily="34" charset="-120"/>
              </a:rPr>
              <a:t>FROM EXPERIENCE</a:t>
            </a:r>
            <a:endParaRPr lang="en-US" sz="950" dirty="0"/>
          </a:p>
        </p:txBody>
      </p:sp>
      <p:sp>
        <p:nvSpPr>
          <p:cNvPr id="3" name="Shape 1"/>
          <p:cNvSpPr/>
          <p:nvPr/>
        </p:nvSpPr>
        <p:spPr>
          <a:xfrm>
            <a:off x="0" y="0"/>
            <a:ext cx="128016" cy="6858000"/>
          </a:xfrm>
          <a:prstGeom prst="rect">
            <a:avLst/>
          </a:prstGeom>
          <a:solidFill>
            <a:srgbClr val="C0402A"/>
          </a:solidFill>
          <a:ln/>
        </p:spPr>
        <p:txBody>
          <a:bodyPr/>
          <a:lstStyle/>
          <a:p>
            <a:endParaRPr lang="en-HK"/>
          </a:p>
        </p:txBody>
      </p:sp>
      <p:sp>
        <p:nvSpPr>
          <p:cNvPr id="4" name="Text 2"/>
          <p:cNvSpPr/>
          <p:nvPr/>
        </p:nvSpPr>
        <p:spPr>
          <a:xfrm>
            <a:off x="786384" y="713232"/>
            <a:ext cx="9720301"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What Trips Teams Up</a:t>
            </a:r>
            <a:endParaRPr lang="en-US" sz="2900" dirty="0"/>
          </a:p>
        </p:txBody>
      </p:sp>
      <p:sp>
        <p:nvSpPr>
          <p:cNvPr id="5" name="Shape 3"/>
          <p:cNvSpPr/>
          <p:nvPr/>
        </p:nvSpPr>
        <p:spPr>
          <a:xfrm>
            <a:off x="786384" y="1426464"/>
            <a:ext cx="10618927" cy="10973"/>
          </a:xfrm>
          <a:prstGeom prst="rect">
            <a:avLst/>
          </a:prstGeom>
          <a:solidFill>
            <a:srgbClr val="D5D1CA"/>
          </a:solidFill>
          <a:ln/>
        </p:spPr>
        <p:txBody>
          <a:bodyPr/>
          <a:lstStyle/>
          <a:p>
            <a:endParaRPr lang="en-HK"/>
          </a:p>
        </p:txBody>
      </p:sp>
      <p:sp>
        <p:nvSpPr>
          <p:cNvPr id="6" name="Text 4"/>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06</a:t>
            </a:r>
            <a:endParaRPr lang="en-US" sz="1200" dirty="0"/>
          </a:p>
        </p:txBody>
      </p:sp>
      <p:sp>
        <p:nvSpPr>
          <p:cNvPr id="7" name="Text 5"/>
          <p:cNvSpPr/>
          <p:nvPr/>
        </p:nvSpPr>
        <p:spPr>
          <a:xfrm>
            <a:off x="786384" y="1827703"/>
            <a:ext cx="9557034" cy="482803"/>
          </a:xfrm>
          <a:prstGeom prst="rect">
            <a:avLst/>
          </a:prstGeom>
          <a:noFill/>
          <a:ln/>
        </p:spPr>
        <p:txBody>
          <a:bodyPr wrap="square" lIns="0" tIns="0" rIns="0" bIns="0" rtlCol="0" anchor="ctr"/>
          <a:lstStyle/>
          <a:p>
            <a:pPr marL="0" indent="0">
              <a:buNone/>
            </a:pPr>
            <a:r>
              <a:rPr lang="en-US" sz="1600" dirty="0">
                <a:solidFill>
                  <a:srgbClr val="141414"/>
                </a:solidFill>
                <a:latin typeface="Arial" pitchFamily="34" charset="0"/>
                <a:ea typeface="Arial" pitchFamily="34" charset="-122"/>
                <a:cs typeface="Arial" pitchFamily="34" charset="-120"/>
              </a:rPr>
              <a:t>Four things we see every year, all of them cheap to avoid.</a:t>
            </a:r>
            <a:endParaRPr lang="en-US" sz="1600" dirty="0"/>
          </a:p>
        </p:txBody>
      </p:sp>
      <p:sp>
        <p:nvSpPr>
          <p:cNvPr id="8" name="Shape 6"/>
          <p:cNvSpPr/>
          <p:nvPr/>
        </p:nvSpPr>
        <p:spPr>
          <a:xfrm>
            <a:off x="786384" y="2527767"/>
            <a:ext cx="5227168" cy="21726"/>
          </a:xfrm>
          <a:prstGeom prst="rect">
            <a:avLst/>
          </a:prstGeom>
          <a:solidFill>
            <a:srgbClr val="141414"/>
          </a:solidFill>
          <a:ln/>
        </p:spPr>
        <p:txBody>
          <a:bodyPr/>
          <a:lstStyle/>
          <a:p>
            <a:endParaRPr lang="en-HK"/>
          </a:p>
        </p:txBody>
      </p:sp>
      <p:sp>
        <p:nvSpPr>
          <p:cNvPr id="9" name="Text 7"/>
          <p:cNvSpPr/>
          <p:nvPr/>
        </p:nvSpPr>
        <p:spPr>
          <a:xfrm>
            <a:off x="786384" y="2720889"/>
            <a:ext cx="5227168" cy="454304"/>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Describing images at query time</a:t>
            </a:r>
            <a:endParaRPr lang="en-US" sz="1950" dirty="0"/>
          </a:p>
        </p:txBody>
      </p:sp>
      <p:sp>
        <p:nvSpPr>
          <p:cNvPr id="10" name="Text 8"/>
          <p:cNvSpPr/>
          <p:nvPr/>
        </p:nvSpPr>
        <p:spPr>
          <a:xfrm>
            <a:off x="786384" y="3271754"/>
            <a:ext cx="5227168" cy="1116482"/>
          </a:xfrm>
          <a:prstGeom prst="rect">
            <a:avLst/>
          </a:prstGeom>
          <a:noFill/>
          <a:ln/>
        </p:spPr>
        <p:txBody>
          <a:bodyPr wrap="square" lIns="0" tIns="0" rIns="0" bIns="0" rtlCol="0" anchor="t"/>
          <a:lstStyle/>
          <a:p>
            <a:pPr marL="0" indent="0">
              <a:lnSpc>
                <a:spcPts val="2100"/>
              </a:lnSpc>
              <a:buNone/>
            </a:pPr>
            <a:r>
              <a:rPr lang="en-US" sz="1400" dirty="0">
                <a:solidFill>
                  <a:srgbClr val="141414"/>
                </a:solidFill>
                <a:latin typeface="Arial" pitchFamily="34" charset="0"/>
                <a:ea typeface="Arial" pitchFamily="34" charset="-122"/>
                <a:cs typeface="Arial" pitchFamily="34" charset="-120"/>
              </a:rPr>
              <a:t>It works on one question in a notebook, then times out on the day. Anything that does not depend on the question belongs in the build step.</a:t>
            </a:r>
            <a:endParaRPr lang="en-US" sz="1400" dirty="0"/>
          </a:p>
        </p:txBody>
      </p:sp>
      <p:sp>
        <p:nvSpPr>
          <p:cNvPr id="11" name="Shape 9"/>
          <p:cNvSpPr/>
          <p:nvPr/>
        </p:nvSpPr>
        <p:spPr>
          <a:xfrm>
            <a:off x="6178144" y="2527767"/>
            <a:ext cx="5227168" cy="21726"/>
          </a:xfrm>
          <a:prstGeom prst="rect">
            <a:avLst/>
          </a:prstGeom>
          <a:solidFill>
            <a:srgbClr val="141414"/>
          </a:solidFill>
          <a:ln/>
        </p:spPr>
        <p:txBody>
          <a:bodyPr/>
          <a:lstStyle/>
          <a:p>
            <a:endParaRPr lang="en-HK"/>
          </a:p>
        </p:txBody>
      </p:sp>
      <p:sp>
        <p:nvSpPr>
          <p:cNvPr id="12" name="Text 10"/>
          <p:cNvSpPr/>
          <p:nvPr/>
        </p:nvSpPr>
        <p:spPr>
          <a:xfrm>
            <a:off x="6178144" y="2720889"/>
            <a:ext cx="5227168" cy="454304"/>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Replying "I don’t know"</a:t>
            </a:r>
            <a:endParaRPr lang="en-US" sz="1950" dirty="0"/>
          </a:p>
        </p:txBody>
      </p:sp>
      <p:sp>
        <p:nvSpPr>
          <p:cNvPr id="13" name="Text 11"/>
          <p:cNvSpPr/>
          <p:nvPr/>
        </p:nvSpPr>
        <p:spPr>
          <a:xfrm>
            <a:off x="6178144" y="3271754"/>
            <a:ext cx="5227168" cy="764438"/>
          </a:xfrm>
          <a:prstGeom prst="rect">
            <a:avLst/>
          </a:prstGeom>
          <a:noFill/>
          <a:ln/>
        </p:spPr>
        <p:txBody>
          <a:bodyPr wrap="square" lIns="0" tIns="0" rIns="0" bIns="0" rtlCol="0" anchor="t"/>
          <a:lstStyle/>
          <a:p>
            <a:pPr marL="0" indent="0">
              <a:lnSpc>
                <a:spcPts val="2100"/>
              </a:lnSpc>
              <a:buNone/>
            </a:pPr>
            <a:r>
              <a:rPr lang="en-US" sz="1400" dirty="0">
                <a:solidFill>
                  <a:srgbClr val="141414"/>
                </a:solidFill>
                <a:latin typeface="Arial" pitchFamily="34" charset="0"/>
                <a:ea typeface="Arial" pitchFamily="34" charset="-122"/>
                <a:cs typeface="Arial" pitchFamily="34" charset="-120"/>
              </a:rPr>
              <a:t>Copied from a tutorial where refusing is the safe default. Here it converts a possible 0.5 into a certain 0.</a:t>
            </a:r>
            <a:endParaRPr lang="en-US" sz="1400" dirty="0"/>
          </a:p>
        </p:txBody>
      </p:sp>
      <p:sp>
        <p:nvSpPr>
          <p:cNvPr id="14" name="Shape 12"/>
          <p:cNvSpPr/>
          <p:nvPr/>
        </p:nvSpPr>
        <p:spPr>
          <a:xfrm>
            <a:off x="786384" y="4700382"/>
            <a:ext cx="5227168" cy="21726"/>
          </a:xfrm>
          <a:prstGeom prst="rect">
            <a:avLst/>
          </a:prstGeom>
          <a:solidFill>
            <a:srgbClr val="141414"/>
          </a:solidFill>
          <a:ln/>
        </p:spPr>
        <p:txBody>
          <a:bodyPr/>
          <a:lstStyle/>
          <a:p>
            <a:endParaRPr lang="en-HK"/>
          </a:p>
        </p:txBody>
      </p:sp>
      <p:sp>
        <p:nvSpPr>
          <p:cNvPr id="15" name="Text 13"/>
          <p:cNvSpPr/>
          <p:nvPr/>
        </p:nvSpPr>
        <p:spPr>
          <a:xfrm>
            <a:off x="786384" y="4893503"/>
            <a:ext cx="5227168" cy="454304"/>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Not writing the baseline down</a:t>
            </a:r>
            <a:endParaRPr lang="en-US" sz="1950" dirty="0"/>
          </a:p>
        </p:txBody>
      </p:sp>
      <p:sp>
        <p:nvSpPr>
          <p:cNvPr id="16" name="Text 14"/>
          <p:cNvSpPr/>
          <p:nvPr/>
        </p:nvSpPr>
        <p:spPr>
          <a:xfrm>
            <a:off x="786384" y="5444368"/>
            <a:ext cx="5227168" cy="764438"/>
          </a:xfrm>
          <a:prstGeom prst="rect">
            <a:avLst/>
          </a:prstGeom>
          <a:noFill/>
          <a:ln/>
        </p:spPr>
        <p:txBody>
          <a:bodyPr wrap="square" lIns="0" tIns="0" rIns="0" bIns="0" rtlCol="0" anchor="t"/>
          <a:lstStyle/>
          <a:p>
            <a:pPr marL="0" indent="0">
              <a:lnSpc>
                <a:spcPts val="2100"/>
              </a:lnSpc>
              <a:buNone/>
            </a:pPr>
            <a:r>
              <a:rPr lang="en-US" sz="1400" dirty="0">
                <a:solidFill>
                  <a:srgbClr val="141414"/>
                </a:solidFill>
                <a:latin typeface="Arial" pitchFamily="34" charset="0"/>
                <a:ea typeface="Arial" pitchFamily="34" charset="-122"/>
                <a:cs typeface="Arial" pitchFamily="34" charset="-120"/>
              </a:rPr>
              <a:t>By the third change nobody remembers what the original score was, so there is nothing to compare against.</a:t>
            </a:r>
            <a:endParaRPr lang="en-US" sz="1400" dirty="0"/>
          </a:p>
        </p:txBody>
      </p:sp>
      <p:sp>
        <p:nvSpPr>
          <p:cNvPr id="17" name="Shape 15"/>
          <p:cNvSpPr/>
          <p:nvPr/>
        </p:nvSpPr>
        <p:spPr>
          <a:xfrm>
            <a:off x="6178144" y="4700382"/>
            <a:ext cx="5227168" cy="21726"/>
          </a:xfrm>
          <a:prstGeom prst="rect">
            <a:avLst/>
          </a:prstGeom>
          <a:solidFill>
            <a:srgbClr val="141414"/>
          </a:solidFill>
          <a:ln/>
        </p:spPr>
        <p:txBody>
          <a:bodyPr/>
          <a:lstStyle/>
          <a:p>
            <a:endParaRPr lang="en-HK"/>
          </a:p>
        </p:txBody>
      </p:sp>
      <p:sp>
        <p:nvSpPr>
          <p:cNvPr id="18" name="Text 16"/>
          <p:cNvSpPr/>
          <p:nvPr/>
        </p:nvSpPr>
        <p:spPr>
          <a:xfrm>
            <a:off x="6178144" y="4893503"/>
            <a:ext cx="5227168" cy="454304"/>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Rebuilding the index by accident</a:t>
            </a:r>
            <a:endParaRPr lang="en-US" sz="1950" dirty="0"/>
          </a:p>
        </p:txBody>
      </p:sp>
      <p:sp>
        <p:nvSpPr>
          <p:cNvPr id="19" name="Text 17"/>
          <p:cNvSpPr/>
          <p:nvPr/>
        </p:nvSpPr>
        <p:spPr>
          <a:xfrm>
            <a:off x="6178144" y="5444368"/>
            <a:ext cx="5227168" cy="764438"/>
          </a:xfrm>
          <a:prstGeom prst="rect">
            <a:avLst/>
          </a:prstGeom>
          <a:noFill/>
          <a:ln/>
        </p:spPr>
        <p:txBody>
          <a:bodyPr wrap="square" lIns="0" tIns="0" rIns="0" bIns="0" rtlCol="0" anchor="t"/>
          <a:lstStyle/>
          <a:p>
            <a:pPr marL="0" indent="0">
              <a:lnSpc>
                <a:spcPts val="2100"/>
              </a:lnSpc>
              <a:buNone/>
            </a:pPr>
            <a:r>
              <a:rPr lang="en-US" sz="1400" dirty="0">
                <a:solidFill>
                  <a:srgbClr val="141414"/>
                </a:solidFill>
                <a:latin typeface="Arial" pitchFamily="34" charset="0"/>
                <a:ea typeface="Arial" pitchFamily="34" charset="-122"/>
                <a:cs typeface="Arial" pitchFamily="34" charset="-120"/>
              </a:rPr>
              <a:t>Two people run the build script at once and commit conflicting binary files. Agree who owns the database.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1212"/>
        </a:solidFill>
        <a:effectLst/>
      </p:bgPr>
    </p:bg>
    <p:spTree>
      <p:nvGrpSpPr>
        <p:cNvPr id="1" name=""/>
        <p:cNvGrpSpPr/>
        <p:nvPr/>
      </p:nvGrpSpPr>
      <p:grpSpPr>
        <a:xfrm>
          <a:off x="0" y="0"/>
          <a:ext cx="0" cy="0"/>
          <a:chOff x="0" y="0"/>
          <a:chExt cx="0" cy="0"/>
        </a:xfrm>
      </p:grpSpPr>
      <p:sp>
        <p:nvSpPr>
          <p:cNvPr id="2" name="Text 0"/>
          <p:cNvSpPr/>
          <p:nvPr/>
        </p:nvSpPr>
        <p:spPr>
          <a:xfrm>
            <a:off x="8899855" y="960120"/>
            <a:ext cx="3017520" cy="3200400"/>
          </a:xfrm>
          <a:prstGeom prst="rect">
            <a:avLst/>
          </a:prstGeom>
          <a:noFill/>
          <a:ln/>
        </p:spPr>
        <p:txBody>
          <a:bodyPr wrap="square" lIns="0" tIns="0" rIns="0" bIns="0" rtlCol="0" anchor="ctr"/>
          <a:lstStyle/>
          <a:p>
            <a:pPr marL="0" indent="0" algn="r">
              <a:buNone/>
            </a:pPr>
            <a:r>
              <a:rPr lang="en-US" sz="9600" b="1" dirty="0">
                <a:solidFill>
                  <a:srgbClr val="3D3934"/>
                </a:solidFill>
                <a:latin typeface="Arial" pitchFamily="34" charset="0"/>
                <a:ea typeface="Arial" pitchFamily="34" charset="-122"/>
                <a:cs typeface="Arial" pitchFamily="34" charset="-120"/>
              </a:rPr>
              <a:t>2</a:t>
            </a:r>
            <a:endParaRPr lang="en-US" sz="9600" dirty="0"/>
          </a:p>
        </p:txBody>
      </p:sp>
      <p:sp>
        <p:nvSpPr>
          <p:cNvPr id="3" name="Text 1"/>
          <p:cNvSpPr/>
          <p:nvPr/>
        </p:nvSpPr>
        <p:spPr>
          <a:xfrm>
            <a:off x="786384" y="1975104"/>
            <a:ext cx="10618927" cy="274320"/>
          </a:xfrm>
          <a:prstGeom prst="rect">
            <a:avLst/>
          </a:prstGeom>
          <a:noFill/>
          <a:ln/>
        </p:spPr>
        <p:txBody>
          <a:bodyPr wrap="square" lIns="0" tIns="0" rIns="0" bIns="0" rtlCol="0" anchor="ctr"/>
          <a:lstStyle/>
          <a:p>
            <a:pPr marL="0" indent="0">
              <a:buNone/>
            </a:pPr>
            <a:r>
              <a:rPr lang="en-US" sz="1200" b="1" kern="0" spc="260" dirty="0">
                <a:solidFill>
                  <a:srgbClr val="C0402A"/>
                </a:solidFill>
                <a:latin typeface="Arial" pitchFamily="34" charset="0"/>
                <a:ea typeface="Arial" pitchFamily="34" charset="-122"/>
                <a:cs typeface="Arial" pitchFamily="34" charset="-120"/>
              </a:rPr>
              <a:t>BLOCK 2</a:t>
            </a:r>
            <a:endParaRPr lang="en-US" sz="1200" dirty="0"/>
          </a:p>
        </p:txBody>
      </p:sp>
      <p:sp>
        <p:nvSpPr>
          <p:cNvPr id="4" name="Shape 2"/>
          <p:cNvSpPr/>
          <p:nvPr/>
        </p:nvSpPr>
        <p:spPr>
          <a:xfrm>
            <a:off x="786384" y="2377440"/>
            <a:ext cx="1371600" cy="20117"/>
          </a:xfrm>
          <a:prstGeom prst="rect">
            <a:avLst/>
          </a:prstGeom>
          <a:solidFill>
            <a:srgbClr val="C0402A"/>
          </a:solidFill>
          <a:ln/>
        </p:spPr>
        <p:txBody>
          <a:bodyPr/>
          <a:lstStyle/>
          <a:p>
            <a:endParaRPr lang="en-HK"/>
          </a:p>
        </p:txBody>
      </p:sp>
      <p:sp>
        <p:nvSpPr>
          <p:cNvPr id="5" name="Text 3"/>
          <p:cNvSpPr/>
          <p:nvPr/>
        </p:nvSpPr>
        <p:spPr>
          <a:xfrm>
            <a:off x="786384" y="2596896"/>
            <a:ext cx="7024421" cy="1188720"/>
          </a:xfrm>
          <a:prstGeom prst="rect">
            <a:avLst/>
          </a:prstGeom>
          <a:noFill/>
          <a:ln/>
        </p:spPr>
        <p:txBody>
          <a:bodyPr wrap="square" lIns="0" tIns="0" rIns="0" bIns="0" rtlCol="0" anchor="ctr"/>
          <a:lstStyle/>
          <a:p>
            <a:pPr marL="0" indent="0">
              <a:lnSpc>
                <a:spcPts val="4000"/>
              </a:lnSpc>
              <a:buNone/>
            </a:pPr>
            <a:r>
              <a:rPr lang="en-US" sz="3600" b="1" dirty="0">
                <a:solidFill>
                  <a:srgbClr val="FAF8F5"/>
                </a:solidFill>
                <a:latin typeface="Arial" pitchFamily="34" charset="0"/>
                <a:ea typeface="Arial" pitchFamily="34" charset="-122"/>
                <a:cs typeface="Arial" pitchFamily="34" charset="-120"/>
              </a:rPr>
              <a:t>What Is RAG?</a:t>
            </a:r>
            <a:endParaRPr lang="en-US" sz="3600" dirty="0"/>
          </a:p>
        </p:txBody>
      </p:sp>
      <p:sp>
        <p:nvSpPr>
          <p:cNvPr id="6" name="Text 4"/>
          <p:cNvSpPr/>
          <p:nvPr/>
        </p:nvSpPr>
        <p:spPr>
          <a:xfrm>
            <a:off x="786384" y="3895344"/>
            <a:ext cx="6125794" cy="822960"/>
          </a:xfrm>
          <a:prstGeom prst="rect">
            <a:avLst/>
          </a:prstGeom>
          <a:noFill/>
          <a:ln/>
        </p:spPr>
        <p:txBody>
          <a:bodyPr wrap="square" lIns="0" tIns="0" rIns="0" bIns="0" rtlCol="0" anchor="ctr"/>
          <a:lstStyle/>
          <a:p>
            <a:pPr marL="0" indent="0">
              <a:lnSpc>
                <a:spcPts val="2300"/>
              </a:lnSpc>
              <a:buNone/>
            </a:pPr>
            <a:r>
              <a:rPr lang="en-US" sz="1750" dirty="0">
                <a:solidFill>
                  <a:srgbClr val="A8A39B"/>
                </a:solidFill>
                <a:latin typeface="Arial" pitchFamily="34" charset="0"/>
                <a:ea typeface="Arial" pitchFamily="34" charset="-122"/>
                <a:cs typeface="Arial" pitchFamily="34" charset="-120"/>
              </a:rPr>
              <a:t>Why a model invents answers, and what retrieval does about it.</a:t>
            </a:r>
            <a:endParaRPr lang="en-US" sz="1750" dirty="0"/>
          </a:p>
        </p:txBody>
      </p:sp>
      <p:sp>
        <p:nvSpPr>
          <p:cNvPr id="7" name="Text 5"/>
          <p:cNvSpPr/>
          <p:nvPr/>
        </p:nvSpPr>
        <p:spPr>
          <a:xfrm>
            <a:off x="9210751" y="5358384"/>
            <a:ext cx="2194560" cy="310896"/>
          </a:xfrm>
          <a:prstGeom prst="rect">
            <a:avLst/>
          </a:prstGeom>
          <a:noFill/>
          <a:ln/>
        </p:spPr>
        <p:txBody>
          <a:bodyPr wrap="square" lIns="0" tIns="0" rIns="0" bIns="0" rtlCol="0" anchor="ctr"/>
          <a:lstStyle/>
          <a:p>
            <a:pPr marL="0" indent="0" algn="r">
              <a:buNone/>
            </a:pPr>
            <a:r>
              <a:rPr lang="en-US" sz="1450" b="1" kern="0" spc="180" dirty="0">
                <a:solidFill>
                  <a:srgbClr val="C0402A"/>
                </a:solidFill>
                <a:latin typeface="Arial" pitchFamily="34" charset="0"/>
                <a:ea typeface="Arial" pitchFamily="34" charset="-122"/>
                <a:cs typeface="Arial" pitchFamily="34" charset="-120"/>
              </a:rPr>
              <a:t>10 MIN</a:t>
            </a:r>
            <a:endParaRPr lang="en-US" sz="1450" dirty="0"/>
          </a:p>
        </p:txBody>
      </p:sp>
      <p:sp>
        <p:nvSpPr>
          <p:cNvPr id="8" name="Shape 6"/>
          <p:cNvSpPr/>
          <p:nvPr/>
        </p:nvSpPr>
        <p:spPr>
          <a:xfrm>
            <a:off x="786384" y="5358384"/>
            <a:ext cx="585216" cy="292608"/>
          </a:xfrm>
          <a:prstGeom prst="rect">
            <a:avLst/>
          </a:prstGeom>
          <a:solidFill>
            <a:srgbClr val="121212"/>
          </a:solidFill>
          <a:ln w="9525">
            <a:solidFill>
              <a:srgbClr val="45423E"/>
            </a:solidFill>
            <a:prstDash val="solid"/>
          </a:ln>
        </p:spPr>
        <p:txBody>
          <a:bodyPr/>
          <a:lstStyle/>
          <a:p>
            <a:endParaRPr lang="en-HK"/>
          </a:p>
        </p:txBody>
      </p:sp>
      <p:sp>
        <p:nvSpPr>
          <p:cNvPr id="9" name="Text 7"/>
          <p:cNvSpPr/>
          <p:nvPr/>
        </p:nvSpPr>
        <p:spPr>
          <a:xfrm>
            <a:off x="786384" y="5358384"/>
            <a:ext cx="585216" cy="292608"/>
          </a:xfrm>
          <a:prstGeom prst="rect">
            <a:avLst/>
          </a:prstGeom>
          <a:noFill/>
          <a:ln/>
        </p:spPr>
        <p:txBody>
          <a:bodyPr wrap="square" lIns="0" tIns="0" rIns="0" bIns="0" rtlCol="0" anchor="ctr"/>
          <a:lstStyle/>
          <a:p>
            <a:pPr marL="0" indent="0" algn="ctr">
              <a:buNone/>
            </a:pPr>
            <a:r>
              <a:rPr lang="en-US" sz="1100" b="1" kern="0" spc="60" dirty="0">
                <a:solidFill>
                  <a:srgbClr val="B5B0A8"/>
                </a:solidFill>
                <a:latin typeface="Arial" pitchFamily="34" charset="0"/>
                <a:ea typeface="Arial" pitchFamily="34" charset="-122"/>
                <a:cs typeface="Arial" pitchFamily="34" charset="-120"/>
              </a:rPr>
              <a:t>LV1</a:t>
            </a:r>
            <a:endParaRPr lang="en-US" sz="1100" dirty="0"/>
          </a:p>
        </p:txBody>
      </p:sp>
      <p:sp>
        <p:nvSpPr>
          <p:cNvPr id="10" name="Text 8"/>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56534E"/>
                </a:solidFill>
                <a:latin typeface="Arial" pitchFamily="34" charset="0"/>
                <a:ea typeface="Arial" pitchFamily="34" charset="-122"/>
                <a:cs typeface="Arial"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How LLMs Generate Text</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5" name="Text 3"/>
          <p:cNvSpPr/>
          <p:nvPr/>
        </p:nvSpPr>
        <p:spPr>
          <a:xfrm>
            <a:off x="10801807"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8A857D"/>
                </a:solidFill>
                <a:latin typeface="Arial" pitchFamily="34" charset="0"/>
                <a:ea typeface="Arial" pitchFamily="34" charset="-122"/>
                <a:cs typeface="Arial" pitchFamily="34" charset="-120"/>
              </a:rPr>
              <a:t>LV1</a:t>
            </a:r>
            <a:endParaRPr lang="en-US" sz="1100" dirty="0"/>
          </a:p>
        </p:txBody>
      </p:sp>
      <p:sp>
        <p:nvSpPr>
          <p:cNvPr id="6" name="Shape 4"/>
          <p:cNvSpPr/>
          <p:nvPr/>
        </p:nvSpPr>
        <p:spPr>
          <a:xfrm>
            <a:off x="786384" y="1426464"/>
            <a:ext cx="10618927" cy="10973"/>
          </a:xfrm>
          <a:prstGeom prst="rect">
            <a:avLst/>
          </a:prstGeom>
          <a:solidFill>
            <a:srgbClr val="D5D1CA"/>
          </a:solidFill>
          <a:ln/>
        </p:spPr>
        <p:txBody>
          <a:bodyPr/>
          <a:lstStyle/>
          <a:p>
            <a:endParaRPr lang="en-HK"/>
          </a:p>
        </p:txBody>
      </p:sp>
      <p:sp>
        <p:nvSpPr>
          <p:cNvPr id="7" name="Text 5"/>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08</a:t>
            </a:r>
            <a:endParaRPr lang="en-US" sz="1200" dirty="0"/>
          </a:p>
        </p:txBody>
      </p:sp>
      <p:sp>
        <p:nvSpPr>
          <p:cNvPr id="9" name="Text 6"/>
          <p:cNvSpPr/>
          <p:nvPr/>
        </p:nvSpPr>
        <p:spPr>
          <a:xfrm>
            <a:off x="786384" y="1806547"/>
            <a:ext cx="6125794" cy="971950"/>
          </a:xfrm>
          <a:prstGeom prst="rect">
            <a:avLst/>
          </a:prstGeom>
          <a:noFill/>
          <a:ln/>
        </p:spPr>
        <p:txBody>
          <a:bodyPr wrap="square" lIns="0" tIns="0" rIns="0" bIns="0" rtlCol="0" anchor="ctr"/>
          <a:lstStyle/>
          <a:p>
            <a:pPr marL="0" indent="0">
              <a:lnSpc>
                <a:spcPts val="2500"/>
              </a:lnSpc>
              <a:buNone/>
            </a:pPr>
            <a:r>
              <a:rPr lang="en-US" sz="1650" dirty="0">
                <a:solidFill>
                  <a:srgbClr val="141414"/>
                </a:solidFill>
                <a:latin typeface="Arial" pitchFamily="34" charset="0"/>
                <a:ea typeface="Arial" pitchFamily="34" charset="-122"/>
                <a:cs typeface="Arial" pitchFamily="34" charset="-120"/>
              </a:rPr>
              <a:t>A language model does not search a database. It reads the text so far, assigns a probability to every possible next token, picks one, adds it to the text and repeats. A token is about three quarters of a word.</a:t>
            </a:r>
            <a:endParaRPr lang="en-US" sz="1650" dirty="0"/>
          </a:p>
        </p:txBody>
      </p:sp>
      <p:sp>
        <p:nvSpPr>
          <p:cNvPr id="10" name="Shape 7"/>
          <p:cNvSpPr/>
          <p:nvPr/>
        </p:nvSpPr>
        <p:spPr>
          <a:xfrm>
            <a:off x="786384" y="2934009"/>
            <a:ext cx="6125794" cy="1832125"/>
          </a:xfrm>
          <a:prstGeom prst="rect">
            <a:avLst/>
          </a:prstGeom>
          <a:solidFill>
            <a:srgbClr val="F2EFEA"/>
          </a:solidFill>
          <a:ln/>
        </p:spPr>
        <p:txBody>
          <a:bodyPr/>
          <a:lstStyle/>
          <a:p>
            <a:endParaRPr lang="en-HK"/>
          </a:p>
        </p:txBody>
      </p:sp>
      <p:sp>
        <p:nvSpPr>
          <p:cNvPr id="11" name="Shape 8"/>
          <p:cNvSpPr/>
          <p:nvPr/>
        </p:nvSpPr>
        <p:spPr>
          <a:xfrm>
            <a:off x="786384" y="2934009"/>
            <a:ext cx="27432" cy="1832125"/>
          </a:xfrm>
          <a:prstGeom prst="rect">
            <a:avLst/>
          </a:prstGeom>
          <a:solidFill>
            <a:srgbClr val="C0402A"/>
          </a:solidFill>
          <a:ln/>
        </p:spPr>
        <p:txBody>
          <a:bodyPr/>
          <a:lstStyle/>
          <a:p>
            <a:endParaRPr lang="en-HK"/>
          </a:p>
        </p:txBody>
      </p:sp>
      <p:sp>
        <p:nvSpPr>
          <p:cNvPr id="12" name="Text 9"/>
          <p:cNvSpPr/>
          <p:nvPr/>
        </p:nvSpPr>
        <p:spPr>
          <a:xfrm>
            <a:off x="1042416" y="3089521"/>
            <a:ext cx="5686882" cy="1521101"/>
          </a:xfrm>
          <a:prstGeom prst="rect">
            <a:avLst/>
          </a:prstGeom>
          <a:noFill/>
          <a:ln/>
        </p:spPr>
        <p:txBody>
          <a:bodyPr wrap="square" lIns="0" tIns="0" rIns="0" bIns="0" rtlCol="0" anchor="t"/>
          <a:lstStyle/>
          <a:p>
            <a:pPr marL="0" indent="0">
              <a:lnSpc>
                <a:spcPts val="1900"/>
              </a:lnSpc>
              <a:buNone/>
            </a:pPr>
            <a:r>
              <a:rPr lang="en-US" sz="1300" dirty="0">
                <a:solidFill>
                  <a:srgbClr val="2A2724"/>
                </a:solidFill>
                <a:latin typeface="Courier New" pitchFamily="34" charset="0"/>
                <a:ea typeface="Courier New" pitchFamily="34" charset="-122"/>
                <a:cs typeface="Courier New" pitchFamily="34" charset="-120"/>
              </a:rPr>
              <a:t>prompt:  "The Innovation Wing belongs to the Faculty of"</a:t>
            </a:r>
            <a:endParaRPr lang="en-US" sz="1300" dirty="0"/>
          </a:p>
          <a:p>
            <a:pPr marL="0" indent="0">
              <a:lnSpc>
                <a:spcPts val="1900"/>
              </a:lnSpc>
              <a:buNone/>
            </a:pPr>
            <a:endParaRPr lang="en-US" sz="1300" dirty="0"/>
          </a:p>
          <a:p>
            <a:pPr marL="0" indent="0">
              <a:lnSpc>
                <a:spcPts val="1900"/>
              </a:lnSpc>
              <a:buNone/>
            </a:pPr>
            <a:r>
              <a:rPr lang="en-US" sz="1300" dirty="0">
                <a:solidFill>
                  <a:srgbClr val="2A2724"/>
                </a:solidFill>
                <a:latin typeface="Courier New" pitchFamily="34" charset="0"/>
                <a:ea typeface="Courier New" pitchFamily="34" charset="-122"/>
                <a:cs typeface="Courier New" pitchFamily="34" charset="-120"/>
              </a:rPr>
              <a:t>  Engineering   0.71</a:t>
            </a:r>
            <a:endParaRPr lang="en-US" sz="1300" dirty="0"/>
          </a:p>
          <a:p>
            <a:pPr marL="0" indent="0">
              <a:lnSpc>
                <a:spcPts val="1900"/>
              </a:lnSpc>
              <a:buNone/>
            </a:pPr>
            <a:r>
              <a:rPr lang="en-US" sz="1300" dirty="0">
                <a:solidFill>
                  <a:srgbClr val="2A2724"/>
                </a:solidFill>
                <a:latin typeface="Courier New" pitchFamily="34" charset="0"/>
                <a:ea typeface="Courier New" pitchFamily="34" charset="-122"/>
                <a:cs typeface="Courier New" pitchFamily="34" charset="-120"/>
              </a:rPr>
              <a:t>  Science       0.14</a:t>
            </a:r>
            <a:endParaRPr lang="en-US" sz="1300" dirty="0"/>
          </a:p>
          <a:p>
            <a:pPr marL="0" indent="0">
              <a:lnSpc>
                <a:spcPts val="1900"/>
              </a:lnSpc>
              <a:buNone/>
            </a:pPr>
            <a:r>
              <a:rPr lang="en-US" sz="1300" dirty="0">
                <a:solidFill>
                  <a:srgbClr val="2A2724"/>
                </a:solidFill>
                <a:latin typeface="Courier New" pitchFamily="34" charset="0"/>
                <a:ea typeface="Courier New" pitchFamily="34" charset="-122"/>
                <a:cs typeface="Courier New" pitchFamily="34" charset="-120"/>
              </a:rPr>
              <a:t>  Business      0.06</a:t>
            </a:r>
            <a:endParaRPr lang="en-US" sz="1300" dirty="0"/>
          </a:p>
        </p:txBody>
      </p:sp>
      <p:sp>
        <p:nvSpPr>
          <p:cNvPr id="14" name="Shape 11"/>
          <p:cNvSpPr/>
          <p:nvPr/>
        </p:nvSpPr>
        <p:spPr>
          <a:xfrm>
            <a:off x="7314514" y="2039815"/>
            <a:ext cx="3853053" cy="23327"/>
          </a:xfrm>
          <a:prstGeom prst="rect">
            <a:avLst/>
          </a:prstGeom>
          <a:solidFill>
            <a:srgbClr val="C0402A"/>
          </a:solidFill>
          <a:ln/>
        </p:spPr>
        <p:txBody>
          <a:bodyPr/>
          <a:lstStyle/>
          <a:p>
            <a:endParaRPr lang="en-HK"/>
          </a:p>
        </p:txBody>
      </p:sp>
      <p:sp>
        <p:nvSpPr>
          <p:cNvPr id="15" name="Text 12"/>
          <p:cNvSpPr/>
          <p:nvPr/>
        </p:nvSpPr>
        <p:spPr>
          <a:xfrm>
            <a:off x="7314514" y="2195327"/>
            <a:ext cx="3853053" cy="365831"/>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Nothing here checks for truth</a:t>
            </a:r>
            <a:endParaRPr lang="en-US" sz="1950" dirty="0"/>
          </a:p>
        </p:txBody>
      </p:sp>
      <p:sp>
        <p:nvSpPr>
          <p:cNvPr id="16" name="Text 13"/>
          <p:cNvSpPr/>
          <p:nvPr/>
        </p:nvSpPr>
        <p:spPr>
          <a:xfrm>
            <a:off x="7314514" y="2638914"/>
            <a:ext cx="3853053" cy="2370477"/>
          </a:xfrm>
          <a:prstGeom prst="rect">
            <a:avLst/>
          </a:prstGeom>
          <a:noFill/>
          <a:ln/>
        </p:spPr>
        <p:txBody>
          <a:bodyPr wrap="square" lIns="0" tIns="0" rIns="0" bIns="0" rtlCol="0" anchor="t"/>
          <a:lstStyle/>
          <a:p>
            <a:pPr marL="0" indent="0">
              <a:lnSpc>
                <a:spcPts val="2150"/>
              </a:lnSpc>
              <a:buNone/>
            </a:pPr>
            <a:r>
              <a:rPr lang="en-US" sz="1450" dirty="0">
                <a:solidFill>
                  <a:srgbClr val="141414"/>
                </a:solidFill>
                <a:latin typeface="Arial" pitchFamily="34" charset="0"/>
                <a:ea typeface="Arial" pitchFamily="34" charset="-122"/>
                <a:cs typeface="Arial" pitchFamily="34" charset="-120"/>
              </a:rPr>
              <a:t>The process selects likely text, not correct text. A confident, fluent, well-written answer is not evidence that the answer is right.</a:t>
            </a:r>
            <a:endParaRPr lang="en-US" sz="1450" dirty="0"/>
          </a:p>
          <a:p>
            <a:pPr marL="0" indent="0">
              <a:lnSpc>
                <a:spcPts val="2150"/>
              </a:lnSpc>
              <a:buNone/>
            </a:pPr>
            <a:endParaRPr lang="en-US" sz="1450" dirty="0"/>
          </a:p>
          <a:p>
            <a:pPr marL="0" indent="0">
              <a:lnSpc>
                <a:spcPts val="2150"/>
              </a:lnSpc>
              <a:buNone/>
            </a:pPr>
            <a:r>
              <a:rPr lang="en-US" sz="1450" dirty="0">
                <a:solidFill>
                  <a:srgbClr val="141414"/>
                </a:solidFill>
                <a:latin typeface="Arial" pitchFamily="34" charset="0"/>
                <a:ea typeface="Arial" pitchFamily="34" charset="-122"/>
                <a:cs typeface="Arial" pitchFamily="34" charset="-120"/>
              </a:rPr>
              <a:t>This is what hallucination is. It is not a defect to be prompted away, it is what the mechanism does.</a:t>
            </a:r>
            <a:endParaRPr lang="en-US" sz="1450" dirty="0"/>
          </a:p>
        </p:txBody>
      </p:sp>
      <p:sp>
        <p:nvSpPr>
          <p:cNvPr id="17" name="Text 14"/>
          <p:cNvSpPr/>
          <p:nvPr/>
        </p:nvSpPr>
        <p:spPr>
          <a:xfrm>
            <a:off x="786384" y="4788621"/>
            <a:ext cx="6125794" cy="388780"/>
          </a:xfrm>
          <a:prstGeom prst="rect">
            <a:avLst/>
          </a:prstGeom>
          <a:noFill/>
          <a:ln/>
        </p:spPr>
        <p:txBody>
          <a:bodyPr wrap="square" lIns="0" tIns="0" rIns="0" bIns="0" rtlCol="0" anchor="ctr"/>
          <a:lstStyle/>
          <a:p>
            <a:pPr marL="0" indent="0">
              <a:buNone/>
            </a:pPr>
            <a:r>
              <a:rPr lang="en-US" sz="1900" b="1" dirty="0">
                <a:solidFill>
                  <a:srgbClr val="141414"/>
                </a:solidFill>
                <a:latin typeface="Arial" pitchFamily="34" charset="0"/>
                <a:ea typeface="Arial" pitchFamily="34" charset="-122"/>
                <a:cs typeface="Arial" pitchFamily="34" charset="-120"/>
              </a:rPr>
              <a:t>Two behaviours follow directly</a:t>
            </a:r>
            <a:endParaRPr lang="en-US" sz="1900" dirty="0"/>
          </a:p>
        </p:txBody>
      </p:sp>
      <p:sp>
        <p:nvSpPr>
          <p:cNvPr id="18" name="Shape 15"/>
          <p:cNvSpPr/>
          <p:nvPr/>
        </p:nvSpPr>
        <p:spPr>
          <a:xfrm>
            <a:off x="786384" y="5277623"/>
            <a:ext cx="155448" cy="19439"/>
          </a:xfrm>
          <a:prstGeom prst="rect">
            <a:avLst/>
          </a:prstGeom>
          <a:solidFill>
            <a:srgbClr val="C0402A"/>
          </a:solidFill>
          <a:ln/>
        </p:spPr>
        <p:txBody>
          <a:bodyPr/>
          <a:lstStyle/>
          <a:p>
            <a:endParaRPr lang="en-HK"/>
          </a:p>
        </p:txBody>
      </p:sp>
      <p:sp>
        <p:nvSpPr>
          <p:cNvPr id="19" name="Text 16"/>
          <p:cNvSpPr/>
          <p:nvPr/>
        </p:nvSpPr>
        <p:spPr>
          <a:xfrm>
            <a:off x="1097280" y="5150054"/>
            <a:ext cx="9409405" cy="665786"/>
          </a:xfrm>
          <a:prstGeom prst="rect">
            <a:avLst/>
          </a:prstGeom>
          <a:noFill/>
          <a:ln/>
        </p:spPr>
        <p:txBody>
          <a:bodyPr wrap="square" lIns="0" tIns="0" rIns="0" bIns="0" rtlCol="0" anchor="t"/>
          <a:lstStyle/>
          <a:p>
            <a:pPr marL="0" indent="0">
              <a:lnSpc>
                <a:spcPts val="2250"/>
              </a:lnSpc>
              <a:buNone/>
            </a:pPr>
            <a:r>
              <a:rPr lang="en-US" sz="1550" dirty="0">
                <a:solidFill>
                  <a:srgbClr val="141414"/>
                </a:solidFill>
                <a:latin typeface="Arial" pitchFamily="34" charset="0"/>
                <a:ea typeface="Arial" pitchFamily="34" charset="-122"/>
                <a:cs typeface="Arial" pitchFamily="34" charset="-120"/>
              </a:rPr>
              <a:t>Asked about something absent from its training data, the model still answers. Returning nothing is not one of the options available to it.</a:t>
            </a:r>
            <a:endParaRPr lang="en-US" sz="1550" dirty="0"/>
          </a:p>
        </p:txBody>
      </p:sp>
      <p:sp>
        <p:nvSpPr>
          <p:cNvPr id="20" name="Shape 17"/>
          <p:cNvSpPr/>
          <p:nvPr/>
        </p:nvSpPr>
        <p:spPr>
          <a:xfrm>
            <a:off x="786384" y="6001725"/>
            <a:ext cx="155448" cy="19439"/>
          </a:xfrm>
          <a:prstGeom prst="rect">
            <a:avLst/>
          </a:prstGeom>
          <a:solidFill>
            <a:srgbClr val="C0402A"/>
          </a:solidFill>
          <a:ln/>
        </p:spPr>
        <p:txBody>
          <a:bodyPr/>
          <a:lstStyle/>
          <a:p>
            <a:endParaRPr lang="en-HK"/>
          </a:p>
        </p:txBody>
      </p:sp>
      <p:sp>
        <p:nvSpPr>
          <p:cNvPr id="21" name="Text 18"/>
          <p:cNvSpPr/>
          <p:nvPr/>
        </p:nvSpPr>
        <p:spPr>
          <a:xfrm>
            <a:off x="1097280" y="5874157"/>
            <a:ext cx="9409405" cy="362051"/>
          </a:xfrm>
          <a:prstGeom prst="rect">
            <a:avLst/>
          </a:prstGeom>
          <a:noFill/>
          <a:ln/>
        </p:spPr>
        <p:txBody>
          <a:bodyPr wrap="square" lIns="0" tIns="0" rIns="0" bIns="0" rtlCol="0" anchor="t"/>
          <a:lstStyle/>
          <a:p>
            <a:pPr marL="0" indent="0">
              <a:lnSpc>
                <a:spcPts val="2250"/>
              </a:lnSpc>
              <a:buNone/>
            </a:pPr>
            <a:r>
              <a:rPr lang="en-US" sz="1550" dirty="0">
                <a:solidFill>
                  <a:srgbClr val="141414"/>
                </a:solidFill>
                <a:latin typeface="Arial" pitchFamily="34" charset="0"/>
                <a:ea typeface="Arial" pitchFamily="34" charset="-122"/>
                <a:cs typeface="Arial" pitchFamily="34" charset="-120"/>
              </a:rPr>
              <a:t>Where a fact was present but rare, a more common wrong answer can carry a higher probability than the right one.</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Closed Book vs Open Book</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5" name="Text 3"/>
          <p:cNvSpPr/>
          <p:nvPr/>
        </p:nvSpPr>
        <p:spPr>
          <a:xfrm>
            <a:off x="10801807"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8A857D"/>
                </a:solidFill>
                <a:latin typeface="Arial" pitchFamily="34" charset="0"/>
                <a:ea typeface="Arial" pitchFamily="34" charset="-122"/>
                <a:cs typeface="Arial" pitchFamily="34" charset="-120"/>
              </a:rPr>
              <a:t>LV1</a:t>
            </a:r>
            <a:endParaRPr lang="en-US" sz="1100" dirty="0"/>
          </a:p>
        </p:txBody>
      </p:sp>
      <p:sp>
        <p:nvSpPr>
          <p:cNvPr id="6" name="Shape 4"/>
          <p:cNvSpPr/>
          <p:nvPr/>
        </p:nvSpPr>
        <p:spPr>
          <a:xfrm>
            <a:off x="786384" y="1426464"/>
            <a:ext cx="10618927" cy="10973"/>
          </a:xfrm>
          <a:prstGeom prst="rect">
            <a:avLst/>
          </a:prstGeom>
          <a:solidFill>
            <a:srgbClr val="D5D1CA"/>
          </a:solidFill>
          <a:ln/>
        </p:spPr>
        <p:txBody>
          <a:bodyPr/>
          <a:lstStyle/>
          <a:p>
            <a:endParaRPr lang="en-HK"/>
          </a:p>
        </p:txBody>
      </p:sp>
      <p:sp>
        <p:nvSpPr>
          <p:cNvPr id="7" name="Text 5"/>
          <p:cNvSpPr/>
          <p:nvPr/>
        </p:nvSpPr>
        <p:spPr>
          <a:xfrm>
            <a:off x="786384" y="1554480"/>
            <a:ext cx="8821674" cy="694944"/>
          </a:xfrm>
          <a:prstGeom prst="rect">
            <a:avLst/>
          </a:prstGeom>
          <a:noFill/>
          <a:ln/>
        </p:spPr>
        <p:txBody>
          <a:bodyPr wrap="square" lIns="0" tIns="0" rIns="0" bIns="0" rtlCol="0" anchor="ctr"/>
          <a:lstStyle/>
          <a:p>
            <a:pPr marL="0" indent="0">
              <a:lnSpc>
                <a:spcPts val="2200"/>
              </a:lnSpc>
              <a:buNone/>
            </a:pPr>
            <a:r>
              <a:rPr lang="en-US" sz="1750" dirty="0">
                <a:solidFill>
                  <a:srgbClr val="6E6A63"/>
                </a:solidFill>
                <a:latin typeface="Arial" pitchFamily="34" charset="0"/>
                <a:ea typeface="Arial" pitchFamily="34" charset="-122"/>
                <a:cs typeface="Arial" pitchFamily="34" charset="-120"/>
              </a:rPr>
              <a:t>The previous slide showed the model predicting from probability. These two boxes are the same mechanism, run on two different inputs.</a:t>
            </a:r>
            <a:endParaRPr lang="en-US" sz="1750" dirty="0"/>
          </a:p>
        </p:txBody>
      </p:sp>
      <p:sp>
        <p:nvSpPr>
          <p:cNvPr id="8" name="Text 6"/>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09</a:t>
            </a:r>
            <a:endParaRPr lang="en-US" sz="1200" dirty="0"/>
          </a:p>
        </p:txBody>
      </p:sp>
      <p:sp>
        <p:nvSpPr>
          <p:cNvPr id="9" name="Shape 7"/>
          <p:cNvSpPr/>
          <p:nvPr/>
        </p:nvSpPr>
        <p:spPr>
          <a:xfrm>
            <a:off x="786384" y="2826045"/>
            <a:ext cx="5227168" cy="14155"/>
          </a:xfrm>
          <a:prstGeom prst="rect">
            <a:avLst/>
          </a:prstGeom>
          <a:solidFill>
            <a:srgbClr val="D5D1CA"/>
          </a:solidFill>
          <a:ln/>
        </p:spPr>
        <p:txBody>
          <a:bodyPr/>
          <a:lstStyle/>
          <a:p>
            <a:endParaRPr lang="en-HK"/>
          </a:p>
        </p:txBody>
      </p:sp>
      <p:sp>
        <p:nvSpPr>
          <p:cNvPr id="10" name="Text 8"/>
          <p:cNvSpPr/>
          <p:nvPr/>
        </p:nvSpPr>
        <p:spPr>
          <a:xfrm>
            <a:off x="786384" y="2951866"/>
            <a:ext cx="5227168" cy="295986"/>
          </a:xfrm>
          <a:prstGeom prst="rect">
            <a:avLst/>
          </a:prstGeom>
          <a:noFill/>
          <a:ln/>
        </p:spPr>
        <p:txBody>
          <a:bodyPr wrap="square" lIns="0" tIns="0" rIns="0" bIns="0" rtlCol="0" anchor="ctr"/>
          <a:lstStyle/>
          <a:p>
            <a:pPr marL="0" indent="0">
              <a:lnSpc>
                <a:spcPts val="2021"/>
              </a:lnSpc>
              <a:buNone/>
            </a:pPr>
            <a:r>
              <a:rPr lang="en-US" sz="1677" b="1" dirty="0">
                <a:solidFill>
                  <a:srgbClr val="6E6A63"/>
                </a:solidFill>
                <a:latin typeface="Arial" pitchFamily="34" charset="0"/>
                <a:ea typeface="Arial" pitchFamily="34" charset="-122"/>
                <a:cs typeface="Arial" pitchFamily="34" charset="-120"/>
              </a:rPr>
              <a:t>Closed book</a:t>
            </a:r>
            <a:endParaRPr lang="en-US" sz="1677" dirty="0"/>
          </a:p>
        </p:txBody>
      </p:sp>
      <p:sp>
        <p:nvSpPr>
          <p:cNvPr id="11" name="Text 9"/>
          <p:cNvSpPr/>
          <p:nvPr/>
        </p:nvSpPr>
        <p:spPr>
          <a:xfrm>
            <a:off x="786384" y="3310763"/>
            <a:ext cx="5227168" cy="1874215"/>
          </a:xfrm>
          <a:prstGeom prst="rect">
            <a:avLst/>
          </a:prstGeom>
          <a:noFill/>
          <a:ln/>
        </p:spPr>
        <p:txBody>
          <a:bodyPr wrap="square" lIns="0" tIns="0" rIns="0" bIns="0" rtlCol="0" anchor="t"/>
          <a:lstStyle/>
          <a:p>
            <a:pPr marL="0" indent="0">
              <a:lnSpc>
                <a:spcPts val="1806"/>
              </a:lnSpc>
              <a:buNone/>
            </a:pPr>
            <a:r>
              <a:rPr lang="en-US" sz="1204" dirty="0">
                <a:solidFill>
                  <a:srgbClr val="6E6A63"/>
                </a:solidFill>
                <a:latin typeface="Arial" pitchFamily="34" charset="0"/>
                <a:ea typeface="Arial" pitchFamily="34" charset="-122"/>
                <a:cs typeface="Arial" pitchFamily="34" charset="-120"/>
              </a:rPr>
              <a:t>The model predicts the next token using only patterns learned during training.</a:t>
            </a:r>
            <a:endParaRPr lang="en-US" sz="1204" dirty="0"/>
          </a:p>
          <a:p>
            <a:pPr marL="0" indent="0">
              <a:lnSpc>
                <a:spcPts val="1806"/>
              </a:lnSpc>
              <a:buNone/>
            </a:pPr>
            <a:endParaRPr lang="en-US" sz="1204" dirty="0"/>
          </a:p>
          <a:p>
            <a:pPr marL="0" indent="0">
              <a:lnSpc>
                <a:spcPts val="1806"/>
              </a:lnSpc>
              <a:buNone/>
            </a:pPr>
            <a:r>
              <a:rPr lang="en-US" sz="1204" dirty="0">
                <a:solidFill>
                  <a:srgbClr val="6E6A63"/>
                </a:solidFill>
                <a:latin typeface="Arial" pitchFamily="34" charset="0"/>
                <a:ea typeface="Arial" pitchFamily="34" charset="-122"/>
                <a:cs typeface="Arial" pitchFamily="34" charset="-120"/>
              </a:rPr>
              <a:t>If the Inno Wing website was never part of that training, there is no learned pattern pointing at the real answer. The model still has to predict something, so it produces the closest-sounding pattern it has, whether or not that pattern is true.</a:t>
            </a:r>
            <a:endParaRPr lang="en-US" sz="1204" dirty="0"/>
          </a:p>
        </p:txBody>
      </p:sp>
      <p:sp>
        <p:nvSpPr>
          <p:cNvPr id="12" name="Shape 10"/>
          <p:cNvSpPr/>
          <p:nvPr/>
        </p:nvSpPr>
        <p:spPr>
          <a:xfrm>
            <a:off x="6178144" y="2826045"/>
            <a:ext cx="5227168" cy="18873"/>
          </a:xfrm>
          <a:prstGeom prst="rect">
            <a:avLst/>
          </a:prstGeom>
          <a:solidFill>
            <a:srgbClr val="C0402A"/>
          </a:solidFill>
          <a:ln/>
        </p:spPr>
        <p:txBody>
          <a:bodyPr/>
          <a:lstStyle/>
          <a:p>
            <a:endParaRPr lang="en-HK"/>
          </a:p>
        </p:txBody>
      </p:sp>
      <p:sp>
        <p:nvSpPr>
          <p:cNvPr id="13" name="Text 11"/>
          <p:cNvSpPr/>
          <p:nvPr/>
        </p:nvSpPr>
        <p:spPr>
          <a:xfrm>
            <a:off x="6178144" y="2951866"/>
            <a:ext cx="5227168" cy="295986"/>
          </a:xfrm>
          <a:prstGeom prst="rect">
            <a:avLst/>
          </a:prstGeom>
          <a:noFill/>
          <a:ln/>
        </p:spPr>
        <p:txBody>
          <a:bodyPr wrap="square" lIns="0" tIns="0" rIns="0" bIns="0" rtlCol="0" anchor="ctr"/>
          <a:lstStyle/>
          <a:p>
            <a:pPr marL="0" indent="0">
              <a:lnSpc>
                <a:spcPts val="2021"/>
              </a:lnSpc>
              <a:buNone/>
            </a:pPr>
            <a:r>
              <a:rPr lang="en-US" sz="1677" b="1" dirty="0">
                <a:solidFill>
                  <a:srgbClr val="141414"/>
                </a:solidFill>
                <a:latin typeface="Arial" pitchFamily="34" charset="0"/>
                <a:ea typeface="Arial" pitchFamily="34" charset="-122"/>
                <a:cs typeface="Arial" pitchFamily="34" charset="-120"/>
              </a:rPr>
              <a:t>Open book</a:t>
            </a:r>
            <a:endParaRPr lang="en-US" sz="1677" dirty="0"/>
          </a:p>
        </p:txBody>
      </p:sp>
      <p:sp>
        <p:nvSpPr>
          <p:cNvPr id="14" name="Text 12"/>
          <p:cNvSpPr/>
          <p:nvPr/>
        </p:nvSpPr>
        <p:spPr>
          <a:xfrm>
            <a:off x="6178144" y="3310763"/>
            <a:ext cx="5227168" cy="1644853"/>
          </a:xfrm>
          <a:prstGeom prst="rect">
            <a:avLst/>
          </a:prstGeom>
          <a:noFill/>
          <a:ln/>
        </p:spPr>
        <p:txBody>
          <a:bodyPr wrap="square" lIns="0" tIns="0" rIns="0" bIns="0" rtlCol="0" anchor="t"/>
          <a:lstStyle/>
          <a:p>
            <a:pPr marL="0" indent="0">
              <a:lnSpc>
                <a:spcPts val="1806"/>
              </a:lnSpc>
              <a:buNone/>
            </a:pPr>
            <a:r>
              <a:rPr lang="en-US" sz="1204" dirty="0">
                <a:solidFill>
                  <a:srgbClr val="141414"/>
                </a:solidFill>
                <a:latin typeface="Arial" pitchFamily="34" charset="0"/>
                <a:ea typeface="Arial" pitchFamily="34" charset="-122"/>
                <a:cs typeface="Arial" pitchFamily="34" charset="-120"/>
              </a:rPr>
              <a:t>Put the relevant page's text directly in the prompt, then ask the question.</a:t>
            </a:r>
            <a:endParaRPr lang="en-US" sz="1204" dirty="0"/>
          </a:p>
          <a:p>
            <a:pPr marL="0" indent="0">
              <a:lnSpc>
                <a:spcPts val="1806"/>
              </a:lnSpc>
              <a:buNone/>
            </a:pPr>
            <a:endParaRPr lang="en-US" sz="1204" dirty="0"/>
          </a:p>
          <a:p>
            <a:pPr marL="0" indent="0">
              <a:lnSpc>
                <a:spcPts val="1806"/>
              </a:lnSpc>
              <a:buNone/>
            </a:pPr>
            <a:r>
              <a:rPr lang="en-US" sz="1204" dirty="0">
                <a:solidFill>
                  <a:srgbClr val="141414"/>
                </a:solidFill>
                <a:latin typeface="Arial" pitchFamily="34" charset="0"/>
                <a:ea typeface="Arial" pitchFamily="34" charset="-122"/>
                <a:cs typeface="Arial" pitchFamily="34" charset="-120"/>
              </a:rPr>
              <a:t>The model runs the exact same prediction process. The only difference is what it can see: the real answer is now sitting in the text in front of it, so predicting it is far more likely than inventing one.</a:t>
            </a:r>
            <a:endParaRPr lang="en-US" sz="1204" dirty="0"/>
          </a:p>
        </p:txBody>
      </p:sp>
      <p:sp>
        <p:nvSpPr>
          <p:cNvPr id="15" name="Text 13"/>
          <p:cNvSpPr/>
          <p:nvPr/>
        </p:nvSpPr>
        <p:spPr>
          <a:xfrm>
            <a:off x="786384" y="5106558"/>
            <a:ext cx="10087981" cy="550469"/>
          </a:xfrm>
          <a:prstGeom prst="rect">
            <a:avLst/>
          </a:prstGeom>
          <a:noFill/>
          <a:ln/>
        </p:spPr>
        <p:txBody>
          <a:bodyPr wrap="square" lIns="0" tIns="0" rIns="0" bIns="0" rtlCol="0" anchor="ctr"/>
          <a:lstStyle/>
          <a:p>
            <a:pPr marL="0" indent="0">
              <a:lnSpc>
                <a:spcPts val="1892"/>
              </a:lnSpc>
              <a:buNone/>
            </a:pPr>
            <a:r>
              <a:rPr lang="en-US" sz="1290" dirty="0">
                <a:solidFill>
                  <a:srgbClr val="141414"/>
                </a:solidFill>
                <a:latin typeface="Arial" pitchFamily="34" charset="0"/>
                <a:ea typeface="Arial" pitchFamily="34" charset="-122"/>
                <a:cs typeface="Arial" pitchFamily="34" charset="-120"/>
              </a:rPr>
              <a:t>The model does not change between these two boxes. What changes is what it is shown before it starts predicting. That is the entire idea behind Retrieval-Augmented Generation.</a:t>
            </a:r>
            <a:endParaRPr lang="en-US" sz="1290" dirty="0"/>
          </a:p>
        </p:txBody>
      </p:sp>
      <p:sp>
        <p:nvSpPr>
          <p:cNvPr id="16" name="Text 14"/>
          <p:cNvSpPr/>
          <p:nvPr/>
        </p:nvSpPr>
        <p:spPr>
          <a:xfrm>
            <a:off x="786384" y="5657027"/>
            <a:ext cx="10087981" cy="471830"/>
          </a:xfrm>
          <a:prstGeom prst="rect">
            <a:avLst/>
          </a:prstGeom>
          <a:noFill/>
          <a:ln/>
        </p:spPr>
        <p:txBody>
          <a:bodyPr wrap="square" lIns="0" tIns="0" rIns="0" bIns="0" rtlCol="0" anchor="ctr"/>
          <a:lstStyle/>
          <a:p>
            <a:pPr marL="0" indent="0">
              <a:lnSpc>
                <a:spcPts val="1720"/>
              </a:lnSpc>
              <a:buNone/>
            </a:pPr>
            <a:r>
              <a:rPr lang="en-US" sz="1204" dirty="0">
                <a:solidFill>
                  <a:srgbClr val="6E6A63"/>
                </a:solidFill>
                <a:latin typeface="Arial" pitchFamily="34" charset="0"/>
                <a:ea typeface="Arial" pitchFamily="34" charset="-122"/>
                <a:cs typeface="Arial" pitchFamily="34" charset="-120"/>
              </a:rPr>
              <a:t>Level 1 asks about facts common enough to appear during training, so closed book can work. Level 2 and above ask about these two specific websites, almost certainly absent from training, so they need the open-book box to stand a chance.</a:t>
            </a:r>
            <a:endParaRPr lang="en-US" sz="1204" dirty="0"/>
          </a:p>
        </p:txBody>
      </p:sp>
      <p:sp>
        <p:nvSpPr>
          <p:cNvPr id="17" name="Shape 15"/>
          <p:cNvSpPr/>
          <p:nvPr/>
        </p:nvSpPr>
        <p:spPr>
          <a:xfrm>
            <a:off x="786384" y="6238951"/>
            <a:ext cx="10618927" cy="9437"/>
          </a:xfrm>
          <a:prstGeom prst="rect">
            <a:avLst/>
          </a:prstGeom>
          <a:solidFill>
            <a:srgbClr val="D5D1CA"/>
          </a:solidFill>
          <a:ln/>
        </p:spPr>
        <p:txBody>
          <a:bodyPr/>
          <a:lstStyle/>
          <a:p>
            <a:endParaRPr lang="en-HK"/>
          </a:p>
        </p:txBody>
      </p:sp>
      <p:sp>
        <p:nvSpPr>
          <p:cNvPr id="18" name="Text 16"/>
          <p:cNvSpPr/>
          <p:nvPr/>
        </p:nvSpPr>
        <p:spPr>
          <a:xfrm>
            <a:off x="786384" y="6349045"/>
            <a:ext cx="10618927" cy="283098"/>
          </a:xfrm>
          <a:prstGeom prst="rect">
            <a:avLst/>
          </a:prstGeom>
          <a:noFill/>
          <a:ln/>
        </p:spPr>
        <p:txBody>
          <a:bodyPr wrap="square" lIns="0" tIns="0" rIns="0" bIns="0" rtlCol="0" anchor="ctr"/>
          <a:lstStyle/>
          <a:p>
            <a:pPr marL="0" indent="0">
              <a:lnSpc>
                <a:spcPts val="1548"/>
              </a:lnSpc>
              <a:buNone/>
            </a:pPr>
            <a:r>
              <a:rPr lang="en-US" sz="1075" dirty="0">
                <a:solidFill>
                  <a:srgbClr val="827D75"/>
                </a:solidFill>
                <a:latin typeface="Arial" pitchFamily="34" charset="0"/>
                <a:ea typeface="Arial" pitchFamily="34" charset="-122"/>
                <a:cs typeface="Arial" pitchFamily="34" charset="-120"/>
              </a:rPr>
              <a:t>Lewis et al. (2020), Retrieval-Augmented Generation for Knowledge-Intensive NLP Tasks: arxiv.org/abs/2005.11401</a:t>
            </a:r>
            <a:endParaRPr lang="en-US" sz="10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The Context Window Limit</a:t>
            </a:r>
            <a:endParaRPr lang="en-US" sz="2900" dirty="0"/>
          </a:p>
        </p:txBody>
      </p:sp>
      <p:sp>
        <p:nvSpPr>
          <p:cNvPr id="4" name="Shape 2"/>
          <p:cNvSpPr/>
          <p:nvPr/>
        </p:nvSpPr>
        <p:spPr>
          <a:xfrm>
            <a:off x="10198303"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5" name="Text 3"/>
          <p:cNvSpPr/>
          <p:nvPr/>
        </p:nvSpPr>
        <p:spPr>
          <a:xfrm>
            <a:off x="10198303"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8A857D"/>
                </a:solidFill>
                <a:latin typeface="Arial" pitchFamily="34" charset="0"/>
                <a:ea typeface="Arial" pitchFamily="34" charset="-122"/>
                <a:cs typeface="Arial" pitchFamily="34" charset="-120"/>
              </a:rPr>
              <a:t>LV1</a:t>
            </a:r>
            <a:endParaRPr lang="en-US" sz="1100" dirty="0"/>
          </a:p>
        </p:txBody>
      </p:sp>
      <p:sp>
        <p:nvSpPr>
          <p:cNvPr id="6" name="Shape 4"/>
          <p:cNvSpPr/>
          <p:nvPr/>
        </p:nvSpPr>
        <p:spPr>
          <a:xfrm>
            <a:off x="10874959"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7" name="Text 5"/>
          <p:cNvSpPr/>
          <p:nvPr/>
        </p:nvSpPr>
        <p:spPr>
          <a:xfrm>
            <a:off x="10874959"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6E6A63"/>
                </a:solidFill>
                <a:latin typeface="Arial" pitchFamily="34" charset="0"/>
                <a:ea typeface="Arial" pitchFamily="34" charset="-122"/>
                <a:cs typeface="Arial" pitchFamily="34" charset="-120"/>
              </a:rPr>
              <a:t>LV2</a:t>
            </a:r>
            <a:endParaRPr lang="en-US" sz="1100" dirty="0"/>
          </a:p>
        </p:txBody>
      </p:sp>
      <p:sp>
        <p:nvSpPr>
          <p:cNvPr id="8" name="Shape 6"/>
          <p:cNvSpPr/>
          <p:nvPr/>
        </p:nvSpPr>
        <p:spPr>
          <a:xfrm>
            <a:off x="786384" y="1426464"/>
            <a:ext cx="10618927" cy="10973"/>
          </a:xfrm>
          <a:prstGeom prst="rect">
            <a:avLst/>
          </a:prstGeom>
          <a:solidFill>
            <a:srgbClr val="D5D1CA"/>
          </a:solidFill>
          <a:ln/>
        </p:spPr>
        <p:txBody>
          <a:bodyPr/>
          <a:lstStyle/>
          <a:p>
            <a:endParaRPr lang="en-HK"/>
          </a:p>
        </p:txBody>
      </p:sp>
      <p:sp>
        <p:nvSpPr>
          <p:cNvPr id="9" name="Text 7"/>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10</a:t>
            </a:r>
            <a:endParaRPr lang="en-US" sz="1200" dirty="0"/>
          </a:p>
        </p:txBody>
      </p:sp>
      <p:sp>
        <p:nvSpPr>
          <p:cNvPr id="10" name="Text 8"/>
          <p:cNvSpPr/>
          <p:nvPr/>
        </p:nvSpPr>
        <p:spPr>
          <a:xfrm>
            <a:off x="786384" y="1790836"/>
            <a:ext cx="9769413" cy="398688"/>
          </a:xfrm>
          <a:prstGeom prst="rect">
            <a:avLst/>
          </a:prstGeom>
          <a:noFill/>
          <a:ln/>
        </p:spPr>
        <p:txBody>
          <a:bodyPr wrap="square" lIns="0" tIns="0" rIns="0" bIns="0" rtlCol="0" anchor="ctr"/>
          <a:lstStyle/>
          <a:p>
            <a:pPr marL="0" indent="0">
              <a:buNone/>
            </a:pPr>
            <a:r>
              <a:rPr lang="en-US" sz="1439" dirty="0">
                <a:solidFill>
                  <a:srgbClr val="141414"/>
                </a:solidFill>
                <a:latin typeface="Arial" pitchFamily="34" charset="0"/>
                <a:ea typeface="Arial" pitchFamily="34" charset="-122"/>
                <a:cs typeface="Arial" pitchFamily="34" charset="-120"/>
              </a:rPr>
              <a:t>If supplying text fixes the problem, why not supply all of it? Three reasons.</a:t>
            </a:r>
            <a:endParaRPr lang="en-US" sz="1439" dirty="0"/>
          </a:p>
        </p:txBody>
      </p:sp>
      <p:sp>
        <p:nvSpPr>
          <p:cNvPr id="11" name="Shape 9"/>
          <p:cNvSpPr/>
          <p:nvPr/>
        </p:nvSpPr>
        <p:spPr>
          <a:xfrm>
            <a:off x="786384" y="2285209"/>
            <a:ext cx="3429914" cy="14353"/>
          </a:xfrm>
          <a:prstGeom prst="rect">
            <a:avLst/>
          </a:prstGeom>
          <a:solidFill>
            <a:srgbClr val="141414"/>
          </a:solidFill>
          <a:ln/>
        </p:spPr>
        <p:txBody>
          <a:bodyPr/>
          <a:lstStyle/>
          <a:p>
            <a:endParaRPr lang="en-HK"/>
          </a:p>
        </p:txBody>
      </p:sp>
      <p:sp>
        <p:nvSpPr>
          <p:cNvPr id="12" name="Text 10"/>
          <p:cNvSpPr/>
          <p:nvPr/>
        </p:nvSpPr>
        <p:spPr>
          <a:xfrm>
            <a:off x="786384" y="2412789"/>
            <a:ext cx="3429914" cy="300124"/>
          </a:xfrm>
          <a:prstGeom prst="rect">
            <a:avLst/>
          </a:prstGeom>
          <a:noFill/>
          <a:ln/>
        </p:spPr>
        <p:txBody>
          <a:bodyPr wrap="square" lIns="0" tIns="0" rIns="0" bIns="0" rtlCol="0" anchor="ctr"/>
          <a:lstStyle/>
          <a:p>
            <a:pPr marL="0" indent="0">
              <a:lnSpc>
                <a:spcPts val="2049"/>
              </a:lnSpc>
              <a:buNone/>
            </a:pPr>
            <a:r>
              <a:rPr lang="en-US" sz="1700" b="1" dirty="0">
                <a:solidFill>
                  <a:srgbClr val="141414"/>
                </a:solidFill>
                <a:latin typeface="Arial" pitchFamily="34" charset="0"/>
                <a:ea typeface="Arial" pitchFamily="34" charset="-122"/>
                <a:cs typeface="Arial" pitchFamily="34" charset="-120"/>
              </a:rPr>
              <a:t>It does not fit</a:t>
            </a:r>
            <a:endParaRPr lang="en-US" sz="1700" dirty="0"/>
          </a:p>
        </p:txBody>
      </p:sp>
      <p:sp>
        <p:nvSpPr>
          <p:cNvPr id="13" name="Text 11"/>
          <p:cNvSpPr/>
          <p:nvPr/>
        </p:nvSpPr>
        <p:spPr>
          <a:xfrm>
            <a:off x="786384" y="2776703"/>
            <a:ext cx="3429914" cy="970141"/>
          </a:xfrm>
          <a:prstGeom prst="rect">
            <a:avLst/>
          </a:prstGeom>
          <a:noFill/>
          <a:ln/>
        </p:spPr>
        <p:txBody>
          <a:bodyPr wrap="square" lIns="0" tIns="0" rIns="0" bIns="0" rtlCol="0" anchor="t"/>
          <a:lstStyle/>
          <a:p>
            <a:pPr marL="0" indent="0">
              <a:lnSpc>
                <a:spcPts val="1831"/>
              </a:lnSpc>
              <a:buNone/>
            </a:pPr>
            <a:r>
              <a:rPr lang="en-US" sz="1221" dirty="0">
                <a:solidFill>
                  <a:srgbClr val="141414"/>
                </a:solidFill>
                <a:latin typeface="Arial" pitchFamily="34" charset="0"/>
                <a:ea typeface="Arial" pitchFamily="34" charset="-122"/>
                <a:cs typeface="Arial" pitchFamily="34" charset="-120"/>
              </a:rPr>
              <a:t>Every model has a fixed context window measured in tokens. The two target websites together run to hundreds of thousands of words.</a:t>
            </a:r>
            <a:endParaRPr lang="en-US" sz="1221" dirty="0"/>
          </a:p>
        </p:txBody>
      </p:sp>
      <p:sp>
        <p:nvSpPr>
          <p:cNvPr id="14" name="Shape 12"/>
          <p:cNvSpPr/>
          <p:nvPr/>
        </p:nvSpPr>
        <p:spPr>
          <a:xfrm>
            <a:off x="4380890" y="2285209"/>
            <a:ext cx="3429914" cy="14353"/>
          </a:xfrm>
          <a:prstGeom prst="rect">
            <a:avLst/>
          </a:prstGeom>
          <a:solidFill>
            <a:srgbClr val="141414"/>
          </a:solidFill>
          <a:ln/>
        </p:spPr>
        <p:txBody>
          <a:bodyPr/>
          <a:lstStyle/>
          <a:p>
            <a:endParaRPr lang="en-HK"/>
          </a:p>
        </p:txBody>
      </p:sp>
      <p:sp>
        <p:nvSpPr>
          <p:cNvPr id="15" name="Text 13"/>
          <p:cNvSpPr/>
          <p:nvPr/>
        </p:nvSpPr>
        <p:spPr>
          <a:xfrm>
            <a:off x="4380890" y="2412789"/>
            <a:ext cx="3429914" cy="300124"/>
          </a:xfrm>
          <a:prstGeom prst="rect">
            <a:avLst/>
          </a:prstGeom>
          <a:noFill/>
          <a:ln/>
        </p:spPr>
        <p:txBody>
          <a:bodyPr wrap="square" lIns="0" tIns="0" rIns="0" bIns="0" rtlCol="0" anchor="ctr"/>
          <a:lstStyle/>
          <a:p>
            <a:pPr marL="0" indent="0">
              <a:lnSpc>
                <a:spcPts val="2049"/>
              </a:lnSpc>
              <a:buNone/>
            </a:pPr>
            <a:r>
              <a:rPr lang="en-US" sz="1700" b="1" dirty="0">
                <a:solidFill>
                  <a:srgbClr val="141414"/>
                </a:solidFill>
                <a:latin typeface="Arial" pitchFamily="34" charset="0"/>
                <a:ea typeface="Arial" pitchFamily="34" charset="-122"/>
                <a:cs typeface="Arial" pitchFamily="34" charset="-120"/>
              </a:rPr>
              <a:t>It is slow</a:t>
            </a:r>
            <a:endParaRPr lang="en-US" sz="1700" dirty="0"/>
          </a:p>
        </p:txBody>
      </p:sp>
      <p:sp>
        <p:nvSpPr>
          <p:cNvPr id="16" name="Text 14"/>
          <p:cNvSpPr/>
          <p:nvPr/>
        </p:nvSpPr>
        <p:spPr>
          <a:xfrm>
            <a:off x="4380890" y="2776703"/>
            <a:ext cx="3429914" cy="737573"/>
          </a:xfrm>
          <a:prstGeom prst="rect">
            <a:avLst/>
          </a:prstGeom>
          <a:noFill/>
          <a:ln/>
        </p:spPr>
        <p:txBody>
          <a:bodyPr wrap="square" lIns="0" tIns="0" rIns="0" bIns="0" rtlCol="0" anchor="t"/>
          <a:lstStyle/>
          <a:p>
            <a:pPr marL="0" indent="0">
              <a:lnSpc>
                <a:spcPts val="1831"/>
              </a:lnSpc>
              <a:buNone/>
            </a:pPr>
            <a:r>
              <a:rPr lang="en-US" sz="1221" dirty="0">
                <a:solidFill>
                  <a:srgbClr val="141414"/>
                </a:solidFill>
                <a:latin typeface="Arial" pitchFamily="34" charset="0"/>
                <a:ea typeface="Arial" pitchFamily="34" charset="-122"/>
                <a:cs typeface="Arial" pitchFamily="34" charset="-120"/>
              </a:rPr>
              <a:t>Processing time rises with the number of tokens you send. You have 30 seconds per question.</a:t>
            </a:r>
            <a:endParaRPr lang="en-US" sz="1221" dirty="0"/>
          </a:p>
        </p:txBody>
      </p:sp>
      <p:sp>
        <p:nvSpPr>
          <p:cNvPr id="17" name="Shape 15"/>
          <p:cNvSpPr/>
          <p:nvPr/>
        </p:nvSpPr>
        <p:spPr>
          <a:xfrm>
            <a:off x="7975397" y="2285209"/>
            <a:ext cx="3429914" cy="14353"/>
          </a:xfrm>
          <a:prstGeom prst="rect">
            <a:avLst/>
          </a:prstGeom>
          <a:solidFill>
            <a:srgbClr val="141414"/>
          </a:solidFill>
          <a:ln/>
        </p:spPr>
        <p:txBody>
          <a:bodyPr/>
          <a:lstStyle/>
          <a:p>
            <a:endParaRPr lang="en-HK"/>
          </a:p>
        </p:txBody>
      </p:sp>
      <p:sp>
        <p:nvSpPr>
          <p:cNvPr id="18" name="Text 16"/>
          <p:cNvSpPr/>
          <p:nvPr/>
        </p:nvSpPr>
        <p:spPr>
          <a:xfrm>
            <a:off x="7975397" y="2412789"/>
            <a:ext cx="3429914" cy="300124"/>
          </a:xfrm>
          <a:prstGeom prst="rect">
            <a:avLst/>
          </a:prstGeom>
          <a:noFill/>
          <a:ln/>
        </p:spPr>
        <p:txBody>
          <a:bodyPr wrap="square" lIns="0" tIns="0" rIns="0" bIns="0" rtlCol="0" anchor="ctr"/>
          <a:lstStyle/>
          <a:p>
            <a:pPr marL="0" indent="0">
              <a:lnSpc>
                <a:spcPts val="2049"/>
              </a:lnSpc>
              <a:buNone/>
            </a:pPr>
            <a:r>
              <a:rPr lang="en-US" sz="1700" b="1" dirty="0">
                <a:solidFill>
                  <a:srgbClr val="141414"/>
                </a:solidFill>
                <a:latin typeface="Arial" pitchFamily="34" charset="0"/>
                <a:ea typeface="Arial" pitchFamily="34" charset="-122"/>
                <a:cs typeface="Arial" pitchFamily="34" charset="-120"/>
              </a:rPr>
              <a:t>Accuracy drops</a:t>
            </a:r>
            <a:endParaRPr lang="en-US" sz="1700" dirty="0"/>
          </a:p>
        </p:txBody>
      </p:sp>
      <p:sp>
        <p:nvSpPr>
          <p:cNvPr id="19" name="Text 17"/>
          <p:cNvSpPr/>
          <p:nvPr/>
        </p:nvSpPr>
        <p:spPr>
          <a:xfrm>
            <a:off x="7975397" y="2776703"/>
            <a:ext cx="3429914" cy="970141"/>
          </a:xfrm>
          <a:prstGeom prst="rect">
            <a:avLst/>
          </a:prstGeom>
          <a:noFill/>
          <a:ln/>
        </p:spPr>
        <p:txBody>
          <a:bodyPr wrap="square" lIns="0" tIns="0" rIns="0" bIns="0" rtlCol="0" anchor="t"/>
          <a:lstStyle/>
          <a:p>
            <a:pPr marL="0" indent="0">
              <a:lnSpc>
                <a:spcPts val="1831"/>
              </a:lnSpc>
              <a:buNone/>
            </a:pPr>
            <a:r>
              <a:rPr lang="en-US" sz="1221" dirty="0">
                <a:solidFill>
                  <a:srgbClr val="141414"/>
                </a:solidFill>
                <a:latin typeface="Arial" pitchFamily="34" charset="0"/>
                <a:ea typeface="Arial" pitchFamily="34" charset="-122"/>
                <a:cs typeface="Arial" pitchFamily="34" charset="-120"/>
              </a:rPr>
              <a:t>Liu et al. tested this: accuracy is highest when the needed passage is near the start or end of the context, and falls when it is in the middle.</a:t>
            </a:r>
            <a:endParaRPr lang="en-US" sz="1221" dirty="0"/>
          </a:p>
        </p:txBody>
      </p:sp>
      <p:sp>
        <p:nvSpPr>
          <p:cNvPr id="20" name="Text 18"/>
          <p:cNvSpPr/>
          <p:nvPr/>
        </p:nvSpPr>
        <p:spPr>
          <a:xfrm>
            <a:off x="786384" y="3879961"/>
            <a:ext cx="10618927" cy="287055"/>
          </a:xfrm>
          <a:prstGeom prst="rect">
            <a:avLst/>
          </a:prstGeom>
          <a:noFill/>
          <a:ln/>
        </p:spPr>
        <p:txBody>
          <a:bodyPr wrap="square" lIns="0" tIns="0" rIns="0" bIns="0" rtlCol="0" anchor="ctr"/>
          <a:lstStyle/>
          <a:p>
            <a:pPr marL="0" indent="0">
              <a:buNone/>
            </a:pPr>
            <a:r>
              <a:rPr lang="en-US" sz="1482" b="1" dirty="0">
                <a:solidFill>
                  <a:srgbClr val="141414"/>
                </a:solidFill>
                <a:latin typeface="Arial" pitchFamily="34" charset="0"/>
                <a:ea typeface="Arial" pitchFamily="34" charset="-122"/>
                <a:cs typeface="Arial" pitchFamily="34" charset="-120"/>
              </a:rPr>
              <a:t>The arithmetic</a:t>
            </a:r>
            <a:endParaRPr lang="en-US" sz="1482" dirty="0"/>
          </a:p>
        </p:txBody>
      </p:sp>
      <p:sp>
        <p:nvSpPr>
          <p:cNvPr id="21" name="Shape 19"/>
          <p:cNvSpPr/>
          <p:nvPr/>
        </p:nvSpPr>
        <p:spPr>
          <a:xfrm>
            <a:off x="786384" y="4230807"/>
            <a:ext cx="10618927" cy="809337"/>
          </a:xfrm>
          <a:prstGeom prst="rect">
            <a:avLst/>
          </a:prstGeom>
          <a:solidFill>
            <a:srgbClr val="F2EFEA"/>
          </a:solidFill>
          <a:ln/>
        </p:spPr>
        <p:txBody>
          <a:bodyPr/>
          <a:lstStyle/>
          <a:p>
            <a:endParaRPr lang="en-HK"/>
          </a:p>
        </p:txBody>
      </p:sp>
      <p:sp>
        <p:nvSpPr>
          <p:cNvPr id="22" name="Shape 20"/>
          <p:cNvSpPr/>
          <p:nvPr/>
        </p:nvSpPr>
        <p:spPr>
          <a:xfrm>
            <a:off x="786384" y="4230807"/>
            <a:ext cx="27432" cy="809337"/>
          </a:xfrm>
          <a:prstGeom prst="rect">
            <a:avLst/>
          </a:prstGeom>
          <a:solidFill>
            <a:srgbClr val="C0402A"/>
          </a:solidFill>
          <a:ln/>
        </p:spPr>
        <p:txBody>
          <a:bodyPr/>
          <a:lstStyle/>
          <a:p>
            <a:endParaRPr lang="en-HK"/>
          </a:p>
        </p:txBody>
      </p:sp>
      <p:sp>
        <p:nvSpPr>
          <p:cNvPr id="23" name="Text 21"/>
          <p:cNvSpPr/>
          <p:nvPr/>
        </p:nvSpPr>
        <p:spPr>
          <a:xfrm>
            <a:off x="1042416" y="4358387"/>
            <a:ext cx="10180015" cy="554176"/>
          </a:xfrm>
          <a:prstGeom prst="rect">
            <a:avLst/>
          </a:prstGeom>
          <a:noFill/>
          <a:ln/>
        </p:spPr>
        <p:txBody>
          <a:bodyPr wrap="square" lIns="0" tIns="0" rIns="0" bIns="0" rtlCol="0" anchor="t"/>
          <a:lstStyle/>
          <a:p>
            <a:pPr marL="0" indent="0">
              <a:lnSpc>
                <a:spcPts val="1613"/>
              </a:lnSpc>
              <a:buNone/>
            </a:pPr>
            <a:r>
              <a:rPr lang="en-US" sz="1090" dirty="0">
                <a:solidFill>
                  <a:srgbClr val="2A2724"/>
                </a:solidFill>
                <a:latin typeface="Courier New" pitchFamily="34" charset="0"/>
                <a:ea typeface="Courier New" pitchFamily="34" charset="-122"/>
                <a:cs typeface="Courier New" pitchFamily="34" charset="-120"/>
              </a:rPr>
              <a:t>Both sites, roughly       ~220,000 words  -&gt;  ~293,000 tokens</a:t>
            </a:r>
            <a:endParaRPr lang="en-US" sz="1090" dirty="0"/>
          </a:p>
          <a:p>
            <a:pPr marL="0" indent="0">
              <a:lnSpc>
                <a:spcPts val="1613"/>
              </a:lnSpc>
              <a:buNone/>
            </a:pPr>
            <a:r>
              <a:rPr lang="en-US" sz="1090" dirty="0">
                <a:solidFill>
                  <a:srgbClr val="2A2724"/>
                </a:solidFill>
                <a:latin typeface="Courier New" pitchFamily="34" charset="0"/>
                <a:ea typeface="Courier New" pitchFamily="34" charset="-122"/>
                <a:cs typeface="Courier New" pitchFamily="34" charset="-120"/>
              </a:rPr>
              <a:t>Retrieved instead      5 chunks x 800 chars  -&gt;    ~1,000 tokens</a:t>
            </a:r>
            <a:endParaRPr lang="en-US" sz="1090" dirty="0"/>
          </a:p>
        </p:txBody>
      </p:sp>
      <p:sp>
        <p:nvSpPr>
          <p:cNvPr id="24" name="Text 22"/>
          <p:cNvSpPr/>
          <p:nvPr/>
        </p:nvSpPr>
        <p:spPr>
          <a:xfrm>
            <a:off x="786384" y="5183671"/>
            <a:ext cx="10087981" cy="621953"/>
          </a:xfrm>
          <a:prstGeom prst="rect">
            <a:avLst/>
          </a:prstGeom>
          <a:noFill/>
          <a:ln/>
        </p:spPr>
        <p:txBody>
          <a:bodyPr wrap="square" lIns="0" tIns="0" rIns="0" bIns="0" rtlCol="0" anchor="ctr"/>
          <a:lstStyle/>
          <a:p>
            <a:pPr marL="0" indent="0">
              <a:lnSpc>
                <a:spcPts val="1918"/>
              </a:lnSpc>
              <a:buNone/>
            </a:pPr>
            <a:r>
              <a:rPr lang="en-US" sz="1352" dirty="0">
                <a:solidFill>
                  <a:srgbClr val="141414"/>
                </a:solidFill>
                <a:latin typeface="Arial" pitchFamily="34" charset="0"/>
                <a:ea typeface="Arial" pitchFamily="34" charset="-122"/>
                <a:cs typeface="Arial" pitchFamily="34" charset="-120"/>
              </a:rPr>
              <a:t>A 300-fold reduction, and the answer is still in there. Finding those tokens is what retrieval does.</a:t>
            </a:r>
            <a:endParaRPr lang="en-US" sz="1352" dirty="0"/>
          </a:p>
        </p:txBody>
      </p:sp>
      <p:sp>
        <p:nvSpPr>
          <p:cNvPr id="25" name="Shape 23"/>
          <p:cNvSpPr/>
          <p:nvPr/>
        </p:nvSpPr>
        <p:spPr>
          <a:xfrm>
            <a:off x="786384" y="5837520"/>
            <a:ext cx="10618927" cy="9569"/>
          </a:xfrm>
          <a:prstGeom prst="rect">
            <a:avLst/>
          </a:prstGeom>
          <a:solidFill>
            <a:srgbClr val="D5D1CA"/>
          </a:solidFill>
          <a:ln/>
        </p:spPr>
        <p:txBody>
          <a:bodyPr/>
          <a:lstStyle/>
          <a:p>
            <a:endParaRPr lang="en-HK"/>
          </a:p>
        </p:txBody>
      </p:sp>
      <p:sp>
        <p:nvSpPr>
          <p:cNvPr id="26" name="Text 24"/>
          <p:cNvSpPr/>
          <p:nvPr/>
        </p:nvSpPr>
        <p:spPr>
          <a:xfrm>
            <a:off x="786384" y="5949153"/>
            <a:ext cx="10618927" cy="287055"/>
          </a:xfrm>
          <a:prstGeom prst="rect">
            <a:avLst/>
          </a:prstGeom>
          <a:noFill/>
          <a:ln/>
        </p:spPr>
        <p:txBody>
          <a:bodyPr wrap="square" lIns="0" tIns="0" rIns="0" bIns="0" rtlCol="0" anchor="ctr"/>
          <a:lstStyle/>
          <a:p>
            <a:pPr marL="0" indent="0">
              <a:lnSpc>
                <a:spcPts val="1570"/>
              </a:lnSpc>
              <a:buNone/>
            </a:pPr>
            <a:r>
              <a:rPr lang="en-US" sz="1090" dirty="0">
                <a:solidFill>
                  <a:srgbClr val="827D75"/>
                </a:solidFill>
                <a:latin typeface="Arial" pitchFamily="34" charset="0"/>
                <a:ea typeface="Arial" pitchFamily="34" charset="-122"/>
                <a:cs typeface="Arial" pitchFamily="34" charset="-120"/>
              </a:rPr>
              <a:t>Liu et al. (2024), Lost in the Middle: How Language Models Use Long Contexts. TACL 12:157-173. arxiv.org/abs/2307.03172</a:t>
            </a:r>
            <a:endParaRPr lang="en-US" sz="109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Anatomy of a Prompt</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5" name="Text 3"/>
          <p:cNvSpPr/>
          <p:nvPr/>
        </p:nvSpPr>
        <p:spPr>
          <a:xfrm>
            <a:off x="10801807"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8A857D"/>
                </a:solidFill>
                <a:latin typeface="Arial" pitchFamily="34" charset="0"/>
                <a:ea typeface="Arial" pitchFamily="34" charset="-122"/>
                <a:cs typeface="Arial" pitchFamily="34" charset="-120"/>
              </a:rPr>
              <a:t>LV1</a:t>
            </a:r>
            <a:endParaRPr lang="en-US" sz="1100" dirty="0"/>
          </a:p>
        </p:txBody>
      </p:sp>
      <p:sp>
        <p:nvSpPr>
          <p:cNvPr id="6" name="Shape 4"/>
          <p:cNvSpPr/>
          <p:nvPr/>
        </p:nvSpPr>
        <p:spPr>
          <a:xfrm>
            <a:off x="786384" y="1426464"/>
            <a:ext cx="10618927" cy="10973"/>
          </a:xfrm>
          <a:prstGeom prst="rect">
            <a:avLst/>
          </a:prstGeom>
          <a:solidFill>
            <a:srgbClr val="D5D1CA"/>
          </a:solidFill>
          <a:ln/>
        </p:spPr>
        <p:txBody>
          <a:bodyPr/>
          <a:lstStyle/>
          <a:p>
            <a:endParaRPr lang="en-HK"/>
          </a:p>
        </p:txBody>
      </p:sp>
      <p:sp>
        <p:nvSpPr>
          <p:cNvPr id="7" name="Text 5"/>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11</a:t>
            </a:r>
            <a:endParaRPr lang="en-US" sz="1200" dirty="0"/>
          </a:p>
        </p:txBody>
      </p:sp>
      <p:sp>
        <p:nvSpPr>
          <p:cNvPr id="8" name="Text 6"/>
          <p:cNvSpPr/>
          <p:nvPr/>
        </p:nvSpPr>
        <p:spPr>
          <a:xfrm>
            <a:off x="786384" y="1827326"/>
            <a:ext cx="1371600" cy="295238"/>
          </a:xfrm>
          <a:prstGeom prst="rect">
            <a:avLst/>
          </a:prstGeom>
          <a:noFill/>
          <a:ln/>
        </p:spPr>
        <p:txBody>
          <a:bodyPr wrap="square" lIns="0" tIns="0" rIns="0" bIns="0" rtlCol="0" anchor="ctr"/>
          <a:lstStyle/>
          <a:p>
            <a:pPr marL="0" indent="0">
              <a:buNone/>
            </a:pPr>
            <a:r>
              <a:rPr lang="en-US" sz="1050" b="1" kern="0" spc="160" dirty="0">
                <a:solidFill>
                  <a:srgbClr val="C0402A"/>
                </a:solidFill>
                <a:latin typeface="Arial" pitchFamily="34" charset="0"/>
                <a:ea typeface="Arial" pitchFamily="34" charset="-122"/>
                <a:cs typeface="Arial" pitchFamily="34" charset="-120"/>
              </a:rPr>
              <a:t>ROLE</a:t>
            </a:r>
            <a:endParaRPr lang="en-US" sz="1050" dirty="0"/>
          </a:p>
        </p:txBody>
      </p:sp>
      <p:sp>
        <p:nvSpPr>
          <p:cNvPr id="9" name="Text 7"/>
          <p:cNvSpPr/>
          <p:nvPr/>
        </p:nvSpPr>
        <p:spPr>
          <a:xfrm>
            <a:off x="2295144" y="1787961"/>
            <a:ext cx="5029200" cy="610158"/>
          </a:xfrm>
          <a:prstGeom prst="rect">
            <a:avLst/>
          </a:prstGeom>
          <a:noFill/>
          <a:ln/>
        </p:spPr>
        <p:txBody>
          <a:bodyPr wrap="square" lIns="0" tIns="0" rIns="0" bIns="0" rtlCol="0" anchor="ctr"/>
          <a:lstStyle/>
          <a:p>
            <a:pPr marL="0" indent="0">
              <a:lnSpc>
                <a:spcPts val="1500"/>
              </a:lnSpc>
              <a:buNone/>
            </a:pPr>
            <a:r>
              <a:rPr lang="en-US" sz="1150" dirty="0">
                <a:solidFill>
                  <a:srgbClr val="141414"/>
                </a:solidFill>
                <a:latin typeface="Courier New" pitchFamily="34" charset="0"/>
                <a:ea typeface="Courier New" pitchFamily="34" charset="-122"/>
                <a:cs typeface="Courier New" pitchFamily="34" charset="-120"/>
              </a:rPr>
              <a:t>You answer questions about the Tam Wing Fan Innovation Wing.</a:t>
            </a:r>
            <a:endParaRPr lang="en-US" sz="1150" dirty="0"/>
          </a:p>
        </p:txBody>
      </p:sp>
      <p:sp>
        <p:nvSpPr>
          <p:cNvPr id="10" name="Text 8"/>
          <p:cNvSpPr/>
          <p:nvPr/>
        </p:nvSpPr>
        <p:spPr>
          <a:xfrm>
            <a:off x="7644384" y="1787961"/>
            <a:ext cx="3760927" cy="610158"/>
          </a:xfrm>
          <a:prstGeom prst="rect">
            <a:avLst/>
          </a:prstGeom>
          <a:noFill/>
          <a:ln/>
        </p:spPr>
        <p:txBody>
          <a:bodyPr wrap="square" lIns="0" tIns="0" rIns="0" bIns="0" rtlCol="0" anchor="ctr"/>
          <a:lstStyle/>
          <a:p>
            <a:pPr marL="0" indent="0">
              <a:lnSpc>
                <a:spcPts val="1700"/>
              </a:lnSpc>
              <a:buNone/>
            </a:pPr>
            <a:r>
              <a:rPr lang="en-US" sz="1300" dirty="0">
                <a:solidFill>
                  <a:srgbClr val="6E6A63"/>
                </a:solidFill>
                <a:latin typeface="Arial" pitchFamily="34" charset="0"/>
                <a:ea typeface="Arial" pitchFamily="34" charset="-122"/>
                <a:cs typeface="Arial" pitchFamily="34" charset="-120"/>
              </a:rPr>
              <a:t>Sets the domain. One line is enough.</a:t>
            </a:r>
            <a:endParaRPr lang="en-US" sz="1300" dirty="0"/>
          </a:p>
        </p:txBody>
      </p:sp>
      <p:sp>
        <p:nvSpPr>
          <p:cNvPr id="11" name="Text 9"/>
          <p:cNvSpPr/>
          <p:nvPr/>
        </p:nvSpPr>
        <p:spPr>
          <a:xfrm>
            <a:off x="786384" y="2535896"/>
            <a:ext cx="1371600" cy="295238"/>
          </a:xfrm>
          <a:prstGeom prst="rect">
            <a:avLst/>
          </a:prstGeom>
          <a:noFill/>
          <a:ln/>
        </p:spPr>
        <p:txBody>
          <a:bodyPr wrap="square" lIns="0" tIns="0" rIns="0" bIns="0" rtlCol="0" anchor="ctr"/>
          <a:lstStyle/>
          <a:p>
            <a:pPr marL="0" indent="0">
              <a:buNone/>
            </a:pPr>
            <a:r>
              <a:rPr lang="en-US" sz="1050" b="1" kern="0" spc="160" dirty="0">
                <a:solidFill>
                  <a:srgbClr val="C0402A"/>
                </a:solidFill>
                <a:latin typeface="Arial" pitchFamily="34" charset="0"/>
                <a:ea typeface="Arial" pitchFamily="34" charset="-122"/>
                <a:cs typeface="Arial" pitchFamily="34" charset="-120"/>
              </a:rPr>
              <a:t>GROUNDING</a:t>
            </a:r>
            <a:endParaRPr lang="en-US" sz="1050" dirty="0"/>
          </a:p>
        </p:txBody>
      </p:sp>
      <p:sp>
        <p:nvSpPr>
          <p:cNvPr id="12" name="Text 10"/>
          <p:cNvSpPr/>
          <p:nvPr/>
        </p:nvSpPr>
        <p:spPr>
          <a:xfrm>
            <a:off x="2295144" y="2496531"/>
            <a:ext cx="5029200" cy="610158"/>
          </a:xfrm>
          <a:prstGeom prst="rect">
            <a:avLst/>
          </a:prstGeom>
          <a:noFill/>
          <a:ln/>
        </p:spPr>
        <p:txBody>
          <a:bodyPr wrap="square" lIns="0" tIns="0" rIns="0" bIns="0" rtlCol="0" anchor="ctr"/>
          <a:lstStyle/>
          <a:p>
            <a:pPr marL="0" indent="0">
              <a:lnSpc>
                <a:spcPts val="1500"/>
              </a:lnSpc>
              <a:buNone/>
            </a:pPr>
            <a:r>
              <a:rPr lang="en-US" sz="1150" dirty="0">
                <a:solidFill>
                  <a:srgbClr val="141414"/>
                </a:solidFill>
                <a:latin typeface="Courier New" pitchFamily="34" charset="0"/>
                <a:ea typeface="Courier New" pitchFamily="34" charset="-122"/>
                <a:cs typeface="Courier New" pitchFamily="34" charset="-120"/>
              </a:rPr>
              <a:t>Answer only from the context below. Where the context disagrees with what you know, the context is correct.</a:t>
            </a:r>
            <a:endParaRPr lang="en-US" sz="1150" dirty="0"/>
          </a:p>
        </p:txBody>
      </p:sp>
      <p:sp>
        <p:nvSpPr>
          <p:cNvPr id="13" name="Text 11"/>
          <p:cNvSpPr/>
          <p:nvPr/>
        </p:nvSpPr>
        <p:spPr>
          <a:xfrm>
            <a:off x="7644384" y="2496531"/>
            <a:ext cx="3760927" cy="610158"/>
          </a:xfrm>
          <a:prstGeom prst="rect">
            <a:avLst/>
          </a:prstGeom>
          <a:noFill/>
          <a:ln/>
        </p:spPr>
        <p:txBody>
          <a:bodyPr wrap="square" lIns="0" tIns="0" rIns="0" bIns="0" rtlCol="0" anchor="ctr"/>
          <a:lstStyle/>
          <a:p>
            <a:pPr marL="0" indent="0">
              <a:lnSpc>
                <a:spcPts val="1700"/>
              </a:lnSpc>
              <a:buNone/>
            </a:pPr>
            <a:r>
              <a:rPr lang="en-US" sz="1300" dirty="0">
                <a:solidFill>
                  <a:srgbClr val="6E6A63"/>
                </a:solidFill>
                <a:latin typeface="Arial" pitchFamily="34" charset="0"/>
                <a:ea typeface="Arial" pitchFamily="34" charset="-122"/>
                <a:cs typeface="Arial" pitchFamily="34" charset="-120"/>
              </a:rPr>
              <a:t>The single most useful instruction. Models otherwise fall back on training data.</a:t>
            </a:r>
            <a:endParaRPr lang="en-US" sz="1300" dirty="0"/>
          </a:p>
        </p:txBody>
      </p:sp>
      <p:sp>
        <p:nvSpPr>
          <p:cNvPr id="14" name="Text 12"/>
          <p:cNvSpPr/>
          <p:nvPr/>
        </p:nvSpPr>
        <p:spPr>
          <a:xfrm>
            <a:off x="786384" y="3244467"/>
            <a:ext cx="1371600" cy="295238"/>
          </a:xfrm>
          <a:prstGeom prst="rect">
            <a:avLst/>
          </a:prstGeom>
          <a:noFill/>
          <a:ln/>
        </p:spPr>
        <p:txBody>
          <a:bodyPr wrap="square" lIns="0" tIns="0" rIns="0" bIns="0" rtlCol="0" anchor="ctr"/>
          <a:lstStyle/>
          <a:p>
            <a:pPr marL="0" indent="0">
              <a:buNone/>
            </a:pPr>
            <a:r>
              <a:rPr lang="en-US" sz="1050" b="1" kern="0" spc="160" dirty="0">
                <a:solidFill>
                  <a:srgbClr val="C0402A"/>
                </a:solidFill>
                <a:latin typeface="Arial" pitchFamily="34" charset="0"/>
                <a:ea typeface="Arial" pitchFamily="34" charset="-122"/>
                <a:cs typeface="Arial" pitchFamily="34" charset="-120"/>
              </a:rPr>
              <a:t>FORMAT</a:t>
            </a:r>
            <a:endParaRPr lang="en-US" sz="1050" dirty="0"/>
          </a:p>
        </p:txBody>
      </p:sp>
      <p:sp>
        <p:nvSpPr>
          <p:cNvPr id="15" name="Text 13"/>
          <p:cNvSpPr/>
          <p:nvPr/>
        </p:nvSpPr>
        <p:spPr>
          <a:xfrm>
            <a:off x="2295144" y="3205101"/>
            <a:ext cx="5029200" cy="610158"/>
          </a:xfrm>
          <a:prstGeom prst="rect">
            <a:avLst/>
          </a:prstGeom>
          <a:noFill/>
          <a:ln/>
        </p:spPr>
        <p:txBody>
          <a:bodyPr wrap="square" lIns="0" tIns="0" rIns="0" bIns="0" rtlCol="0" anchor="ctr"/>
          <a:lstStyle/>
          <a:p>
            <a:pPr marL="0" indent="0">
              <a:lnSpc>
                <a:spcPts val="1500"/>
              </a:lnSpc>
              <a:buNone/>
            </a:pPr>
            <a:r>
              <a:rPr lang="en-US" sz="1150" dirty="0">
                <a:solidFill>
                  <a:srgbClr val="141414"/>
                </a:solidFill>
                <a:latin typeface="Courier New" pitchFamily="34" charset="0"/>
                <a:ea typeface="Courier New" pitchFamily="34" charset="-122"/>
                <a:cs typeface="Courier New" pitchFamily="34" charset="-120"/>
              </a:rPr>
              <a:t>Reply with the answer only. No explanation, no preamble. If the question asks how many, reply with a number.</a:t>
            </a:r>
            <a:endParaRPr lang="en-US" sz="1150" dirty="0"/>
          </a:p>
        </p:txBody>
      </p:sp>
      <p:sp>
        <p:nvSpPr>
          <p:cNvPr id="16" name="Text 14"/>
          <p:cNvSpPr/>
          <p:nvPr/>
        </p:nvSpPr>
        <p:spPr>
          <a:xfrm>
            <a:off x="7644384" y="3205101"/>
            <a:ext cx="3760927" cy="610158"/>
          </a:xfrm>
          <a:prstGeom prst="rect">
            <a:avLst/>
          </a:prstGeom>
          <a:noFill/>
          <a:ln/>
        </p:spPr>
        <p:txBody>
          <a:bodyPr wrap="square" lIns="0" tIns="0" rIns="0" bIns="0" rtlCol="0" anchor="ctr"/>
          <a:lstStyle/>
          <a:p>
            <a:pPr marL="0" indent="0">
              <a:lnSpc>
                <a:spcPts val="1700"/>
              </a:lnSpc>
              <a:buNone/>
            </a:pPr>
            <a:r>
              <a:rPr lang="en-US" sz="1300" dirty="0">
                <a:solidFill>
                  <a:srgbClr val="6E6A63"/>
                </a:solidFill>
                <a:latin typeface="Arial" pitchFamily="34" charset="0"/>
                <a:ea typeface="Arial" pitchFamily="34" charset="-122"/>
                <a:cs typeface="Arial" pitchFamily="34" charset="-120"/>
              </a:rPr>
              <a:t>Judges mark accuracy and completeness. Extra wrong detail turns 1 point into 0.5.</a:t>
            </a:r>
            <a:endParaRPr lang="en-US" sz="1300" dirty="0"/>
          </a:p>
        </p:txBody>
      </p:sp>
      <p:sp>
        <p:nvSpPr>
          <p:cNvPr id="17" name="Text 15"/>
          <p:cNvSpPr/>
          <p:nvPr/>
        </p:nvSpPr>
        <p:spPr>
          <a:xfrm>
            <a:off x="786384" y="3953037"/>
            <a:ext cx="1371600" cy="295238"/>
          </a:xfrm>
          <a:prstGeom prst="rect">
            <a:avLst/>
          </a:prstGeom>
          <a:noFill/>
          <a:ln/>
        </p:spPr>
        <p:txBody>
          <a:bodyPr wrap="square" lIns="0" tIns="0" rIns="0" bIns="0" rtlCol="0" anchor="ctr"/>
          <a:lstStyle/>
          <a:p>
            <a:pPr marL="0" indent="0">
              <a:buNone/>
            </a:pPr>
            <a:r>
              <a:rPr lang="en-US" sz="1050" b="1" kern="0" spc="160" dirty="0">
                <a:solidFill>
                  <a:srgbClr val="C0402A"/>
                </a:solidFill>
                <a:latin typeface="Arial" pitchFamily="34" charset="0"/>
                <a:ea typeface="Arial" pitchFamily="34" charset="-122"/>
                <a:cs typeface="Arial" pitchFamily="34" charset="-120"/>
              </a:rPr>
              <a:t>FALLBACK</a:t>
            </a:r>
            <a:endParaRPr lang="en-US" sz="1050" dirty="0"/>
          </a:p>
        </p:txBody>
      </p:sp>
      <p:sp>
        <p:nvSpPr>
          <p:cNvPr id="18" name="Text 16"/>
          <p:cNvSpPr/>
          <p:nvPr/>
        </p:nvSpPr>
        <p:spPr>
          <a:xfrm>
            <a:off x="2295144" y="3913672"/>
            <a:ext cx="5029200" cy="610158"/>
          </a:xfrm>
          <a:prstGeom prst="rect">
            <a:avLst/>
          </a:prstGeom>
          <a:noFill/>
          <a:ln/>
        </p:spPr>
        <p:txBody>
          <a:bodyPr wrap="square" lIns="0" tIns="0" rIns="0" bIns="0" rtlCol="0" anchor="ctr"/>
          <a:lstStyle/>
          <a:p>
            <a:pPr marL="0" indent="0">
              <a:lnSpc>
                <a:spcPts val="1500"/>
              </a:lnSpc>
              <a:buNone/>
            </a:pPr>
            <a:r>
              <a:rPr lang="en-US" sz="1150" dirty="0">
                <a:solidFill>
                  <a:srgbClr val="141414"/>
                </a:solidFill>
                <a:latin typeface="Courier New" pitchFamily="34" charset="0"/>
                <a:ea typeface="Courier New" pitchFamily="34" charset="-122"/>
                <a:cs typeface="Courier New" pitchFamily="34" charset="-120"/>
              </a:rPr>
              <a:t>If the context does not contain the answer, give your best guess anyway.</a:t>
            </a:r>
            <a:endParaRPr lang="en-US" sz="1150" dirty="0"/>
          </a:p>
        </p:txBody>
      </p:sp>
      <p:sp>
        <p:nvSpPr>
          <p:cNvPr id="19" name="Text 17"/>
          <p:cNvSpPr/>
          <p:nvPr/>
        </p:nvSpPr>
        <p:spPr>
          <a:xfrm>
            <a:off x="7644384" y="3913672"/>
            <a:ext cx="3760927" cy="610158"/>
          </a:xfrm>
          <a:prstGeom prst="rect">
            <a:avLst/>
          </a:prstGeom>
          <a:noFill/>
          <a:ln/>
        </p:spPr>
        <p:txBody>
          <a:bodyPr wrap="square" lIns="0" tIns="0" rIns="0" bIns="0" rtlCol="0" anchor="ctr"/>
          <a:lstStyle/>
          <a:p>
            <a:pPr marL="0" indent="0">
              <a:lnSpc>
                <a:spcPts val="1700"/>
              </a:lnSpc>
              <a:buNone/>
            </a:pPr>
            <a:r>
              <a:rPr lang="en-US" sz="1300" dirty="0">
                <a:solidFill>
                  <a:srgbClr val="6E6A63"/>
                </a:solidFill>
                <a:latin typeface="Arial" pitchFamily="34" charset="0"/>
                <a:ea typeface="Arial" pitchFamily="34" charset="-122"/>
                <a:cs typeface="Arial" pitchFamily="34" charset="-120"/>
              </a:rPr>
              <a:t>Because a refusal and a wrong answer both score zero.</a:t>
            </a:r>
            <a:endParaRPr lang="en-US" sz="1300" dirty="0"/>
          </a:p>
        </p:txBody>
      </p:sp>
      <p:sp>
        <p:nvSpPr>
          <p:cNvPr id="20" name="Text 18"/>
          <p:cNvSpPr/>
          <p:nvPr/>
        </p:nvSpPr>
        <p:spPr>
          <a:xfrm>
            <a:off x="786384" y="4661607"/>
            <a:ext cx="1371600" cy="295238"/>
          </a:xfrm>
          <a:prstGeom prst="rect">
            <a:avLst/>
          </a:prstGeom>
          <a:noFill/>
          <a:ln/>
        </p:spPr>
        <p:txBody>
          <a:bodyPr wrap="square" lIns="0" tIns="0" rIns="0" bIns="0" rtlCol="0" anchor="ctr"/>
          <a:lstStyle/>
          <a:p>
            <a:pPr marL="0" indent="0">
              <a:buNone/>
            </a:pPr>
            <a:r>
              <a:rPr lang="en-US" sz="1050" b="1" kern="0" spc="160" dirty="0">
                <a:solidFill>
                  <a:srgbClr val="C0402A"/>
                </a:solidFill>
                <a:latin typeface="Arial" pitchFamily="34" charset="0"/>
                <a:ea typeface="Arial" pitchFamily="34" charset="-122"/>
                <a:cs typeface="Arial" pitchFamily="34" charset="-120"/>
              </a:rPr>
              <a:t>CONTEXT</a:t>
            </a:r>
            <a:endParaRPr lang="en-US" sz="1050" dirty="0"/>
          </a:p>
        </p:txBody>
      </p:sp>
      <p:sp>
        <p:nvSpPr>
          <p:cNvPr id="21" name="Text 19"/>
          <p:cNvSpPr/>
          <p:nvPr/>
        </p:nvSpPr>
        <p:spPr>
          <a:xfrm>
            <a:off x="2295144" y="4622242"/>
            <a:ext cx="5029200" cy="610158"/>
          </a:xfrm>
          <a:prstGeom prst="rect">
            <a:avLst/>
          </a:prstGeom>
          <a:noFill/>
          <a:ln/>
        </p:spPr>
        <p:txBody>
          <a:bodyPr wrap="square" lIns="0" tIns="0" rIns="0" bIns="0" rtlCol="0" anchor="ctr"/>
          <a:lstStyle/>
          <a:p>
            <a:pPr marL="0" indent="0">
              <a:lnSpc>
                <a:spcPts val="1500"/>
              </a:lnSpc>
              <a:buNone/>
            </a:pPr>
            <a:r>
              <a:rPr lang="en-US" sz="1150" dirty="0">
                <a:solidFill>
                  <a:srgbClr val="141414"/>
                </a:solidFill>
                <a:latin typeface="Courier New" pitchFamily="34" charset="0"/>
                <a:ea typeface="Courier New" pitchFamily="34" charset="-122"/>
                <a:cs typeface="Courier New" pitchFamily="34" charset="-120"/>
              </a:rPr>
              <a:t>The retrieved chunks, each labelled with its source.</a:t>
            </a:r>
            <a:endParaRPr lang="en-US" sz="1150" dirty="0"/>
          </a:p>
        </p:txBody>
      </p:sp>
      <p:sp>
        <p:nvSpPr>
          <p:cNvPr id="22" name="Text 20"/>
          <p:cNvSpPr/>
          <p:nvPr/>
        </p:nvSpPr>
        <p:spPr>
          <a:xfrm>
            <a:off x="7644384" y="4622242"/>
            <a:ext cx="3760927" cy="610158"/>
          </a:xfrm>
          <a:prstGeom prst="rect">
            <a:avLst/>
          </a:prstGeom>
          <a:noFill/>
          <a:ln/>
        </p:spPr>
        <p:txBody>
          <a:bodyPr wrap="square" lIns="0" tIns="0" rIns="0" bIns="0" rtlCol="0" anchor="ctr"/>
          <a:lstStyle/>
          <a:p>
            <a:pPr marL="0" indent="0">
              <a:lnSpc>
                <a:spcPts val="1700"/>
              </a:lnSpc>
              <a:buNone/>
            </a:pPr>
            <a:r>
              <a:rPr lang="en-US" sz="1300" dirty="0">
                <a:solidFill>
                  <a:srgbClr val="6E6A63"/>
                </a:solidFill>
                <a:latin typeface="Arial" pitchFamily="34" charset="0"/>
                <a:ea typeface="Arial" pitchFamily="34" charset="-122"/>
                <a:cs typeface="Arial" pitchFamily="34" charset="-120"/>
              </a:rPr>
              <a:t>Assembled fresh for every question.</a:t>
            </a:r>
            <a:endParaRPr lang="en-US" sz="1300" dirty="0"/>
          </a:p>
        </p:txBody>
      </p:sp>
      <p:sp>
        <p:nvSpPr>
          <p:cNvPr id="23" name="Text 21"/>
          <p:cNvSpPr/>
          <p:nvPr/>
        </p:nvSpPr>
        <p:spPr>
          <a:xfrm>
            <a:off x="786384" y="5468590"/>
            <a:ext cx="9981792" cy="767618"/>
          </a:xfrm>
          <a:prstGeom prst="rect">
            <a:avLst/>
          </a:prstGeom>
          <a:noFill/>
          <a:ln/>
        </p:spPr>
        <p:txBody>
          <a:bodyPr wrap="square" lIns="0" tIns="0" rIns="0" bIns="0" rtlCol="0" anchor="ctr"/>
          <a:lstStyle/>
          <a:p>
            <a:pPr marL="0" indent="0">
              <a:lnSpc>
                <a:spcPts val="2200"/>
              </a:lnSpc>
              <a:buNone/>
            </a:pPr>
            <a:r>
              <a:rPr lang="en-US" sz="1500" dirty="0">
                <a:solidFill>
                  <a:srgbClr val="141414"/>
                </a:solidFill>
                <a:latin typeface="Arial" pitchFamily="34" charset="0"/>
                <a:ea typeface="Arial" pitchFamily="34" charset="-122"/>
                <a:cs typeface="Arial" pitchFamily="34" charset="-120"/>
              </a:rPr>
              <a:t>Set temperature to 0 so the same question gives the same answer. Otherwise you cannot tell whether a change helped or the output simply varied.</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0EA"/>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C0402A"/>
                </a:solidFill>
                <a:latin typeface="Arial" pitchFamily="34" charset="0"/>
                <a:ea typeface="Arial" pitchFamily="34" charset="-122"/>
                <a:cs typeface="Arial" pitchFamily="34" charset="-120"/>
              </a:rPr>
              <a:t>FROM EXPERIENCE</a:t>
            </a:r>
            <a:endParaRPr lang="en-US" sz="950" dirty="0"/>
          </a:p>
        </p:txBody>
      </p:sp>
      <p:sp>
        <p:nvSpPr>
          <p:cNvPr id="3" name="Shape 1"/>
          <p:cNvSpPr/>
          <p:nvPr/>
        </p:nvSpPr>
        <p:spPr>
          <a:xfrm>
            <a:off x="0" y="0"/>
            <a:ext cx="128016" cy="6858000"/>
          </a:xfrm>
          <a:prstGeom prst="rect">
            <a:avLst/>
          </a:prstGeom>
          <a:solidFill>
            <a:srgbClr val="C0402A"/>
          </a:solidFill>
          <a:ln/>
        </p:spPr>
        <p:txBody>
          <a:bodyPr/>
          <a:lstStyle/>
          <a:p>
            <a:endParaRPr lang="en-HK"/>
          </a:p>
        </p:txBody>
      </p:sp>
      <p:sp>
        <p:nvSpPr>
          <p:cNvPr id="4" name="Text 2"/>
          <p:cNvSpPr/>
          <p:nvPr/>
        </p:nvSpPr>
        <p:spPr>
          <a:xfrm>
            <a:off x="786384" y="713232"/>
            <a:ext cx="7923047"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Prompt Choices That Move the Score</a:t>
            </a:r>
            <a:endParaRPr lang="en-US" sz="2900" dirty="0"/>
          </a:p>
        </p:txBody>
      </p:sp>
      <p:sp>
        <p:nvSpPr>
          <p:cNvPr id="5" name="Shape 3"/>
          <p:cNvSpPr/>
          <p:nvPr/>
        </p:nvSpPr>
        <p:spPr>
          <a:xfrm>
            <a:off x="10801807"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6" name="Text 4"/>
          <p:cNvSpPr/>
          <p:nvPr/>
        </p:nvSpPr>
        <p:spPr>
          <a:xfrm>
            <a:off x="10801807"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8A857D"/>
                </a:solidFill>
                <a:latin typeface="Arial" pitchFamily="34" charset="0"/>
                <a:ea typeface="Arial" pitchFamily="34" charset="-122"/>
                <a:cs typeface="Arial" pitchFamily="34" charset="-120"/>
              </a:rPr>
              <a:t>LV1</a:t>
            </a:r>
            <a:endParaRPr lang="en-US" sz="1100" dirty="0"/>
          </a:p>
        </p:txBody>
      </p:sp>
      <p:sp>
        <p:nvSpPr>
          <p:cNvPr id="7" name="Shape 5"/>
          <p:cNvSpPr/>
          <p:nvPr/>
        </p:nvSpPr>
        <p:spPr>
          <a:xfrm>
            <a:off x="786384" y="1426464"/>
            <a:ext cx="10618927" cy="10973"/>
          </a:xfrm>
          <a:prstGeom prst="rect">
            <a:avLst/>
          </a:prstGeom>
          <a:solidFill>
            <a:srgbClr val="D5D1CA"/>
          </a:solidFill>
          <a:ln/>
        </p:spPr>
        <p:txBody>
          <a:bodyPr/>
          <a:lstStyle/>
          <a:p>
            <a:endParaRPr lang="en-HK"/>
          </a:p>
        </p:txBody>
      </p:sp>
      <p:sp>
        <p:nvSpPr>
          <p:cNvPr id="8" name="Text 6"/>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12</a:t>
            </a:r>
            <a:endParaRPr lang="en-US" sz="1200" dirty="0"/>
          </a:p>
        </p:txBody>
      </p:sp>
      <p:sp>
        <p:nvSpPr>
          <p:cNvPr id="9" name="Shape 7"/>
          <p:cNvSpPr/>
          <p:nvPr/>
        </p:nvSpPr>
        <p:spPr>
          <a:xfrm>
            <a:off x="786384" y="1815797"/>
            <a:ext cx="5227168" cy="19345"/>
          </a:xfrm>
          <a:prstGeom prst="rect">
            <a:avLst/>
          </a:prstGeom>
          <a:solidFill>
            <a:srgbClr val="141414"/>
          </a:solidFill>
          <a:ln/>
        </p:spPr>
        <p:txBody>
          <a:bodyPr/>
          <a:lstStyle/>
          <a:p>
            <a:endParaRPr lang="en-HK"/>
          </a:p>
        </p:txBody>
      </p:sp>
      <p:sp>
        <p:nvSpPr>
          <p:cNvPr id="10" name="Text 8"/>
          <p:cNvSpPr/>
          <p:nvPr/>
        </p:nvSpPr>
        <p:spPr>
          <a:xfrm>
            <a:off x="786384" y="1987754"/>
            <a:ext cx="5227168" cy="404515"/>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Few-shot beats describing</a:t>
            </a:r>
            <a:endParaRPr lang="en-US" sz="1950" dirty="0"/>
          </a:p>
        </p:txBody>
      </p:sp>
      <p:sp>
        <p:nvSpPr>
          <p:cNvPr id="11" name="Text 9"/>
          <p:cNvSpPr/>
          <p:nvPr/>
        </p:nvSpPr>
        <p:spPr>
          <a:xfrm>
            <a:off x="786384" y="2478247"/>
            <a:ext cx="5227168" cy="994122"/>
          </a:xfrm>
          <a:prstGeom prst="rect">
            <a:avLst/>
          </a:prstGeom>
          <a:noFill/>
          <a:ln/>
        </p:spPr>
        <p:txBody>
          <a:bodyPr wrap="square" lIns="0" tIns="0" rIns="0" bIns="0" rtlCol="0" anchor="t"/>
          <a:lstStyle/>
          <a:p>
            <a:pPr marL="0" indent="0">
              <a:lnSpc>
                <a:spcPts val="2100"/>
              </a:lnSpc>
              <a:buNone/>
            </a:pPr>
            <a:r>
              <a:rPr lang="en-US" sz="1400" dirty="0">
                <a:solidFill>
                  <a:srgbClr val="141414"/>
                </a:solidFill>
                <a:latin typeface="Arial" pitchFamily="34" charset="0"/>
                <a:ea typeface="Arial" pitchFamily="34" charset="-122"/>
                <a:cs typeface="Arial" pitchFamily="34" charset="-120"/>
              </a:rPr>
              <a:t>Two or three example question-and-answer pairs in the system prompt set the output format far more reliably than a sentence telling the model what format to use.</a:t>
            </a:r>
            <a:endParaRPr lang="en-US" sz="1400" dirty="0"/>
          </a:p>
        </p:txBody>
      </p:sp>
      <p:sp>
        <p:nvSpPr>
          <p:cNvPr id="12" name="Shape 10"/>
          <p:cNvSpPr/>
          <p:nvPr/>
        </p:nvSpPr>
        <p:spPr>
          <a:xfrm>
            <a:off x="6178144" y="1815797"/>
            <a:ext cx="5227168" cy="19345"/>
          </a:xfrm>
          <a:prstGeom prst="rect">
            <a:avLst/>
          </a:prstGeom>
          <a:solidFill>
            <a:srgbClr val="141414"/>
          </a:solidFill>
          <a:ln/>
        </p:spPr>
        <p:txBody>
          <a:bodyPr/>
          <a:lstStyle/>
          <a:p>
            <a:endParaRPr lang="en-HK"/>
          </a:p>
        </p:txBody>
      </p:sp>
      <p:sp>
        <p:nvSpPr>
          <p:cNvPr id="13" name="Text 11"/>
          <p:cNvSpPr/>
          <p:nvPr/>
        </p:nvSpPr>
        <p:spPr>
          <a:xfrm>
            <a:off x="6178144" y="1987754"/>
            <a:ext cx="5227168" cy="404515"/>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Match the model to the job</a:t>
            </a:r>
            <a:endParaRPr lang="en-US" sz="1950" dirty="0"/>
          </a:p>
        </p:txBody>
      </p:sp>
      <p:sp>
        <p:nvSpPr>
          <p:cNvPr id="14" name="Text 12"/>
          <p:cNvSpPr/>
          <p:nvPr/>
        </p:nvSpPr>
        <p:spPr>
          <a:xfrm>
            <a:off x="6178144" y="2478247"/>
            <a:ext cx="5227168" cy="1307584"/>
          </a:xfrm>
          <a:prstGeom prst="rect">
            <a:avLst/>
          </a:prstGeom>
          <a:noFill/>
          <a:ln/>
        </p:spPr>
        <p:txBody>
          <a:bodyPr wrap="square" lIns="0" tIns="0" rIns="0" bIns="0" rtlCol="0" anchor="t"/>
          <a:lstStyle/>
          <a:p>
            <a:pPr marL="0" indent="0">
              <a:lnSpc>
                <a:spcPts val="2100"/>
              </a:lnSpc>
              <a:buNone/>
            </a:pPr>
            <a:r>
              <a:rPr lang="en-US" sz="1400" dirty="0">
                <a:solidFill>
                  <a:srgbClr val="141414"/>
                </a:solidFill>
                <a:latin typeface="Arial" pitchFamily="34" charset="0"/>
                <a:ea typeface="Arial" pitchFamily="34" charset="-122"/>
                <a:cs typeface="Arial" pitchFamily="34" charset="-120"/>
              </a:rPr>
              <a:t>gpt-4o-mini for the thousands of ingestion calls, something stronger for the handful at runtime. The cheap model is not worse at describing an image, only at reasoning about one.</a:t>
            </a:r>
            <a:endParaRPr lang="en-US" sz="1400" dirty="0"/>
          </a:p>
        </p:txBody>
      </p:sp>
      <p:sp>
        <p:nvSpPr>
          <p:cNvPr id="16" name="Shape 14"/>
          <p:cNvSpPr/>
          <p:nvPr/>
        </p:nvSpPr>
        <p:spPr>
          <a:xfrm>
            <a:off x="740867" y="3832449"/>
            <a:ext cx="4751680" cy="25793"/>
          </a:xfrm>
          <a:prstGeom prst="rect">
            <a:avLst/>
          </a:prstGeom>
          <a:solidFill>
            <a:srgbClr val="C0402A"/>
          </a:solidFill>
          <a:ln/>
        </p:spPr>
        <p:txBody>
          <a:bodyPr/>
          <a:lstStyle/>
          <a:p>
            <a:endParaRPr lang="en-HK"/>
          </a:p>
        </p:txBody>
      </p:sp>
      <p:sp>
        <p:nvSpPr>
          <p:cNvPr id="17" name="Text 15"/>
          <p:cNvSpPr/>
          <p:nvPr/>
        </p:nvSpPr>
        <p:spPr>
          <a:xfrm>
            <a:off x="850201" y="4004405"/>
            <a:ext cx="4751680" cy="404515"/>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Check what the model returned</a:t>
            </a:r>
            <a:endParaRPr lang="en-US" sz="1950" dirty="0"/>
          </a:p>
        </p:txBody>
      </p:sp>
      <p:sp>
        <p:nvSpPr>
          <p:cNvPr id="18" name="Text 16"/>
          <p:cNvSpPr/>
          <p:nvPr/>
        </p:nvSpPr>
        <p:spPr>
          <a:xfrm>
            <a:off x="850201" y="4494898"/>
            <a:ext cx="4751680" cy="1307584"/>
          </a:xfrm>
          <a:prstGeom prst="rect">
            <a:avLst/>
          </a:prstGeom>
          <a:noFill/>
          <a:ln/>
        </p:spPr>
        <p:txBody>
          <a:bodyPr wrap="square" lIns="0" tIns="0" rIns="0" bIns="0" rtlCol="0" anchor="t"/>
          <a:lstStyle/>
          <a:p>
            <a:pPr marL="0" indent="0">
              <a:lnSpc>
                <a:spcPts val="2100"/>
              </a:lnSpc>
              <a:buNone/>
            </a:pPr>
            <a:r>
              <a:rPr lang="en-US" sz="1400" dirty="0">
                <a:solidFill>
                  <a:srgbClr val="141414"/>
                </a:solidFill>
                <a:latin typeface="Arial" pitchFamily="34" charset="0"/>
                <a:ea typeface="Arial" pitchFamily="34" charset="-122"/>
                <a:cs typeface="Arial" pitchFamily="34" charset="-120"/>
              </a:rPr>
              <a:t>If you asked for a bare number, confirm you got one. Some models prepend reasoning or restate the question. Parsing the reply and stripping stray prose is five lines and recovers marks.</a:t>
            </a:r>
            <a:endParaRPr lang="en-US" sz="1400" dirty="0"/>
          </a:p>
        </p:txBody>
      </p:sp>
      <p:sp>
        <p:nvSpPr>
          <p:cNvPr id="19" name="Shape 17"/>
          <p:cNvSpPr/>
          <p:nvPr/>
        </p:nvSpPr>
        <p:spPr>
          <a:xfrm>
            <a:off x="6178144" y="3857778"/>
            <a:ext cx="5227168" cy="19345"/>
          </a:xfrm>
          <a:prstGeom prst="rect">
            <a:avLst/>
          </a:prstGeom>
          <a:solidFill>
            <a:srgbClr val="141414"/>
          </a:solidFill>
          <a:ln/>
        </p:spPr>
        <p:txBody>
          <a:bodyPr/>
          <a:lstStyle/>
          <a:p>
            <a:endParaRPr lang="en-HK"/>
          </a:p>
        </p:txBody>
      </p:sp>
      <p:sp>
        <p:nvSpPr>
          <p:cNvPr id="20" name="Text 18"/>
          <p:cNvSpPr/>
          <p:nvPr/>
        </p:nvSpPr>
        <p:spPr>
          <a:xfrm>
            <a:off x="6178144" y="4029734"/>
            <a:ext cx="5227168" cy="404515"/>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Validate before printing</a:t>
            </a:r>
            <a:endParaRPr lang="en-US" sz="1950" dirty="0"/>
          </a:p>
        </p:txBody>
      </p:sp>
      <p:sp>
        <p:nvSpPr>
          <p:cNvPr id="21" name="Text 19"/>
          <p:cNvSpPr/>
          <p:nvPr/>
        </p:nvSpPr>
        <p:spPr>
          <a:xfrm>
            <a:off x="6178144" y="4520228"/>
            <a:ext cx="5227168" cy="994122"/>
          </a:xfrm>
          <a:prstGeom prst="rect">
            <a:avLst/>
          </a:prstGeom>
          <a:noFill/>
          <a:ln/>
        </p:spPr>
        <p:txBody>
          <a:bodyPr wrap="square" lIns="0" tIns="0" rIns="0" bIns="0" rtlCol="0" anchor="t"/>
          <a:lstStyle/>
          <a:p>
            <a:pPr marL="0" indent="0">
              <a:lnSpc>
                <a:spcPts val="2100"/>
              </a:lnSpc>
              <a:buNone/>
            </a:pPr>
            <a:r>
              <a:rPr lang="en-US" sz="1400" dirty="0">
                <a:solidFill>
                  <a:srgbClr val="141414"/>
                </a:solidFill>
                <a:latin typeface="Arial" pitchFamily="34" charset="0"/>
                <a:ea typeface="Arial" pitchFamily="34" charset="-122"/>
                <a:cs typeface="Arial" pitchFamily="34" charset="-120"/>
              </a:rPr>
              <a:t>If you asked for a bare number, check that you got one. Parsing the reply and stripping stray prose is five lines and recovers marks.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1212"/>
        </a:solidFill>
        <a:effectLst/>
      </p:bgPr>
    </p:bg>
    <p:spTree>
      <p:nvGrpSpPr>
        <p:cNvPr id="1" name=""/>
        <p:cNvGrpSpPr/>
        <p:nvPr/>
      </p:nvGrpSpPr>
      <p:grpSpPr>
        <a:xfrm>
          <a:off x="0" y="0"/>
          <a:ext cx="0" cy="0"/>
          <a:chOff x="0" y="0"/>
          <a:chExt cx="0" cy="0"/>
        </a:xfrm>
      </p:grpSpPr>
      <p:sp>
        <p:nvSpPr>
          <p:cNvPr id="2" name="Text 0"/>
          <p:cNvSpPr/>
          <p:nvPr/>
        </p:nvSpPr>
        <p:spPr>
          <a:xfrm>
            <a:off x="8899855" y="960120"/>
            <a:ext cx="3017520" cy="3200400"/>
          </a:xfrm>
          <a:prstGeom prst="rect">
            <a:avLst/>
          </a:prstGeom>
          <a:noFill/>
          <a:ln/>
        </p:spPr>
        <p:txBody>
          <a:bodyPr wrap="square" lIns="0" tIns="0" rIns="0" bIns="0" rtlCol="0" anchor="ctr"/>
          <a:lstStyle/>
          <a:p>
            <a:pPr marL="0" indent="0" algn="r">
              <a:buNone/>
            </a:pPr>
            <a:r>
              <a:rPr lang="en-US" sz="9600" b="1" dirty="0">
                <a:solidFill>
                  <a:srgbClr val="3D3934"/>
                </a:solidFill>
                <a:latin typeface="Arial" pitchFamily="34" charset="0"/>
                <a:ea typeface="Arial" pitchFamily="34" charset="-122"/>
                <a:cs typeface="Arial" pitchFamily="34" charset="-120"/>
              </a:rPr>
              <a:t>3</a:t>
            </a:r>
            <a:endParaRPr lang="en-US" sz="9600" dirty="0"/>
          </a:p>
        </p:txBody>
      </p:sp>
      <p:sp>
        <p:nvSpPr>
          <p:cNvPr id="3" name="Text 1"/>
          <p:cNvSpPr/>
          <p:nvPr/>
        </p:nvSpPr>
        <p:spPr>
          <a:xfrm>
            <a:off x="786384" y="1975104"/>
            <a:ext cx="10618927" cy="274320"/>
          </a:xfrm>
          <a:prstGeom prst="rect">
            <a:avLst/>
          </a:prstGeom>
          <a:noFill/>
          <a:ln/>
        </p:spPr>
        <p:txBody>
          <a:bodyPr wrap="square" lIns="0" tIns="0" rIns="0" bIns="0" rtlCol="0" anchor="ctr"/>
          <a:lstStyle/>
          <a:p>
            <a:pPr marL="0" indent="0">
              <a:buNone/>
            </a:pPr>
            <a:r>
              <a:rPr lang="en-US" sz="1200" b="1" kern="0" spc="260" dirty="0">
                <a:solidFill>
                  <a:srgbClr val="C0402A"/>
                </a:solidFill>
                <a:latin typeface="Arial" pitchFamily="34" charset="0"/>
                <a:ea typeface="Arial" pitchFamily="34" charset="-122"/>
                <a:cs typeface="Arial" pitchFamily="34" charset="-120"/>
              </a:rPr>
              <a:t>BLOCK 3  ·  LAB</a:t>
            </a:r>
            <a:endParaRPr lang="en-US" sz="1200" dirty="0"/>
          </a:p>
        </p:txBody>
      </p:sp>
      <p:sp>
        <p:nvSpPr>
          <p:cNvPr id="4" name="Shape 2"/>
          <p:cNvSpPr/>
          <p:nvPr/>
        </p:nvSpPr>
        <p:spPr>
          <a:xfrm>
            <a:off x="786384" y="2377440"/>
            <a:ext cx="1371600" cy="20117"/>
          </a:xfrm>
          <a:prstGeom prst="rect">
            <a:avLst/>
          </a:prstGeom>
          <a:solidFill>
            <a:srgbClr val="C0402A"/>
          </a:solidFill>
          <a:ln/>
        </p:spPr>
        <p:txBody>
          <a:bodyPr/>
          <a:lstStyle/>
          <a:p>
            <a:endParaRPr lang="en-HK"/>
          </a:p>
        </p:txBody>
      </p:sp>
      <p:sp>
        <p:nvSpPr>
          <p:cNvPr id="5" name="Text 3"/>
          <p:cNvSpPr/>
          <p:nvPr/>
        </p:nvSpPr>
        <p:spPr>
          <a:xfrm>
            <a:off x="786384" y="2596896"/>
            <a:ext cx="7024421" cy="1188720"/>
          </a:xfrm>
          <a:prstGeom prst="rect">
            <a:avLst/>
          </a:prstGeom>
          <a:noFill/>
          <a:ln/>
        </p:spPr>
        <p:txBody>
          <a:bodyPr wrap="square" lIns="0" tIns="0" rIns="0" bIns="0" rtlCol="0" anchor="ctr"/>
          <a:lstStyle/>
          <a:p>
            <a:pPr marL="0" indent="0">
              <a:lnSpc>
                <a:spcPts val="4000"/>
              </a:lnSpc>
              <a:buNone/>
            </a:pPr>
            <a:r>
              <a:rPr lang="en-US" sz="3600" b="1" dirty="0">
                <a:solidFill>
                  <a:srgbClr val="FAF8F5"/>
                </a:solidFill>
                <a:latin typeface="Arial" pitchFamily="34" charset="0"/>
                <a:ea typeface="Arial" pitchFamily="34" charset="-122"/>
                <a:cs typeface="Arial" pitchFamily="34" charset="-120"/>
              </a:rPr>
              <a:t>Retrieval</a:t>
            </a:r>
            <a:endParaRPr lang="en-US" sz="3600" dirty="0"/>
          </a:p>
        </p:txBody>
      </p:sp>
      <p:sp>
        <p:nvSpPr>
          <p:cNvPr id="6" name="Text 4"/>
          <p:cNvSpPr/>
          <p:nvPr/>
        </p:nvSpPr>
        <p:spPr>
          <a:xfrm>
            <a:off x="786384" y="3895344"/>
            <a:ext cx="6125794" cy="822960"/>
          </a:xfrm>
          <a:prstGeom prst="rect">
            <a:avLst/>
          </a:prstGeom>
          <a:noFill/>
          <a:ln/>
        </p:spPr>
        <p:txBody>
          <a:bodyPr wrap="square" lIns="0" tIns="0" rIns="0" bIns="0" rtlCol="0" anchor="ctr"/>
          <a:lstStyle/>
          <a:p>
            <a:pPr marL="0" indent="0">
              <a:lnSpc>
                <a:spcPts val="2300"/>
              </a:lnSpc>
              <a:buNone/>
            </a:pPr>
            <a:r>
              <a:rPr lang="en-US" sz="1750" dirty="0">
                <a:solidFill>
                  <a:srgbClr val="A8A39B"/>
                </a:solidFill>
                <a:latin typeface="Arial" pitchFamily="34" charset="0"/>
                <a:ea typeface="Arial" pitchFamily="34" charset="-122"/>
                <a:cs typeface="Arial" pitchFamily="34" charset="-120"/>
              </a:rPr>
              <a:t>How text is turned into numbers, how the search works, and how to check what it returned.</a:t>
            </a:r>
            <a:endParaRPr lang="en-US" sz="1750" dirty="0"/>
          </a:p>
        </p:txBody>
      </p:sp>
      <p:sp>
        <p:nvSpPr>
          <p:cNvPr id="7" name="Text 5"/>
          <p:cNvSpPr/>
          <p:nvPr/>
        </p:nvSpPr>
        <p:spPr>
          <a:xfrm>
            <a:off x="9210751" y="5358384"/>
            <a:ext cx="2194560" cy="310896"/>
          </a:xfrm>
          <a:prstGeom prst="rect">
            <a:avLst/>
          </a:prstGeom>
          <a:noFill/>
          <a:ln/>
        </p:spPr>
        <p:txBody>
          <a:bodyPr wrap="square" lIns="0" tIns="0" rIns="0" bIns="0" rtlCol="0" anchor="ctr"/>
          <a:lstStyle/>
          <a:p>
            <a:pPr marL="0" indent="0" algn="r">
              <a:buNone/>
            </a:pPr>
            <a:r>
              <a:rPr lang="en-US" sz="1450" b="1" kern="0" spc="180" dirty="0">
                <a:solidFill>
                  <a:srgbClr val="C0402A"/>
                </a:solidFill>
                <a:latin typeface="Arial" pitchFamily="34" charset="0"/>
                <a:ea typeface="Arial" pitchFamily="34" charset="-122"/>
                <a:cs typeface="Arial" pitchFamily="34" charset="-120"/>
              </a:rPr>
              <a:t>20 MIN</a:t>
            </a:r>
            <a:endParaRPr lang="en-US" sz="1450" dirty="0"/>
          </a:p>
        </p:txBody>
      </p:sp>
      <p:sp>
        <p:nvSpPr>
          <p:cNvPr id="8" name="Shape 6"/>
          <p:cNvSpPr/>
          <p:nvPr/>
        </p:nvSpPr>
        <p:spPr>
          <a:xfrm>
            <a:off x="786384" y="5358384"/>
            <a:ext cx="585216" cy="292608"/>
          </a:xfrm>
          <a:prstGeom prst="rect">
            <a:avLst/>
          </a:prstGeom>
          <a:solidFill>
            <a:srgbClr val="121212"/>
          </a:solidFill>
          <a:ln w="9525">
            <a:solidFill>
              <a:srgbClr val="45423E"/>
            </a:solidFill>
            <a:prstDash val="solid"/>
          </a:ln>
        </p:spPr>
        <p:txBody>
          <a:bodyPr/>
          <a:lstStyle/>
          <a:p>
            <a:endParaRPr lang="en-HK"/>
          </a:p>
        </p:txBody>
      </p:sp>
      <p:sp>
        <p:nvSpPr>
          <p:cNvPr id="9" name="Text 7"/>
          <p:cNvSpPr/>
          <p:nvPr/>
        </p:nvSpPr>
        <p:spPr>
          <a:xfrm>
            <a:off x="786384" y="5358384"/>
            <a:ext cx="585216" cy="292608"/>
          </a:xfrm>
          <a:prstGeom prst="rect">
            <a:avLst/>
          </a:prstGeom>
          <a:noFill/>
          <a:ln/>
        </p:spPr>
        <p:txBody>
          <a:bodyPr wrap="square" lIns="0" tIns="0" rIns="0" bIns="0" rtlCol="0" anchor="ctr"/>
          <a:lstStyle/>
          <a:p>
            <a:pPr marL="0" indent="0" algn="ctr">
              <a:buNone/>
            </a:pPr>
            <a:r>
              <a:rPr lang="en-US" sz="1100" b="1" kern="0" spc="60" dirty="0">
                <a:solidFill>
                  <a:srgbClr val="B5B0A8"/>
                </a:solidFill>
                <a:latin typeface="Arial" pitchFamily="34" charset="0"/>
                <a:ea typeface="Arial" pitchFamily="34" charset="-122"/>
                <a:cs typeface="Arial" pitchFamily="34" charset="-120"/>
              </a:rPr>
              <a:t>LV2</a:t>
            </a:r>
            <a:endParaRPr lang="en-US" sz="1100" dirty="0"/>
          </a:p>
        </p:txBody>
      </p:sp>
      <p:sp>
        <p:nvSpPr>
          <p:cNvPr id="10" name="Text 8"/>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56534E"/>
                </a:solidFill>
                <a:latin typeface="Arial" pitchFamily="34" charset="0"/>
                <a:ea typeface="Arial" pitchFamily="34" charset="-122"/>
                <a:cs typeface="Arial"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Embeddings</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5" name="Text 3"/>
          <p:cNvSpPr/>
          <p:nvPr/>
        </p:nvSpPr>
        <p:spPr>
          <a:xfrm>
            <a:off x="10801807"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6E6A63"/>
                </a:solidFill>
                <a:latin typeface="Arial" pitchFamily="34" charset="0"/>
                <a:ea typeface="Arial" pitchFamily="34" charset="-122"/>
                <a:cs typeface="Arial" pitchFamily="34" charset="-120"/>
              </a:rPr>
              <a:t>LV2</a:t>
            </a:r>
            <a:endParaRPr lang="en-US" sz="1100" dirty="0"/>
          </a:p>
        </p:txBody>
      </p:sp>
      <p:sp>
        <p:nvSpPr>
          <p:cNvPr id="6" name="Shape 4"/>
          <p:cNvSpPr/>
          <p:nvPr/>
        </p:nvSpPr>
        <p:spPr>
          <a:xfrm>
            <a:off x="786384" y="1426464"/>
            <a:ext cx="10618927" cy="10973"/>
          </a:xfrm>
          <a:prstGeom prst="rect">
            <a:avLst/>
          </a:prstGeom>
          <a:solidFill>
            <a:srgbClr val="D5D1CA"/>
          </a:solidFill>
          <a:ln/>
        </p:spPr>
        <p:txBody>
          <a:bodyPr/>
          <a:lstStyle/>
          <a:p>
            <a:endParaRPr lang="en-HK"/>
          </a:p>
        </p:txBody>
      </p:sp>
      <p:sp>
        <p:nvSpPr>
          <p:cNvPr id="7" name="Text 5"/>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14</a:t>
            </a:r>
            <a:endParaRPr lang="en-US" sz="1200" dirty="0"/>
          </a:p>
        </p:txBody>
      </p:sp>
      <p:sp>
        <p:nvSpPr>
          <p:cNvPr id="8" name="Text 6"/>
          <p:cNvSpPr/>
          <p:nvPr/>
        </p:nvSpPr>
        <p:spPr>
          <a:xfrm>
            <a:off x="786384" y="1813397"/>
            <a:ext cx="6125794" cy="1152865"/>
          </a:xfrm>
          <a:prstGeom prst="rect">
            <a:avLst/>
          </a:prstGeom>
          <a:noFill/>
          <a:ln/>
        </p:spPr>
        <p:txBody>
          <a:bodyPr wrap="square" lIns="0" tIns="0" rIns="0" bIns="0" rtlCol="0" anchor="ctr"/>
          <a:lstStyle/>
          <a:p>
            <a:pPr marL="0" indent="0">
              <a:lnSpc>
                <a:spcPts val="2500"/>
              </a:lnSpc>
              <a:buNone/>
            </a:pPr>
            <a:r>
              <a:rPr lang="en-US" sz="1650" dirty="0">
                <a:solidFill>
                  <a:srgbClr val="141414"/>
                </a:solidFill>
                <a:latin typeface="Arial" pitchFamily="34" charset="0"/>
                <a:ea typeface="Arial" pitchFamily="34" charset="-122"/>
                <a:cs typeface="Arial" pitchFamily="34" charset="-120"/>
              </a:rPr>
              <a:t>A librarian who has read everything does not match your words to the catalogue. Asked where the 3D printers are, they take you to additive manufacturing, because the two phrases refer to the same thing. Embeddings do that job with numbers.</a:t>
            </a:r>
            <a:endParaRPr lang="en-US" sz="1650" dirty="0"/>
          </a:p>
        </p:txBody>
      </p:sp>
      <p:sp>
        <p:nvSpPr>
          <p:cNvPr id="9" name="Shape 7"/>
          <p:cNvSpPr/>
          <p:nvPr/>
        </p:nvSpPr>
        <p:spPr>
          <a:xfrm>
            <a:off x="786384" y="3133952"/>
            <a:ext cx="6125794" cy="1676895"/>
          </a:xfrm>
          <a:prstGeom prst="rect">
            <a:avLst/>
          </a:prstGeom>
          <a:solidFill>
            <a:srgbClr val="F2EFEA"/>
          </a:solidFill>
          <a:ln/>
        </p:spPr>
        <p:txBody>
          <a:bodyPr/>
          <a:lstStyle/>
          <a:p>
            <a:endParaRPr lang="en-HK"/>
          </a:p>
        </p:txBody>
      </p:sp>
      <p:sp>
        <p:nvSpPr>
          <p:cNvPr id="10" name="Shape 8"/>
          <p:cNvSpPr/>
          <p:nvPr/>
        </p:nvSpPr>
        <p:spPr>
          <a:xfrm>
            <a:off x="786384" y="3133952"/>
            <a:ext cx="27432" cy="1676895"/>
          </a:xfrm>
          <a:prstGeom prst="rect">
            <a:avLst/>
          </a:prstGeom>
          <a:solidFill>
            <a:srgbClr val="C0402A"/>
          </a:solidFill>
          <a:ln/>
        </p:spPr>
        <p:txBody>
          <a:bodyPr/>
          <a:lstStyle/>
          <a:p>
            <a:endParaRPr lang="en-HK"/>
          </a:p>
        </p:txBody>
      </p:sp>
      <p:sp>
        <p:nvSpPr>
          <p:cNvPr id="11" name="Text 9"/>
          <p:cNvSpPr/>
          <p:nvPr/>
        </p:nvSpPr>
        <p:spPr>
          <a:xfrm>
            <a:off x="1042416" y="3301642"/>
            <a:ext cx="5686882" cy="1341516"/>
          </a:xfrm>
          <a:prstGeom prst="rect">
            <a:avLst/>
          </a:prstGeom>
          <a:noFill/>
          <a:ln/>
        </p:spPr>
        <p:txBody>
          <a:bodyPr wrap="square" lIns="0" tIns="0" rIns="0" bIns="0" rtlCol="0" anchor="t"/>
          <a:lstStyle/>
          <a:p>
            <a:pPr marL="0" indent="0">
              <a:lnSpc>
                <a:spcPts val="1900"/>
              </a:lnSpc>
              <a:buNone/>
            </a:pPr>
            <a:r>
              <a:rPr lang="en-US" sz="1300" dirty="0">
                <a:solidFill>
                  <a:srgbClr val="2A2724"/>
                </a:solidFill>
                <a:latin typeface="Courier New" pitchFamily="34" charset="0"/>
                <a:ea typeface="Courier New" pitchFamily="34" charset="-122"/>
                <a:cs typeface="Courier New" pitchFamily="34" charset="-120"/>
              </a:rPr>
              <a:t>embed(["Where are the 3D printers?"])</a:t>
            </a:r>
            <a:endParaRPr lang="en-US" sz="1300" dirty="0"/>
          </a:p>
          <a:p>
            <a:pPr marL="0" indent="0">
              <a:lnSpc>
                <a:spcPts val="1900"/>
              </a:lnSpc>
              <a:buNone/>
            </a:pPr>
            <a:endParaRPr lang="en-US" sz="1300" dirty="0"/>
          </a:p>
          <a:p>
            <a:pPr marL="0" indent="0">
              <a:lnSpc>
                <a:spcPts val="1900"/>
              </a:lnSpc>
              <a:buNone/>
            </a:pPr>
            <a:r>
              <a:rPr lang="en-US" sz="1300" dirty="0">
                <a:solidFill>
                  <a:srgbClr val="2A2724"/>
                </a:solidFill>
                <a:latin typeface="Courier New" pitchFamily="34" charset="0"/>
                <a:ea typeface="Courier New" pitchFamily="34" charset="-122"/>
                <a:cs typeface="Courier New" pitchFamily="34" charset="-120"/>
              </a:rPr>
              <a:t>[[ 0.021, -0.114, 0.087, ..., 0.043 ]]</a:t>
            </a:r>
            <a:endParaRPr lang="en-US" sz="1300" dirty="0"/>
          </a:p>
          <a:p>
            <a:pPr marL="0" indent="0">
              <a:lnSpc>
                <a:spcPts val="1900"/>
              </a:lnSpc>
              <a:buNone/>
            </a:pPr>
            <a:r>
              <a:rPr lang="en-US" sz="1300" dirty="0">
                <a:solidFill>
                  <a:srgbClr val="2A2724"/>
                </a:solidFill>
                <a:latin typeface="Courier New" pitchFamily="34" charset="0"/>
                <a:ea typeface="Courier New" pitchFamily="34" charset="-122"/>
                <a:cs typeface="Courier New" pitchFamily="34" charset="-120"/>
              </a:rPr>
              <a:t>         1536 numbers</a:t>
            </a:r>
            <a:endParaRPr lang="en-US" sz="1300" dirty="0"/>
          </a:p>
        </p:txBody>
      </p:sp>
      <p:sp>
        <p:nvSpPr>
          <p:cNvPr id="12" name="Shape 10"/>
          <p:cNvSpPr/>
          <p:nvPr/>
        </p:nvSpPr>
        <p:spPr>
          <a:xfrm>
            <a:off x="7076770" y="1813397"/>
            <a:ext cx="4328541" cy="18865"/>
          </a:xfrm>
          <a:prstGeom prst="rect">
            <a:avLst/>
          </a:prstGeom>
          <a:solidFill>
            <a:srgbClr val="141414"/>
          </a:solidFill>
          <a:ln/>
        </p:spPr>
        <p:txBody>
          <a:bodyPr/>
          <a:lstStyle/>
          <a:p>
            <a:endParaRPr lang="en-HK"/>
          </a:p>
        </p:txBody>
      </p:sp>
      <p:sp>
        <p:nvSpPr>
          <p:cNvPr id="13" name="Text 11"/>
          <p:cNvSpPr/>
          <p:nvPr/>
        </p:nvSpPr>
        <p:spPr>
          <a:xfrm>
            <a:off x="7076770" y="1981087"/>
            <a:ext cx="4328541" cy="394478"/>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A position, not a summary</a:t>
            </a:r>
            <a:endParaRPr lang="en-US" sz="1950" dirty="0"/>
          </a:p>
        </p:txBody>
      </p:sp>
      <p:sp>
        <p:nvSpPr>
          <p:cNvPr id="14" name="Text 12"/>
          <p:cNvSpPr/>
          <p:nvPr/>
        </p:nvSpPr>
        <p:spPr>
          <a:xfrm>
            <a:off x="7076770" y="2459410"/>
            <a:ext cx="4328541" cy="2497875"/>
          </a:xfrm>
          <a:prstGeom prst="rect">
            <a:avLst/>
          </a:prstGeom>
          <a:noFill/>
          <a:ln/>
        </p:spPr>
        <p:txBody>
          <a:bodyPr wrap="square" lIns="0" tIns="0" rIns="0" bIns="0" rtlCol="0" anchor="t"/>
          <a:lstStyle/>
          <a:p>
            <a:pPr marL="0" indent="0">
              <a:lnSpc>
                <a:spcPts val="2100"/>
              </a:lnSpc>
              <a:buNone/>
            </a:pPr>
            <a:r>
              <a:rPr lang="en-US" sz="1400" dirty="0">
                <a:solidFill>
                  <a:srgbClr val="141414"/>
                </a:solidFill>
                <a:latin typeface="Arial" pitchFamily="34" charset="0"/>
                <a:ea typeface="Arial" pitchFamily="34" charset="-122"/>
                <a:cs typeface="Arial" pitchFamily="34" charset="-120"/>
              </a:rPr>
              <a:t>1536 numbers is a point in 1536-dimensional space. You cannot picture that, but the arithmetic is the same as in two dimensions.</a:t>
            </a:r>
            <a:endParaRPr lang="en-US" sz="1400" dirty="0"/>
          </a:p>
          <a:p>
            <a:pPr marL="0" indent="0">
              <a:lnSpc>
                <a:spcPts val="2100"/>
              </a:lnSpc>
              <a:buNone/>
            </a:pPr>
            <a:endParaRPr lang="en-US" sz="1400" dirty="0"/>
          </a:p>
          <a:p>
            <a:pPr marL="0" indent="0">
              <a:lnSpc>
                <a:spcPts val="2100"/>
              </a:lnSpc>
              <a:buNone/>
            </a:pPr>
            <a:r>
              <a:rPr lang="en-US" sz="1400" dirty="0">
                <a:solidFill>
                  <a:srgbClr val="141414"/>
                </a:solidFill>
                <a:latin typeface="Arial" pitchFamily="34" charset="0"/>
                <a:ea typeface="Arial" pitchFamily="34" charset="-122"/>
                <a:cs typeface="Arial" pitchFamily="34" charset="-120"/>
              </a:rPr>
              <a:t>The model was trained on very large numbers of text pairs so that related texts land close together. Nobody wrote a rule connecting 3D printers to additive manufacturing.</a:t>
            </a:r>
            <a:endParaRPr lang="en-US" sz="1400" dirty="0"/>
          </a:p>
        </p:txBody>
      </p:sp>
      <p:sp>
        <p:nvSpPr>
          <p:cNvPr id="15" name="Text 13"/>
          <p:cNvSpPr/>
          <p:nvPr/>
        </p:nvSpPr>
        <p:spPr>
          <a:xfrm>
            <a:off x="786384" y="4936614"/>
            <a:ext cx="10087981" cy="838448"/>
          </a:xfrm>
          <a:prstGeom prst="rect">
            <a:avLst/>
          </a:prstGeom>
          <a:noFill/>
          <a:ln/>
        </p:spPr>
        <p:txBody>
          <a:bodyPr wrap="square" lIns="0" tIns="0" rIns="0" bIns="0" rtlCol="0" anchor="ctr"/>
          <a:lstStyle/>
          <a:p>
            <a:pPr marL="0" indent="0">
              <a:lnSpc>
                <a:spcPts val="2300"/>
              </a:lnSpc>
              <a:buNone/>
            </a:pPr>
            <a:r>
              <a:rPr lang="en-US" sz="1550" dirty="0">
                <a:solidFill>
                  <a:srgbClr val="141414"/>
                </a:solidFill>
                <a:latin typeface="Arial" pitchFamily="34" charset="0"/>
                <a:ea typeface="Arial" pitchFamily="34" charset="-122"/>
                <a:cs typeface="Arial" pitchFamily="34" charset="-120"/>
              </a:rPr>
              <a:t>"Where are the 3D printers" and "location of additive manufacturing equipment" have almost no words in common, so keyword search will not connect them. Their embeddings land close together, so vector search will.</a:t>
            </a:r>
            <a:endParaRPr lang="en-US" sz="1550" dirty="0"/>
          </a:p>
        </p:txBody>
      </p:sp>
      <p:sp>
        <p:nvSpPr>
          <p:cNvPr id="16" name="Shape 14"/>
          <p:cNvSpPr/>
          <p:nvPr/>
        </p:nvSpPr>
        <p:spPr>
          <a:xfrm>
            <a:off x="786384" y="5712178"/>
            <a:ext cx="10618927" cy="12577"/>
          </a:xfrm>
          <a:prstGeom prst="rect">
            <a:avLst/>
          </a:prstGeom>
          <a:solidFill>
            <a:srgbClr val="D5D1CA"/>
          </a:solidFill>
          <a:ln/>
        </p:spPr>
        <p:txBody>
          <a:bodyPr/>
          <a:lstStyle/>
          <a:p>
            <a:endParaRPr lang="en-HK"/>
          </a:p>
        </p:txBody>
      </p:sp>
      <p:sp>
        <p:nvSpPr>
          <p:cNvPr id="17" name="Text 15"/>
          <p:cNvSpPr/>
          <p:nvPr/>
        </p:nvSpPr>
        <p:spPr>
          <a:xfrm>
            <a:off x="786384" y="5858907"/>
            <a:ext cx="10618927" cy="377301"/>
          </a:xfrm>
          <a:prstGeom prst="rect">
            <a:avLst/>
          </a:prstGeom>
          <a:noFill/>
          <a:ln/>
        </p:spPr>
        <p:txBody>
          <a:bodyPr wrap="square" lIns="0" tIns="0" rIns="0" bIns="0" rtlCol="0" anchor="ctr"/>
          <a:lstStyle/>
          <a:p>
            <a:pPr marL="0" indent="0">
              <a:lnSpc>
                <a:spcPts val="1800"/>
              </a:lnSpc>
              <a:buNone/>
            </a:pPr>
            <a:r>
              <a:rPr lang="en-US" sz="1250" dirty="0">
                <a:solidFill>
                  <a:srgbClr val="827D75"/>
                </a:solidFill>
                <a:latin typeface="Arial" pitchFamily="34" charset="0"/>
                <a:ea typeface="Arial" pitchFamily="34" charset="-122"/>
                <a:cs typeface="Arial" pitchFamily="34" charset="-120"/>
              </a:rPr>
              <a:t>text-embedding-3-small is the embedding model provided to you. It returns 1536 numbers per input.</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Similarity &amp; Distance</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5" name="Text 3"/>
          <p:cNvSpPr/>
          <p:nvPr/>
        </p:nvSpPr>
        <p:spPr>
          <a:xfrm>
            <a:off x="10801807"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6E6A63"/>
                </a:solidFill>
                <a:latin typeface="Arial" pitchFamily="34" charset="0"/>
                <a:ea typeface="Arial" pitchFamily="34" charset="-122"/>
                <a:cs typeface="Arial" pitchFamily="34" charset="-120"/>
              </a:rPr>
              <a:t>LV2</a:t>
            </a:r>
            <a:endParaRPr lang="en-US" sz="1100" dirty="0"/>
          </a:p>
        </p:txBody>
      </p:sp>
      <p:sp>
        <p:nvSpPr>
          <p:cNvPr id="6" name="Shape 4"/>
          <p:cNvSpPr/>
          <p:nvPr/>
        </p:nvSpPr>
        <p:spPr>
          <a:xfrm>
            <a:off x="786384" y="1426464"/>
            <a:ext cx="10618927" cy="10973"/>
          </a:xfrm>
          <a:prstGeom prst="rect">
            <a:avLst/>
          </a:prstGeom>
          <a:solidFill>
            <a:srgbClr val="D5D1CA"/>
          </a:solidFill>
          <a:ln/>
        </p:spPr>
        <p:txBody>
          <a:bodyPr/>
          <a:lstStyle/>
          <a:p>
            <a:endParaRPr lang="en-HK"/>
          </a:p>
        </p:txBody>
      </p:sp>
      <p:sp>
        <p:nvSpPr>
          <p:cNvPr id="7" name="Text 5"/>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15</a:t>
            </a:r>
            <a:endParaRPr lang="en-US" sz="1200" dirty="0"/>
          </a:p>
        </p:txBody>
      </p:sp>
      <p:sp>
        <p:nvSpPr>
          <p:cNvPr id="8" name="Text 6"/>
          <p:cNvSpPr/>
          <p:nvPr/>
        </p:nvSpPr>
        <p:spPr>
          <a:xfrm>
            <a:off x="786384" y="1791857"/>
            <a:ext cx="10087981" cy="727846"/>
          </a:xfrm>
          <a:prstGeom prst="rect">
            <a:avLst/>
          </a:prstGeom>
          <a:noFill/>
          <a:ln/>
        </p:spPr>
        <p:txBody>
          <a:bodyPr wrap="square" lIns="0" tIns="0" rIns="0" bIns="0" rtlCol="0" anchor="ctr"/>
          <a:lstStyle/>
          <a:p>
            <a:pPr marL="0" indent="0">
              <a:lnSpc>
                <a:spcPts val="2034"/>
              </a:lnSpc>
              <a:buNone/>
            </a:pPr>
            <a:r>
              <a:rPr lang="en-US" sz="1371" dirty="0">
                <a:solidFill>
                  <a:srgbClr val="141414"/>
                </a:solidFill>
                <a:latin typeface="Arial" pitchFamily="34" charset="0"/>
                <a:ea typeface="Arial" pitchFamily="34" charset="-122"/>
                <a:cs typeface="Arial" pitchFamily="34" charset="-120"/>
              </a:rPr>
              <a:t>Two texts count as similar when their vectors point the same way. Cosine similarity measures the angle between them and ignores how long they are, so a one-line caption and a long paragraph about the same room still count as similar.</a:t>
            </a:r>
            <a:endParaRPr lang="en-US" sz="1371" dirty="0"/>
          </a:p>
        </p:txBody>
      </p:sp>
      <p:sp>
        <p:nvSpPr>
          <p:cNvPr id="9" name="Shape 7"/>
          <p:cNvSpPr/>
          <p:nvPr/>
        </p:nvSpPr>
        <p:spPr>
          <a:xfrm>
            <a:off x="1060704" y="4266532"/>
            <a:ext cx="1737360" cy="11322"/>
          </a:xfrm>
          <a:prstGeom prst="rect">
            <a:avLst/>
          </a:prstGeom>
          <a:solidFill>
            <a:srgbClr val="D5D1CA"/>
          </a:solidFill>
          <a:ln/>
        </p:spPr>
        <p:txBody>
          <a:bodyPr/>
          <a:lstStyle/>
          <a:p>
            <a:endParaRPr lang="en-HK"/>
          </a:p>
        </p:txBody>
      </p:sp>
      <p:sp>
        <p:nvSpPr>
          <p:cNvPr id="10" name="Shape 8"/>
          <p:cNvSpPr/>
          <p:nvPr/>
        </p:nvSpPr>
        <p:spPr>
          <a:xfrm>
            <a:off x="1060704" y="2729969"/>
            <a:ext cx="12802" cy="1536563"/>
          </a:xfrm>
          <a:prstGeom prst="rect">
            <a:avLst/>
          </a:prstGeom>
          <a:solidFill>
            <a:srgbClr val="D5D1CA"/>
          </a:solidFill>
          <a:ln/>
        </p:spPr>
        <p:txBody>
          <a:bodyPr/>
          <a:lstStyle/>
          <a:p>
            <a:endParaRPr lang="en-HK"/>
          </a:p>
        </p:txBody>
      </p:sp>
      <p:sp>
        <p:nvSpPr>
          <p:cNvPr id="11" name="Shape 9"/>
          <p:cNvSpPr/>
          <p:nvPr/>
        </p:nvSpPr>
        <p:spPr>
          <a:xfrm rot="-4440000">
            <a:off x="462927" y="3556042"/>
            <a:ext cx="1650492" cy="17792"/>
          </a:xfrm>
          <a:prstGeom prst="rect">
            <a:avLst/>
          </a:prstGeom>
          <a:solidFill>
            <a:srgbClr val="C0402A"/>
          </a:solidFill>
          <a:ln/>
        </p:spPr>
        <p:txBody>
          <a:bodyPr/>
          <a:lstStyle/>
          <a:p>
            <a:endParaRPr lang="en-HK"/>
          </a:p>
        </p:txBody>
      </p:sp>
      <p:sp>
        <p:nvSpPr>
          <p:cNvPr id="12" name="Text 10"/>
          <p:cNvSpPr/>
          <p:nvPr/>
        </p:nvSpPr>
        <p:spPr>
          <a:xfrm>
            <a:off x="1424201" y="2588381"/>
            <a:ext cx="1691640" cy="242615"/>
          </a:xfrm>
          <a:prstGeom prst="rect">
            <a:avLst/>
          </a:prstGeom>
          <a:noFill/>
          <a:ln/>
        </p:spPr>
        <p:txBody>
          <a:bodyPr wrap="square" lIns="0" tIns="0" rIns="0" bIns="0" rtlCol="0" anchor="ctr"/>
          <a:lstStyle/>
          <a:p>
            <a:pPr marL="0" indent="0">
              <a:buNone/>
            </a:pPr>
            <a:r>
              <a:rPr lang="en-US" sz="1017" b="1" dirty="0">
                <a:solidFill>
                  <a:srgbClr val="C0402A"/>
                </a:solidFill>
                <a:latin typeface="Arial" pitchFamily="34" charset="0"/>
                <a:ea typeface="Arial" pitchFamily="34" charset="-122"/>
                <a:cs typeface="Arial" pitchFamily="34" charset="-120"/>
              </a:rPr>
              <a:t>3D printers</a:t>
            </a:r>
            <a:endParaRPr lang="en-US" sz="1017" dirty="0"/>
          </a:p>
        </p:txBody>
      </p:sp>
      <p:sp>
        <p:nvSpPr>
          <p:cNvPr id="13" name="Shape 11"/>
          <p:cNvSpPr/>
          <p:nvPr/>
        </p:nvSpPr>
        <p:spPr>
          <a:xfrm rot="-3360000">
            <a:off x="762026" y="3760827"/>
            <a:ext cx="1355141" cy="17792"/>
          </a:xfrm>
          <a:prstGeom prst="rect">
            <a:avLst/>
          </a:prstGeom>
          <a:solidFill>
            <a:srgbClr val="C0402A"/>
          </a:solidFill>
          <a:ln/>
        </p:spPr>
        <p:txBody>
          <a:bodyPr/>
          <a:lstStyle/>
          <a:p>
            <a:endParaRPr lang="en-HK"/>
          </a:p>
        </p:txBody>
      </p:sp>
      <p:sp>
        <p:nvSpPr>
          <p:cNvPr id="14" name="Text 12"/>
          <p:cNvSpPr/>
          <p:nvPr/>
        </p:nvSpPr>
        <p:spPr>
          <a:xfrm>
            <a:off x="1727049" y="2997950"/>
            <a:ext cx="1691640" cy="242615"/>
          </a:xfrm>
          <a:prstGeom prst="rect">
            <a:avLst/>
          </a:prstGeom>
          <a:noFill/>
          <a:ln/>
        </p:spPr>
        <p:txBody>
          <a:bodyPr wrap="square" lIns="0" tIns="0" rIns="0" bIns="0" rtlCol="0" anchor="ctr"/>
          <a:lstStyle/>
          <a:p>
            <a:pPr marL="0" indent="0">
              <a:buNone/>
            </a:pPr>
            <a:r>
              <a:rPr lang="en-US" sz="1017" b="1" dirty="0">
                <a:solidFill>
                  <a:srgbClr val="C0402A"/>
                </a:solidFill>
                <a:latin typeface="Arial" pitchFamily="34" charset="0"/>
                <a:ea typeface="Arial" pitchFamily="34" charset="-122"/>
                <a:cs typeface="Arial" pitchFamily="34" charset="-120"/>
              </a:rPr>
              <a:t>additive manufacturing</a:t>
            </a:r>
            <a:endParaRPr lang="en-US" sz="1017" dirty="0"/>
          </a:p>
        </p:txBody>
      </p:sp>
      <p:sp>
        <p:nvSpPr>
          <p:cNvPr id="15" name="Shape 13"/>
          <p:cNvSpPr/>
          <p:nvPr/>
        </p:nvSpPr>
        <p:spPr>
          <a:xfrm rot="-360000">
            <a:off x="1056326" y="4183753"/>
            <a:ext cx="1598371" cy="17792"/>
          </a:xfrm>
          <a:prstGeom prst="rect">
            <a:avLst/>
          </a:prstGeom>
          <a:solidFill>
            <a:srgbClr val="6E6A63"/>
          </a:solidFill>
          <a:ln/>
        </p:spPr>
        <p:txBody>
          <a:bodyPr/>
          <a:lstStyle/>
          <a:p>
            <a:endParaRPr lang="en-HK"/>
          </a:p>
        </p:txBody>
      </p:sp>
      <p:sp>
        <p:nvSpPr>
          <p:cNvPr id="16" name="Text 14"/>
          <p:cNvSpPr/>
          <p:nvPr/>
        </p:nvSpPr>
        <p:spPr>
          <a:xfrm>
            <a:off x="2558879" y="3843803"/>
            <a:ext cx="1691640" cy="242615"/>
          </a:xfrm>
          <a:prstGeom prst="rect">
            <a:avLst/>
          </a:prstGeom>
          <a:noFill/>
          <a:ln/>
        </p:spPr>
        <p:txBody>
          <a:bodyPr wrap="square" lIns="0" tIns="0" rIns="0" bIns="0" rtlCol="0" anchor="ctr"/>
          <a:lstStyle/>
          <a:p>
            <a:pPr marL="0" indent="0">
              <a:buNone/>
            </a:pPr>
            <a:r>
              <a:rPr lang="en-US" sz="1017" b="1" dirty="0">
                <a:solidFill>
                  <a:srgbClr val="6E6A63"/>
                </a:solidFill>
                <a:latin typeface="Arial" pitchFamily="34" charset="0"/>
                <a:ea typeface="Arial" pitchFamily="34" charset="-122"/>
                <a:cs typeface="Arial" pitchFamily="34" charset="-120"/>
              </a:rPr>
              <a:t>opening hours</a:t>
            </a:r>
            <a:endParaRPr lang="en-US" sz="1017" dirty="0"/>
          </a:p>
        </p:txBody>
      </p:sp>
      <p:sp>
        <p:nvSpPr>
          <p:cNvPr id="17" name="Text 15"/>
          <p:cNvSpPr/>
          <p:nvPr/>
        </p:nvSpPr>
        <p:spPr>
          <a:xfrm>
            <a:off x="3849624" y="2729969"/>
            <a:ext cx="3109874" cy="1132204"/>
          </a:xfrm>
          <a:prstGeom prst="rect">
            <a:avLst/>
          </a:prstGeom>
          <a:noFill/>
          <a:ln/>
        </p:spPr>
        <p:txBody>
          <a:bodyPr wrap="square" lIns="0" tIns="0" rIns="0" bIns="0" rtlCol="0" anchor="ctr"/>
          <a:lstStyle/>
          <a:p>
            <a:pPr marL="0" indent="0">
              <a:lnSpc>
                <a:spcPts val="1769"/>
              </a:lnSpc>
              <a:buNone/>
            </a:pPr>
            <a:r>
              <a:rPr lang="en-US" sz="1238" dirty="0">
                <a:solidFill>
                  <a:srgbClr val="141414"/>
                </a:solidFill>
                <a:latin typeface="Arial" pitchFamily="34" charset="0"/>
                <a:ea typeface="Arial" pitchFamily="34" charset="-122"/>
                <a:cs typeface="Arial" pitchFamily="34" charset="-120"/>
              </a:rPr>
              <a:t>A small angle means similar meaning. "3D printers" and "additive manufacturing" sit close together despite sharing no words. "Opening hours" is off at a wide angle.</a:t>
            </a:r>
            <a:endParaRPr lang="en-US" sz="1238" dirty="0"/>
          </a:p>
        </p:txBody>
      </p:sp>
      <p:sp>
        <p:nvSpPr>
          <p:cNvPr id="18" name="Shape 16"/>
          <p:cNvSpPr/>
          <p:nvPr/>
        </p:nvSpPr>
        <p:spPr>
          <a:xfrm>
            <a:off x="7975397" y="2665271"/>
            <a:ext cx="3429914" cy="19409"/>
          </a:xfrm>
          <a:prstGeom prst="rect">
            <a:avLst/>
          </a:prstGeom>
          <a:solidFill>
            <a:srgbClr val="C0402A"/>
          </a:solidFill>
          <a:ln/>
        </p:spPr>
        <p:txBody>
          <a:bodyPr/>
          <a:lstStyle/>
          <a:p>
            <a:endParaRPr lang="en-HK"/>
          </a:p>
        </p:txBody>
      </p:sp>
      <p:sp>
        <p:nvSpPr>
          <p:cNvPr id="19" name="Text 17"/>
          <p:cNvSpPr/>
          <p:nvPr/>
        </p:nvSpPr>
        <p:spPr>
          <a:xfrm>
            <a:off x="7975397" y="2794666"/>
            <a:ext cx="3429914" cy="304392"/>
          </a:xfrm>
          <a:prstGeom prst="rect">
            <a:avLst/>
          </a:prstGeom>
          <a:noFill/>
          <a:ln/>
        </p:spPr>
        <p:txBody>
          <a:bodyPr wrap="square" lIns="0" tIns="0" rIns="0" bIns="0" rtlCol="0" anchor="ctr"/>
          <a:lstStyle/>
          <a:p>
            <a:pPr marL="0" indent="0">
              <a:lnSpc>
                <a:spcPts val="2078"/>
              </a:lnSpc>
              <a:buNone/>
            </a:pPr>
            <a:r>
              <a:rPr lang="en-US" sz="1725" b="1" dirty="0">
                <a:solidFill>
                  <a:srgbClr val="141414"/>
                </a:solidFill>
                <a:latin typeface="Arial" pitchFamily="34" charset="0"/>
                <a:ea typeface="Arial" pitchFamily="34" charset="-122"/>
                <a:cs typeface="Arial" pitchFamily="34" charset="-120"/>
              </a:rPr>
              <a:t>1.0</a:t>
            </a:r>
            <a:endParaRPr lang="en-US" sz="1725" dirty="0"/>
          </a:p>
        </p:txBody>
      </p:sp>
      <p:sp>
        <p:nvSpPr>
          <p:cNvPr id="20" name="Text 18"/>
          <p:cNvSpPr/>
          <p:nvPr/>
        </p:nvSpPr>
        <p:spPr>
          <a:xfrm>
            <a:off x="7975397" y="3163756"/>
            <a:ext cx="3429914" cy="500956"/>
          </a:xfrm>
          <a:prstGeom prst="rect">
            <a:avLst/>
          </a:prstGeom>
          <a:noFill/>
          <a:ln/>
        </p:spPr>
        <p:txBody>
          <a:bodyPr wrap="square" lIns="0" tIns="0" rIns="0" bIns="0" rtlCol="0" anchor="t"/>
          <a:lstStyle/>
          <a:p>
            <a:pPr marL="0" indent="0">
              <a:lnSpc>
                <a:spcPts val="1813"/>
              </a:lnSpc>
              <a:buNone/>
            </a:pPr>
            <a:r>
              <a:rPr lang="en-US" sz="1194" dirty="0">
                <a:solidFill>
                  <a:srgbClr val="141414"/>
                </a:solidFill>
                <a:latin typeface="Arial" pitchFamily="34" charset="0"/>
                <a:ea typeface="Arial" pitchFamily="34" charset="-122"/>
                <a:cs typeface="Arial" pitchFamily="34" charset="-120"/>
              </a:rPr>
              <a:t>Same direction. As close as the model puts two texts.</a:t>
            </a:r>
            <a:endParaRPr lang="en-US" sz="1194" dirty="0"/>
          </a:p>
        </p:txBody>
      </p:sp>
      <p:sp>
        <p:nvSpPr>
          <p:cNvPr id="21" name="Shape 19"/>
          <p:cNvSpPr/>
          <p:nvPr/>
        </p:nvSpPr>
        <p:spPr>
          <a:xfrm>
            <a:off x="7975397" y="3765127"/>
            <a:ext cx="3429914" cy="14557"/>
          </a:xfrm>
          <a:prstGeom prst="rect">
            <a:avLst/>
          </a:prstGeom>
          <a:solidFill>
            <a:srgbClr val="141414"/>
          </a:solidFill>
          <a:ln/>
        </p:spPr>
        <p:txBody>
          <a:bodyPr/>
          <a:lstStyle/>
          <a:p>
            <a:endParaRPr lang="en-HK"/>
          </a:p>
        </p:txBody>
      </p:sp>
      <p:sp>
        <p:nvSpPr>
          <p:cNvPr id="22" name="Text 20"/>
          <p:cNvSpPr/>
          <p:nvPr/>
        </p:nvSpPr>
        <p:spPr>
          <a:xfrm>
            <a:off x="7975397" y="3894522"/>
            <a:ext cx="3429914" cy="304392"/>
          </a:xfrm>
          <a:prstGeom prst="rect">
            <a:avLst/>
          </a:prstGeom>
          <a:noFill/>
          <a:ln/>
        </p:spPr>
        <p:txBody>
          <a:bodyPr wrap="square" lIns="0" tIns="0" rIns="0" bIns="0" rtlCol="0" anchor="ctr"/>
          <a:lstStyle/>
          <a:p>
            <a:pPr marL="0" indent="0">
              <a:lnSpc>
                <a:spcPts val="2078"/>
              </a:lnSpc>
              <a:buNone/>
            </a:pPr>
            <a:r>
              <a:rPr lang="en-US" sz="1725" b="1" dirty="0">
                <a:solidFill>
                  <a:srgbClr val="141414"/>
                </a:solidFill>
                <a:latin typeface="Arial" pitchFamily="34" charset="0"/>
                <a:ea typeface="Arial" pitchFamily="34" charset="-122"/>
                <a:cs typeface="Arial" pitchFamily="34" charset="-120"/>
              </a:rPr>
              <a:t>0.0</a:t>
            </a:r>
            <a:endParaRPr lang="en-US" sz="1725" dirty="0"/>
          </a:p>
        </p:txBody>
      </p:sp>
      <p:sp>
        <p:nvSpPr>
          <p:cNvPr id="23" name="Text 21"/>
          <p:cNvSpPr/>
          <p:nvPr/>
        </p:nvSpPr>
        <p:spPr>
          <a:xfrm>
            <a:off x="7975397" y="4263611"/>
            <a:ext cx="3429914" cy="500956"/>
          </a:xfrm>
          <a:prstGeom prst="rect">
            <a:avLst/>
          </a:prstGeom>
          <a:noFill/>
          <a:ln/>
        </p:spPr>
        <p:txBody>
          <a:bodyPr wrap="square" lIns="0" tIns="0" rIns="0" bIns="0" rtlCol="0" anchor="t"/>
          <a:lstStyle/>
          <a:p>
            <a:pPr marL="0" indent="0">
              <a:lnSpc>
                <a:spcPts val="1813"/>
              </a:lnSpc>
              <a:buNone/>
            </a:pPr>
            <a:r>
              <a:rPr lang="en-US" sz="1194" dirty="0">
                <a:solidFill>
                  <a:srgbClr val="141414"/>
                </a:solidFill>
                <a:latin typeface="Arial" pitchFamily="34" charset="0"/>
                <a:ea typeface="Arial" pitchFamily="34" charset="-122"/>
                <a:cs typeface="Arial" pitchFamily="34" charset="-120"/>
              </a:rPr>
              <a:t>At right angles. Unrelated as far as the model is concerned.</a:t>
            </a:r>
            <a:endParaRPr lang="en-US" sz="1194" dirty="0"/>
          </a:p>
        </p:txBody>
      </p:sp>
      <p:sp>
        <p:nvSpPr>
          <p:cNvPr id="24" name="Shape 22"/>
          <p:cNvSpPr/>
          <p:nvPr/>
        </p:nvSpPr>
        <p:spPr>
          <a:xfrm>
            <a:off x="786384" y="4947876"/>
            <a:ext cx="155448" cy="16174"/>
          </a:xfrm>
          <a:prstGeom prst="rect">
            <a:avLst/>
          </a:prstGeom>
          <a:solidFill>
            <a:srgbClr val="C0402A"/>
          </a:solidFill>
          <a:ln/>
        </p:spPr>
        <p:txBody>
          <a:bodyPr/>
          <a:lstStyle/>
          <a:p>
            <a:endParaRPr lang="en-HK"/>
          </a:p>
        </p:txBody>
      </p:sp>
      <p:sp>
        <p:nvSpPr>
          <p:cNvPr id="25" name="Text 23"/>
          <p:cNvSpPr/>
          <p:nvPr/>
        </p:nvSpPr>
        <p:spPr>
          <a:xfrm>
            <a:off x="1097280" y="4848808"/>
            <a:ext cx="9777085" cy="520275"/>
          </a:xfrm>
          <a:prstGeom prst="rect">
            <a:avLst/>
          </a:prstGeom>
          <a:noFill/>
          <a:ln/>
        </p:spPr>
        <p:txBody>
          <a:bodyPr wrap="square" lIns="0" tIns="0" rIns="0" bIns="0" rtlCol="0" anchor="t"/>
          <a:lstStyle/>
          <a:p>
            <a:pPr marL="0" indent="0">
              <a:lnSpc>
                <a:spcPts val="1857"/>
              </a:lnSpc>
              <a:buNone/>
            </a:pPr>
            <a:r>
              <a:rPr lang="en-US" sz="1238" dirty="0">
                <a:solidFill>
                  <a:srgbClr val="141414"/>
                </a:solidFill>
                <a:latin typeface="Arial" pitchFamily="34" charset="0"/>
                <a:ea typeface="Arial" pitchFamily="34" charset="-122"/>
                <a:cs typeface="Arial" pitchFamily="34" charset="-120"/>
              </a:rPr>
              <a:t>Check whether your store returns a distance or a similarity. Lower is better for one, higher for the other, and they look identical printed. Chroma returns squared L2, so lower is closer.</a:t>
            </a:r>
            <a:endParaRPr lang="en-US" sz="1238" dirty="0"/>
          </a:p>
        </p:txBody>
      </p:sp>
      <p:sp>
        <p:nvSpPr>
          <p:cNvPr id="26" name="Shape 24"/>
          <p:cNvSpPr/>
          <p:nvPr/>
        </p:nvSpPr>
        <p:spPr>
          <a:xfrm>
            <a:off x="786384" y="5617315"/>
            <a:ext cx="155448" cy="16174"/>
          </a:xfrm>
          <a:prstGeom prst="rect">
            <a:avLst/>
          </a:prstGeom>
          <a:solidFill>
            <a:srgbClr val="C0402A"/>
          </a:solidFill>
          <a:ln/>
        </p:spPr>
        <p:txBody>
          <a:bodyPr/>
          <a:lstStyle/>
          <a:p>
            <a:endParaRPr lang="en-HK"/>
          </a:p>
        </p:txBody>
      </p:sp>
      <p:sp>
        <p:nvSpPr>
          <p:cNvPr id="27" name="Text 25"/>
          <p:cNvSpPr/>
          <p:nvPr/>
        </p:nvSpPr>
        <p:spPr>
          <a:xfrm>
            <a:off x="1097280" y="5518247"/>
            <a:ext cx="9777085" cy="284399"/>
          </a:xfrm>
          <a:prstGeom prst="rect">
            <a:avLst/>
          </a:prstGeom>
          <a:noFill/>
          <a:ln/>
        </p:spPr>
        <p:txBody>
          <a:bodyPr wrap="square" lIns="0" tIns="0" rIns="0" bIns="0" rtlCol="0" anchor="t"/>
          <a:lstStyle/>
          <a:p>
            <a:pPr marL="0" indent="0">
              <a:lnSpc>
                <a:spcPts val="1857"/>
              </a:lnSpc>
              <a:buNone/>
            </a:pPr>
            <a:r>
              <a:rPr lang="en-US" sz="1238" dirty="0">
                <a:solidFill>
                  <a:srgbClr val="141414"/>
                </a:solidFill>
                <a:latin typeface="Arial" pitchFamily="34" charset="0"/>
                <a:ea typeface="Arial" pitchFamily="34" charset="-122"/>
                <a:cs typeface="Arial" pitchFamily="34" charset="-120"/>
              </a:rPr>
              <a:t>The number only means something next to other results for the same query. It does not transfer between models or corpora.</a:t>
            </a:r>
            <a:endParaRPr lang="en-US" sz="1238" dirty="0"/>
          </a:p>
        </p:txBody>
      </p:sp>
      <p:sp>
        <p:nvSpPr>
          <p:cNvPr id="28" name="Shape 26"/>
          <p:cNvSpPr/>
          <p:nvPr/>
        </p:nvSpPr>
        <p:spPr>
          <a:xfrm>
            <a:off x="786384" y="6050877"/>
            <a:ext cx="155448" cy="16174"/>
          </a:xfrm>
          <a:prstGeom prst="rect">
            <a:avLst/>
          </a:prstGeom>
          <a:solidFill>
            <a:srgbClr val="C0402A"/>
          </a:solidFill>
          <a:ln/>
        </p:spPr>
        <p:txBody>
          <a:bodyPr/>
          <a:lstStyle/>
          <a:p>
            <a:endParaRPr lang="en-HK"/>
          </a:p>
        </p:txBody>
      </p:sp>
      <p:sp>
        <p:nvSpPr>
          <p:cNvPr id="29" name="Text 27"/>
          <p:cNvSpPr/>
          <p:nvPr/>
        </p:nvSpPr>
        <p:spPr>
          <a:xfrm>
            <a:off x="1097280" y="5951809"/>
            <a:ext cx="9777085" cy="284399"/>
          </a:xfrm>
          <a:prstGeom prst="rect">
            <a:avLst/>
          </a:prstGeom>
          <a:noFill/>
          <a:ln/>
        </p:spPr>
        <p:txBody>
          <a:bodyPr wrap="square" lIns="0" tIns="0" rIns="0" bIns="0" rtlCol="0" anchor="t"/>
          <a:lstStyle/>
          <a:p>
            <a:pPr marL="0" indent="0">
              <a:lnSpc>
                <a:spcPts val="1857"/>
              </a:lnSpc>
              <a:buNone/>
            </a:pPr>
            <a:r>
              <a:rPr lang="en-US" sz="1238" dirty="0">
                <a:solidFill>
                  <a:srgbClr val="141414"/>
                </a:solidFill>
                <a:latin typeface="Arial" pitchFamily="34" charset="0"/>
                <a:ea typeface="Arial" pitchFamily="34" charset="-122"/>
                <a:cs typeface="Arial" pitchFamily="34" charset="-120"/>
              </a:rPr>
              <a:t>Vector search never reports no match. Ask for 5 results and you get 5, however unrelated.</a:t>
            </a:r>
            <a:endParaRPr lang="en-US" sz="1238"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A Query, Step by Step</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5" name="Text 3"/>
          <p:cNvSpPr/>
          <p:nvPr/>
        </p:nvSpPr>
        <p:spPr>
          <a:xfrm>
            <a:off x="10801807"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6E6A63"/>
                </a:solidFill>
                <a:latin typeface="Arial" pitchFamily="34" charset="0"/>
                <a:ea typeface="Arial" pitchFamily="34" charset="-122"/>
                <a:cs typeface="Arial" pitchFamily="34" charset="-120"/>
              </a:rPr>
              <a:t>LV2</a:t>
            </a:r>
            <a:endParaRPr lang="en-US" sz="1100" dirty="0"/>
          </a:p>
        </p:txBody>
      </p:sp>
      <p:sp>
        <p:nvSpPr>
          <p:cNvPr id="6" name="Shape 4"/>
          <p:cNvSpPr/>
          <p:nvPr/>
        </p:nvSpPr>
        <p:spPr>
          <a:xfrm>
            <a:off x="786384" y="1426464"/>
            <a:ext cx="10618927" cy="10973"/>
          </a:xfrm>
          <a:prstGeom prst="rect">
            <a:avLst/>
          </a:prstGeom>
          <a:solidFill>
            <a:srgbClr val="D5D1CA"/>
          </a:solidFill>
          <a:ln/>
        </p:spPr>
        <p:txBody>
          <a:bodyPr/>
          <a:lstStyle/>
          <a:p>
            <a:endParaRPr lang="en-HK"/>
          </a:p>
        </p:txBody>
      </p:sp>
      <p:sp>
        <p:nvSpPr>
          <p:cNvPr id="7" name="Text 5"/>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16</a:t>
            </a:r>
            <a:endParaRPr lang="en-US" sz="1200" dirty="0"/>
          </a:p>
        </p:txBody>
      </p:sp>
      <p:sp>
        <p:nvSpPr>
          <p:cNvPr id="8" name="Text 6"/>
          <p:cNvSpPr/>
          <p:nvPr/>
        </p:nvSpPr>
        <p:spPr>
          <a:xfrm>
            <a:off x="786384" y="1779088"/>
            <a:ext cx="10087981" cy="342947"/>
          </a:xfrm>
          <a:prstGeom prst="rect">
            <a:avLst/>
          </a:prstGeom>
          <a:noFill/>
          <a:ln/>
        </p:spPr>
        <p:txBody>
          <a:bodyPr wrap="square" lIns="0" tIns="0" rIns="0" bIns="0" rtlCol="0" anchor="ctr"/>
          <a:lstStyle/>
          <a:p>
            <a:pPr marL="0" indent="0">
              <a:buNone/>
            </a:pPr>
            <a:r>
              <a:rPr lang="en-US" sz="1406" dirty="0">
                <a:solidFill>
                  <a:srgbClr val="6E6A63"/>
                </a:solidFill>
                <a:latin typeface="Arial" pitchFamily="34" charset="0"/>
                <a:ea typeface="Arial" pitchFamily="34" charset="-122"/>
                <a:cs typeface="Arial" pitchFamily="34" charset="-120"/>
              </a:rPr>
              <a:t>What actually comes back when you query the store. Distances are squared L2, so lower is closer.</a:t>
            </a:r>
            <a:endParaRPr lang="en-US" sz="1406" dirty="0"/>
          </a:p>
        </p:txBody>
      </p:sp>
      <p:sp>
        <p:nvSpPr>
          <p:cNvPr id="9" name="Shape 7"/>
          <p:cNvSpPr/>
          <p:nvPr/>
        </p:nvSpPr>
        <p:spPr>
          <a:xfrm>
            <a:off x="786384" y="2224919"/>
            <a:ext cx="10618927" cy="638739"/>
          </a:xfrm>
          <a:prstGeom prst="rect">
            <a:avLst/>
          </a:prstGeom>
          <a:solidFill>
            <a:srgbClr val="F2EFEA"/>
          </a:solidFill>
          <a:ln/>
        </p:spPr>
        <p:txBody>
          <a:bodyPr/>
          <a:lstStyle/>
          <a:p>
            <a:endParaRPr lang="en-HK"/>
          </a:p>
        </p:txBody>
      </p:sp>
      <p:sp>
        <p:nvSpPr>
          <p:cNvPr id="10" name="Shape 8"/>
          <p:cNvSpPr/>
          <p:nvPr/>
        </p:nvSpPr>
        <p:spPr>
          <a:xfrm>
            <a:off x="786384" y="2224919"/>
            <a:ext cx="27432" cy="638739"/>
          </a:xfrm>
          <a:prstGeom prst="rect">
            <a:avLst/>
          </a:prstGeom>
          <a:solidFill>
            <a:srgbClr val="C0402A"/>
          </a:solidFill>
          <a:ln/>
        </p:spPr>
        <p:txBody>
          <a:bodyPr/>
          <a:lstStyle/>
          <a:p>
            <a:endParaRPr lang="en-HK"/>
          </a:p>
        </p:txBody>
      </p:sp>
      <p:sp>
        <p:nvSpPr>
          <p:cNvPr id="11" name="Text 9"/>
          <p:cNvSpPr/>
          <p:nvPr/>
        </p:nvSpPr>
        <p:spPr>
          <a:xfrm>
            <a:off x="1042416" y="2362098"/>
            <a:ext cx="10180015" cy="364381"/>
          </a:xfrm>
          <a:prstGeom prst="rect">
            <a:avLst/>
          </a:prstGeom>
          <a:noFill/>
          <a:ln/>
        </p:spPr>
        <p:txBody>
          <a:bodyPr wrap="square" lIns="0" tIns="0" rIns="0" bIns="0" rtlCol="0" anchor="t"/>
          <a:lstStyle/>
          <a:p>
            <a:pPr marL="0" indent="0">
              <a:lnSpc>
                <a:spcPts val="1781"/>
              </a:lnSpc>
              <a:buNone/>
            </a:pPr>
            <a:r>
              <a:rPr lang="en-US" sz="1219" dirty="0">
                <a:solidFill>
                  <a:srgbClr val="2A2724"/>
                </a:solidFill>
                <a:latin typeface="Courier New" pitchFamily="34" charset="0"/>
                <a:ea typeface="Courier New" pitchFamily="34" charset="-122"/>
                <a:cs typeface="Courier New" pitchFamily="34" charset="-120"/>
              </a:rPr>
              <a:t>Q:  "What is the capacity of Makerspace A?"</a:t>
            </a:r>
            <a:endParaRPr lang="en-US" sz="1219" dirty="0"/>
          </a:p>
        </p:txBody>
      </p:sp>
      <p:sp>
        <p:nvSpPr>
          <p:cNvPr id="12" name="Text 10"/>
          <p:cNvSpPr/>
          <p:nvPr/>
        </p:nvSpPr>
        <p:spPr>
          <a:xfrm>
            <a:off x="786384" y="2842223"/>
            <a:ext cx="731520" cy="274358"/>
          </a:xfrm>
          <a:prstGeom prst="rect">
            <a:avLst/>
          </a:prstGeom>
          <a:noFill/>
          <a:ln/>
        </p:spPr>
        <p:txBody>
          <a:bodyPr wrap="square" lIns="0" tIns="0" rIns="0" bIns="0" rtlCol="0" anchor="ctr"/>
          <a:lstStyle/>
          <a:p>
            <a:pPr marL="0" indent="0">
              <a:buNone/>
            </a:pPr>
            <a:r>
              <a:rPr lang="en-US" sz="1219" b="1" dirty="0">
                <a:solidFill>
                  <a:srgbClr val="C0402A"/>
                </a:solidFill>
                <a:latin typeface="Courier New" pitchFamily="34" charset="0"/>
                <a:ea typeface="Courier New" pitchFamily="34" charset="-122"/>
                <a:cs typeface="Courier New" pitchFamily="34" charset="-120"/>
              </a:rPr>
              <a:t>0.31</a:t>
            </a:r>
            <a:endParaRPr lang="en-US" sz="1219" dirty="0"/>
          </a:p>
        </p:txBody>
      </p:sp>
      <p:sp>
        <p:nvSpPr>
          <p:cNvPr id="13" name="Text 11"/>
          <p:cNvSpPr/>
          <p:nvPr/>
        </p:nvSpPr>
        <p:spPr>
          <a:xfrm>
            <a:off x="1655064" y="2842223"/>
            <a:ext cx="6766560" cy="274358"/>
          </a:xfrm>
          <a:prstGeom prst="rect">
            <a:avLst/>
          </a:prstGeom>
          <a:noFill/>
          <a:ln/>
        </p:spPr>
        <p:txBody>
          <a:bodyPr wrap="square" lIns="0" tIns="0" rIns="0" bIns="0" rtlCol="0" anchor="ctr"/>
          <a:lstStyle/>
          <a:p>
            <a:pPr marL="0" indent="0">
              <a:buNone/>
            </a:pPr>
            <a:r>
              <a:rPr lang="en-US" sz="1313" b="1" dirty="0">
                <a:solidFill>
                  <a:srgbClr val="141414"/>
                </a:solidFill>
                <a:latin typeface="Arial" pitchFamily="34" charset="0"/>
                <a:ea typeface="Arial" pitchFamily="34" charset="-122"/>
                <a:cs typeface="Arial" pitchFamily="34" charset="-120"/>
              </a:rPr>
              <a:t>Makerspace A  Capacity 40. Bookable in 2 hour slots via the...</a:t>
            </a:r>
            <a:endParaRPr lang="en-US" sz="1313" dirty="0"/>
          </a:p>
        </p:txBody>
      </p:sp>
      <p:sp>
        <p:nvSpPr>
          <p:cNvPr id="14" name="Text 12"/>
          <p:cNvSpPr/>
          <p:nvPr/>
        </p:nvSpPr>
        <p:spPr>
          <a:xfrm>
            <a:off x="8604504" y="2842223"/>
            <a:ext cx="2800807" cy="274358"/>
          </a:xfrm>
          <a:prstGeom prst="rect">
            <a:avLst/>
          </a:prstGeom>
          <a:noFill/>
          <a:ln/>
        </p:spPr>
        <p:txBody>
          <a:bodyPr wrap="square" lIns="0" tIns="0" rIns="0" bIns="0" rtlCol="0" anchor="ctr"/>
          <a:lstStyle/>
          <a:p>
            <a:pPr marL="0" indent="0">
              <a:buNone/>
            </a:pPr>
            <a:r>
              <a:rPr lang="en-US" sz="1078" dirty="0">
                <a:solidFill>
                  <a:srgbClr val="9C978E"/>
                </a:solidFill>
                <a:latin typeface="Courier New" pitchFamily="34" charset="0"/>
                <a:ea typeface="Courier New" pitchFamily="34" charset="-122"/>
                <a:cs typeface="Courier New" pitchFamily="34" charset="-120"/>
              </a:rPr>
              <a:t>/venues/makerspace-a</a:t>
            </a:r>
            <a:endParaRPr lang="en-US" sz="1078" dirty="0"/>
          </a:p>
        </p:txBody>
      </p:sp>
      <p:sp>
        <p:nvSpPr>
          <p:cNvPr id="15" name="Text 13"/>
          <p:cNvSpPr/>
          <p:nvPr/>
        </p:nvSpPr>
        <p:spPr>
          <a:xfrm>
            <a:off x="786384" y="3270907"/>
            <a:ext cx="731520" cy="274358"/>
          </a:xfrm>
          <a:prstGeom prst="rect">
            <a:avLst/>
          </a:prstGeom>
          <a:noFill/>
          <a:ln/>
        </p:spPr>
        <p:txBody>
          <a:bodyPr wrap="square" lIns="0" tIns="0" rIns="0" bIns="0" rtlCol="0" anchor="ctr"/>
          <a:lstStyle/>
          <a:p>
            <a:pPr marL="0" indent="0">
              <a:buNone/>
            </a:pPr>
            <a:r>
              <a:rPr lang="en-US" sz="1219" dirty="0">
                <a:solidFill>
                  <a:srgbClr val="6E6A63"/>
                </a:solidFill>
                <a:latin typeface="Courier New" pitchFamily="34" charset="0"/>
                <a:ea typeface="Courier New" pitchFamily="34" charset="-122"/>
                <a:cs typeface="Courier New" pitchFamily="34" charset="-120"/>
              </a:rPr>
              <a:t>0.44</a:t>
            </a:r>
            <a:endParaRPr lang="en-US" sz="1219" dirty="0"/>
          </a:p>
        </p:txBody>
      </p:sp>
      <p:sp>
        <p:nvSpPr>
          <p:cNvPr id="16" name="Text 14"/>
          <p:cNvSpPr/>
          <p:nvPr/>
        </p:nvSpPr>
        <p:spPr>
          <a:xfrm>
            <a:off x="1655064" y="3270907"/>
            <a:ext cx="6766560" cy="274358"/>
          </a:xfrm>
          <a:prstGeom prst="rect">
            <a:avLst/>
          </a:prstGeom>
          <a:noFill/>
          <a:ln/>
        </p:spPr>
        <p:txBody>
          <a:bodyPr wrap="square" lIns="0" tIns="0" rIns="0" bIns="0" rtlCol="0" anchor="ctr"/>
          <a:lstStyle/>
          <a:p>
            <a:pPr marL="0" indent="0">
              <a:buNone/>
            </a:pPr>
            <a:r>
              <a:rPr lang="en-US" sz="1313" dirty="0">
                <a:solidFill>
                  <a:srgbClr val="6E6A63"/>
                </a:solidFill>
                <a:latin typeface="Arial" pitchFamily="34" charset="0"/>
                <a:ea typeface="Arial" pitchFamily="34" charset="-122"/>
                <a:cs typeface="Arial" pitchFamily="34" charset="-120"/>
              </a:rPr>
              <a:t>Makerspace B  Capacity 24. Suited to quieter prototyping work...</a:t>
            </a:r>
            <a:endParaRPr lang="en-US" sz="1313" dirty="0"/>
          </a:p>
        </p:txBody>
      </p:sp>
      <p:sp>
        <p:nvSpPr>
          <p:cNvPr id="17" name="Text 15"/>
          <p:cNvSpPr/>
          <p:nvPr/>
        </p:nvSpPr>
        <p:spPr>
          <a:xfrm>
            <a:off x="8604504" y="3270907"/>
            <a:ext cx="2800807" cy="274358"/>
          </a:xfrm>
          <a:prstGeom prst="rect">
            <a:avLst/>
          </a:prstGeom>
          <a:noFill/>
          <a:ln/>
        </p:spPr>
        <p:txBody>
          <a:bodyPr wrap="square" lIns="0" tIns="0" rIns="0" bIns="0" rtlCol="0" anchor="ctr"/>
          <a:lstStyle/>
          <a:p>
            <a:pPr marL="0" indent="0">
              <a:buNone/>
            </a:pPr>
            <a:r>
              <a:rPr lang="en-US" sz="1078" dirty="0">
                <a:solidFill>
                  <a:srgbClr val="9C978E"/>
                </a:solidFill>
                <a:latin typeface="Courier New" pitchFamily="34" charset="0"/>
                <a:ea typeface="Courier New" pitchFamily="34" charset="-122"/>
                <a:cs typeface="Courier New" pitchFamily="34" charset="-120"/>
              </a:rPr>
              <a:t>/venues/makerspace-b</a:t>
            </a:r>
            <a:endParaRPr lang="en-US" sz="1078" dirty="0"/>
          </a:p>
        </p:txBody>
      </p:sp>
      <p:sp>
        <p:nvSpPr>
          <p:cNvPr id="18" name="Text 16"/>
          <p:cNvSpPr/>
          <p:nvPr/>
        </p:nvSpPr>
        <p:spPr>
          <a:xfrm>
            <a:off x="786384" y="3699591"/>
            <a:ext cx="731520" cy="274358"/>
          </a:xfrm>
          <a:prstGeom prst="rect">
            <a:avLst/>
          </a:prstGeom>
          <a:noFill/>
          <a:ln/>
        </p:spPr>
        <p:txBody>
          <a:bodyPr wrap="square" lIns="0" tIns="0" rIns="0" bIns="0" rtlCol="0" anchor="ctr"/>
          <a:lstStyle/>
          <a:p>
            <a:pPr marL="0" indent="0">
              <a:buNone/>
            </a:pPr>
            <a:r>
              <a:rPr lang="en-US" sz="1219" dirty="0">
                <a:solidFill>
                  <a:srgbClr val="6E6A63"/>
                </a:solidFill>
                <a:latin typeface="Courier New" pitchFamily="34" charset="0"/>
                <a:ea typeface="Courier New" pitchFamily="34" charset="-122"/>
                <a:cs typeface="Courier New" pitchFamily="34" charset="-120"/>
              </a:rPr>
              <a:t>0.52</a:t>
            </a:r>
            <a:endParaRPr lang="en-US" sz="1219" dirty="0"/>
          </a:p>
        </p:txBody>
      </p:sp>
      <p:sp>
        <p:nvSpPr>
          <p:cNvPr id="19" name="Text 17"/>
          <p:cNvSpPr/>
          <p:nvPr/>
        </p:nvSpPr>
        <p:spPr>
          <a:xfrm>
            <a:off x="1655064" y="3699591"/>
            <a:ext cx="6766560" cy="274358"/>
          </a:xfrm>
          <a:prstGeom prst="rect">
            <a:avLst/>
          </a:prstGeom>
          <a:noFill/>
          <a:ln/>
        </p:spPr>
        <p:txBody>
          <a:bodyPr wrap="square" lIns="0" tIns="0" rIns="0" bIns="0" rtlCol="0" anchor="ctr"/>
          <a:lstStyle/>
          <a:p>
            <a:pPr marL="0" indent="0">
              <a:buNone/>
            </a:pPr>
            <a:r>
              <a:rPr lang="en-US" sz="1313" dirty="0">
                <a:solidFill>
                  <a:srgbClr val="6E6A63"/>
                </a:solidFill>
                <a:latin typeface="Arial" pitchFamily="34" charset="0"/>
                <a:ea typeface="Arial" pitchFamily="34" charset="-122"/>
                <a:cs typeface="Arial" pitchFamily="34" charset="-120"/>
              </a:rPr>
              <a:t>Venue booking  All Inno Wing venues are booked through the...</a:t>
            </a:r>
            <a:endParaRPr lang="en-US" sz="1313" dirty="0"/>
          </a:p>
        </p:txBody>
      </p:sp>
      <p:sp>
        <p:nvSpPr>
          <p:cNvPr id="20" name="Text 18"/>
          <p:cNvSpPr/>
          <p:nvPr/>
        </p:nvSpPr>
        <p:spPr>
          <a:xfrm>
            <a:off x="8604504" y="3699591"/>
            <a:ext cx="2800807" cy="274358"/>
          </a:xfrm>
          <a:prstGeom prst="rect">
            <a:avLst/>
          </a:prstGeom>
          <a:noFill/>
          <a:ln/>
        </p:spPr>
        <p:txBody>
          <a:bodyPr wrap="square" lIns="0" tIns="0" rIns="0" bIns="0" rtlCol="0" anchor="ctr"/>
          <a:lstStyle/>
          <a:p>
            <a:pPr marL="0" indent="0">
              <a:buNone/>
            </a:pPr>
            <a:r>
              <a:rPr lang="en-US" sz="1078" dirty="0">
                <a:solidFill>
                  <a:srgbClr val="9C978E"/>
                </a:solidFill>
                <a:latin typeface="Courier New" pitchFamily="34" charset="0"/>
                <a:ea typeface="Courier New" pitchFamily="34" charset="-122"/>
                <a:cs typeface="Courier New" pitchFamily="34" charset="-120"/>
              </a:rPr>
              <a:t>/venues/booking</a:t>
            </a:r>
            <a:endParaRPr lang="en-US" sz="1078" dirty="0"/>
          </a:p>
        </p:txBody>
      </p:sp>
      <p:sp>
        <p:nvSpPr>
          <p:cNvPr id="21" name="Text 19"/>
          <p:cNvSpPr/>
          <p:nvPr/>
        </p:nvSpPr>
        <p:spPr>
          <a:xfrm>
            <a:off x="786384" y="4128275"/>
            <a:ext cx="731520" cy="274358"/>
          </a:xfrm>
          <a:prstGeom prst="rect">
            <a:avLst/>
          </a:prstGeom>
          <a:noFill/>
          <a:ln/>
        </p:spPr>
        <p:txBody>
          <a:bodyPr wrap="square" lIns="0" tIns="0" rIns="0" bIns="0" rtlCol="0" anchor="ctr"/>
          <a:lstStyle/>
          <a:p>
            <a:pPr marL="0" indent="0">
              <a:buNone/>
            </a:pPr>
            <a:r>
              <a:rPr lang="en-US" sz="1219" dirty="0">
                <a:solidFill>
                  <a:srgbClr val="6E6A63"/>
                </a:solidFill>
                <a:latin typeface="Courier New" pitchFamily="34" charset="0"/>
                <a:ea typeface="Courier New" pitchFamily="34" charset="-122"/>
                <a:cs typeface="Courier New" pitchFamily="34" charset="-120"/>
              </a:rPr>
              <a:t>0.67</a:t>
            </a:r>
            <a:endParaRPr lang="en-US" sz="1219" dirty="0"/>
          </a:p>
        </p:txBody>
      </p:sp>
      <p:sp>
        <p:nvSpPr>
          <p:cNvPr id="22" name="Text 20"/>
          <p:cNvSpPr/>
          <p:nvPr/>
        </p:nvSpPr>
        <p:spPr>
          <a:xfrm>
            <a:off x="1655064" y="4128275"/>
            <a:ext cx="6766560" cy="274358"/>
          </a:xfrm>
          <a:prstGeom prst="rect">
            <a:avLst/>
          </a:prstGeom>
          <a:noFill/>
          <a:ln/>
        </p:spPr>
        <p:txBody>
          <a:bodyPr wrap="square" lIns="0" tIns="0" rIns="0" bIns="0" rtlCol="0" anchor="ctr"/>
          <a:lstStyle/>
          <a:p>
            <a:pPr marL="0" indent="0">
              <a:buNone/>
            </a:pPr>
            <a:r>
              <a:rPr lang="en-US" sz="1313" dirty="0">
                <a:solidFill>
                  <a:srgbClr val="6E6A63"/>
                </a:solidFill>
                <a:latin typeface="Arial" pitchFamily="34" charset="0"/>
                <a:ea typeface="Arial" pitchFamily="34" charset="-122"/>
                <a:cs typeface="Arial" pitchFamily="34" charset="-120"/>
              </a:rPr>
              <a:t>Home  About  Events  Venues  Funding  Contact  Innovation...</a:t>
            </a:r>
            <a:endParaRPr lang="en-US" sz="1313" dirty="0"/>
          </a:p>
        </p:txBody>
      </p:sp>
      <p:sp>
        <p:nvSpPr>
          <p:cNvPr id="23" name="Text 21"/>
          <p:cNvSpPr/>
          <p:nvPr/>
        </p:nvSpPr>
        <p:spPr>
          <a:xfrm>
            <a:off x="8604504" y="4128275"/>
            <a:ext cx="2800807" cy="274358"/>
          </a:xfrm>
          <a:prstGeom prst="rect">
            <a:avLst/>
          </a:prstGeom>
          <a:noFill/>
          <a:ln/>
        </p:spPr>
        <p:txBody>
          <a:bodyPr wrap="square" lIns="0" tIns="0" rIns="0" bIns="0" rtlCol="0" anchor="ctr"/>
          <a:lstStyle/>
          <a:p>
            <a:pPr marL="0" indent="0">
              <a:buNone/>
            </a:pPr>
            <a:r>
              <a:rPr lang="en-US" sz="1078" dirty="0">
                <a:solidFill>
                  <a:srgbClr val="9C978E"/>
                </a:solidFill>
                <a:latin typeface="Courier New" pitchFamily="34" charset="0"/>
                <a:ea typeface="Courier New" pitchFamily="34" charset="-122"/>
                <a:cs typeface="Courier New" pitchFamily="34" charset="-120"/>
              </a:rPr>
              <a:t>/events/2025-summer</a:t>
            </a:r>
            <a:endParaRPr lang="en-US" sz="1078" dirty="0"/>
          </a:p>
        </p:txBody>
      </p:sp>
      <p:sp>
        <p:nvSpPr>
          <p:cNvPr id="24" name="Text 22"/>
          <p:cNvSpPr/>
          <p:nvPr/>
        </p:nvSpPr>
        <p:spPr>
          <a:xfrm>
            <a:off x="786384" y="4556958"/>
            <a:ext cx="731520" cy="274358"/>
          </a:xfrm>
          <a:prstGeom prst="rect">
            <a:avLst/>
          </a:prstGeom>
          <a:noFill/>
          <a:ln/>
        </p:spPr>
        <p:txBody>
          <a:bodyPr wrap="square" lIns="0" tIns="0" rIns="0" bIns="0" rtlCol="0" anchor="ctr"/>
          <a:lstStyle/>
          <a:p>
            <a:pPr marL="0" indent="0">
              <a:buNone/>
            </a:pPr>
            <a:r>
              <a:rPr lang="en-US" sz="1219" dirty="0">
                <a:solidFill>
                  <a:srgbClr val="6E6A63"/>
                </a:solidFill>
                <a:latin typeface="Courier New" pitchFamily="34" charset="0"/>
                <a:ea typeface="Courier New" pitchFamily="34" charset="-122"/>
                <a:cs typeface="Courier New" pitchFamily="34" charset="-120"/>
              </a:rPr>
              <a:t>0.71</a:t>
            </a:r>
            <a:endParaRPr lang="en-US" sz="1219" dirty="0"/>
          </a:p>
        </p:txBody>
      </p:sp>
      <p:sp>
        <p:nvSpPr>
          <p:cNvPr id="25" name="Text 23"/>
          <p:cNvSpPr/>
          <p:nvPr/>
        </p:nvSpPr>
        <p:spPr>
          <a:xfrm>
            <a:off x="1655064" y="4556958"/>
            <a:ext cx="6766560" cy="274358"/>
          </a:xfrm>
          <a:prstGeom prst="rect">
            <a:avLst/>
          </a:prstGeom>
          <a:noFill/>
          <a:ln/>
        </p:spPr>
        <p:txBody>
          <a:bodyPr wrap="square" lIns="0" tIns="0" rIns="0" bIns="0" rtlCol="0" anchor="ctr"/>
          <a:lstStyle/>
          <a:p>
            <a:pPr marL="0" indent="0">
              <a:buNone/>
            </a:pPr>
            <a:r>
              <a:rPr lang="en-US" sz="1313" dirty="0">
                <a:solidFill>
                  <a:srgbClr val="6E6A63"/>
                </a:solidFill>
                <a:latin typeface="Arial" pitchFamily="34" charset="0"/>
                <a:ea typeface="Arial" pitchFamily="34" charset="-122"/>
                <a:cs typeface="Arial" pitchFamily="34" charset="-120"/>
              </a:rPr>
              <a:t>Event Hall  Capacity 180 seated. Not available for team...</a:t>
            </a:r>
            <a:endParaRPr lang="en-US" sz="1313" dirty="0"/>
          </a:p>
        </p:txBody>
      </p:sp>
      <p:sp>
        <p:nvSpPr>
          <p:cNvPr id="26" name="Text 24"/>
          <p:cNvSpPr/>
          <p:nvPr/>
        </p:nvSpPr>
        <p:spPr>
          <a:xfrm>
            <a:off x="8604504" y="4556958"/>
            <a:ext cx="2800807" cy="274358"/>
          </a:xfrm>
          <a:prstGeom prst="rect">
            <a:avLst/>
          </a:prstGeom>
          <a:noFill/>
          <a:ln/>
        </p:spPr>
        <p:txBody>
          <a:bodyPr wrap="square" lIns="0" tIns="0" rIns="0" bIns="0" rtlCol="0" anchor="ctr"/>
          <a:lstStyle/>
          <a:p>
            <a:pPr marL="0" indent="0">
              <a:buNone/>
            </a:pPr>
            <a:r>
              <a:rPr lang="en-US" sz="1078" dirty="0">
                <a:solidFill>
                  <a:srgbClr val="9C978E"/>
                </a:solidFill>
                <a:latin typeface="Courier New" pitchFamily="34" charset="0"/>
                <a:ea typeface="Courier New" pitchFamily="34" charset="-122"/>
                <a:cs typeface="Courier New" pitchFamily="34" charset="-120"/>
              </a:rPr>
              <a:t>/venues/event-hall</a:t>
            </a:r>
            <a:endParaRPr lang="en-US" sz="1078" dirty="0"/>
          </a:p>
        </p:txBody>
      </p:sp>
      <p:sp>
        <p:nvSpPr>
          <p:cNvPr id="27" name="Shape 25"/>
          <p:cNvSpPr/>
          <p:nvPr/>
        </p:nvSpPr>
        <p:spPr>
          <a:xfrm>
            <a:off x="786384" y="5178907"/>
            <a:ext cx="155448" cy="17147"/>
          </a:xfrm>
          <a:prstGeom prst="rect">
            <a:avLst/>
          </a:prstGeom>
          <a:solidFill>
            <a:srgbClr val="C0402A"/>
          </a:solidFill>
          <a:ln/>
        </p:spPr>
        <p:txBody>
          <a:bodyPr/>
          <a:lstStyle/>
          <a:p>
            <a:endParaRPr lang="en-HK"/>
          </a:p>
        </p:txBody>
      </p:sp>
      <p:sp>
        <p:nvSpPr>
          <p:cNvPr id="28" name="Text 26"/>
          <p:cNvSpPr/>
          <p:nvPr/>
        </p:nvSpPr>
        <p:spPr>
          <a:xfrm>
            <a:off x="1097280" y="5071379"/>
            <a:ext cx="9777085" cy="307462"/>
          </a:xfrm>
          <a:prstGeom prst="rect">
            <a:avLst/>
          </a:prstGeom>
          <a:noFill/>
          <a:ln/>
        </p:spPr>
        <p:txBody>
          <a:bodyPr wrap="square" lIns="0" tIns="0" rIns="0" bIns="0" rtlCol="0" anchor="t"/>
          <a:lstStyle/>
          <a:p>
            <a:pPr marL="0" indent="0">
              <a:lnSpc>
                <a:spcPts val="2016"/>
              </a:lnSpc>
              <a:buNone/>
            </a:pPr>
            <a:r>
              <a:rPr lang="en-US" sz="1360" dirty="0">
                <a:solidFill>
                  <a:srgbClr val="141414"/>
                </a:solidFill>
                <a:latin typeface="Arial" pitchFamily="34" charset="0"/>
                <a:ea typeface="Arial" pitchFamily="34" charset="-122"/>
                <a:cs typeface="Arial" pitchFamily="34" charset="-120"/>
              </a:rPr>
              <a:t>The answer is in result 1, so this question can be answered correctly.</a:t>
            </a:r>
            <a:endParaRPr lang="en-US" sz="1360" dirty="0"/>
          </a:p>
        </p:txBody>
      </p:sp>
      <p:sp>
        <p:nvSpPr>
          <p:cNvPr id="29" name="Shape 27"/>
          <p:cNvSpPr/>
          <p:nvPr/>
        </p:nvSpPr>
        <p:spPr>
          <a:xfrm>
            <a:off x="786384" y="5607591"/>
            <a:ext cx="155448" cy="17147"/>
          </a:xfrm>
          <a:prstGeom prst="rect">
            <a:avLst/>
          </a:prstGeom>
          <a:solidFill>
            <a:srgbClr val="C0402A"/>
          </a:solidFill>
          <a:ln/>
        </p:spPr>
        <p:txBody>
          <a:bodyPr/>
          <a:lstStyle/>
          <a:p>
            <a:endParaRPr lang="en-HK"/>
          </a:p>
        </p:txBody>
      </p:sp>
      <p:sp>
        <p:nvSpPr>
          <p:cNvPr id="30" name="Text 28"/>
          <p:cNvSpPr/>
          <p:nvPr/>
        </p:nvSpPr>
        <p:spPr>
          <a:xfrm>
            <a:off x="1097280" y="5500063"/>
            <a:ext cx="9777085" cy="307462"/>
          </a:xfrm>
          <a:prstGeom prst="rect">
            <a:avLst/>
          </a:prstGeom>
          <a:noFill/>
          <a:ln/>
        </p:spPr>
        <p:txBody>
          <a:bodyPr wrap="square" lIns="0" tIns="0" rIns="0" bIns="0" rtlCol="0" anchor="t"/>
          <a:lstStyle/>
          <a:p>
            <a:pPr marL="0" indent="0">
              <a:lnSpc>
                <a:spcPts val="2016"/>
              </a:lnSpc>
              <a:buNone/>
            </a:pPr>
            <a:r>
              <a:rPr lang="en-US" sz="1360" dirty="0">
                <a:solidFill>
                  <a:srgbClr val="141414"/>
                </a:solidFill>
                <a:latin typeface="Arial" pitchFamily="34" charset="0"/>
                <a:ea typeface="Arial" pitchFamily="34" charset="-122"/>
                <a:cs typeface="Arial" pitchFamily="34" charset="-120"/>
              </a:rPr>
              <a:t>Result 4 is a navigation menu, scoring 0.67 against an unrelated question. That is what boilerplate does to your top five.</a:t>
            </a:r>
            <a:endParaRPr lang="en-US" sz="1360" dirty="0"/>
          </a:p>
        </p:txBody>
      </p:sp>
      <p:sp>
        <p:nvSpPr>
          <p:cNvPr id="31" name="Shape 29"/>
          <p:cNvSpPr/>
          <p:nvPr/>
        </p:nvSpPr>
        <p:spPr>
          <a:xfrm>
            <a:off x="786384" y="6036275"/>
            <a:ext cx="155448" cy="17147"/>
          </a:xfrm>
          <a:prstGeom prst="rect">
            <a:avLst/>
          </a:prstGeom>
          <a:solidFill>
            <a:srgbClr val="C0402A"/>
          </a:solidFill>
          <a:ln/>
        </p:spPr>
        <p:txBody>
          <a:bodyPr/>
          <a:lstStyle/>
          <a:p>
            <a:endParaRPr lang="en-HK"/>
          </a:p>
        </p:txBody>
      </p:sp>
      <p:sp>
        <p:nvSpPr>
          <p:cNvPr id="32" name="Text 30"/>
          <p:cNvSpPr/>
          <p:nvPr/>
        </p:nvSpPr>
        <p:spPr>
          <a:xfrm>
            <a:off x="1097280" y="5928746"/>
            <a:ext cx="9777085" cy="307462"/>
          </a:xfrm>
          <a:prstGeom prst="rect">
            <a:avLst/>
          </a:prstGeom>
          <a:noFill/>
          <a:ln/>
        </p:spPr>
        <p:txBody>
          <a:bodyPr wrap="square" lIns="0" tIns="0" rIns="0" bIns="0" rtlCol="0" anchor="t"/>
          <a:lstStyle/>
          <a:p>
            <a:pPr marL="0" indent="0">
              <a:lnSpc>
                <a:spcPts val="2016"/>
              </a:lnSpc>
              <a:buNone/>
            </a:pPr>
            <a:r>
              <a:rPr lang="en-US" sz="1360" dirty="0">
                <a:solidFill>
                  <a:srgbClr val="141414"/>
                </a:solidFill>
                <a:latin typeface="Arial" pitchFamily="34" charset="0"/>
                <a:ea typeface="Arial" pitchFamily="34" charset="-122"/>
                <a:cs typeface="Arial" pitchFamily="34" charset="-120"/>
              </a:rPr>
              <a:t>Results 2 and 5 are the right kind of thing, wrong instance. Similarity does not separate Makerspace A from B.</a:t>
            </a:r>
            <a:endParaRPr lang="en-US" sz="136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C0402A"/>
                </a:solidFill>
                <a:latin typeface="Arial" pitchFamily="34" charset="0"/>
                <a:ea typeface="Arial" pitchFamily="34" charset="-122"/>
                <a:cs typeface="Arial" pitchFamily="34" charset="-120"/>
              </a:rPr>
              <a:t>LAB</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Lab: Inspecting Retrieval</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5" name="Text 3"/>
          <p:cNvSpPr/>
          <p:nvPr/>
        </p:nvSpPr>
        <p:spPr>
          <a:xfrm>
            <a:off x="10801807"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6E6A63"/>
                </a:solidFill>
                <a:latin typeface="Arial" pitchFamily="34" charset="0"/>
                <a:ea typeface="Arial" pitchFamily="34" charset="-122"/>
                <a:cs typeface="Arial" pitchFamily="34" charset="-120"/>
              </a:rPr>
              <a:t>LV2</a:t>
            </a:r>
            <a:endParaRPr lang="en-US" sz="1100" dirty="0"/>
          </a:p>
        </p:txBody>
      </p:sp>
      <p:sp>
        <p:nvSpPr>
          <p:cNvPr id="6" name="Text 4"/>
          <p:cNvSpPr/>
          <p:nvPr/>
        </p:nvSpPr>
        <p:spPr>
          <a:xfrm>
            <a:off x="8662111" y="420624"/>
            <a:ext cx="2743200" cy="237744"/>
          </a:xfrm>
          <a:prstGeom prst="rect">
            <a:avLst/>
          </a:prstGeom>
          <a:noFill/>
          <a:ln/>
        </p:spPr>
        <p:txBody>
          <a:bodyPr wrap="square" lIns="0" tIns="0" rIns="0" bIns="0" rtlCol="0" anchor="ctr"/>
          <a:lstStyle/>
          <a:p>
            <a:pPr marL="0" indent="0" algn="r">
              <a:buNone/>
            </a:pPr>
            <a:r>
              <a:rPr lang="en-US" sz="950" b="1" kern="0" spc="180" dirty="0">
                <a:solidFill>
                  <a:srgbClr val="9C978E"/>
                </a:solidFill>
                <a:latin typeface="Arial" pitchFamily="34" charset="0"/>
                <a:ea typeface="Arial" pitchFamily="34" charset="-122"/>
                <a:cs typeface="Arial" pitchFamily="34" charset="-120"/>
              </a:rPr>
              <a:t>15 MINUTES</a:t>
            </a:r>
            <a:endParaRPr lang="en-US" sz="950" dirty="0"/>
          </a:p>
        </p:txBody>
      </p:sp>
      <p:sp>
        <p:nvSpPr>
          <p:cNvPr id="7" name="Shape 5"/>
          <p:cNvSpPr/>
          <p:nvPr/>
        </p:nvSpPr>
        <p:spPr>
          <a:xfrm>
            <a:off x="786384" y="1426464"/>
            <a:ext cx="10618927" cy="10973"/>
          </a:xfrm>
          <a:prstGeom prst="rect">
            <a:avLst/>
          </a:prstGeom>
          <a:solidFill>
            <a:srgbClr val="D5D1CA"/>
          </a:solidFill>
          <a:ln/>
        </p:spPr>
        <p:txBody>
          <a:bodyPr/>
          <a:lstStyle/>
          <a:p>
            <a:endParaRPr lang="en-HK"/>
          </a:p>
        </p:txBody>
      </p:sp>
      <p:sp>
        <p:nvSpPr>
          <p:cNvPr id="8" name="Text 6"/>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17</a:t>
            </a:r>
            <a:endParaRPr lang="en-US" sz="1200" dirty="0"/>
          </a:p>
        </p:txBody>
      </p:sp>
      <p:sp>
        <p:nvSpPr>
          <p:cNvPr id="10" name="Text 7"/>
          <p:cNvSpPr/>
          <p:nvPr/>
        </p:nvSpPr>
        <p:spPr>
          <a:xfrm>
            <a:off x="786384" y="1762721"/>
            <a:ext cx="10087981" cy="314269"/>
          </a:xfrm>
          <a:prstGeom prst="rect">
            <a:avLst/>
          </a:prstGeom>
          <a:noFill/>
          <a:ln/>
        </p:spPr>
        <p:txBody>
          <a:bodyPr wrap="square" lIns="0" tIns="0" rIns="0" bIns="0" rtlCol="0" anchor="ctr"/>
          <a:lstStyle/>
          <a:p>
            <a:pPr marL="0" indent="0">
              <a:buNone/>
            </a:pPr>
            <a:r>
              <a:rPr lang="en-US" sz="1432" dirty="0">
                <a:solidFill>
                  <a:srgbClr val="6E6A63"/>
                </a:solidFill>
                <a:latin typeface="Arial" pitchFamily="34" charset="0"/>
                <a:ea typeface="Arial" pitchFamily="34" charset="-122"/>
                <a:cs typeface="Arial" pitchFamily="34" charset="-120"/>
              </a:rPr>
              <a:t>15 minutes. Work in your team, one machine is enough. The sample corpus is already indexed, so you do not need a scraper yet.</a:t>
            </a:r>
            <a:endParaRPr lang="en-US" sz="1432" dirty="0"/>
          </a:p>
        </p:txBody>
      </p:sp>
      <p:sp>
        <p:nvSpPr>
          <p:cNvPr id="11" name="Text 8"/>
          <p:cNvSpPr/>
          <p:nvPr/>
        </p:nvSpPr>
        <p:spPr>
          <a:xfrm>
            <a:off x="786384" y="2181746"/>
            <a:ext cx="457200" cy="296810"/>
          </a:xfrm>
          <a:prstGeom prst="rect">
            <a:avLst/>
          </a:prstGeom>
          <a:noFill/>
          <a:ln/>
        </p:spPr>
        <p:txBody>
          <a:bodyPr wrap="square" lIns="0" tIns="0" rIns="0" bIns="0" rtlCol="0" anchor="ctr"/>
          <a:lstStyle/>
          <a:p>
            <a:pPr marL="0" indent="0">
              <a:buNone/>
            </a:pPr>
            <a:r>
              <a:rPr lang="en-US" sz="1671" b="1" dirty="0">
                <a:solidFill>
                  <a:srgbClr val="C0402A"/>
                </a:solidFill>
                <a:latin typeface="Arial" pitchFamily="34" charset="0"/>
                <a:ea typeface="Arial" pitchFamily="34" charset="-122"/>
                <a:cs typeface="Arial" pitchFamily="34" charset="-120"/>
              </a:rPr>
              <a:t>01</a:t>
            </a:r>
            <a:endParaRPr lang="en-US" sz="1671" dirty="0"/>
          </a:p>
        </p:txBody>
      </p:sp>
      <p:sp>
        <p:nvSpPr>
          <p:cNvPr id="12" name="Text 9"/>
          <p:cNvSpPr/>
          <p:nvPr/>
        </p:nvSpPr>
        <p:spPr>
          <a:xfrm>
            <a:off x="1353312" y="2181746"/>
            <a:ext cx="6457493" cy="328576"/>
          </a:xfrm>
          <a:prstGeom prst="rect">
            <a:avLst/>
          </a:prstGeom>
          <a:noFill/>
          <a:ln/>
        </p:spPr>
        <p:txBody>
          <a:bodyPr wrap="square" lIns="0" tIns="0" rIns="0" bIns="0" rtlCol="0" anchor="ctr"/>
          <a:lstStyle/>
          <a:p>
            <a:pPr marL="0" indent="0">
              <a:lnSpc>
                <a:spcPts val="2244"/>
              </a:lnSpc>
              <a:buNone/>
            </a:pPr>
            <a:r>
              <a:rPr lang="en-US" sz="1862" b="1" dirty="0">
                <a:solidFill>
                  <a:srgbClr val="141414"/>
                </a:solidFill>
                <a:latin typeface="Arial" pitchFamily="34" charset="0"/>
                <a:ea typeface="Arial" pitchFamily="34" charset="-122"/>
                <a:cs typeface="Arial" pitchFamily="34" charset="-120"/>
              </a:rPr>
              <a:t>Run the three questions and print results</a:t>
            </a:r>
            <a:endParaRPr lang="en-US" sz="1862" dirty="0"/>
          </a:p>
        </p:txBody>
      </p:sp>
      <p:sp>
        <p:nvSpPr>
          <p:cNvPr id="13" name="Text 10"/>
          <p:cNvSpPr/>
          <p:nvPr/>
        </p:nvSpPr>
        <p:spPr>
          <a:xfrm>
            <a:off x="1353312" y="2545241"/>
            <a:ext cx="6457493" cy="565006"/>
          </a:xfrm>
          <a:prstGeom prst="rect">
            <a:avLst/>
          </a:prstGeom>
          <a:noFill/>
          <a:ln/>
        </p:spPr>
        <p:txBody>
          <a:bodyPr wrap="square" lIns="0" tIns="0" rIns="0" bIns="0" rtlCol="0" anchor="ctr"/>
          <a:lstStyle/>
          <a:p>
            <a:pPr marL="0" indent="0">
              <a:lnSpc>
                <a:spcPts val="2053"/>
              </a:lnSpc>
              <a:buNone/>
            </a:pPr>
            <a:r>
              <a:rPr lang="en-US" sz="1575" dirty="0">
                <a:solidFill>
                  <a:srgbClr val="6E6A63"/>
                </a:solidFill>
                <a:latin typeface="Arial" pitchFamily="34" charset="0"/>
                <a:ea typeface="Arial" pitchFamily="34" charset="-122"/>
                <a:cs typeface="Arial" pitchFamily="34" charset="-120"/>
              </a:rPr>
              <a:t>The distance, source URL and first 200 characters of each chunk.</a:t>
            </a:r>
            <a:endParaRPr lang="en-US" sz="1575" dirty="0"/>
          </a:p>
        </p:txBody>
      </p:sp>
      <p:sp>
        <p:nvSpPr>
          <p:cNvPr id="14" name="Text 11"/>
          <p:cNvSpPr/>
          <p:nvPr/>
        </p:nvSpPr>
        <p:spPr>
          <a:xfrm>
            <a:off x="786384" y="3223733"/>
            <a:ext cx="457200" cy="296810"/>
          </a:xfrm>
          <a:prstGeom prst="rect">
            <a:avLst/>
          </a:prstGeom>
          <a:noFill/>
          <a:ln/>
        </p:spPr>
        <p:txBody>
          <a:bodyPr wrap="square" lIns="0" tIns="0" rIns="0" bIns="0" rtlCol="0" anchor="ctr"/>
          <a:lstStyle/>
          <a:p>
            <a:pPr marL="0" indent="0">
              <a:buNone/>
            </a:pPr>
            <a:r>
              <a:rPr lang="en-US" sz="1671" b="1" dirty="0">
                <a:solidFill>
                  <a:srgbClr val="C0402A"/>
                </a:solidFill>
                <a:latin typeface="Arial" pitchFamily="34" charset="0"/>
                <a:ea typeface="Arial" pitchFamily="34" charset="-122"/>
                <a:cs typeface="Arial" pitchFamily="34" charset="-120"/>
              </a:rPr>
              <a:t>02</a:t>
            </a:r>
            <a:endParaRPr lang="en-US" sz="1671" dirty="0"/>
          </a:p>
        </p:txBody>
      </p:sp>
      <p:sp>
        <p:nvSpPr>
          <p:cNvPr id="15" name="Text 12"/>
          <p:cNvSpPr/>
          <p:nvPr/>
        </p:nvSpPr>
        <p:spPr>
          <a:xfrm>
            <a:off x="1353312" y="3223733"/>
            <a:ext cx="6457493" cy="328576"/>
          </a:xfrm>
          <a:prstGeom prst="rect">
            <a:avLst/>
          </a:prstGeom>
          <a:noFill/>
          <a:ln/>
        </p:spPr>
        <p:txBody>
          <a:bodyPr wrap="square" lIns="0" tIns="0" rIns="0" bIns="0" rtlCol="0" anchor="ctr"/>
          <a:lstStyle/>
          <a:p>
            <a:pPr marL="0" indent="0">
              <a:lnSpc>
                <a:spcPts val="2244"/>
              </a:lnSpc>
              <a:buNone/>
            </a:pPr>
            <a:r>
              <a:rPr lang="en-US" sz="1862" b="1" dirty="0">
                <a:solidFill>
                  <a:srgbClr val="141414"/>
                </a:solidFill>
                <a:latin typeface="Arial" pitchFamily="34" charset="0"/>
                <a:ea typeface="Arial" pitchFamily="34" charset="-122"/>
                <a:cs typeface="Arial" pitchFamily="34" charset="-120"/>
              </a:rPr>
              <a:t>Mark each question yes or no</a:t>
            </a:r>
            <a:endParaRPr lang="en-US" sz="1862" dirty="0"/>
          </a:p>
        </p:txBody>
      </p:sp>
      <p:sp>
        <p:nvSpPr>
          <p:cNvPr id="16" name="Text 13"/>
          <p:cNvSpPr/>
          <p:nvPr/>
        </p:nvSpPr>
        <p:spPr>
          <a:xfrm>
            <a:off x="1353312" y="3587228"/>
            <a:ext cx="6457493" cy="565006"/>
          </a:xfrm>
          <a:prstGeom prst="rect">
            <a:avLst/>
          </a:prstGeom>
          <a:noFill/>
          <a:ln/>
        </p:spPr>
        <p:txBody>
          <a:bodyPr wrap="square" lIns="0" tIns="0" rIns="0" bIns="0" rtlCol="0" anchor="ctr"/>
          <a:lstStyle/>
          <a:p>
            <a:pPr marL="0" indent="0">
              <a:lnSpc>
                <a:spcPts val="2053"/>
              </a:lnSpc>
              <a:buNone/>
            </a:pPr>
            <a:r>
              <a:rPr lang="en-US" sz="1575" dirty="0">
                <a:solidFill>
                  <a:srgbClr val="6E6A63"/>
                </a:solidFill>
                <a:latin typeface="Arial" pitchFamily="34" charset="0"/>
                <a:ea typeface="Arial" pitchFamily="34" charset="-122"/>
                <a:cs typeface="Arial" pitchFamily="34" charset="-120"/>
              </a:rPr>
              <a:t>Was the expected answer in any of the five chunks? Record only that.</a:t>
            </a:r>
            <a:endParaRPr lang="en-US" sz="1575" dirty="0"/>
          </a:p>
        </p:txBody>
      </p:sp>
      <p:sp>
        <p:nvSpPr>
          <p:cNvPr id="17" name="Text 14"/>
          <p:cNvSpPr/>
          <p:nvPr/>
        </p:nvSpPr>
        <p:spPr>
          <a:xfrm>
            <a:off x="786384" y="4265720"/>
            <a:ext cx="457200" cy="296810"/>
          </a:xfrm>
          <a:prstGeom prst="rect">
            <a:avLst/>
          </a:prstGeom>
          <a:noFill/>
          <a:ln/>
        </p:spPr>
        <p:txBody>
          <a:bodyPr wrap="square" lIns="0" tIns="0" rIns="0" bIns="0" rtlCol="0" anchor="ctr"/>
          <a:lstStyle/>
          <a:p>
            <a:pPr marL="0" indent="0">
              <a:buNone/>
            </a:pPr>
            <a:r>
              <a:rPr lang="en-US" sz="1671" b="1" dirty="0">
                <a:solidFill>
                  <a:srgbClr val="C0402A"/>
                </a:solidFill>
                <a:latin typeface="Arial" pitchFamily="34" charset="0"/>
                <a:ea typeface="Arial" pitchFamily="34" charset="-122"/>
                <a:cs typeface="Arial" pitchFamily="34" charset="-120"/>
              </a:rPr>
              <a:t>03</a:t>
            </a:r>
            <a:endParaRPr lang="en-US" sz="1671" dirty="0"/>
          </a:p>
        </p:txBody>
      </p:sp>
      <p:sp>
        <p:nvSpPr>
          <p:cNvPr id="18" name="Text 15"/>
          <p:cNvSpPr/>
          <p:nvPr/>
        </p:nvSpPr>
        <p:spPr>
          <a:xfrm>
            <a:off x="1353312" y="4265720"/>
            <a:ext cx="6457493" cy="328576"/>
          </a:xfrm>
          <a:prstGeom prst="rect">
            <a:avLst/>
          </a:prstGeom>
          <a:noFill/>
          <a:ln/>
        </p:spPr>
        <p:txBody>
          <a:bodyPr wrap="square" lIns="0" tIns="0" rIns="0" bIns="0" rtlCol="0" anchor="ctr"/>
          <a:lstStyle/>
          <a:p>
            <a:pPr marL="0" indent="0">
              <a:lnSpc>
                <a:spcPts val="2244"/>
              </a:lnSpc>
              <a:buNone/>
            </a:pPr>
            <a:r>
              <a:rPr lang="en-US" sz="1862" b="1" dirty="0">
                <a:solidFill>
                  <a:srgbClr val="141414"/>
                </a:solidFill>
                <a:latin typeface="Arial" pitchFamily="34" charset="0"/>
                <a:ea typeface="Arial" pitchFamily="34" charset="-122"/>
                <a:cs typeface="Arial" pitchFamily="34" charset="-120"/>
              </a:rPr>
              <a:t>Now do the same for all 15 dev questions</a:t>
            </a:r>
            <a:endParaRPr lang="en-US" sz="1862" dirty="0"/>
          </a:p>
        </p:txBody>
      </p:sp>
      <p:sp>
        <p:nvSpPr>
          <p:cNvPr id="19" name="Text 16"/>
          <p:cNvSpPr/>
          <p:nvPr/>
        </p:nvSpPr>
        <p:spPr>
          <a:xfrm>
            <a:off x="1353312" y="4629215"/>
            <a:ext cx="6457493" cy="565006"/>
          </a:xfrm>
          <a:prstGeom prst="rect">
            <a:avLst/>
          </a:prstGeom>
          <a:noFill/>
          <a:ln/>
        </p:spPr>
        <p:txBody>
          <a:bodyPr wrap="square" lIns="0" tIns="0" rIns="0" bIns="0" rtlCol="0" anchor="ctr"/>
          <a:lstStyle/>
          <a:p>
            <a:pPr marL="0" indent="0">
              <a:lnSpc>
                <a:spcPts val="2053"/>
              </a:lnSpc>
              <a:buNone/>
            </a:pPr>
            <a:r>
              <a:rPr lang="en-US" sz="1575" dirty="0">
                <a:solidFill>
                  <a:srgbClr val="6E6A63"/>
                </a:solidFill>
                <a:latin typeface="Arial" pitchFamily="34" charset="0"/>
                <a:ea typeface="Arial" pitchFamily="34" charset="-122"/>
                <a:cs typeface="Arial" pitchFamily="34" charset="-120"/>
              </a:rPr>
              <a:t>Count the yeses. That is your retrieval rate, the ceiling on your score.</a:t>
            </a:r>
            <a:endParaRPr lang="en-US" sz="1575" dirty="0"/>
          </a:p>
        </p:txBody>
      </p:sp>
      <p:sp>
        <p:nvSpPr>
          <p:cNvPr id="20" name="Text 17"/>
          <p:cNvSpPr/>
          <p:nvPr/>
        </p:nvSpPr>
        <p:spPr>
          <a:xfrm>
            <a:off x="786384" y="5307707"/>
            <a:ext cx="457200" cy="296810"/>
          </a:xfrm>
          <a:prstGeom prst="rect">
            <a:avLst/>
          </a:prstGeom>
          <a:noFill/>
          <a:ln/>
        </p:spPr>
        <p:txBody>
          <a:bodyPr wrap="square" lIns="0" tIns="0" rIns="0" bIns="0" rtlCol="0" anchor="ctr"/>
          <a:lstStyle/>
          <a:p>
            <a:pPr marL="0" indent="0">
              <a:buNone/>
            </a:pPr>
            <a:r>
              <a:rPr lang="en-US" sz="1671" b="1" dirty="0">
                <a:solidFill>
                  <a:srgbClr val="C0402A"/>
                </a:solidFill>
                <a:latin typeface="Arial" pitchFamily="34" charset="0"/>
                <a:ea typeface="Arial" pitchFamily="34" charset="-122"/>
                <a:cs typeface="Arial" pitchFamily="34" charset="-120"/>
              </a:rPr>
              <a:t>04</a:t>
            </a:r>
            <a:endParaRPr lang="en-US" sz="1671" dirty="0"/>
          </a:p>
        </p:txBody>
      </p:sp>
      <p:sp>
        <p:nvSpPr>
          <p:cNvPr id="21" name="Text 18"/>
          <p:cNvSpPr/>
          <p:nvPr/>
        </p:nvSpPr>
        <p:spPr>
          <a:xfrm>
            <a:off x="1353312" y="5307707"/>
            <a:ext cx="6457493" cy="328576"/>
          </a:xfrm>
          <a:prstGeom prst="rect">
            <a:avLst/>
          </a:prstGeom>
          <a:noFill/>
          <a:ln/>
        </p:spPr>
        <p:txBody>
          <a:bodyPr wrap="square" lIns="0" tIns="0" rIns="0" bIns="0" rtlCol="0" anchor="ctr"/>
          <a:lstStyle/>
          <a:p>
            <a:pPr marL="0" indent="0">
              <a:lnSpc>
                <a:spcPts val="2244"/>
              </a:lnSpc>
              <a:buNone/>
            </a:pPr>
            <a:r>
              <a:rPr lang="en-US" sz="1862" b="1" dirty="0">
                <a:solidFill>
                  <a:srgbClr val="141414"/>
                </a:solidFill>
                <a:latin typeface="Arial" pitchFamily="34" charset="0"/>
                <a:ea typeface="Arial" pitchFamily="34" charset="-122"/>
                <a:cs typeface="Arial" pitchFamily="34" charset="-120"/>
              </a:rPr>
              <a:t>Change k from 5 to 10 and repeat</a:t>
            </a:r>
            <a:endParaRPr lang="en-US" sz="1862" dirty="0"/>
          </a:p>
        </p:txBody>
      </p:sp>
      <p:sp>
        <p:nvSpPr>
          <p:cNvPr id="22" name="Text 19"/>
          <p:cNvSpPr/>
          <p:nvPr/>
        </p:nvSpPr>
        <p:spPr>
          <a:xfrm>
            <a:off x="1353312" y="5671202"/>
            <a:ext cx="6457493" cy="565006"/>
          </a:xfrm>
          <a:prstGeom prst="rect">
            <a:avLst/>
          </a:prstGeom>
          <a:noFill/>
          <a:ln/>
        </p:spPr>
        <p:txBody>
          <a:bodyPr wrap="square" lIns="0" tIns="0" rIns="0" bIns="0" rtlCol="0" anchor="ctr"/>
          <a:lstStyle/>
          <a:p>
            <a:pPr marL="0" indent="0">
              <a:lnSpc>
                <a:spcPts val="2053"/>
              </a:lnSpc>
              <a:buNone/>
            </a:pPr>
            <a:r>
              <a:rPr lang="en-US" sz="1575" dirty="0">
                <a:solidFill>
                  <a:srgbClr val="6E6A63"/>
                </a:solidFill>
                <a:latin typeface="Arial" pitchFamily="34" charset="0"/>
                <a:ea typeface="Arial" pitchFamily="34" charset="-122"/>
                <a:cs typeface="Arial" pitchFamily="34" charset="-120"/>
              </a:rPr>
              <a:t>Did the extra chunks bring anything useful, or just more text?</a:t>
            </a:r>
            <a:endParaRPr lang="en-US" sz="1575" dirty="0"/>
          </a:p>
        </p:txBody>
      </p:sp>
      <p:sp>
        <p:nvSpPr>
          <p:cNvPr id="23" name="Shape 20"/>
          <p:cNvSpPr/>
          <p:nvPr/>
        </p:nvSpPr>
        <p:spPr>
          <a:xfrm>
            <a:off x="7975397" y="2199206"/>
            <a:ext cx="3429914" cy="1547340"/>
          </a:xfrm>
          <a:prstGeom prst="rect">
            <a:avLst/>
          </a:prstGeom>
          <a:solidFill>
            <a:srgbClr val="F2EFEA"/>
          </a:solidFill>
          <a:ln/>
        </p:spPr>
        <p:txBody>
          <a:bodyPr/>
          <a:lstStyle/>
          <a:p>
            <a:endParaRPr lang="en-HK"/>
          </a:p>
        </p:txBody>
      </p:sp>
      <p:sp>
        <p:nvSpPr>
          <p:cNvPr id="24" name="Shape 21"/>
          <p:cNvSpPr/>
          <p:nvPr/>
        </p:nvSpPr>
        <p:spPr>
          <a:xfrm>
            <a:off x="7975397" y="2199206"/>
            <a:ext cx="27432" cy="1547340"/>
          </a:xfrm>
          <a:prstGeom prst="rect">
            <a:avLst/>
          </a:prstGeom>
          <a:solidFill>
            <a:srgbClr val="C0402A"/>
          </a:solidFill>
          <a:ln/>
        </p:spPr>
        <p:txBody>
          <a:bodyPr/>
          <a:lstStyle/>
          <a:p>
            <a:endParaRPr lang="en-HK"/>
          </a:p>
        </p:txBody>
      </p:sp>
      <p:sp>
        <p:nvSpPr>
          <p:cNvPr id="25" name="Text 22"/>
          <p:cNvSpPr/>
          <p:nvPr/>
        </p:nvSpPr>
        <p:spPr>
          <a:xfrm>
            <a:off x="8231429" y="2338881"/>
            <a:ext cx="2991002" cy="1267989"/>
          </a:xfrm>
          <a:prstGeom prst="rect">
            <a:avLst/>
          </a:prstGeom>
          <a:noFill/>
          <a:ln/>
        </p:spPr>
        <p:txBody>
          <a:bodyPr wrap="square" lIns="0" tIns="0" rIns="0" bIns="0" rtlCol="0" anchor="t"/>
          <a:lstStyle/>
          <a:p>
            <a:pPr marL="0" indent="0">
              <a:lnSpc>
                <a:spcPts val="1671"/>
              </a:lnSpc>
              <a:buNone/>
            </a:pPr>
            <a:r>
              <a:rPr lang="en-US" sz="1098" dirty="0">
                <a:solidFill>
                  <a:srgbClr val="2A2724"/>
                </a:solidFill>
                <a:latin typeface="Courier New" pitchFamily="34" charset="0"/>
                <a:ea typeface="Courier New" pitchFamily="34" charset="-122"/>
                <a:cs typeface="Courier New" pitchFamily="34" charset="-120"/>
              </a:rPr>
              <a:t>qv = embed([q])[0]</a:t>
            </a:r>
            <a:endParaRPr lang="en-US" sz="1098" dirty="0"/>
          </a:p>
          <a:p>
            <a:pPr marL="0" indent="0">
              <a:lnSpc>
                <a:spcPts val="1671"/>
              </a:lnSpc>
              <a:buNone/>
            </a:pPr>
            <a:r>
              <a:rPr lang="en-US" sz="1098" dirty="0">
                <a:solidFill>
                  <a:srgbClr val="2A2724"/>
                </a:solidFill>
                <a:latin typeface="Courier New" pitchFamily="34" charset="0"/>
                <a:ea typeface="Courier New" pitchFamily="34" charset="-122"/>
                <a:cs typeface="Courier New" pitchFamily="34" charset="-120"/>
              </a:rPr>
              <a:t>for r in store.query(qv, k=5):</a:t>
            </a:r>
            <a:endParaRPr lang="en-US" sz="1098" dirty="0"/>
          </a:p>
          <a:p>
            <a:pPr marL="0" indent="0">
              <a:lnSpc>
                <a:spcPts val="1671"/>
              </a:lnSpc>
              <a:buNone/>
            </a:pPr>
            <a:r>
              <a:rPr lang="en-US" sz="1098" dirty="0">
                <a:solidFill>
                  <a:srgbClr val="2A2724"/>
                </a:solidFill>
                <a:latin typeface="Courier New" pitchFamily="34" charset="0"/>
                <a:ea typeface="Courier New" pitchFamily="34" charset="-122"/>
                <a:cs typeface="Courier New" pitchFamily="34" charset="-120"/>
              </a:rPr>
              <a:t>    print(r["distance"])</a:t>
            </a:r>
            <a:endParaRPr lang="en-US" sz="1098" dirty="0"/>
          </a:p>
          <a:p>
            <a:pPr marL="0" indent="0">
              <a:lnSpc>
                <a:spcPts val="1671"/>
              </a:lnSpc>
              <a:buNone/>
            </a:pPr>
            <a:r>
              <a:rPr lang="en-US" sz="1098" dirty="0">
                <a:solidFill>
                  <a:srgbClr val="2A2724"/>
                </a:solidFill>
                <a:latin typeface="Courier New" pitchFamily="34" charset="0"/>
                <a:ea typeface="Courier New" pitchFamily="34" charset="-122"/>
                <a:cs typeface="Courier New" pitchFamily="34" charset="-120"/>
              </a:rPr>
              <a:t>    print(r["metadata"]["url"])</a:t>
            </a:r>
            <a:endParaRPr lang="en-US" sz="1098" dirty="0"/>
          </a:p>
          <a:p>
            <a:pPr marL="0" indent="0">
              <a:lnSpc>
                <a:spcPts val="1671"/>
              </a:lnSpc>
              <a:buNone/>
            </a:pPr>
            <a:r>
              <a:rPr lang="en-US" sz="1098" dirty="0">
                <a:solidFill>
                  <a:srgbClr val="2A2724"/>
                </a:solidFill>
                <a:latin typeface="Courier New" pitchFamily="34" charset="0"/>
                <a:ea typeface="Courier New" pitchFamily="34" charset="-122"/>
                <a:cs typeface="Courier New" pitchFamily="34" charset="-120"/>
              </a:rPr>
              <a:t>    print(r["text"][:200])</a:t>
            </a:r>
            <a:endParaRPr lang="en-US" sz="1098" dirty="0"/>
          </a:p>
        </p:txBody>
      </p:sp>
      <p:sp>
        <p:nvSpPr>
          <p:cNvPr id="26" name="Shape 23"/>
          <p:cNvSpPr/>
          <p:nvPr/>
        </p:nvSpPr>
        <p:spPr>
          <a:xfrm>
            <a:off x="7975397" y="4076092"/>
            <a:ext cx="3429914" cy="15713"/>
          </a:xfrm>
          <a:prstGeom prst="rect">
            <a:avLst/>
          </a:prstGeom>
          <a:solidFill>
            <a:srgbClr val="141414"/>
          </a:solidFill>
          <a:ln/>
        </p:spPr>
        <p:txBody>
          <a:bodyPr/>
          <a:lstStyle/>
          <a:p>
            <a:endParaRPr lang="en-HK"/>
          </a:p>
        </p:txBody>
      </p:sp>
      <p:sp>
        <p:nvSpPr>
          <p:cNvPr id="27" name="Text 24"/>
          <p:cNvSpPr/>
          <p:nvPr/>
        </p:nvSpPr>
        <p:spPr>
          <a:xfrm>
            <a:off x="7975397" y="4215767"/>
            <a:ext cx="3429914" cy="328576"/>
          </a:xfrm>
          <a:prstGeom prst="rect">
            <a:avLst/>
          </a:prstGeom>
          <a:noFill/>
          <a:ln/>
        </p:spPr>
        <p:txBody>
          <a:bodyPr wrap="square" lIns="0" tIns="0" rIns="0" bIns="0" rtlCol="0" anchor="ctr"/>
          <a:lstStyle/>
          <a:p>
            <a:pPr marL="0" indent="0">
              <a:lnSpc>
                <a:spcPts val="2244"/>
              </a:lnSpc>
              <a:buNone/>
            </a:pPr>
            <a:r>
              <a:rPr lang="en-US" sz="1862" b="1" dirty="0">
                <a:solidFill>
                  <a:srgbClr val="141414"/>
                </a:solidFill>
                <a:latin typeface="Arial" pitchFamily="34" charset="0"/>
                <a:ea typeface="Arial" pitchFamily="34" charset="-122"/>
                <a:cs typeface="Arial" pitchFamily="34" charset="-120"/>
              </a:rPr>
              <a:t>The three questions</a:t>
            </a:r>
            <a:endParaRPr lang="en-US" sz="1862" dirty="0"/>
          </a:p>
        </p:txBody>
      </p:sp>
      <p:sp>
        <p:nvSpPr>
          <p:cNvPr id="28" name="Text 25"/>
          <p:cNvSpPr/>
          <p:nvPr/>
        </p:nvSpPr>
        <p:spPr>
          <a:xfrm>
            <a:off x="7975397" y="4614181"/>
            <a:ext cx="3429914" cy="1037865"/>
          </a:xfrm>
          <a:prstGeom prst="rect">
            <a:avLst/>
          </a:prstGeom>
          <a:noFill/>
          <a:ln/>
        </p:spPr>
        <p:txBody>
          <a:bodyPr wrap="square" lIns="0" tIns="0" rIns="0" bIns="0" rtlCol="0" anchor="t"/>
          <a:lstStyle/>
          <a:p>
            <a:pPr marL="0" indent="0">
              <a:lnSpc>
                <a:spcPts val="1957"/>
              </a:lnSpc>
              <a:buNone/>
            </a:pPr>
            <a:r>
              <a:rPr lang="en-US" sz="1289" dirty="0">
                <a:solidFill>
                  <a:srgbClr val="141414"/>
                </a:solidFill>
                <a:latin typeface="Arial" pitchFamily="34" charset="0"/>
                <a:ea typeface="Arial" pitchFamily="34" charset="-122"/>
                <a:cs typeface="Arial" pitchFamily="34" charset="-120"/>
              </a:rPr>
              <a:t>1. One the corpus answers plainly.</a:t>
            </a:r>
            <a:endParaRPr lang="en-US" sz="1289" dirty="0"/>
          </a:p>
          <a:p>
            <a:pPr marL="0" indent="0">
              <a:lnSpc>
                <a:spcPts val="1957"/>
              </a:lnSpc>
              <a:buNone/>
            </a:pPr>
            <a:r>
              <a:rPr lang="en-US" sz="1289" dirty="0">
                <a:solidFill>
                  <a:srgbClr val="141414"/>
                </a:solidFill>
                <a:latin typeface="Arial" pitchFamily="34" charset="0"/>
                <a:ea typeface="Arial" pitchFamily="34" charset="-122"/>
                <a:cs typeface="Arial" pitchFamily="34" charset="-120"/>
              </a:rPr>
              <a:t>2. One it answers only indirectly.</a:t>
            </a:r>
            <a:endParaRPr lang="en-US" sz="1289" dirty="0"/>
          </a:p>
          <a:p>
            <a:pPr marL="0" indent="0">
              <a:lnSpc>
                <a:spcPts val="1957"/>
              </a:lnSpc>
              <a:buNone/>
            </a:pPr>
            <a:r>
              <a:rPr lang="en-US" sz="1289" dirty="0">
                <a:solidFill>
                  <a:srgbClr val="141414"/>
                </a:solidFill>
                <a:latin typeface="Arial" pitchFamily="34" charset="0"/>
                <a:ea typeface="Arial" pitchFamily="34" charset="-122"/>
                <a:cs typeface="Arial" pitchFamily="34" charset="-120"/>
              </a:rPr>
              <a:t>3. One about something not in the corpus.</a:t>
            </a:r>
            <a:endParaRPr lang="en-US" sz="1289"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C0402A"/>
                </a:solidFill>
                <a:latin typeface="Arial" pitchFamily="34" charset="0"/>
                <a:ea typeface="Arial" pitchFamily="34" charset="-122"/>
                <a:cs typeface="Arial" pitchFamily="34" charset="-120"/>
              </a:rPr>
              <a:t>TROUBLESHOOTING</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Common Retrieval Issues</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5" name="Text 3"/>
          <p:cNvSpPr/>
          <p:nvPr/>
        </p:nvSpPr>
        <p:spPr>
          <a:xfrm>
            <a:off x="10801807"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6E6A63"/>
                </a:solidFill>
                <a:latin typeface="Arial" pitchFamily="34" charset="0"/>
                <a:ea typeface="Arial" pitchFamily="34" charset="-122"/>
                <a:cs typeface="Arial" pitchFamily="34" charset="-120"/>
              </a:rPr>
              <a:t>LV2</a:t>
            </a:r>
            <a:endParaRPr lang="en-US" sz="1100" dirty="0"/>
          </a:p>
        </p:txBody>
      </p:sp>
      <p:sp>
        <p:nvSpPr>
          <p:cNvPr id="6" name="Shape 4"/>
          <p:cNvSpPr/>
          <p:nvPr/>
        </p:nvSpPr>
        <p:spPr>
          <a:xfrm>
            <a:off x="786384" y="1426464"/>
            <a:ext cx="10618927" cy="10973"/>
          </a:xfrm>
          <a:prstGeom prst="rect">
            <a:avLst/>
          </a:prstGeom>
          <a:solidFill>
            <a:srgbClr val="D5D1CA"/>
          </a:solidFill>
          <a:ln/>
        </p:spPr>
        <p:txBody>
          <a:bodyPr/>
          <a:lstStyle/>
          <a:p>
            <a:endParaRPr lang="en-HK"/>
          </a:p>
        </p:txBody>
      </p:sp>
      <p:sp>
        <p:nvSpPr>
          <p:cNvPr id="7" name="Text 5"/>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18</a:t>
            </a:r>
            <a:endParaRPr lang="en-US" sz="1200" dirty="0"/>
          </a:p>
        </p:txBody>
      </p:sp>
      <p:sp>
        <p:nvSpPr>
          <p:cNvPr id="8" name="Text 6"/>
          <p:cNvSpPr/>
          <p:nvPr/>
        </p:nvSpPr>
        <p:spPr>
          <a:xfrm>
            <a:off x="786384" y="1830732"/>
            <a:ext cx="2286000" cy="507543"/>
          </a:xfrm>
          <a:prstGeom prst="rect">
            <a:avLst/>
          </a:prstGeom>
          <a:noFill/>
          <a:ln/>
        </p:spPr>
        <p:txBody>
          <a:bodyPr wrap="square" lIns="0" tIns="0" rIns="0" bIns="0" rtlCol="0" anchor="ctr"/>
          <a:lstStyle/>
          <a:p>
            <a:pPr marL="0" indent="0">
              <a:buNone/>
            </a:pPr>
            <a:r>
              <a:rPr lang="en-US" sz="1500" b="1" dirty="0">
                <a:solidFill>
                  <a:srgbClr val="141414"/>
                </a:solidFill>
                <a:latin typeface="Arial" pitchFamily="34" charset="0"/>
                <a:ea typeface="Arial" pitchFamily="34" charset="-122"/>
                <a:cs typeface="Arial" pitchFamily="34" charset="-120"/>
              </a:rPr>
              <a:t>Vocabulary mismatch</a:t>
            </a:r>
            <a:endParaRPr lang="en-US" sz="1500" dirty="0"/>
          </a:p>
        </p:txBody>
      </p:sp>
      <p:sp>
        <p:nvSpPr>
          <p:cNvPr id="9" name="Text 7"/>
          <p:cNvSpPr/>
          <p:nvPr/>
        </p:nvSpPr>
        <p:spPr>
          <a:xfrm>
            <a:off x="3209544" y="1830732"/>
            <a:ext cx="5029200" cy="507543"/>
          </a:xfrm>
          <a:prstGeom prst="rect">
            <a:avLst/>
          </a:prstGeom>
          <a:noFill/>
          <a:ln/>
        </p:spPr>
        <p:txBody>
          <a:bodyPr wrap="square" lIns="0" tIns="0" rIns="0" bIns="0" rtlCol="0" anchor="ctr"/>
          <a:lstStyle/>
          <a:p>
            <a:pPr marL="0" indent="0">
              <a:lnSpc>
                <a:spcPts val="1700"/>
              </a:lnSpc>
              <a:buNone/>
            </a:pPr>
            <a:r>
              <a:rPr lang="en-US" sz="1350" dirty="0">
                <a:solidFill>
                  <a:srgbClr val="6E6A63"/>
                </a:solidFill>
                <a:latin typeface="Arial" pitchFamily="34" charset="0"/>
                <a:ea typeface="Arial" pitchFamily="34" charset="-122"/>
                <a:cs typeface="Arial" pitchFamily="34" charset="-120"/>
              </a:rPr>
              <a:t>The question and the passage use different words and the embedding did not bridge them</a:t>
            </a:r>
            <a:endParaRPr lang="en-US" sz="1350" dirty="0"/>
          </a:p>
        </p:txBody>
      </p:sp>
      <p:sp>
        <p:nvSpPr>
          <p:cNvPr id="10" name="Text 8"/>
          <p:cNvSpPr/>
          <p:nvPr/>
        </p:nvSpPr>
        <p:spPr>
          <a:xfrm>
            <a:off x="8421624" y="1830732"/>
            <a:ext cx="2983687" cy="507543"/>
          </a:xfrm>
          <a:prstGeom prst="rect">
            <a:avLst/>
          </a:prstGeom>
          <a:noFill/>
          <a:ln/>
        </p:spPr>
        <p:txBody>
          <a:bodyPr wrap="square" lIns="0" tIns="0" rIns="0" bIns="0" rtlCol="0" anchor="ctr"/>
          <a:lstStyle/>
          <a:p>
            <a:pPr marL="0" indent="0">
              <a:lnSpc>
                <a:spcPts val="1700"/>
              </a:lnSpc>
              <a:buNone/>
            </a:pPr>
            <a:r>
              <a:rPr lang="en-US" sz="1350" dirty="0">
                <a:solidFill>
                  <a:srgbClr val="C0402A"/>
                </a:solidFill>
                <a:latin typeface="Arial" pitchFamily="34" charset="0"/>
                <a:ea typeface="Arial" pitchFamily="34" charset="-122"/>
                <a:cs typeface="Arial" pitchFamily="34" charset="-120"/>
              </a:rPr>
              <a:t>Add keyword search alongside vectors</a:t>
            </a:r>
            <a:endParaRPr lang="en-US" sz="1350" dirty="0"/>
          </a:p>
        </p:txBody>
      </p:sp>
      <p:sp>
        <p:nvSpPr>
          <p:cNvPr id="11" name="Text 9"/>
          <p:cNvSpPr/>
          <p:nvPr/>
        </p:nvSpPr>
        <p:spPr>
          <a:xfrm>
            <a:off x="786384" y="2541292"/>
            <a:ext cx="2286000" cy="507543"/>
          </a:xfrm>
          <a:prstGeom prst="rect">
            <a:avLst/>
          </a:prstGeom>
          <a:noFill/>
          <a:ln/>
        </p:spPr>
        <p:txBody>
          <a:bodyPr wrap="square" lIns="0" tIns="0" rIns="0" bIns="0" rtlCol="0" anchor="ctr"/>
          <a:lstStyle/>
          <a:p>
            <a:pPr marL="0" indent="0">
              <a:buNone/>
            </a:pPr>
            <a:r>
              <a:rPr lang="en-US" sz="1500" b="1" dirty="0">
                <a:solidFill>
                  <a:srgbClr val="141414"/>
                </a:solidFill>
                <a:latin typeface="Arial" pitchFamily="34" charset="0"/>
                <a:ea typeface="Arial" pitchFamily="34" charset="-122"/>
                <a:cs typeface="Arial" pitchFamily="34" charset="-120"/>
              </a:rPr>
              <a:t>Chunk too large</a:t>
            </a:r>
            <a:endParaRPr lang="en-US" sz="1500" dirty="0"/>
          </a:p>
        </p:txBody>
      </p:sp>
      <p:sp>
        <p:nvSpPr>
          <p:cNvPr id="12" name="Text 10"/>
          <p:cNvSpPr/>
          <p:nvPr/>
        </p:nvSpPr>
        <p:spPr>
          <a:xfrm>
            <a:off x="3209544" y="2541292"/>
            <a:ext cx="5029200" cy="507543"/>
          </a:xfrm>
          <a:prstGeom prst="rect">
            <a:avLst/>
          </a:prstGeom>
          <a:noFill/>
          <a:ln/>
        </p:spPr>
        <p:txBody>
          <a:bodyPr wrap="square" lIns="0" tIns="0" rIns="0" bIns="0" rtlCol="0" anchor="ctr"/>
          <a:lstStyle/>
          <a:p>
            <a:pPr marL="0" indent="0">
              <a:lnSpc>
                <a:spcPts val="1700"/>
              </a:lnSpc>
              <a:buNone/>
            </a:pPr>
            <a:r>
              <a:rPr lang="en-US" sz="1350" dirty="0">
                <a:solidFill>
                  <a:srgbClr val="6E6A63"/>
                </a:solidFill>
                <a:latin typeface="Arial" pitchFamily="34" charset="0"/>
                <a:ea typeface="Arial" pitchFamily="34" charset="-122"/>
                <a:cs typeface="Arial" pitchFamily="34" charset="-120"/>
              </a:rPr>
              <a:t>The relevant sentence was averaged with several other topics into one vector</a:t>
            </a:r>
            <a:endParaRPr lang="en-US" sz="1350" dirty="0"/>
          </a:p>
        </p:txBody>
      </p:sp>
      <p:sp>
        <p:nvSpPr>
          <p:cNvPr id="13" name="Text 11"/>
          <p:cNvSpPr/>
          <p:nvPr/>
        </p:nvSpPr>
        <p:spPr>
          <a:xfrm>
            <a:off x="8421624" y="2541292"/>
            <a:ext cx="2983687" cy="507543"/>
          </a:xfrm>
          <a:prstGeom prst="rect">
            <a:avLst/>
          </a:prstGeom>
          <a:noFill/>
          <a:ln/>
        </p:spPr>
        <p:txBody>
          <a:bodyPr wrap="square" lIns="0" tIns="0" rIns="0" bIns="0" rtlCol="0" anchor="ctr"/>
          <a:lstStyle/>
          <a:p>
            <a:pPr marL="0" indent="0">
              <a:lnSpc>
                <a:spcPts val="1700"/>
              </a:lnSpc>
              <a:buNone/>
            </a:pPr>
            <a:r>
              <a:rPr lang="en-US" sz="1350" dirty="0">
                <a:solidFill>
                  <a:srgbClr val="C0402A"/>
                </a:solidFill>
                <a:latin typeface="Arial" pitchFamily="34" charset="0"/>
                <a:ea typeface="Arial" pitchFamily="34" charset="-122"/>
                <a:cs typeface="Arial" pitchFamily="34" charset="-120"/>
              </a:rPr>
              <a:t>Reduce chunk size</a:t>
            </a:r>
            <a:endParaRPr lang="en-US" sz="1350" dirty="0"/>
          </a:p>
        </p:txBody>
      </p:sp>
      <p:sp>
        <p:nvSpPr>
          <p:cNvPr id="14" name="Text 12"/>
          <p:cNvSpPr/>
          <p:nvPr/>
        </p:nvSpPr>
        <p:spPr>
          <a:xfrm>
            <a:off x="786384" y="3251853"/>
            <a:ext cx="2286000" cy="507543"/>
          </a:xfrm>
          <a:prstGeom prst="rect">
            <a:avLst/>
          </a:prstGeom>
          <a:noFill/>
          <a:ln/>
        </p:spPr>
        <p:txBody>
          <a:bodyPr wrap="square" lIns="0" tIns="0" rIns="0" bIns="0" rtlCol="0" anchor="ctr"/>
          <a:lstStyle/>
          <a:p>
            <a:pPr marL="0" indent="0">
              <a:buNone/>
            </a:pPr>
            <a:r>
              <a:rPr lang="en-US" sz="1500" b="1" dirty="0">
                <a:solidFill>
                  <a:srgbClr val="141414"/>
                </a:solidFill>
                <a:latin typeface="Arial" pitchFamily="34" charset="0"/>
                <a:ea typeface="Arial" pitchFamily="34" charset="-122"/>
                <a:cs typeface="Arial" pitchFamily="34" charset="-120"/>
              </a:rPr>
              <a:t>Chunk too small</a:t>
            </a:r>
            <a:endParaRPr lang="en-US" sz="1500" dirty="0"/>
          </a:p>
        </p:txBody>
      </p:sp>
      <p:sp>
        <p:nvSpPr>
          <p:cNvPr id="15" name="Text 13"/>
          <p:cNvSpPr/>
          <p:nvPr/>
        </p:nvSpPr>
        <p:spPr>
          <a:xfrm>
            <a:off x="3209544" y="3251853"/>
            <a:ext cx="5029200" cy="507543"/>
          </a:xfrm>
          <a:prstGeom prst="rect">
            <a:avLst/>
          </a:prstGeom>
          <a:noFill/>
          <a:ln/>
        </p:spPr>
        <p:txBody>
          <a:bodyPr wrap="square" lIns="0" tIns="0" rIns="0" bIns="0" rtlCol="0" anchor="ctr"/>
          <a:lstStyle/>
          <a:p>
            <a:pPr marL="0" indent="0">
              <a:lnSpc>
                <a:spcPts val="1700"/>
              </a:lnSpc>
              <a:buNone/>
            </a:pPr>
            <a:r>
              <a:rPr lang="en-US" sz="1350" dirty="0">
                <a:solidFill>
                  <a:srgbClr val="6E6A63"/>
                </a:solidFill>
                <a:latin typeface="Arial" pitchFamily="34" charset="0"/>
                <a:ea typeface="Arial" pitchFamily="34" charset="-122"/>
                <a:cs typeface="Arial" pitchFamily="34" charset="-120"/>
              </a:rPr>
              <a:t>The chunk matched but lacked the context needed to interpret it</a:t>
            </a:r>
            <a:endParaRPr lang="en-US" sz="1350" dirty="0"/>
          </a:p>
        </p:txBody>
      </p:sp>
      <p:sp>
        <p:nvSpPr>
          <p:cNvPr id="16" name="Text 14"/>
          <p:cNvSpPr/>
          <p:nvPr/>
        </p:nvSpPr>
        <p:spPr>
          <a:xfrm>
            <a:off x="8421624" y="3251853"/>
            <a:ext cx="2983687" cy="507543"/>
          </a:xfrm>
          <a:prstGeom prst="rect">
            <a:avLst/>
          </a:prstGeom>
          <a:noFill/>
          <a:ln/>
        </p:spPr>
        <p:txBody>
          <a:bodyPr wrap="square" lIns="0" tIns="0" rIns="0" bIns="0" rtlCol="0" anchor="ctr"/>
          <a:lstStyle/>
          <a:p>
            <a:pPr marL="0" indent="0">
              <a:lnSpc>
                <a:spcPts val="1700"/>
              </a:lnSpc>
              <a:buNone/>
            </a:pPr>
            <a:r>
              <a:rPr lang="en-US" sz="1350" dirty="0">
                <a:solidFill>
                  <a:srgbClr val="C0402A"/>
                </a:solidFill>
                <a:latin typeface="Arial" pitchFamily="34" charset="0"/>
                <a:ea typeface="Arial" pitchFamily="34" charset="-122"/>
                <a:cs typeface="Arial" pitchFamily="34" charset="-120"/>
              </a:rPr>
              <a:t>Increase overlap, or return the surrounding passage</a:t>
            </a:r>
            <a:endParaRPr lang="en-US" sz="1350" dirty="0"/>
          </a:p>
        </p:txBody>
      </p:sp>
      <p:sp>
        <p:nvSpPr>
          <p:cNvPr id="17" name="Text 15"/>
          <p:cNvSpPr/>
          <p:nvPr/>
        </p:nvSpPr>
        <p:spPr>
          <a:xfrm>
            <a:off x="786384" y="3962414"/>
            <a:ext cx="2286000" cy="507543"/>
          </a:xfrm>
          <a:prstGeom prst="rect">
            <a:avLst/>
          </a:prstGeom>
          <a:noFill/>
          <a:ln/>
        </p:spPr>
        <p:txBody>
          <a:bodyPr wrap="square" lIns="0" tIns="0" rIns="0" bIns="0" rtlCol="0" anchor="ctr"/>
          <a:lstStyle/>
          <a:p>
            <a:pPr marL="0" indent="0">
              <a:buNone/>
            </a:pPr>
            <a:r>
              <a:rPr lang="en-US" sz="1500" b="1" dirty="0">
                <a:solidFill>
                  <a:srgbClr val="141414"/>
                </a:solidFill>
                <a:latin typeface="Arial" pitchFamily="34" charset="0"/>
                <a:ea typeface="Arial" pitchFamily="34" charset="-122"/>
                <a:cs typeface="Arial" pitchFamily="34" charset="-120"/>
              </a:rPr>
              <a:t>Answer split in two</a:t>
            </a:r>
            <a:endParaRPr lang="en-US" sz="1500" dirty="0"/>
          </a:p>
        </p:txBody>
      </p:sp>
      <p:sp>
        <p:nvSpPr>
          <p:cNvPr id="18" name="Text 16"/>
          <p:cNvSpPr/>
          <p:nvPr/>
        </p:nvSpPr>
        <p:spPr>
          <a:xfrm>
            <a:off x="3209544" y="3962414"/>
            <a:ext cx="5029200" cy="507543"/>
          </a:xfrm>
          <a:prstGeom prst="rect">
            <a:avLst/>
          </a:prstGeom>
          <a:noFill/>
          <a:ln/>
        </p:spPr>
        <p:txBody>
          <a:bodyPr wrap="square" lIns="0" tIns="0" rIns="0" bIns="0" rtlCol="0" anchor="ctr"/>
          <a:lstStyle/>
          <a:p>
            <a:pPr marL="0" indent="0">
              <a:lnSpc>
                <a:spcPts val="1700"/>
              </a:lnSpc>
              <a:buNone/>
            </a:pPr>
            <a:r>
              <a:rPr lang="en-US" sz="1350" dirty="0">
                <a:solidFill>
                  <a:srgbClr val="6E6A63"/>
                </a:solidFill>
                <a:latin typeface="Arial" pitchFamily="34" charset="0"/>
                <a:ea typeface="Arial" pitchFamily="34" charset="-122"/>
                <a:cs typeface="Arial" pitchFamily="34" charset="-120"/>
              </a:rPr>
              <a:t>The fact straddled a chunk boundary and neither half answers the question</a:t>
            </a:r>
            <a:endParaRPr lang="en-US" sz="1350" dirty="0"/>
          </a:p>
        </p:txBody>
      </p:sp>
      <p:sp>
        <p:nvSpPr>
          <p:cNvPr id="19" name="Text 17"/>
          <p:cNvSpPr/>
          <p:nvPr/>
        </p:nvSpPr>
        <p:spPr>
          <a:xfrm>
            <a:off x="8421624" y="3962414"/>
            <a:ext cx="2983687" cy="507543"/>
          </a:xfrm>
          <a:prstGeom prst="rect">
            <a:avLst/>
          </a:prstGeom>
          <a:noFill/>
          <a:ln/>
        </p:spPr>
        <p:txBody>
          <a:bodyPr wrap="square" lIns="0" tIns="0" rIns="0" bIns="0" rtlCol="0" anchor="ctr"/>
          <a:lstStyle/>
          <a:p>
            <a:pPr marL="0" indent="0">
              <a:lnSpc>
                <a:spcPts val="1700"/>
              </a:lnSpc>
              <a:buNone/>
            </a:pPr>
            <a:r>
              <a:rPr lang="en-US" sz="1350" dirty="0">
                <a:solidFill>
                  <a:srgbClr val="C0402A"/>
                </a:solidFill>
                <a:latin typeface="Arial" pitchFamily="34" charset="0"/>
                <a:ea typeface="Arial" pitchFamily="34" charset="-122"/>
                <a:cs typeface="Arial" pitchFamily="34" charset="-120"/>
              </a:rPr>
              <a:t>Increase overlap</a:t>
            </a:r>
            <a:endParaRPr lang="en-US" sz="1350" dirty="0"/>
          </a:p>
        </p:txBody>
      </p:sp>
      <p:sp>
        <p:nvSpPr>
          <p:cNvPr id="20" name="Text 18"/>
          <p:cNvSpPr/>
          <p:nvPr/>
        </p:nvSpPr>
        <p:spPr>
          <a:xfrm>
            <a:off x="786384" y="4672974"/>
            <a:ext cx="2286000" cy="507543"/>
          </a:xfrm>
          <a:prstGeom prst="rect">
            <a:avLst/>
          </a:prstGeom>
          <a:noFill/>
          <a:ln/>
        </p:spPr>
        <p:txBody>
          <a:bodyPr wrap="square" lIns="0" tIns="0" rIns="0" bIns="0" rtlCol="0" anchor="ctr"/>
          <a:lstStyle/>
          <a:p>
            <a:pPr marL="0" indent="0">
              <a:buNone/>
            </a:pPr>
            <a:r>
              <a:rPr lang="en-US" sz="1500" b="1" dirty="0">
                <a:solidFill>
                  <a:srgbClr val="141414"/>
                </a:solidFill>
                <a:latin typeface="Arial" pitchFamily="34" charset="0"/>
                <a:ea typeface="Arial" pitchFamily="34" charset="-122"/>
                <a:cs typeface="Arial" pitchFamily="34" charset="-120"/>
              </a:rPr>
              <a:t>Boilerplate crowding</a:t>
            </a:r>
            <a:endParaRPr lang="en-US" sz="1500" dirty="0"/>
          </a:p>
        </p:txBody>
      </p:sp>
      <p:sp>
        <p:nvSpPr>
          <p:cNvPr id="21" name="Text 19"/>
          <p:cNvSpPr/>
          <p:nvPr/>
        </p:nvSpPr>
        <p:spPr>
          <a:xfrm>
            <a:off x="3209544" y="4672974"/>
            <a:ext cx="5029200" cy="507543"/>
          </a:xfrm>
          <a:prstGeom prst="rect">
            <a:avLst/>
          </a:prstGeom>
          <a:noFill/>
          <a:ln/>
        </p:spPr>
        <p:txBody>
          <a:bodyPr wrap="square" lIns="0" tIns="0" rIns="0" bIns="0" rtlCol="0" anchor="ctr"/>
          <a:lstStyle/>
          <a:p>
            <a:pPr marL="0" indent="0">
              <a:lnSpc>
                <a:spcPts val="1700"/>
              </a:lnSpc>
              <a:buNone/>
            </a:pPr>
            <a:r>
              <a:rPr lang="en-US" sz="1350" dirty="0">
                <a:solidFill>
                  <a:srgbClr val="6E6A63"/>
                </a:solidFill>
                <a:latin typeface="Arial" pitchFamily="34" charset="0"/>
                <a:ea typeface="Arial" pitchFamily="34" charset="-122"/>
                <a:cs typeface="Arial" pitchFamily="34" charset="-120"/>
              </a:rPr>
              <a:t>Navigation and footer chunks scored well enough to fill the top five</a:t>
            </a:r>
            <a:endParaRPr lang="en-US" sz="1350" dirty="0"/>
          </a:p>
        </p:txBody>
      </p:sp>
      <p:sp>
        <p:nvSpPr>
          <p:cNvPr id="22" name="Text 20"/>
          <p:cNvSpPr/>
          <p:nvPr/>
        </p:nvSpPr>
        <p:spPr>
          <a:xfrm>
            <a:off x="8421624" y="4672974"/>
            <a:ext cx="2983687" cy="507543"/>
          </a:xfrm>
          <a:prstGeom prst="rect">
            <a:avLst/>
          </a:prstGeom>
          <a:noFill/>
          <a:ln/>
        </p:spPr>
        <p:txBody>
          <a:bodyPr wrap="square" lIns="0" tIns="0" rIns="0" bIns="0" rtlCol="0" anchor="ctr"/>
          <a:lstStyle/>
          <a:p>
            <a:pPr marL="0" indent="0">
              <a:lnSpc>
                <a:spcPts val="1700"/>
              </a:lnSpc>
              <a:buNone/>
            </a:pPr>
            <a:r>
              <a:rPr lang="en-US" sz="1350" dirty="0">
                <a:solidFill>
                  <a:srgbClr val="C0402A"/>
                </a:solidFill>
                <a:latin typeface="Arial" pitchFamily="34" charset="0"/>
                <a:ea typeface="Arial" pitchFamily="34" charset="-122"/>
                <a:cs typeface="Arial" pitchFamily="34" charset="-120"/>
              </a:rPr>
              <a:t>Fix extraction, then deduplicate</a:t>
            </a:r>
            <a:endParaRPr lang="en-US" sz="1350" dirty="0"/>
          </a:p>
        </p:txBody>
      </p:sp>
      <p:sp>
        <p:nvSpPr>
          <p:cNvPr id="23" name="Text 21"/>
          <p:cNvSpPr/>
          <p:nvPr/>
        </p:nvSpPr>
        <p:spPr>
          <a:xfrm>
            <a:off x="786384" y="5424139"/>
            <a:ext cx="10087981" cy="812069"/>
          </a:xfrm>
          <a:prstGeom prst="rect">
            <a:avLst/>
          </a:prstGeom>
          <a:noFill/>
          <a:ln/>
        </p:spPr>
        <p:txBody>
          <a:bodyPr wrap="square" lIns="0" tIns="0" rIns="0" bIns="0" rtlCol="0" anchor="ctr"/>
          <a:lstStyle/>
          <a:p>
            <a:pPr marL="0" indent="0">
              <a:lnSpc>
                <a:spcPts val="2300"/>
              </a:lnSpc>
              <a:buNone/>
            </a:pPr>
            <a:r>
              <a:rPr lang="en-US" sz="1550" dirty="0">
                <a:solidFill>
                  <a:srgbClr val="141414"/>
                </a:solidFill>
                <a:latin typeface="Arial" pitchFamily="34" charset="0"/>
                <a:ea typeface="Arial" pitchFamily="34" charset="-122"/>
                <a:cs typeface="Arial" pitchFamily="34" charset="-120"/>
              </a:rPr>
              <a:t>If the answer was in the chunks and the reply was still wrong, none of these apply. That is a prompt problem, and the only case where changing the prompt is the correct response.</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Advanced Retrieval Techniques</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5" name="Text 3"/>
          <p:cNvSpPr/>
          <p:nvPr/>
        </p:nvSpPr>
        <p:spPr>
          <a:xfrm>
            <a:off x="10801807"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6E6A63"/>
                </a:solidFill>
                <a:latin typeface="Arial" pitchFamily="34" charset="0"/>
                <a:ea typeface="Arial" pitchFamily="34" charset="-122"/>
                <a:cs typeface="Arial" pitchFamily="34" charset="-120"/>
              </a:rPr>
              <a:t>LV2</a:t>
            </a:r>
            <a:endParaRPr lang="en-US" sz="1100" dirty="0"/>
          </a:p>
        </p:txBody>
      </p:sp>
      <p:sp>
        <p:nvSpPr>
          <p:cNvPr id="6" name="Shape 4"/>
          <p:cNvSpPr/>
          <p:nvPr/>
        </p:nvSpPr>
        <p:spPr>
          <a:xfrm>
            <a:off x="786384" y="1426464"/>
            <a:ext cx="10618927" cy="10973"/>
          </a:xfrm>
          <a:prstGeom prst="rect">
            <a:avLst/>
          </a:prstGeom>
          <a:solidFill>
            <a:srgbClr val="D5D1CA"/>
          </a:solidFill>
          <a:ln/>
        </p:spPr>
        <p:txBody>
          <a:bodyPr/>
          <a:lstStyle/>
          <a:p>
            <a:endParaRPr lang="en-HK"/>
          </a:p>
        </p:txBody>
      </p:sp>
      <p:sp>
        <p:nvSpPr>
          <p:cNvPr id="7" name="Text 5"/>
          <p:cNvSpPr/>
          <p:nvPr/>
        </p:nvSpPr>
        <p:spPr>
          <a:xfrm>
            <a:off x="786384" y="1554480"/>
            <a:ext cx="8821674" cy="694944"/>
          </a:xfrm>
          <a:prstGeom prst="rect">
            <a:avLst/>
          </a:prstGeom>
          <a:noFill/>
          <a:ln/>
        </p:spPr>
        <p:txBody>
          <a:bodyPr wrap="square" lIns="0" tIns="0" rIns="0" bIns="0" rtlCol="0" anchor="ctr"/>
          <a:lstStyle/>
          <a:p>
            <a:pPr marL="0" indent="0">
              <a:lnSpc>
                <a:spcPts val="2200"/>
              </a:lnSpc>
              <a:buNone/>
            </a:pPr>
            <a:r>
              <a:rPr lang="en-US" sz="1750" dirty="0">
                <a:solidFill>
                  <a:srgbClr val="6E6A63"/>
                </a:solidFill>
                <a:latin typeface="Arial" pitchFamily="34" charset="0"/>
                <a:ea typeface="Arial" pitchFamily="34" charset="-122"/>
                <a:cs typeface="Arial" pitchFamily="34" charset="-120"/>
              </a:rPr>
              <a:t>None of these are needed to score. Each is worth trying once the basics are working.</a:t>
            </a:r>
            <a:endParaRPr lang="en-US" sz="1750" dirty="0"/>
          </a:p>
        </p:txBody>
      </p:sp>
      <p:sp>
        <p:nvSpPr>
          <p:cNvPr id="8" name="Text 6"/>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19</a:t>
            </a:r>
            <a:endParaRPr lang="en-US" sz="1200" dirty="0"/>
          </a:p>
        </p:txBody>
      </p:sp>
      <p:sp>
        <p:nvSpPr>
          <p:cNvPr id="9" name="Shape 7"/>
          <p:cNvSpPr/>
          <p:nvPr/>
        </p:nvSpPr>
        <p:spPr>
          <a:xfrm>
            <a:off x="786384" y="2355901"/>
            <a:ext cx="5227168" cy="14431"/>
          </a:xfrm>
          <a:prstGeom prst="rect">
            <a:avLst/>
          </a:prstGeom>
          <a:solidFill>
            <a:srgbClr val="141414"/>
          </a:solidFill>
          <a:ln/>
        </p:spPr>
        <p:txBody>
          <a:bodyPr/>
          <a:lstStyle/>
          <a:p>
            <a:endParaRPr lang="en-HK"/>
          </a:p>
        </p:txBody>
      </p:sp>
      <p:sp>
        <p:nvSpPr>
          <p:cNvPr id="10" name="Text 8"/>
          <p:cNvSpPr/>
          <p:nvPr/>
        </p:nvSpPr>
        <p:spPr>
          <a:xfrm>
            <a:off x="786384" y="2484175"/>
            <a:ext cx="5227168" cy="301757"/>
          </a:xfrm>
          <a:prstGeom prst="rect">
            <a:avLst/>
          </a:prstGeom>
          <a:noFill/>
          <a:ln/>
        </p:spPr>
        <p:txBody>
          <a:bodyPr wrap="square" lIns="0" tIns="0" rIns="0" bIns="0" rtlCol="0" anchor="ctr"/>
          <a:lstStyle/>
          <a:p>
            <a:pPr marL="0" indent="0">
              <a:lnSpc>
                <a:spcPts val="2060"/>
              </a:lnSpc>
              <a:buNone/>
            </a:pPr>
            <a:r>
              <a:rPr lang="en-US" sz="1710" b="1" dirty="0">
                <a:solidFill>
                  <a:srgbClr val="141414"/>
                </a:solidFill>
                <a:latin typeface="Arial" pitchFamily="34" charset="0"/>
                <a:ea typeface="Arial" pitchFamily="34" charset="-122"/>
                <a:cs typeface="Arial" pitchFamily="34" charset="-120"/>
              </a:rPr>
              <a:t>Hybrid search</a:t>
            </a:r>
            <a:endParaRPr lang="en-US" sz="1710" dirty="0"/>
          </a:p>
        </p:txBody>
      </p:sp>
      <p:sp>
        <p:nvSpPr>
          <p:cNvPr id="11" name="Text 9"/>
          <p:cNvSpPr/>
          <p:nvPr/>
        </p:nvSpPr>
        <p:spPr>
          <a:xfrm>
            <a:off x="786384" y="2850070"/>
            <a:ext cx="5227168" cy="975422"/>
          </a:xfrm>
          <a:prstGeom prst="rect">
            <a:avLst/>
          </a:prstGeom>
          <a:noFill/>
          <a:ln/>
        </p:spPr>
        <p:txBody>
          <a:bodyPr wrap="square" lIns="0" tIns="0" rIns="0" bIns="0" rtlCol="0" anchor="t"/>
          <a:lstStyle/>
          <a:p>
            <a:pPr marL="0" indent="0">
              <a:lnSpc>
                <a:spcPts val="1841"/>
              </a:lnSpc>
              <a:buNone/>
            </a:pPr>
            <a:r>
              <a:rPr lang="en-US" sz="1227" dirty="0">
                <a:solidFill>
                  <a:srgbClr val="141414"/>
                </a:solidFill>
                <a:latin typeface="Arial" pitchFamily="34" charset="0"/>
                <a:ea typeface="Arial" pitchFamily="34" charset="-122"/>
                <a:cs typeface="Arial" pitchFamily="34" charset="-120"/>
              </a:rPr>
              <a:t>Dense vectors miss exact strings, which hurts on names and codes. Run BM25 alongside and fuse the rankings. On a corpus full of proper nouns this is usually the largest single gain.</a:t>
            </a:r>
            <a:endParaRPr lang="en-US" sz="1227" dirty="0"/>
          </a:p>
        </p:txBody>
      </p:sp>
      <p:sp>
        <p:nvSpPr>
          <p:cNvPr id="12" name="Shape 10"/>
          <p:cNvSpPr/>
          <p:nvPr/>
        </p:nvSpPr>
        <p:spPr>
          <a:xfrm>
            <a:off x="6178144" y="2355901"/>
            <a:ext cx="5227168" cy="14431"/>
          </a:xfrm>
          <a:prstGeom prst="rect">
            <a:avLst/>
          </a:prstGeom>
          <a:solidFill>
            <a:srgbClr val="141414"/>
          </a:solidFill>
          <a:ln/>
        </p:spPr>
        <p:txBody>
          <a:bodyPr/>
          <a:lstStyle/>
          <a:p>
            <a:endParaRPr lang="en-HK"/>
          </a:p>
        </p:txBody>
      </p:sp>
      <p:sp>
        <p:nvSpPr>
          <p:cNvPr id="13" name="Text 11"/>
          <p:cNvSpPr/>
          <p:nvPr/>
        </p:nvSpPr>
        <p:spPr>
          <a:xfrm>
            <a:off x="6178144" y="2484175"/>
            <a:ext cx="5227168" cy="301757"/>
          </a:xfrm>
          <a:prstGeom prst="rect">
            <a:avLst/>
          </a:prstGeom>
          <a:noFill/>
          <a:ln/>
        </p:spPr>
        <p:txBody>
          <a:bodyPr wrap="square" lIns="0" tIns="0" rIns="0" bIns="0" rtlCol="0" anchor="ctr"/>
          <a:lstStyle/>
          <a:p>
            <a:pPr marL="0" indent="0">
              <a:lnSpc>
                <a:spcPts val="2060"/>
              </a:lnSpc>
              <a:buNone/>
            </a:pPr>
            <a:r>
              <a:rPr lang="en-US" sz="1710" b="1" dirty="0">
                <a:solidFill>
                  <a:srgbClr val="141414"/>
                </a:solidFill>
                <a:latin typeface="Arial" pitchFamily="34" charset="0"/>
                <a:ea typeface="Arial" pitchFamily="34" charset="-122"/>
                <a:cs typeface="Arial" pitchFamily="34" charset="-120"/>
              </a:rPr>
              <a:t>Reranking</a:t>
            </a:r>
            <a:endParaRPr lang="en-US" sz="1710" dirty="0"/>
          </a:p>
        </p:txBody>
      </p:sp>
      <p:sp>
        <p:nvSpPr>
          <p:cNvPr id="14" name="Text 12"/>
          <p:cNvSpPr/>
          <p:nvPr/>
        </p:nvSpPr>
        <p:spPr>
          <a:xfrm>
            <a:off x="6178144" y="2850070"/>
            <a:ext cx="5227168" cy="741588"/>
          </a:xfrm>
          <a:prstGeom prst="rect">
            <a:avLst/>
          </a:prstGeom>
          <a:noFill/>
          <a:ln/>
        </p:spPr>
        <p:txBody>
          <a:bodyPr wrap="square" lIns="0" tIns="0" rIns="0" bIns="0" rtlCol="0" anchor="t"/>
          <a:lstStyle/>
          <a:p>
            <a:pPr marL="0" indent="0">
              <a:lnSpc>
                <a:spcPts val="1841"/>
              </a:lnSpc>
              <a:buNone/>
            </a:pPr>
            <a:r>
              <a:rPr lang="en-US" sz="1227" dirty="0">
                <a:solidFill>
                  <a:srgbClr val="141414"/>
                </a:solidFill>
                <a:latin typeface="Arial" pitchFamily="34" charset="0"/>
                <a:ea typeface="Arial" pitchFamily="34" charset="-122"/>
                <a:cs typeface="Arial" pitchFamily="34" charset="-120"/>
              </a:rPr>
              <a:t>Retrieve 30 to 50 with the fast retriever, then score each query-and-chunk pair properly with a cross-encoder and keep 5. Runs locally, so it is permitted.</a:t>
            </a:r>
            <a:endParaRPr lang="en-US" sz="1227" dirty="0"/>
          </a:p>
        </p:txBody>
      </p:sp>
      <p:sp>
        <p:nvSpPr>
          <p:cNvPr id="15" name="Shape 13"/>
          <p:cNvSpPr/>
          <p:nvPr/>
        </p:nvSpPr>
        <p:spPr>
          <a:xfrm>
            <a:off x="786384" y="3879162"/>
            <a:ext cx="5227168" cy="14431"/>
          </a:xfrm>
          <a:prstGeom prst="rect">
            <a:avLst/>
          </a:prstGeom>
          <a:solidFill>
            <a:srgbClr val="141414"/>
          </a:solidFill>
          <a:ln/>
        </p:spPr>
        <p:txBody>
          <a:bodyPr/>
          <a:lstStyle/>
          <a:p>
            <a:endParaRPr lang="en-HK"/>
          </a:p>
        </p:txBody>
      </p:sp>
      <p:sp>
        <p:nvSpPr>
          <p:cNvPr id="16" name="Text 14"/>
          <p:cNvSpPr/>
          <p:nvPr/>
        </p:nvSpPr>
        <p:spPr>
          <a:xfrm>
            <a:off x="786384" y="4007437"/>
            <a:ext cx="5227168" cy="301757"/>
          </a:xfrm>
          <a:prstGeom prst="rect">
            <a:avLst/>
          </a:prstGeom>
          <a:noFill/>
          <a:ln/>
        </p:spPr>
        <p:txBody>
          <a:bodyPr wrap="square" lIns="0" tIns="0" rIns="0" bIns="0" rtlCol="0" anchor="ctr"/>
          <a:lstStyle/>
          <a:p>
            <a:pPr marL="0" indent="0">
              <a:lnSpc>
                <a:spcPts val="2060"/>
              </a:lnSpc>
              <a:buNone/>
            </a:pPr>
            <a:r>
              <a:rPr lang="en-US" sz="1710" b="1" dirty="0">
                <a:solidFill>
                  <a:srgbClr val="141414"/>
                </a:solidFill>
                <a:latin typeface="Arial" pitchFamily="34" charset="0"/>
                <a:ea typeface="Arial" pitchFamily="34" charset="-122"/>
                <a:cs typeface="Arial" pitchFamily="34" charset="-120"/>
              </a:rPr>
              <a:t>Query rewriting and HyDE</a:t>
            </a:r>
            <a:endParaRPr lang="en-US" sz="1710" dirty="0"/>
          </a:p>
        </p:txBody>
      </p:sp>
      <p:sp>
        <p:nvSpPr>
          <p:cNvPr id="17" name="Text 15"/>
          <p:cNvSpPr/>
          <p:nvPr/>
        </p:nvSpPr>
        <p:spPr>
          <a:xfrm>
            <a:off x="786384" y="4373331"/>
            <a:ext cx="5227168" cy="741588"/>
          </a:xfrm>
          <a:prstGeom prst="rect">
            <a:avLst/>
          </a:prstGeom>
          <a:noFill/>
          <a:ln/>
        </p:spPr>
        <p:txBody>
          <a:bodyPr wrap="square" lIns="0" tIns="0" rIns="0" bIns="0" rtlCol="0" anchor="t"/>
          <a:lstStyle/>
          <a:p>
            <a:pPr marL="0" indent="0">
              <a:lnSpc>
                <a:spcPts val="1841"/>
              </a:lnSpc>
              <a:buNone/>
            </a:pPr>
            <a:r>
              <a:rPr lang="en-US" sz="1227" dirty="0">
                <a:solidFill>
                  <a:srgbClr val="141414"/>
                </a:solidFill>
                <a:latin typeface="Arial" pitchFamily="34" charset="0"/>
                <a:ea typeface="Arial" pitchFamily="34" charset="-122"/>
                <a:cs typeface="Arial" pitchFamily="34" charset="-120"/>
              </a:rPr>
              <a:t>Expand abbreviations before searching. Or generate a hypothetical answer and search with that, since passages resemble answers more than they resemble questions.</a:t>
            </a:r>
            <a:endParaRPr lang="en-US" sz="1227" dirty="0"/>
          </a:p>
        </p:txBody>
      </p:sp>
      <p:sp>
        <p:nvSpPr>
          <p:cNvPr id="18" name="Shape 16"/>
          <p:cNvSpPr/>
          <p:nvPr/>
        </p:nvSpPr>
        <p:spPr>
          <a:xfrm>
            <a:off x="6178144" y="3879162"/>
            <a:ext cx="5227168" cy="14431"/>
          </a:xfrm>
          <a:prstGeom prst="rect">
            <a:avLst/>
          </a:prstGeom>
          <a:solidFill>
            <a:srgbClr val="141414"/>
          </a:solidFill>
          <a:ln/>
        </p:spPr>
        <p:txBody>
          <a:bodyPr/>
          <a:lstStyle/>
          <a:p>
            <a:endParaRPr lang="en-HK"/>
          </a:p>
        </p:txBody>
      </p:sp>
      <p:sp>
        <p:nvSpPr>
          <p:cNvPr id="19" name="Text 17"/>
          <p:cNvSpPr/>
          <p:nvPr/>
        </p:nvSpPr>
        <p:spPr>
          <a:xfrm>
            <a:off x="6178144" y="4007437"/>
            <a:ext cx="5227168" cy="301757"/>
          </a:xfrm>
          <a:prstGeom prst="rect">
            <a:avLst/>
          </a:prstGeom>
          <a:noFill/>
          <a:ln/>
        </p:spPr>
        <p:txBody>
          <a:bodyPr wrap="square" lIns="0" tIns="0" rIns="0" bIns="0" rtlCol="0" anchor="ctr"/>
          <a:lstStyle/>
          <a:p>
            <a:pPr marL="0" indent="0">
              <a:lnSpc>
                <a:spcPts val="2060"/>
              </a:lnSpc>
              <a:buNone/>
            </a:pPr>
            <a:r>
              <a:rPr lang="en-US" sz="1710" b="1" dirty="0">
                <a:solidFill>
                  <a:srgbClr val="141414"/>
                </a:solidFill>
                <a:latin typeface="Arial" pitchFamily="34" charset="0"/>
                <a:ea typeface="Arial" pitchFamily="34" charset="-122"/>
                <a:cs typeface="Arial" pitchFamily="34" charset="-120"/>
              </a:rPr>
              <a:t>Metadata filtering</a:t>
            </a:r>
            <a:endParaRPr lang="en-US" sz="1710" dirty="0"/>
          </a:p>
        </p:txBody>
      </p:sp>
      <p:sp>
        <p:nvSpPr>
          <p:cNvPr id="20" name="Text 18"/>
          <p:cNvSpPr/>
          <p:nvPr/>
        </p:nvSpPr>
        <p:spPr>
          <a:xfrm>
            <a:off x="6178144" y="4373331"/>
            <a:ext cx="5227168" cy="507754"/>
          </a:xfrm>
          <a:prstGeom prst="rect">
            <a:avLst/>
          </a:prstGeom>
          <a:noFill/>
          <a:ln/>
        </p:spPr>
        <p:txBody>
          <a:bodyPr wrap="square" lIns="0" tIns="0" rIns="0" bIns="0" rtlCol="0" anchor="t"/>
          <a:lstStyle/>
          <a:p>
            <a:pPr marL="0" indent="0">
              <a:lnSpc>
                <a:spcPts val="1841"/>
              </a:lnSpc>
              <a:buNone/>
            </a:pPr>
            <a:r>
              <a:rPr lang="en-US" sz="1227" dirty="0">
                <a:solidFill>
                  <a:srgbClr val="141414"/>
                </a:solidFill>
                <a:latin typeface="Arial" pitchFamily="34" charset="0"/>
                <a:ea typeface="Arial" pitchFamily="34" charset="-122"/>
                <a:cs typeface="Arial" pitchFamily="34" charset="-120"/>
              </a:rPr>
              <a:t>Narrow the search space before similarity is computed. Essential for Level 4, so build the metadata now.</a:t>
            </a:r>
            <a:endParaRPr lang="en-US" sz="1227" dirty="0"/>
          </a:p>
        </p:txBody>
      </p:sp>
      <p:sp>
        <p:nvSpPr>
          <p:cNvPr id="21" name="Shape 19"/>
          <p:cNvSpPr/>
          <p:nvPr/>
        </p:nvSpPr>
        <p:spPr>
          <a:xfrm>
            <a:off x="786384" y="5418457"/>
            <a:ext cx="10618927" cy="9621"/>
          </a:xfrm>
          <a:prstGeom prst="rect">
            <a:avLst/>
          </a:prstGeom>
          <a:solidFill>
            <a:srgbClr val="D5D1CA"/>
          </a:solidFill>
          <a:ln/>
        </p:spPr>
        <p:txBody>
          <a:bodyPr/>
          <a:lstStyle/>
          <a:p>
            <a:endParaRPr lang="en-HK"/>
          </a:p>
        </p:txBody>
      </p:sp>
      <p:sp>
        <p:nvSpPr>
          <p:cNvPr id="22" name="Text 20"/>
          <p:cNvSpPr/>
          <p:nvPr/>
        </p:nvSpPr>
        <p:spPr>
          <a:xfrm>
            <a:off x="786384" y="5530698"/>
            <a:ext cx="10618927" cy="705510"/>
          </a:xfrm>
          <a:prstGeom prst="rect">
            <a:avLst/>
          </a:prstGeom>
          <a:noFill/>
          <a:ln/>
        </p:spPr>
        <p:txBody>
          <a:bodyPr wrap="square" lIns="0" tIns="0" rIns="0" bIns="0" rtlCol="0" anchor="ctr"/>
          <a:lstStyle/>
          <a:p>
            <a:pPr marL="0" indent="0">
              <a:lnSpc>
                <a:spcPts val="1578"/>
              </a:lnSpc>
              <a:buNone/>
            </a:pPr>
            <a:r>
              <a:rPr lang="en-US" sz="1096" dirty="0">
                <a:solidFill>
                  <a:srgbClr val="827D75"/>
                </a:solidFill>
                <a:latin typeface="Arial" pitchFamily="34" charset="0"/>
                <a:ea typeface="Arial" pitchFamily="34" charset="-122"/>
                <a:cs typeface="Arial" pitchFamily="34" charset="-120"/>
              </a:rPr>
              <a:t>Hybrid: Robertson &amp; Zaragoza (2009), BM25 and Beyond</a:t>
            </a:r>
            <a:endParaRPr lang="en-US" sz="1096" dirty="0"/>
          </a:p>
          <a:p>
            <a:pPr marL="0" indent="0">
              <a:lnSpc>
                <a:spcPts val="1578"/>
              </a:lnSpc>
              <a:buNone/>
            </a:pPr>
            <a:r>
              <a:rPr lang="en-US" sz="1096" dirty="0">
                <a:solidFill>
                  <a:srgbClr val="827D75"/>
                </a:solidFill>
                <a:latin typeface="Arial" pitchFamily="34" charset="0"/>
                <a:ea typeface="Arial" pitchFamily="34" charset="-122"/>
                <a:cs typeface="Arial" pitchFamily="34" charset="-120"/>
              </a:rPr>
              <a:t>Cormack et al. (2009), Reciprocal Rank Fusion, SIGIR: cormack.uwaterloo.ca/cormacksigir09-rrf.pdf</a:t>
            </a:r>
            <a:endParaRPr lang="en-US" sz="1096" dirty="0"/>
          </a:p>
          <a:p>
            <a:pPr marL="0" indent="0">
              <a:lnSpc>
                <a:spcPts val="1578"/>
              </a:lnSpc>
              <a:buNone/>
            </a:pPr>
            <a:r>
              <a:rPr lang="en-US" sz="1096" dirty="0">
                <a:solidFill>
                  <a:srgbClr val="827D75"/>
                </a:solidFill>
                <a:latin typeface="Arial" pitchFamily="34" charset="0"/>
                <a:ea typeface="Arial" pitchFamily="34" charset="-122"/>
                <a:cs typeface="Arial" pitchFamily="34" charset="-120"/>
              </a:rPr>
              <a:t>Reranking: sbert.net/examples/applications/cross-encoder    HyDE: Gao et al. (2022), arxiv.org/abs/2212.10496</a:t>
            </a:r>
            <a:endParaRPr lang="en-US" sz="1096"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21212"/>
        </a:solidFill>
        <a:effectLst/>
      </p:bgPr>
    </p:bg>
    <p:spTree>
      <p:nvGrpSpPr>
        <p:cNvPr id="1" name=""/>
        <p:cNvGrpSpPr/>
        <p:nvPr/>
      </p:nvGrpSpPr>
      <p:grpSpPr>
        <a:xfrm>
          <a:off x="0" y="0"/>
          <a:ext cx="0" cy="0"/>
          <a:chOff x="0" y="0"/>
          <a:chExt cx="0" cy="0"/>
        </a:xfrm>
      </p:grpSpPr>
      <p:sp>
        <p:nvSpPr>
          <p:cNvPr id="2" name="Text 0"/>
          <p:cNvSpPr/>
          <p:nvPr/>
        </p:nvSpPr>
        <p:spPr>
          <a:xfrm>
            <a:off x="8899855" y="960120"/>
            <a:ext cx="3017520" cy="3200400"/>
          </a:xfrm>
          <a:prstGeom prst="rect">
            <a:avLst/>
          </a:prstGeom>
          <a:noFill/>
          <a:ln/>
        </p:spPr>
        <p:txBody>
          <a:bodyPr wrap="square" lIns="0" tIns="0" rIns="0" bIns="0" rtlCol="0" anchor="ctr"/>
          <a:lstStyle/>
          <a:p>
            <a:pPr marL="0" indent="0" algn="r">
              <a:buNone/>
            </a:pPr>
            <a:r>
              <a:rPr lang="en-US" sz="9600" b="1" dirty="0">
                <a:solidFill>
                  <a:srgbClr val="3D3934"/>
                </a:solidFill>
                <a:latin typeface="Arial" pitchFamily="34" charset="0"/>
                <a:ea typeface="Arial" pitchFamily="34" charset="-122"/>
                <a:cs typeface="Arial" pitchFamily="34" charset="-120"/>
              </a:rPr>
              <a:t>4</a:t>
            </a:r>
            <a:endParaRPr lang="en-US" sz="9600" dirty="0"/>
          </a:p>
        </p:txBody>
      </p:sp>
      <p:sp>
        <p:nvSpPr>
          <p:cNvPr id="3" name="Text 1"/>
          <p:cNvSpPr/>
          <p:nvPr/>
        </p:nvSpPr>
        <p:spPr>
          <a:xfrm>
            <a:off x="786384" y="1975104"/>
            <a:ext cx="10618927" cy="274320"/>
          </a:xfrm>
          <a:prstGeom prst="rect">
            <a:avLst/>
          </a:prstGeom>
          <a:noFill/>
          <a:ln/>
        </p:spPr>
        <p:txBody>
          <a:bodyPr wrap="square" lIns="0" tIns="0" rIns="0" bIns="0" rtlCol="0" anchor="ctr"/>
          <a:lstStyle/>
          <a:p>
            <a:pPr marL="0" indent="0">
              <a:buNone/>
            </a:pPr>
            <a:r>
              <a:rPr lang="en-US" sz="1200" b="1" kern="0" spc="260" dirty="0">
                <a:solidFill>
                  <a:srgbClr val="C0402A"/>
                </a:solidFill>
                <a:latin typeface="Arial" pitchFamily="34" charset="0"/>
                <a:ea typeface="Arial" pitchFamily="34" charset="-122"/>
                <a:cs typeface="Arial" pitchFamily="34" charset="-120"/>
              </a:rPr>
              <a:t>BLOCK 4</a:t>
            </a:r>
            <a:endParaRPr lang="en-US" sz="1200" dirty="0"/>
          </a:p>
        </p:txBody>
      </p:sp>
      <p:sp>
        <p:nvSpPr>
          <p:cNvPr id="4" name="Shape 2"/>
          <p:cNvSpPr/>
          <p:nvPr/>
        </p:nvSpPr>
        <p:spPr>
          <a:xfrm>
            <a:off x="786384" y="2377440"/>
            <a:ext cx="1371600" cy="20117"/>
          </a:xfrm>
          <a:prstGeom prst="rect">
            <a:avLst/>
          </a:prstGeom>
          <a:solidFill>
            <a:srgbClr val="C0402A"/>
          </a:solidFill>
          <a:ln/>
        </p:spPr>
        <p:txBody>
          <a:bodyPr/>
          <a:lstStyle/>
          <a:p>
            <a:endParaRPr lang="en-HK"/>
          </a:p>
        </p:txBody>
      </p:sp>
      <p:sp>
        <p:nvSpPr>
          <p:cNvPr id="5" name="Text 3"/>
          <p:cNvSpPr/>
          <p:nvPr/>
        </p:nvSpPr>
        <p:spPr>
          <a:xfrm>
            <a:off x="786384" y="2596896"/>
            <a:ext cx="7024421" cy="1188720"/>
          </a:xfrm>
          <a:prstGeom prst="rect">
            <a:avLst/>
          </a:prstGeom>
          <a:noFill/>
          <a:ln/>
        </p:spPr>
        <p:txBody>
          <a:bodyPr wrap="square" lIns="0" tIns="0" rIns="0" bIns="0" rtlCol="0" anchor="ctr"/>
          <a:lstStyle/>
          <a:p>
            <a:pPr marL="0" indent="0">
              <a:lnSpc>
                <a:spcPts val="4000"/>
              </a:lnSpc>
              <a:buNone/>
            </a:pPr>
            <a:r>
              <a:rPr lang="en-US" sz="3600" b="1" dirty="0">
                <a:solidFill>
                  <a:srgbClr val="FAF8F5"/>
                </a:solidFill>
                <a:latin typeface="Arial" pitchFamily="34" charset="0"/>
                <a:ea typeface="Arial" pitchFamily="34" charset="-122"/>
                <a:cs typeface="Arial" pitchFamily="34" charset="-120"/>
              </a:rPr>
              <a:t>Building the Index</a:t>
            </a:r>
            <a:endParaRPr lang="en-US" sz="3600" dirty="0"/>
          </a:p>
        </p:txBody>
      </p:sp>
      <p:sp>
        <p:nvSpPr>
          <p:cNvPr id="6" name="Text 4"/>
          <p:cNvSpPr/>
          <p:nvPr/>
        </p:nvSpPr>
        <p:spPr>
          <a:xfrm>
            <a:off x="786384" y="3895344"/>
            <a:ext cx="6125794" cy="822960"/>
          </a:xfrm>
          <a:prstGeom prst="rect">
            <a:avLst/>
          </a:prstGeom>
          <a:noFill/>
          <a:ln/>
        </p:spPr>
        <p:txBody>
          <a:bodyPr wrap="square" lIns="0" tIns="0" rIns="0" bIns="0" rtlCol="0" anchor="ctr"/>
          <a:lstStyle/>
          <a:p>
            <a:pPr marL="0" indent="0">
              <a:lnSpc>
                <a:spcPts val="2300"/>
              </a:lnSpc>
              <a:buNone/>
            </a:pPr>
            <a:r>
              <a:rPr lang="en-US" sz="1750" dirty="0">
                <a:solidFill>
                  <a:srgbClr val="A8A39B"/>
                </a:solidFill>
                <a:latin typeface="Arial" pitchFamily="34" charset="0"/>
                <a:ea typeface="Arial" pitchFamily="34" charset="-122"/>
                <a:cs typeface="Arial" pitchFamily="34" charset="-120"/>
              </a:rPr>
              <a:t>Crawl, extract, chunk, embed. This step decides what retrieval is able to find later.</a:t>
            </a:r>
            <a:endParaRPr lang="en-US" sz="1750" dirty="0"/>
          </a:p>
        </p:txBody>
      </p:sp>
      <p:sp>
        <p:nvSpPr>
          <p:cNvPr id="7" name="Text 5"/>
          <p:cNvSpPr/>
          <p:nvPr/>
        </p:nvSpPr>
        <p:spPr>
          <a:xfrm>
            <a:off x="9210751" y="5358384"/>
            <a:ext cx="2194560" cy="310896"/>
          </a:xfrm>
          <a:prstGeom prst="rect">
            <a:avLst/>
          </a:prstGeom>
          <a:noFill/>
          <a:ln/>
        </p:spPr>
        <p:txBody>
          <a:bodyPr wrap="square" lIns="0" tIns="0" rIns="0" bIns="0" rtlCol="0" anchor="ctr"/>
          <a:lstStyle/>
          <a:p>
            <a:pPr marL="0" indent="0" algn="r">
              <a:buNone/>
            </a:pPr>
            <a:r>
              <a:rPr lang="en-US" sz="1450" b="1" kern="0" spc="180" dirty="0">
                <a:solidFill>
                  <a:srgbClr val="C0402A"/>
                </a:solidFill>
                <a:latin typeface="Arial" pitchFamily="34" charset="0"/>
                <a:ea typeface="Arial" pitchFamily="34" charset="-122"/>
                <a:cs typeface="Arial" pitchFamily="34" charset="-120"/>
              </a:rPr>
              <a:t>15 MIN</a:t>
            </a:r>
            <a:endParaRPr lang="en-US" sz="1450" dirty="0"/>
          </a:p>
        </p:txBody>
      </p:sp>
      <p:sp>
        <p:nvSpPr>
          <p:cNvPr id="8" name="Shape 6"/>
          <p:cNvSpPr/>
          <p:nvPr/>
        </p:nvSpPr>
        <p:spPr>
          <a:xfrm>
            <a:off x="786384" y="5358384"/>
            <a:ext cx="585216" cy="292608"/>
          </a:xfrm>
          <a:prstGeom prst="rect">
            <a:avLst/>
          </a:prstGeom>
          <a:solidFill>
            <a:srgbClr val="121212"/>
          </a:solidFill>
          <a:ln w="9525">
            <a:solidFill>
              <a:srgbClr val="45423E"/>
            </a:solidFill>
            <a:prstDash val="solid"/>
          </a:ln>
        </p:spPr>
        <p:txBody>
          <a:bodyPr/>
          <a:lstStyle/>
          <a:p>
            <a:endParaRPr lang="en-HK"/>
          </a:p>
        </p:txBody>
      </p:sp>
      <p:sp>
        <p:nvSpPr>
          <p:cNvPr id="9" name="Text 7"/>
          <p:cNvSpPr/>
          <p:nvPr/>
        </p:nvSpPr>
        <p:spPr>
          <a:xfrm>
            <a:off x="786384" y="5358384"/>
            <a:ext cx="585216" cy="292608"/>
          </a:xfrm>
          <a:prstGeom prst="rect">
            <a:avLst/>
          </a:prstGeom>
          <a:noFill/>
          <a:ln/>
        </p:spPr>
        <p:txBody>
          <a:bodyPr wrap="square" lIns="0" tIns="0" rIns="0" bIns="0" rtlCol="0" anchor="ctr"/>
          <a:lstStyle/>
          <a:p>
            <a:pPr marL="0" indent="0" algn="ctr">
              <a:buNone/>
            </a:pPr>
            <a:r>
              <a:rPr lang="en-US" sz="1100" b="1" kern="0" spc="60" dirty="0">
                <a:solidFill>
                  <a:srgbClr val="B5B0A8"/>
                </a:solidFill>
                <a:latin typeface="Arial" pitchFamily="34" charset="0"/>
                <a:ea typeface="Arial" pitchFamily="34" charset="-122"/>
                <a:cs typeface="Arial" pitchFamily="34" charset="-120"/>
              </a:rPr>
              <a:t>LV2</a:t>
            </a:r>
            <a:endParaRPr lang="en-US" sz="1100" dirty="0"/>
          </a:p>
        </p:txBody>
      </p:sp>
      <p:sp>
        <p:nvSpPr>
          <p:cNvPr id="10" name="Text 8"/>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56534E"/>
                </a:solidFill>
                <a:latin typeface="Arial" pitchFamily="34" charset="0"/>
                <a:ea typeface="Arial" pitchFamily="34" charset="-122"/>
                <a:cs typeface="Arial"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Where Block 4 Fits</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5" name="Text 3"/>
          <p:cNvSpPr/>
          <p:nvPr/>
        </p:nvSpPr>
        <p:spPr>
          <a:xfrm>
            <a:off x="10801807"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6E6A63"/>
                </a:solidFill>
                <a:latin typeface="Arial" pitchFamily="34" charset="0"/>
                <a:ea typeface="Arial" pitchFamily="34" charset="-122"/>
                <a:cs typeface="Arial" pitchFamily="34" charset="-120"/>
              </a:rPr>
              <a:t>LV2</a:t>
            </a:r>
            <a:endParaRPr lang="en-US" sz="1100" dirty="0"/>
          </a:p>
        </p:txBody>
      </p:sp>
      <p:sp>
        <p:nvSpPr>
          <p:cNvPr id="6" name="Shape 4"/>
          <p:cNvSpPr/>
          <p:nvPr/>
        </p:nvSpPr>
        <p:spPr>
          <a:xfrm>
            <a:off x="786384" y="1426464"/>
            <a:ext cx="10618927" cy="10973"/>
          </a:xfrm>
          <a:prstGeom prst="rect">
            <a:avLst/>
          </a:prstGeom>
          <a:solidFill>
            <a:srgbClr val="D5D1CA"/>
          </a:solidFill>
          <a:ln/>
        </p:spPr>
        <p:txBody>
          <a:bodyPr/>
          <a:lstStyle/>
          <a:p>
            <a:endParaRPr lang="en-HK"/>
          </a:p>
        </p:txBody>
      </p:sp>
      <p:sp>
        <p:nvSpPr>
          <p:cNvPr id="7" name="Text 5"/>
          <p:cNvSpPr/>
          <p:nvPr/>
        </p:nvSpPr>
        <p:spPr>
          <a:xfrm>
            <a:off x="786384" y="1554480"/>
            <a:ext cx="8821674" cy="694944"/>
          </a:xfrm>
          <a:prstGeom prst="rect">
            <a:avLst/>
          </a:prstGeom>
          <a:noFill/>
          <a:ln/>
        </p:spPr>
        <p:txBody>
          <a:bodyPr wrap="square" lIns="0" tIns="0" rIns="0" bIns="0" rtlCol="0" anchor="ctr"/>
          <a:lstStyle/>
          <a:p>
            <a:pPr marL="0" indent="0">
              <a:lnSpc>
                <a:spcPts val="2200"/>
              </a:lnSpc>
              <a:buNone/>
            </a:pPr>
            <a:r>
              <a:rPr lang="en-US" sz="1750" dirty="0">
                <a:solidFill>
                  <a:srgbClr val="6E6A63"/>
                </a:solidFill>
                <a:latin typeface="Arial" pitchFamily="34" charset="0"/>
                <a:ea typeface="Arial" pitchFamily="34" charset="-122"/>
                <a:cs typeface="Arial" pitchFamily="34" charset="-120"/>
              </a:rPr>
              <a:t>Three blocks in. Here is the arc so far, and what today actually builds.</a:t>
            </a:r>
            <a:endParaRPr lang="en-US" sz="1750" dirty="0"/>
          </a:p>
        </p:txBody>
      </p:sp>
      <p:sp>
        <p:nvSpPr>
          <p:cNvPr id="8" name="Text 6"/>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21</a:t>
            </a:r>
            <a:endParaRPr lang="en-US" sz="1200" dirty="0"/>
          </a:p>
        </p:txBody>
      </p:sp>
      <p:sp>
        <p:nvSpPr>
          <p:cNvPr id="9" name="Shape 7"/>
          <p:cNvSpPr/>
          <p:nvPr/>
        </p:nvSpPr>
        <p:spPr>
          <a:xfrm>
            <a:off x="786384" y="2509105"/>
            <a:ext cx="365760" cy="386228"/>
          </a:xfrm>
          <a:prstGeom prst="rect">
            <a:avLst/>
          </a:prstGeom>
          <a:solidFill>
            <a:srgbClr val="F0EDE8"/>
          </a:solidFill>
          <a:ln/>
        </p:spPr>
        <p:txBody>
          <a:bodyPr/>
          <a:lstStyle/>
          <a:p>
            <a:endParaRPr lang="en-HK"/>
          </a:p>
        </p:txBody>
      </p:sp>
      <p:sp>
        <p:nvSpPr>
          <p:cNvPr id="10" name="Text 8"/>
          <p:cNvSpPr/>
          <p:nvPr/>
        </p:nvSpPr>
        <p:spPr>
          <a:xfrm>
            <a:off x="786384" y="2509105"/>
            <a:ext cx="365760" cy="386228"/>
          </a:xfrm>
          <a:prstGeom prst="rect">
            <a:avLst/>
          </a:prstGeom>
          <a:noFill/>
          <a:ln/>
        </p:spPr>
        <p:txBody>
          <a:bodyPr wrap="square" lIns="0" tIns="0" rIns="0" bIns="0" rtlCol="0" anchor="ctr"/>
          <a:lstStyle/>
          <a:p>
            <a:pPr marL="0" indent="0" algn="ctr">
              <a:buNone/>
            </a:pPr>
            <a:r>
              <a:rPr lang="en-US" sz="1500" b="1" dirty="0">
                <a:solidFill>
                  <a:srgbClr val="C0402A"/>
                </a:solidFill>
                <a:latin typeface="Arial" pitchFamily="34" charset="0"/>
                <a:ea typeface="Arial" pitchFamily="34" charset="-122"/>
                <a:cs typeface="Arial" pitchFamily="34" charset="-120"/>
              </a:rPr>
              <a:t>1</a:t>
            </a:r>
            <a:endParaRPr lang="en-US" sz="1500" dirty="0"/>
          </a:p>
        </p:txBody>
      </p:sp>
      <p:sp>
        <p:nvSpPr>
          <p:cNvPr id="11" name="Text 9"/>
          <p:cNvSpPr/>
          <p:nvPr/>
        </p:nvSpPr>
        <p:spPr>
          <a:xfrm>
            <a:off x="1298448" y="2489793"/>
            <a:ext cx="2011680" cy="386228"/>
          </a:xfrm>
          <a:prstGeom prst="rect">
            <a:avLst/>
          </a:prstGeom>
          <a:noFill/>
          <a:ln/>
        </p:spPr>
        <p:txBody>
          <a:bodyPr wrap="square" lIns="0" tIns="0" rIns="0" bIns="0" rtlCol="0" anchor="ctr"/>
          <a:lstStyle/>
          <a:p>
            <a:pPr marL="0" indent="0">
              <a:buNone/>
            </a:pPr>
            <a:r>
              <a:rPr lang="en-US" sz="1600" b="1" dirty="0">
                <a:solidFill>
                  <a:srgbClr val="141414"/>
                </a:solidFill>
                <a:latin typeface="Arial" pitchFamily="34" charset="0"/>
                <a:ea typeface="Arial" pitchFamily="34" charset="-122"/>
                <a:cs typeface="Arial" pitchFamily="34" charset="-120"/>
              </a:rPr>
              <a:t>Block 2</a:t>
            </a:r>
            <a:endParaRPr lang="en-US" sz="1600" dirty="0"/>
          </a:p>
        </p:txBody>
      </p:sp>
      <p:sp>
        <p:nvSpPr>
          <p:cNvPr id="12" name="Text 10"/>
          <p:cNvSpPr/>
          <p:nvPr/>
        </p:nvSpPr>
        <p:spPr>
          <a:xfrm>
            <a:off x="3438144" y="2470482"/>
            <a:ext cx="7967167" cy="675900"/>
          </a:xfrm>
          <a:prstGeom prst="rect">
            <a:avLst/>
          </a:prstGeom>
          <a:noFill/>
          <a:ln/>
        </p:spPr>
        <p:txBody>
          <a:bodyPr wrap="square" lIns="0" tIns="0" rIns="0" bIns="0" rtlCol="0" anchor="ctr"/>
          <a:lstStyle/>
          <a:p>
            <a:pPr marL="0" indent="0">
              <a:lnSpc>
                <a:spcPts val="2100"/>
              </a:lnSpc>
              <a:buNone/>
            </a:pPr>
            <a:r>
              <a:rPr lang="en-US" sz="1500" dirty="0">
                <a:solidFill>
                  <a:srgbClr val="141414"/>
                </a:solidFill>
                <a:latin typeface="Arial" pitchFamily="34" charset="0"/>
                <a:ea typeface="Arial" pitchFamily="34" charset="-122"/>
                <a:cs typeface="Arial" pitchFamily="34" charset="-120"/>
              </a:rPr>
              <a:t>A model on its own cannot answer questions about Inno Wing. It was never trained on either website.</a:t>
            </a:r>
            <a:endParaRPr lang="en-US" sz="1500" dirty="0"/>
          </a:p>
        </p:txBody>
      </p:sp>
      <p:sp>
        <p:nvSpPr>
          <p:cNvPr id="13" name="Shape 11"/>
          <p:cNvSpPr/>
          <p:nvPr/>
        </p:nvSpPr>
        <p:spPr>
          <a:xfrm>
            <a:off x="786384" y="3397430"/>
            <a:ext cx="365760" cy="386228"/>
          </a:xfrm>
          <a:prstGeom prst="rect">
            <a:avLst/>
          </a:prstGeom>
          <a:solidFill>
            <a:srgbClr val="F0EDE8"/>
          </a:solidFill>
          <a:ln/>
        </p:spPr>
        <p:txBody>
          <a:bodyPr/>
          <a:lstStyle/>
          <a:p>
            <a:endParaRPr lang="en-HK"/>
          </a:p>
        </p:txBody>
      </p:sp>
      <p:sp>
        <p:nvSpPr>
          <p:cNvPr id="14" name="Text 12"/>
          <p:cNvSpPr/>
          <p:nvPr/>
        </p:nvSpPr>
        <p:spPr>
          <a:xfrm>
            <a:off x="786384" y="3397430"/>
            <a:ext cx="365760" cy="386228"/>
          </a:xfrm>
          <a:prstGeom prst="rect">
            <a:avLst/>
          </a:prstGeom>
          <a:noFill/>
          <a:ln/>
        </p:spPr>
        <p:txBody>
          <a:bodyPr wrap="square" lIns="0" tIns="0" rIns="0" bIns="0" rtlCol="0" anchor="ctr"/>
          <a:lstStyle/>
          <a:p>
            <a:pPr marL="0" indent="0" algn="ctr">
              <a:buNone/>
            </a:pPr>
            <a:r>
              <a:rPr lang="en-US" sz="1500" b="1" dirty="0">
                <a:solidFill>
                  <a:srgbClr val="C0402A"/>
                </a:solidFill>
                <a:latin typeface="Arial" pitchFamily="34" charset="0"/>
                <a:ea typeface="Arial" pitchFamily="34" charset="-122"/>
                <a:cs typeface="Arial" pitchFamily="34" charset="-120"/>
              </a:rPr>
              <a:t>2</a:t>
            </a:r>
            <a:endParaRPr lang="en-US" sz="1500" dirty="0"/>
          </a:p>
        </p:txBody>
      </p:sp>
      <p:sp>
        <p:nvSpPr>
          <p:cNvPr id="15" name="Text 13"/>
          <p:cNvSpPr/>
          <p:nvPr/>
        </p:nvSpPr>
        <p:spPr>
          <a:xfrm>
            <a:off x="1298448" y="3378118"/>
            <a:ext cx="2011680" cy="386228"/>
          </a:xfrm>
          <a:prstGeom prst="rect">
            <a:avLst/>
          </a:prstGeom>
          <a:noFill/>
          <a:ln/>
        </p:spPr>
        <p:txBody>
          <a:bodyPr wrap="square" lIns="0" tIns="0" rIns="0" bIns="0" rtlCol="0" anchor="ctr"/>
          <a:lstStyle/>
          <a:p>
            <a:pPr marL="0" indent="0">
              <a:buNone/>
            </a:pPr>
            <a:r>
              <a:rPr lang="en-US" sz="1600" b="1" dirty="0">
                <a:solidFill>
                  <a:srgbClr val="141414"/>
                </a:solidFill>
                <a:latin typeface="Arial" pitchFamily="34" charset="0"/>
                <a:ea typeface="Arial" pitchFamily="34" charset="-122"/>
                <a:cs typeface="Arial" pitchFamily="34" charset="-120"/>
              </a:rPr>
              <a:t>Block 3</a:t>
            </a:r>
            <a:endParaRPr lang="en-US" sz="1600" dirty="0"/>
          </a:p>
        </p:txBody>
      </p:sp>
      <p:sp>
        <p:nvSpPr>
          <p:cNvPr id="16" name="Text 14"/>
          <p:cNvSpPr/>
          <p:nvPr/>
        </p:nvSpPr>
        <p:spPr>
          <a:xfrm>
            <a:off x="3438144" y="3358807"/>
            <a:ext cx="7967167" cy="675900"/>
          </a:xfrm>
          <a:prstGeom prst="rect">
            <a:avLst/>
          </a:prstGeom>
          <a:noFill/>
          <a:ln/>
        </p:spPr>
        <p:txBody>
          <a:bodyPr wrap="square" lIns="0" tIns="0" rIns="0" bIns="0" rtlCol="0" anchor="ctr"/>
          <a:lstStyle/>
          <a:p>
            <a:pPr marL="0" indent="0">
              <a:lnSpc>
                <a:spcPts val="2100"/>
              </a:lnSpc>
              <a:buNone/>
            </a:pPr>
            <a:r>
              <a:rPr lang="en-US" sz="1500" dirty="0">
                <a:solidFill>
                  <a:srgbClr val="141414"/>
                </a:solidFill>
                <a:latin typeface="Arial" pitchFamily="34" charset="0"/>
                <a:ea typeface="Arial" pitchFamily="34" charset="-122"/>
                <a:cs typeface="Arial" pitchFamily="34" charset="-120"/>
              </a:rPr>
              <a:t>So you search a store of text chunks for the relevant passage, and hand the model that passage instead of asking it to guess.</a:t>
            </a:r>
            <a:endParaRPr lang="en-US" sz="1500" dirty="0"/>
          </a:p>
        </p:txBody>
      </p:sp>
      <p:sp>
        <p:nvSpPr>
          <p:cNvPr id="17" name="Shape 15"/>
          <p:cNvSpPr/>
          <p:nvPr/>
        </p:nvSpPr>
        <p:spPr>
          <a:xfrm>
            <a:off x="786384" y="4285755"/>
            <a:ext cx="365760" cy="386228"/>
          </a:xfrm>
          <a:prstGeom prst="rect">
            <a:avLst/>
          </a:prstGeom>
          <a:solidFill>
            <a:srgbClr val="C0402A"/>
          </a:solidFill>
          <a:ln/>
        </p:spPr>
        <p:txBody>
          <a:bodyPr/>
          <a:lstStyle/>
          <a:p>
            <a:endParaRPr lang="en-HK"/>
          </a:p>
        </p:txBody>
      </p:sp>
      <p:sp>
        <p:nvSpPr>
          <p:cNvPr id="18" name="Text 16"/>
          <p:cNvSpPr/>
          <p:nvPr/>
        </p:nvSpPr>
        <p:spPr>
          <a:xfrm>
            <a:off x="786384" y="4285755"/>
            <a:ext cx="365760" cy="386228"/>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9" name="Text 17"/>
          <p:cNvSpPr/>
          <p:nvPr/>
        </p:nvSpPr>
        <p:spPr>
          <a:xfrm>
            <a:off x="1298448" y="4266444"/>
            <a:ext cx="2011680" cy="386228"/>
          </a:xfrm>
          <a:prstGeom prst="rect">
            <a:avLst/>
          </a:prstGeom>
          <a:noFill/>
          <a:ln/>
        </p:spPr>
        <p:txBody>
          <a:bodyPr wrap="square" lIns="0" tIns="0" rIns="0" bIns="0" rtlCol="0" anchor="ctr"/>
          <a:lstStyle/>
          <a:p>
            <a:pPr marL="0" indent="0">
              <a:buNone/>
            </a:pPr>
            <a:r>
              <a:rPr lang="en-US" sz="1600" b="1" dirty="0">
                <a:solidFill>
                  <a:srgbClr val="C0402A"/>
                </a:solidFill>
                <a:latin typeface="Arial" pitchFamily="34" charset="0"/>
                <a:ea typeface="Arial" pitchFamily="34" charset="-122"/>
                <a:cs typeface="Arial" pitchFamily="34" charset="-120"/>
              </a:rPr>
              <a:t>Block 4, now</a:t>
            </a:r>
            <a:endParaRPr lang="en-US" sz="1600" dirty="0"/>
          </a:p>
        </p:txBody>
      </p:sp>
      <p:sp>
        <p:nvSpPr>
          <p:cNvPr id="20" name="Text 18"/>
          <p:cNvSpPr/>
          <p:nvPr/>
        </p:nvSpPr>
        <p:spPr>
          <a:xfrm>
            <a:off x="3438144" y="4247132"/>
            <a:ext cx="7967167" cy="675900"/>
          </a:xfrm>
          <a:prstGeom prst="rect">
            <a:avLst/>
          </a:prstGeom>
          <a:noFill/>
          <a:ln/>
        </p:spPr>
        <p:txBody>
          <a:bodyPr wrap="square" lIns="0" tIns="0" rIns="0" bIns="0" rtlCol="0" anchor="ctr"/>
          <a:lstStyle/>
          <a:p>
            <a:pPr marL="0" indent="0">
              <a:lnSpc>
                <a:spcPts val="2100"/>
              </a:lnSpc>
              <a:buNone/>
            </a:pPr>
            <a:r>
              <a:rPr lang="en-US" sz="1500" dirty="0">
                <a:solidFill>
                  <a:srgbClr val="141414"/>
                </a:solidFill>
                <a:latin typeface="Arial" pitchFamily="34" charset="0"/>
                <a:ea typeface="Arial" pitchFamily="34" charset="-122"/>
                <a:cs typeface="Arial" pitchFamily="34" charset="-120"/>
              </a:rPr>
              <a:t>That store does not exist yet. Today you build it, starting from the two Inno Wing websites.</a:t>
            </a:r>
            <a:endParaRPr lang="en-US" sz="1500" dirty="0"/>
          </a:p>
        </p:txBody>
      </p:sp>
      <p:sp>
        <p:nvSpPr>
          <p:cNvPr id="21" name="Shape 19"/>
          <p:cNvSpPr/>
          <p:nvPr/>
        </p:nvSpPr>
        <p:spPr>
          <a:xfrm>
            <a:off x="786384" y="5270637"/>
            <a:ext cx="10618927" cy="965571"/>
          </a:xfrm>
          <a:prstGeom prst="rect">
            <a:avLst/>
          </a:prstGeom>
          <a:solidFill>
            <a:srgbClr val="F0EDE8"/>
          </a:solidFill>
          <a:ln/>
        </p:spPr>
        <p:txBody>
          <a:bodyPr/>
          <a:lstStyle/>
          <a:p>
            <a:endParaRPr lang="en-HK"/>
          </a:p>
        </p:txBody>
      </p:sp>
      <p:sp>
        <p:nvSpPr>
          <p:cNvPr id="22" name="Text 20"/>
          <p:cNvSpPr/>
          <p:nvPr/>
        </p:nvSpPr>
        <p:spPr>
          <a:xfrm>
            <a:off x="1060704" y="5444440"/>
            <a:ext cx="10070287" cy="675900"/>
          </a:xfrm>
          <a:prstGeom prst="rect">
            <a:avLst/>
          </a:prstGeom>
          <a:noFill/>
          <a:ln/>
        </p:spPr>
        <p:txBody>
          <a:bodyPr wrap="square" lIns="0" tIns="0" rIns="0" bIns="0" rtlCol="0" anchor="ctr"/>
          <a:lstStyle/>
          <a:p>
            <a:pPr marL="0" indent="0">
              <a:lnSpc>
                <a:spcPts val="2200"/>
              </a:lnSpc>
              <a:buNone/>
            </a:pPr>
            <a:r>
              <a:rPr lang="en-US" sz="1550" b="1" dirty="0">
                <a:solidFill>
                  <a:srgbClr val="141414"/>
                </a:solidFill>
                <a:latin typeface="Arial" pitchFamily="34" charset="0"/>
                <a:ea typeface="Arial" pitchFamily="34" charset="-122"/>
                <a:cs typeface="Arial" pitchFamily="34" charset="-120"/>
              </a:rPr>
              <a:t>Get the pages, pull out the text, split it into pieces, turn those pieces into numbers. That whole chain is block 4, and it starts with the first of those four: getting the pages.</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What Is Web Crawling</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5" name="Text 3"/>
          <p:cNvSpPr/>
          <p:nvPr/>
        </p:nvSpPr>
        <p:spPr>
          <a:xfrm>
            <a:off x="10801807"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6E6A63"/>
                </a:solidFill>
                <a:latin typeface="Arial" pitchFamily="34" charset="0"/>
                <a:ea typeface="Arial" pitchFamily="34" charset="-122"/>
                <a:cs typeface="Arial" pitchFamily="34" charset="-120"/>
              </a:rPr>
              <a:t>LV2</a:t>
            </a:r>
            <a:endParaRPr lang="en-US" sz="1100" dirty="0"/>
          </a:p>
        </p:txBody>
      </p:sp>
      <p:sp>
        <p:nvSpPr>
          <p:cNvPr id="6" name="Shape 4"/>
          <p:cNvSpPr/>
          <p:nvPr/>
        </p:nvSpPr>
        <p:spPr>
          <a:xfrm>
            <a:off x="786384" y="1426464"/>
            <a:ext cx="10618927" cy="10973"/>
          </a:xfrm>
          <a:prstGeom prst="rect">
            <a:avLst/>
          </a:prstGeom>
          <a:solidFill>
            <a:srgbClr val="D5D1CA"/>
          </a:solidFill>
          <a:ln/>
        </p:spPr>
        <p:txBody>
          <a:bodyPr/>
          <a:lstStyle/>
          <a:p>
            <a:endParaRPr lang="en-HK"/>
          </a:p>
        </p:txBody>
      </p:sp>
      <p:sp>
        <p:nvSpPr>
          <p:cNvPr id="7" name="Text 5"/>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22</a:t>
            </a:r>
            <a:endParaRPr lang="en-US" sz="1200" dirty="0"/>
          </a:p>
        </p:txBody>
      </p:sp>
      <p:sp>
        <p:nvSpPr>
          <p:cNvPr id="8" name="Text 6"/>
          <p:cNvSpPr/>
          <p:nvPr/>
        </p:nvSpPr>
        <p:spPr>
          <a:xfrm>
            <a:off x="786384" y="1780470"/>
            <a:ext cx="10087981" cy="526268"/>
          </a:xfrm>
          <a:prstGeom prst="rect">
            <a:avLst/>
          </a:prstGeom>
          <a:noFill/>
          <a:ln/>
        </p:spPr>
        <p:txBody>
          <a:bodyPr wrap="square" lIns="0" tIns="0" rIns="0" bIns="0" rtlCol="0" anchor="ctr"/>
          <a:lstStyle/>
          <a:p>
            <a:pPr marL="0" indent="0">
              <a:lnSpc>
                <a:spcPts val="2110"/>
              </a:lnSpc>
              <a:buNone/>
            </a:pPr>
            <a:r>
              <a:rPr lang="en-US" sz="1487" dirty="0">
                <a:solidFill>
                  <a:srgbClr val="141414"/>
                </a:solidFill>
                <a:latin typeface="Arial" pitchFamily="34" charset="0"/>
                <a:ea typeface="Arial" pitchFamily="34" charset="-122"/>
                <a:cs typeface="Arial" pitchFamily="34" charset="-120"/>
              </a:rPr>
              <a:t>A crawler starts from one URL and has to discover every other page on the site, without being told the full list in advance. The mechanism is a queue.</a:t>
            </a:r>
            <a:endParaRPr lang="en-US" sz="1487" dirty="0"/>
          </a:p>
        </p:txBody>
      </p:sp>
      <p:sp>
        <p:nvSpPr>
          <p:cNvPr id="9" name="Shape 7"/>
          <p:cNvSpPr/>
          <p:nvPr/>
        </p:nvSpPr>
        <p:spPr>
          <a:xfrm>
            <a:off x="786384" y="2376907"/>
            <a:ext cx="2448992" cy="19297"/>
          </a:xfrm>
          <a:prstGeom prst="rect">
            <a:avLst/>
          </a:prstGeom>
          <a:solidFill>
            <a:srgbClr val="141414"/>
          </a:solidFill>
          <a:ln/>
        </p:spPr>
        <p:txBody>
          <a:bodyPr/>
          <a:lstStyle/>
          <a:p>
            <a:endParaRPr lang="en-HK"/>
          </a:p>
        </p:txBody>
      </p:sp>
      <p:sp>
        <p:nvSpPr>
          <p:cNvPr id="10" name="Text 8"/>
          <p:cNvSpPr/>
          <p:nvPr/>
        </p:nvSpPr>
        <p:spPr>
          <a:xfrm>
            <a:off x="786384" y="2517246"/>
            <a:ext cx="2448992" cy="421015"/>
          </a:xfrm>
          <a:prstGeom prst="rect">
            <a:avLst/>
          </a:prstGeom>
          <a:noFill/>
          <a:ln/>
        </p:spPr>
        <p:txBody>
          <a:bodyPr wrap="square" lIns="0" tIns="0" rIns="0" bIns="0" rtlCol="0" anchor="ctr"/>
          <a:lstStyle/>
          <a:p>
            <a:pPr marL="0" indent="0">
              <a:lnSpc>
                <a:spcPts val="1823"/>
              </a:lnSpc>
              <a:buNone/>
            </a:pPr>
            <a:r>
              <a:rPr lang="en-US" sz="1679" b="1" dirty="0">
                <a:solidFill>
                  <a:srgbClr val="141414"/>
                </a:solidFill>
                <a:latin typeface="Arial" pitchFamily="34" charset="0"/>
                <a:ea typeface="Arial" pitchFamily="34" charset="-122"/>
                <a:cs typeface="Arial" pitchFamily="34" charset="-120"/>
              </a:rPr>
              <a:t>Seed URL</a:t>
            </a:r>
            <a:endParaRPr lang="en-US" sz="1679" dirty="0"/>
          </a:p>
        </p:txBody>
      </p:sp>
      <p:sp>
        <p:nvSpPr>
          <p:cNvPr id="11" name="Text 9"/>
          <p:cNvSpPr/>
          <p:nvPr/>
        </p:nvSpPr>
        <p:spPr>
          <a:xfrm>
            <a:off x="786384" y="2973345"/>
            <a:ext cx="2448992" cy="377159"/>
          </a:xfrm>
          <a:prstGeom prst="rect">
            <a:avLst/>
          </a:prstGeom>
          <a:noFill/>
          <a:ln/>
        </p:spPr>
        <p:txBody>
          <a:bodyPr wrap="square" lIns="0" tIns="0" rIns="0" bIns="0" rtlCol="0" anchor="ctr"/>
          <a:lstStyle/>
          <a:p>
            <a:pPr marL="0" indent="0">
              <a:lnSpc>
                <a:spcPts val="1727"/>
              </a:lnSpc>
              <a:buNone/>
            </a:pPr>
            <a:r>
              <a:rPr lang="en-US" sz="1295" dirty="0">
                <a:solidFill>
                  <a:srgbClr val="6E6A63"/>
                </a:solidFill>
                <a:latin typeface="Arial" pitchFamily="34" charset="0"/>
                <a:ea typeface="Arial" pitchFamily="34" charset="-122"/>
                <a:cs typeface="Arial" pitchFamily="34" charset="-120"/>
              </a:rPr>
              <a:t>The one page you start from</a:t>
            </a:r>
            <a:endParaRPr lang="en-US" sz="1295" dirty="0"/>
          </a:p>
        </p:txBody>
      </p:sp>
      <p:sp>
        <p:nvSpPr>
          <p:cNvPr id="12" name="Text 10"/>
          <p:cNvSpPr/>
          <p:nvPr/>
        </p:nvSpPr>
        <p:spPr>
          <a:xfrm>
            <a:off x="3235376" y="2447076"/>
            <a:ext cx="274320" cy="368388"/>
          </a:xfrm>
          <a:prstGeom prst="rect">
            <a:avLst/>
          </a:prstGeom>
          <a:noFill/>
          <a:ln/>
        </p:spPr>
        <p:txBody>
          <a:bodyPr wrap="square" lIns="0" tIns="0" rIns="0" bIns="0" rtlCol="0" anchor="ctr"/>
          <a:lstStyle/>
          <a:p>
            <a:pPr marL="0" indent="0" algn="ctr">
              <a:buNone/>
            </a:pPr>
            <a:r>
              <a:rPr lang="en-US" sz="1343" dirty="0">
                <a:solidFill>
                  <a:srgbClr val="9C978E"/>
                </a:solidFill>
                <a:latin typeface="Arial" pitchFamily="34" charset="0"/>
                <a:ea typeface="Arial" pitchFamily="34" charset="-122"/>
                <a:cs typeface="Arial" pitchFamily="34" charset="-120"/>
              </a:rPr>
              <a:t>→</a:t>
            </a:r>
            <a:endParaRPr lang="en-US" sz="1343" dirty="0"/>
          </a:p>
        </p:txBody>
      </p:sp>
      <p:sp>
        <p:nvSpPr>
          <p:cNvPr id="13" name="Shape 11"/>
          <p:cNvSpPr/>
          <p:nvPr/>
        </p:nvSpPr>
        <p:spPr>
          <a:xfrm>
            <a:off x="3509696" y="2376907"/>
            <a:ext cx="2448992" cy="19297"/>
          </a:xfrm>
          <a:prstGeom prst="rect">
            <a:avLst/>
          </a:prstGeom>
          <a:solidFill>
            <a:srgbClr val="141414"/>
          </a:solidFill>
          <a:ln/>
        </p:spPr>
        <p:txBody>
          <a:bodyPr/>
          <a:lstStyle/>
          <a:p>
            <a:endParaRPr lang="en-HK"/>
          </a:p>
        </p:txBody>
      </p:sp>
      <p:sp>
        <p:nvSpPr>
          <p:cNvPr id="14" name="Text 12"/>
          <p:cNvSpPr/>
          <p:nvPr/>
        </p:nvSpPr>
        <p:spPr>
          <a:xfrm>
            <a:off x="3509696" y="2517246"/>
            <a:ext cx="2448992" cy="421015"/>
          </a:xfrm>
          <a:prstGeom prst="rect">
            <a:avLst/>
          </a:prstGeom>
          <a:noFill/>
          <a:ln/>
        </p:spPr>
        <p:txBody>
          <a:bodyPr wrap="square" lIns="0" tIns="0" rIns="0" bIns="0" rtlCol="0" anchor="ctr"/>
          <a:lstStyle/>
          <a:p>
            <a:pPr marL="0" indent="0">
              <a:lnSpc>
                <a:spcPts val="1823"/>
              </a:lnSpc>
              <a:buNone/>
            </a:pPr>
            <a:r>
              <a:rPr lang="en-US" sz="1679" b="1" dirty="0">
                <a:solidFill>
                  <a:srgbClr val="141414"/>
                </a:solidFill>
                <a:latin typeface="Arial" pitchFamily="34" charset="0"/>
                <a:ea typeface="Arial" pitchFamily="34" charset="-122"/>
                <a:cs typeface="Arial" pitchFamily="34" charset="-120"/>
              </a:rPr>
              <a:t>Visit + extract links</a:t>
            </a:r>
            <a:endParaRPr lang="en-US" sz="1679" dirty="0"/>
          </a:p>
        </p:txBody>
      </p:sp>
      <p:sp>
        <p:nvSpPr>
          <p:cNvPr id="15" name="Text 13"/>
          <p:cNvSpPr/>
          <p:nvPr/>
        </p:nvSpPr>
        <p:spPr>
          <a:xfrm>
            <a:off x="3509696" y="2973345"/>
            <a:ext cx="2448992" cy="377159"/>
          </a:xfrm>
          <a:prstGeom prst="rect">
            <a:avLst/>
          </a:prstGeom>
          <a:noFill/>
          <a:ln/>
        </p:spPr>
        <p:txBody>
          <a:bodyPr wrap="square" lIns="0" tIns="0" rIns="0" bIns="0" rtlCol="0" anchor="ctr"/>
          <a:lstStyle/>
          <a:p>
            <a:pPr marL="0" indent="0">
              <a:lnSpc>
                <a:spcPts val="1727"/>
              </a:lnSpc>
              <a:buNone/>
            </a:pPr>
            <a:r>
              <a:rPr lang="en-US" sz="1295" dirty="0">
                <a:solidFill>
                  <a:srgbClr val="6E6A63"/>
                </a:solidFill>
                <a:latin typeface="Arial" pitchFamily="34" charset="0"/>
                <a:ea typeface="Arial" pitchFamily="34" charset="-122"/>
                <a:cs typeface="Arial" pitchFamily="34" charset="-120"/>
              </a:rPr>
              <a:t>Fetch it, read every href on it</a:t>
            </a:r>
            <a:endParaRPr lang="en-US" sz="1295" dirty="0"/>
          </a:p>
        </p:txBody>
      </p:sp>
      <p:sp>
        <p:nvSpPr>
          <p:cNvPr id="16" name="Text 14"/>
          <p:cNvSpPr/>
          <p:nvPr/>
        </p:nvSpPr>
        <p:spPr>
          <a:xfrm>
            <a:off x="5958688" y="2447076"/>
            <a:ext cx="274320" cy="368388"/>
          </a:xfrm>
          <a:prstGeom prst="rect">
            <a:avLst/>
          </a:prstGeom>
          <a:noFill/>
          <a:ln/>
        </p:spPr>
        <p:txBody>
          <a:bodyPr wrap="square" lIns="0" tIns="0" rIns="0" bIns="0" rtlCol="0" anchor="ctr"/>
          <a:lstStyle/>
          <a:p>
            <a:pPr marL="0" indent="0" algn="ctr">
              <a:buNone/>
            </a:pPr>
            <a:r>
              <a:rPr lang="en-US" sz="1343" dirty="0">
                <a:solidFill>
                  <a:srgbClr val="9C978E"/>
                </a:solidFill>
                <a:latin typeface="Arial" pitchFamily="34" charset="0"/>
                <a:ea typeface="Arial" pitchFamily="34" charset="-122"/>
                <a:cs typeface="Arial" pitchFamily="34" charset="-120"/>
              </a:rPr>
              <a:t>→</a:t>
            </a:r>
            <a:endParaRPr lang="en-US" sz="1343" dirty="0"/>
          </a:p>
        </p:txBody>
      </p:sp>
      <p:sp>
        <p:nvSpPr>
          <p:cNvPr id="17" name="Shape 15"/>
          <p:cNvSpPr/>
          <p:nvPr/>
        </p:nvSpPr>
        <p:spPr>
          <a:xfrm>
            <a:off x="6233008" y="2376907"/>
            <a:ext cx="2448992" cy="19297"/>
          </a:xfrm>
          <a:prstGeom prst="rect">
            <a:avLst/>
          </a:prstGeom>
          <a:solidFill>
            <a:srgbClr val="141414"/>
          </a:solidFill>
          <a:ln/>
        </p:spPr>
        <p:txBody>
          <a:bodyPr/>
          <a:lstStyle/>
          <a:p>
            <a:endParaRPr lang="en-HK"/>
          </a:p>
        </p:txBody>
      </p:sp>
      <p:sp>
        <p:nvSpPr>
          <p:cNvPr id="18" name="Text 16"/>
          <p:cNvSpPr/>
          <p:nvPr/>
        </p:nvSpPr>
        <p:spPr>
          <a:xfrm>
            <a:off x="6233008" y="2517246"/>
            <a:ext cx="2448992" cy="421015"/>
          </a:xfrm>
          <a:prstGeom prst="rect">
            <a:avLst/>
          </a:prstGeom>
          <a:noFill/>
          <a:ln/>
        </p:spPr>
        <p:txBody>
          <a:bodyPr wrap="square" lIns="0" tIns="0" rIns="0" bIns="0" rtlCol="0" anchor="ctr"/>
          <a:lstStyle/>
          <a:p>
            <a:pPr marL="0" indent="0">
              <a:lnSpc>
                <a:spcPts val="1823"/>
              </a:lnSpc>
              <a:buNone/>
            </a:pPr>
            <a:r>
              <a:rPr lang="en-US" sz="1679" b="1" dirty="0">
                <a:solidFill>
                  <a:srgbClr val="141414"/>
                </a:solidFill>
                <a:latin typeface="Arial" pitchFamily="34" charset="0"/>
                <a:ea typeface="Arial" pitchFamily="34" charset="-122"/>
                <a:cs typeface="Arial" pitchFamily="34" charset="-120"/>
              </a:rPr>
              <a:t>Queue the new ones</a:t>
            </a:r>
            <a:endParaRPr lang="en-US" sz="1679" dirty="0"/>
          </a:p>
        </p:txBody>
      </p:sp>
      <p:sp>
        <p:nvSpPr>
          <p:cNvPr id="19" name="Text 17"/>
          <p:cNvSpPr/>
          <p:nvPr/>
        </p:nvSpPr>
        <p:spPr>
          <a:xfrm>
            <a:off x="6233008" y="2973345"/>
            <a:ext cx="2448992" cy="377159"/>
          </a:xfrm>
          <a:prstGeom prst="rect">
            <a:avLst/>
          </a:prstGeom>
          <a:noFill/>
          <a:ln/>
        </p:spPr>
        <p:txBody>
          <a:bodyPr wrap="square" lIns="0" tIns="0" rIns="0" bIns="0" rtlCol="0" anchor="ctr"/>
          <a:lstStyle/>
          <a:p>
            <a:pPr marL="0" indent="0">
              <a:lnSpc>
                <a:spcPts val="1727"/>
              </a:lnSpc>
              <a:buNone/>
            </a:pPr>
            <a:r>
              <a:rPr lang="en-US" sz="1295" dirty="0">
                <a:solidFill>
                  <a:srgbClr val="6E6A63"/>
                </a:solidFill>
                <a:latin typeface="Arial" pitchFamily="34" charset="0"/>
                <a:ea typeface="Arial" pitchFamily="34" charset="-122"/>
                <a:cs typeface="Arial" pitchFamily="34" charset="-120"/>
              </a:rPr>
              <a:t>Add links not seen before</a:t>
            </a:r>
            <a:endParaRPr lang="en-US" sz="1295" dirty="0"/>
          </a:p>
        </p:txBody>
      </p:sp>
      <p:sp>
        <p:nvSpPr>
          <p:cNvPr id="20" name="Text 18"/>
          <p:cNvSpPr/>
          <p:nvPr/>
        </p:nvSpPr>
        <p:spPr>
          <a:xfrm>
            <a:off x="8681999" y="2447076"/>
            <a:ext cx="274320" cy="368388"/>
          </a:xfrm>
          <a:prstGeom prst="rect">
            <a:avLst/>
          </a:prstGeom>
          <a:noFill/>
          <a:ln/>
        </p:spPr>
        <p:txBody>
          <a:bodyPr wrap="square" lIns="0" tIns="0" rIns="0" bIns="0" rtlCol="0" anchor="ctr"/>
          <a:lstStyle/>
          <a:p>
            <a:pPr marL="0" indent="0" algn="ctr">
              <a:buNone/>
            </a:pPr>
            <a:r>
              <a:rPr lang="en-US" sz="1343" dirty="0">
                <a:solidFill>
                  <a:srgbClr val="9C978E"/>
                </a:solidFill>
                <a:latin typeface="Arial" pitchFamily="34" charset="0"/>
                <a:ea typeface="Arial" pitchFamily="34" charset="-122"/>
                <a:cs typeface="Arial" pitchFamily="34" charset="-120"/>
              </a:rPr>
              <a:t>→</a:t>
            </a:r>
            <a:endParaRPr lang="en-US" sz="1343" dirty="0"/>
          </a:p>
        </p:txBody>
      </p:sp>
      <p:sp>
        <p:nvSpPr>
          <p:cNvPr id="21" name="Shape 19"/>
          <p:cNvSpPr/>
          <p:nvPr/>
        </p:nvSpPr>
        <p:spPr>
          <a:xfrm>
            <a:off x="8956319" y="2376907"/>
            <a:ext cx="2448992" cy="19297"/>
          </a:xfrm>
          <a:prstGeom prst="rect">
            <a:avLst/>
          </a:prstGeom>
          <a:solidFill>
            <a:srgbClr val="141414"/>
          </a:solidFill>
          <a:ln/>
        </p:spPr>
        <p:txBody>
          <a:bodyPr/>
          <a:lstStyle/>
          <a:p>
            <a:endParaRPr lang="en-HK"/>
          </a:p>
        </p:txBody>
      </p:sp>
      <p:sp>
        <p:nvSpPr>
          <p:cNvPr id="22" name="Text 20"/>
          <p:cNvSpPr/>
          <p:nvPr/>
        </p:nvSpPr>
        <p:spPr>
          <a:xfrm>
            <a:off x="8956319" y="2517246"/>
            <a:ext cx="2448992" cy="421015"/>
          </a:xfrm>
          <a:prstGeom prst="rect">
            <a:avLst/>
          </a:prstGeom>
          <a:noFill/>
          <a:ln/>
        </p:spPr>
        <p:txBody>
          <a:bodyPr wrap="square" lIns="0" tIns="0" rIns="0" bIns="0" rtlCol="0" anchor="ctr"/>
          <a:lstStyle/>
          <a:p>
            <a:pPr marL="0" indent="0">
              <a:lnSpc>
                <a:spcPts val="1823"/>
              </a:lnSpc>
              <a:buNone/>
            </a:pPr>
            <a:r>
              <a:rPr lang="en-US" sz="1679" b="1" dirty="0">
                <a:solidFill>
                  <a:srgbClr val="141414"/>
                </a:solidFill>
                <a:latin typeface="Arial" pitchFamily="34" charset="0"/>
                <a:ea typeface="Arial" pitchFamily="34" charset="-122"/>
                <a:cs typeface="Arial" pitchFamily="34" charset="-120"/>
              </a:rPr>
              <a:t>Repeat</a:t>
            </a:r>
            <a:endParaRPr lang="en-US" sz="1679" dirty="0"/>
          </a:p>
        </p:txBody>
      </p:sp>
      <p:sp>
        <p:nvSpPr>
          <p:cNvPr id="23" name="Text 21"/>
          <p:cNvSpPr/>
          <p:nvPr/>
        </p:nvSpPr>
        <p:spPr>
          <a:xfrm>
            <a:off x="8956319" y="2973345"/>
            <a:ext cx="2448992" cy="377159"/>
          </a:xfrm>
          <a:prstGeom prst="rect">
            <a:avLst/>
          </a:prstGeom>
          <a:noFill/>
          <a:ln/>
        </p:spPr>
        <p:txBody>
          <a:bodyPr wrap="square" lIns="0" tIns="0" rIns="0" bIns="0" rtlCol="0" anchor="ctr"/>
          <a:lstStyle/>
          <a:p>
            <a:pPr marL="0" indent="0">
              <a:lnSpc>
                <a:spcPts val="1727"/>
              </a:lnSpc>
              <a:buNone/>
            </a:pPr>
            <a:r>
              <a:rPr lang="en-US" sz="1295" dirty="0">
                <a:solidFill>
                  <a:srgbClr val="6E6A63"/>
                </a:solidFill>
                <a:latin typeface="Arial" pitchFamily="34" charset="0"/>
                <a:ea typeface="Arial" pitchFamily="34" charset="-122"/>
                <a:cs typeface="Arial" pitchFamily="34" charset="-120"/>
              </a:rPr>
              <a:t>Until the queue is empty</a:t>
            </a:r>
            <a:endParaRPr lang="en-US" sz="1295" dirty="0"/>
          </a:p>
        </p:txBody>
      </p:sp>
      <p:sp>
        <p:nvSpPr>
          <p:cNvPr id="24" name="Text 22"/>
          <p:cNvSpPr/>
          <p:nvPr/>
        </p:nvSpPr>
        <p:spPr>
          <a:xfrm>
            <a:off x="786384" y="3552240"/>
            <a:ext cx="10087981" cy="613980"/>
          </a:xfrm>
          <a:prstGeom prst="rect">
            <a:avLst/>
          </a:prstGeom>
          <a:noFill/>
          <a:ln/>
        </p:spPr>
        <p:txBody>
          <a:bodyPr wrap="square" lIns="0" tIns="0" rIns="0" bIns="0" rtlCol="0" anchor="ctr"/>
          <a:lstStyle/>
          <a:p>
            <a:pPr marL="0" indent="0">
              <a:lnSpc>
                <a:spcPts val="2014"/>
              </a:lnSpc>
              <a:buNone/>
            </a:pPr>
            <a:r>
              <a:rPr lang="en-US" sz="1391" dirty="0">
                <a:solidFill>
                  <a:srgbClr val="141414"/>
                </a:solidFill>
                <a:latin typeface="Arial" pitchFamily="34" charset="0"/>
                <a:ea typeface="Arial" pitchFamily="34" charset="-122"/>
                <a:cs typeface="Arial" pitchFamily="34" charset="-120"/>
              </a:rPr>
              <a:t>Because new links go to the back of the queue, every page one link from the seed is visited before any page two links away. This is breadth-first order, and it falls out of using a plain queue rather than anything more elaborate.</a:t>
            </a:r>
            <a:endParaRPr lang="en-US" sz="1391" dirty="0"/>
          </a:p>
        </p:txBody>
      </p:sp>
      <p:sp>
        <p:nvSpPr>
          <p:cNvPr id="25" name="Shape 23"/>
          <p:cNvSpPr/>
          <p:nvPr/>
        </p:nvSpPr>
        <p:spPr>
          <a:xfrm>
            <a:off x="786384" y="4271473"/>
            <a:ext cx="5227168" cy="15788"/>
          </a:xfrm>
          <a:prstGeom prst="rect">
            <a:avLst/>
          </a:prstGeom>
          <a:solidFill>
            <a:srgbClr val="141414"/>
          </a:solidFill>
          <a:ln/>
        </p:spPr>
        <p:txBody>
          <a:bodyPr/>
          <a:lstStyle/>
          <a:p>
            <a:endParaRPr lang="en-HK"/>
          </a:p>
        </p:txBody>
      </p:sp>
      <p:sp>
        <p:nvSpPr>
          <p:cNvPr id="26" name="Text 24"/>
          <p:cNvSpPr/>
          <p:nvPr/>
        </p:nvSpPr>
        <p:spPr>
          <a:xfrm>
            <a:off x="786384" y="4411811"/>
            <a:ext cx="5227168" cy="330136"/>
          </a:xfrm>
          <a:prstGeom prst="rect">
            <a:avLst/>
          </a:prstGeom>
          <a:noFill/>
          <a:ln/>
        </p:spPr>
        <p:txBody>
          <a:bodyPr wrap="square" lIns="0" tIns="0" rIns="0" bIns="0" rtlCol="0" anchor="ctr"/>
          <a:lstStyle/>
          <a:p>
            <a:pPr marL="0" indent="0">
              <a:lnSpc>
                <a:spcPts val="2254"/>
              </a:lnSpc>
              <a:buNone/>
            </a:pPr>
            <a:r>
              <a:rPr lang="en-US" sz="1870" b="1" dirty="0">
                <a:solidFill>
                  <a:srgbClr val="141414"/>
                </a:solidFill>
                <a:latin typeface="Arial" pitchFamily="34" charset="0"/>
                <a:ea typeface="Arial" pitchFamily="34" charset="-122"/>
                <a:cs typeface="Arial" pitchFamily="34" charset="-120"/>
              </a:rPr>
              <a:t>Stop it from running forever</a:t>
            </a:r>
            <a:endParaRPr lang="en-US" sz="1870" dirty="0"/>
          </a:p>
        </p:txBody>
      </p:sp>
      <p:sp>
        <p:nvSpPr>
          <p:cNvPr id="27" name="Text 25"/>
          <p:cNvSpPr/>
          <p:nvPr/>
        </p:nvSpPr>
        <p:spPr>
          <a:xfrm>
            <a:off x="786384" y="4812116"/>
            <a:ext cx="5227168" cy="793057"/>
          </a:xfrm>
          <a:prstGeom prst="rect">
            <a:avLst/>
          </a:prstGeom>
          <a:noFill/>
          <a:ln/>
        </p:spPr>
        <p:txBody>
          <a:bodyPr wrap="square" lIns="0" tIns="0" rIns="0" bIns="0" rtlCol="0" anchor="t"/>
          <a:lstStyle/>
          <a:p>
            <a:pPr marL="0" indent="0">
              <a:lnSpc>
                <a:spcPts val="1966"/>
              </a:lnSpc>
              <a:buNone/>
            </a:pPr>
            <a:r>
              <a:rPr lang="en-US" sz="1295" dirty="0">
                <a:solidFill>
                  <a:srgbClr val="141414"/>
                </a:solidFill>
                <a:latin typeface="Arial" pitchFamily="34" charset="0"/>
                <a:ea typeface="Arial" pitchFamily="34" charset="-122"/>
                <a:cs typeface="Arial" pitchFamily="34" charset="-120"/>
              </a:rPr>
              <a:t>Track visited URLs in a set, so a link back to the homepage does not restart the crawl. Cap the total with max_pages, so a bug cannot crawl the entire site by accident.</a:t>
            </a:r>
            <a:endParaRPr lang="en-US" sz="1295" dirty="0"/>
          </a:p>
        </p:txBody>
      </p:sp>
      <p:sp>
        <p:nvSpPr>
          <p:cNvPr id="29" name="Shape 27"/>
          <p:cNvSpPr/>
          <p:nvPr/>
        </p:nvSpPr>
        <p:spPr>
          <a:xfrm>
            <a:off x="6415888" y="4268285"/>
            <a:ext cx="4751680" cy="21051"/>
          </a:xfrm>
          <a:prstGeom prst="rect">
            <a:avLst/>
          </a:prstGeom>
          <a:solidFill>
            <a:srgbClr val="C0402A"/>
          </a:solidFill>
          <a:ln/>
        </p:spPr>
        <p:txBody>
          <a:bodyPr/>
          <a:lstStyle/>
          <a:p>
            <a:endParaRPr lang="en-HK"/>
          </a:p>
        </p:txBody>
      </p:sp>
      <p:sp>
        <p:nvSpPr>
          <p:cNvPr id="30" name="Text 28"/>
          <p:cNvSpPr/>
          <p:nvPr/>
        </p:nvSpPr>
        <p:spPr>
          <a:xfrm>
            <a:off x="6415888" y="4408624"/>
            <a:ext cx="4751680" cy="330136"/>
          </a:xfrm>
          <a:prstGeom prst="rect">
            <a:avLst/>
          </a:prstGeom>
          <a:noFill/>
          <a:ln/>
        </p:spPr>
        <p:txBody>
          <a:bodyPr wrap="square" lIns="0" tIns="0" rIns="0" bIns="0" rtlCol="0" anchor="ctr"/>
          <a:lstStyle/>
          <a:p>
            <a:pPr marL="0" indent="0">
              <a:lnSpc>
                <a:spcPts val="2254"/>
              </a:lnSpc>
              <a:buNone/>
            </a:pPr>
            <a:r>
              <a:rPr lang="en-US" sz="1870" b="1" dirty="0">
                <a:solidFill>
                  <a:srgbClr val="141414"/>
                </a:solidFill>
                <a:latin typeface="Arial" pitchFamily="34" charset="0"/>
                <a:ea typeface="Arial" pitchFamily="34" charset="-122"/>
                <a:cs typeface="Arial" pitchFamily="34" charset="-120"/>
              </a:rPr>
              <a:t>Check for a shortcut first</a:t>
            </a:r>
            <a:endParaRPr lang="en-US" sz="1870" dirty="0"/>
          </a:p>
        </p:txBody>
      </p:sp>
      <p:sp>
        <p:nvSpPr>
          <p:cNvPr id="31" name="Text 29"/>
          <p:cNvSpPr/>
          <p:nvPr/>
        </p:nvSpPr>
        <p:spPr>
          <a:xfrm>
            <a:off x="6415888" y="4808929"/>
            <a:ext cx="4751680" cy="793057"/>
          </a:xfrm>
          <a:prstGeom prst="rect">
            <a:avLst/>
          </a:prstGeom>
          <a:noFill/>
          <a:ln/>
        </p:spPr>
        <p:txBody>
          <a:bodyPr wrap="square" lIns="0" tIns="0" rIns="0" bIns="0" rtlCol="0" anchor="t"/>
          <a:lstStyle/>
          <a:p>
            <a:pPr marL="0" indent="0">
              <a:lnSpc>
                <a:spcPts val="1966"/>
              </a:lnSpc>
              <a:buNone/>
            </a:pPr>
            <a:r>
              <a:rPr lang="en-US" sz="1295" dirty="0">
                <a:solidFill>
                  <a:srgbClr val="141414"/>
                </a:solidFill>
                <a:latin typeface="Arial" pitchFamily="34" charset="0"/>
                <a:ea typeface="Arial" pitchFamily="34" charset="-122"/>
                <a:cs typeface="Arial" pitchFamily="34" charset="-120"/>
              </a:rPr>
              <a:t>Many sites publish /sitemap.xml, a ready-made list of every page. If it exists, you can skip the link-following entirely and read the list directly.</a:t>
            </a:r>
            <a:endParaRPr lang="en-US" sz="1295" dirty="0"/>
          </a:p>
        </p:txBody>
      </p:sp>
      <p:sp>
        <p:nvSpPr>
          <p:cNvPr id="32" name="Shape 30"/>
          <p:cNvSpPr/>
          <p:nvPr/>
        </p:nvSpPr>
        <p:spPr>
          <a:xfrm>
            <a:off x="786384" y="5797651"/>
            <a:ext cx="10618927" cy="10525"/>
          </a:xfrm>
          <a:prstGeom prst="rect">
            <a:avLst/>
          </a:prstGeom>
          <a:solidFill>
            <a:srgbClr val="D5D1CA"/>
          </a:solidFill>
          <a:ln/>
        </p:spPr>
        <p:txBody>
          <a:bodyPr/>
          <a:lstStyle/>
          <a:p>
            <a:endParaRPr lang="en-HK"/>
          </a:p>
        </p:txBody>
      </p:sp>
      <p:sp>
        <p:nvSpPr>
          <p:cNvPr id="33" name="Text 31"/>
          <p:cNvSpPr/>
          <p:nvPr/>
        </p:nvSpPr>
        <p:spPr>
          <a:xfrm>
            <a:off x="786384" y="5920447"/>
            <a:ext cx="10618927" cy="315761"/>
          </a:xfrm>
          <a:prstGeom prst="rect">
            <a:avLst/>
          </a:prstGeom>
          <a:noFill/>
          <a:ln/>
        </p:spPr>
        <p:txBody>
          <a:bodyPr wrap="square" lIns="0" tIns="0" rIns="0" bIns="0" rtlCol="0" anchor="ctr"/>
          <a:lstStyle/>
          <a:p>
            <a:pPr marL="0" indent="0">
              <a:lnSpc>
                <a:spcPts val="1727"/>
              </a:lnSpc>
              <a:buNone/>
            </a:pPr>
            <a:r>
              <a:rPr lang="en-US" sz="1199" dirty="0">
                <a:solidFill>
                  <a:srgbClr val="827D75"/>
                </a:solidFill>
                <a:latin typeface="Arial" pitchFamily="34" charset="0"/>
                <a:ea typeface="Arial" pitchFamily="34" charset="-122"/>
                <a:cs typeface="Arial" pitchFamily="34" charset="-120"/>
              </a:rPr>
              <a:t>Olston &amp; Najork (2010), Web Crawling. Foundations and Trends in Information Retrieval 4(3):175-246. doi.org/10.1561/1500000017</a:t>
            </a:r>
            <a:endParaRPr lang="en-US" sz="1199"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HTML Structure &amp; Text Extraction</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5" name="Text 3"/>
          <p:cNvSpPr/>
          <p:nvPr/>
        </p:nvSpPr>
        <p:spPr>
          <a:xfrm>
            <a:off x="10801807"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6E6A63"/>
                </a:solidFill>
                <a:latin typeface="Arial" pitchFamily="34" charset="0"/>
                <a:ea typeface="Arial" pitchFamily="34" charset="-122"/>
                <a:cs typeface="Arial" pitchFamily="34" charset="-120"/>
              </a:rPr>
              <a:t>LV2</a:t>
            </a:r>
            <a:endParaRPr lang="en-US" sz="1100" dirty="0"/>
          </a:p>
        </p:txBody>
      </p:sp>
      <p:sp>
        <p:nvSpPr>
          <p:cNvPr id="6" name="Shape 4"/>
          <p:cNvSpPr/>
          <p:nvPr/>
        </p:nvSpPr>
        <p:spPr>
          <a:xfrm>
            <a:off x="786384" y="1426464"/>
            <a:ext cx="10618927" cy="10973"/>
          </a:xfrm>
          <a:prstGeom prst="rect">
            <a:avLst/>
          </a:prstGeom>
          <a:solidFill>
            <a:srgbClr val="D5D1CA"/>
          </a:solidFill>
          <a:ln/>
        </p:spPr>
        <p:txBody>
          <a:bodyPr/>
          <a:lstStyle/>
          <a:p>
            <a:endParaRPr lang="en-HK"/>
          </a:p>
        </p:txBody>
      </p:sp>
      <p:sp>
        <p:nvSpPr>
          <p:cNvPr id="7" name="Text 5"/>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23</a:t>
            </a:r>
            <a:endParaRPr lang="en-US" sz="1200" dirty="0"/>
          </a:p>
        </p:txBody>
      </p:sp>
      <p:sp>
        <p:nvSpPr>
          <p:cNvPr id="8" name="Text 6"/>
          <p:cNvSpPr/>
          <p:nvPr/>
        </p:nvSpPr>
        <p:spPr>
          <a:xfrm>
            <a:off x="786384" y="1774119"/>
            <a:ext cx="10087981" cy="471830"/>
          </a:xfrm>
          <a:prstGeom prst="rect">
            <a:avLst/>
          </a:prstGeom>
          <a:noFill/>
          <a:ln/>
        </p:spPr>
        <p:txBody>
          <a:bodyPr wrap="square" lIns="0" tIns="0" rIns="0" bIns="0" rtlCol="0" anchor="ctr"/>
          <a:lstStyle/>
          <a:p>
            <a:pPr marL="0" indent="0">
              <a:lnSpc>
                <a:spcPts val="1892"/>
              </a:lnSpc>
              <a:buNone/>
            </a:pPr>
            <a:r>
              <a:rPr lang="en-US" sz="1333" dirty="0">
                <a:solidFill>
                  <a:srgbClr val="141414"/>
                </a:solidFill>
                <a:latin typeface="Arial" pitchFamily="34" charset="0"/>
                <a:ea typeface="Arial" pitchFamily="34" charset="-122"/>
                <a:cs typeface="Arial" pitchFamily="34" charset="-120"/>
              </a:rPr>
              <a:t>HTML nests elements inside other elements. BeautifulSoup turns that nesting into a structure you can navigate, so you can select one branch and ignore the rest.</a:t>
            </a:r>
            <a:endParaRPr lang="en-US" sz="1333" dirty="0"/>
          </a:p>
        </p:txBody>
      </p:sp>
      <p:sp>
        <p:nvSpPr>
          <p:cNvPr id="9" name="Shape 7"/>
          <p:cNvSpPr/>
          <p:nvPr/>
        </p:nvSpPr>
        <p:spPr>
          <a:xfrm>
            <a:off x="786384" y="2324588"/>
            <a:ext cx="10618927" cy="1187440"/>
          </a:xfrm>
          <a:prstGeom prst="rect">
            <a:avLst/>
          </a:prstGeom>
          <a:solidFill>
            <a:srgbClr val="F2EFEA"/>
          </a:solidFill>
          <a:ln/>
        </p:spPr>
        <p:txBody>
          <a:bodyPr/>
          <a:lstStyle/>
          <a:p>
            <a:endParaRPr lang="en-HK"/>
          </a:p>
        </p:txBody>
      </p:sp>
      <p:sp>
        <p:nvSpPr>
          <p:cNvPr id="10" name="Shape 8"/>
          <p:cNvSpPr/>
          <p:nvPr/>
        </p:nvSpPr>
        <p:spPr>
          <a:xfrm>
            <a:off x="786384" y="2324588"/>
            <a:ext cx="27432" cy="1187440"/>
          </a:xfrm>
          <a:prstGeom prst="rect">
            <a:avLst/>
          </a:prstGeom>
          <a:solidFill>
            <a:srgbClr val="C0402A"/>
          </a:solidFill>
          <a:ln/>
        </p:spPr>
        <p:txBody>
          <a:bodyPr/>
          <a:lstStyle/>
          <a:p>
            <a:endParaRPr lang="en-HK"/>
          </a:p>
        </p:txBody>
      </p:sp>
      <p:sp>
        <p:nvSpPr>
          <p:cNvPr id="11" name="Text 9"/>
          <p:cNvSpPr/>
          <p:nvPr/>
        </p:nvSpPr>
        <p:spPr>
          <a:xfrm>
            <a:off x="1042416" y="2450409"/>
            <a:ext cx="10180015" cy="935797"/>
          </a:xfrm>
          <a:prstGeom prst="rect">
            <a:avLst/>
          </a:prstGeom>
          <a:noFill/>
          <a:ln/>
        </p:spPr>
        <p:txBody>
          <a:bodyPr wrap="square" lIns="0" tIns="0" rIns="0" bIns="0" rtlCol="0" anchor="t"/>
          <a:lstStyle/>
          <a:p>
            <a:pPr marL="0" indent="0">
              <a:lnSpc>
                <a:spcPts val="1505"/>
              </a:lnSpc>
              <a:buNone/>
            </a:pPr>
            <a:r>
              <a:rPr lang="en-US" sz="989" dirty="0">
                <a:solidFill>
                  <a:srgbClr val="2A2724"/>
                </a:solidFill>
                <a:latin typeface="Courier New" pitchFamily="34" charset="0"/>
                <a:ea typeface="Courier New" pitchFamily="34" charset="-122"/>
                <a:cs typeface="Courier New" pitchFamily="34" charset="-120"/>
              </a:rPr>
              <a:t>&lt;nav&gt;    Home  About  Venues  Equipment  Funding  Contact  &lt;/nav&gt;</a:t>
            </a:r>
            <a:endParaRPr lang="en-US" sz="989" dirty="0"/>
          </a:p>
          <a:p>
            <a:pPr marL="0" indent="0">
              <a:lnSpc>
                <a:spcPts val="1505"/>
              </a:lnSpc>
              <a:buNone/>
            </a:pPr>
            <a:r>
              <a:rPr lang="en-US" sz="989" dirty="0">
                <a:solidFill>
                  <a:srgbClr val="2A2724"/>
                </a:solidFill>
                <a:latin typeface="Courier New" pitchFamily="34" charset="0"/>
                <a:ea typeface="Courier New" pitchFamily="34" charset="-122"/>
                <a:cs typeface="Courier New" pitchFamily="34" charset="-120"/>
              </a:rPr>
              <a:t>&lt;main&gt;   &lt;h1&gt;Makerspace A&lt;/h1&gt;</a:t>
            </a:r>
            <a:endParaRPr lang="en-US" sz="989" dirty="0"/>
          </a:p>
          <a:p>
            <a:pPr marL="0" indent="0">
              <a:lnSpc>
                <a:spcPts val="1505"/>
              </a:lnSpc>
              <a:buNone/>
            </a:pPr>
            <a:r>
              <a:rPr lang="en-US" sz="989" dirty="0">
                <a:solidFill>
                  <a:srgbClr val="2A2724"/>
                </a:solidFill>
                <a:latin typeface="Courier New" pitchFamily="34" charset="0"/>
                <a:ea typeface="Courier New" pitchFamily="34" charset="-122"/>
                <a:cs typeface="Courier New" pitchFamily="34" charset="-120"/>
              </a:rPr>
              <a:t>         &lt;p&gt;Capacity 40. Bookable in two hour slots.&lt;/p&gt;  &lt;/main&gt;</a:t>
            </a:r>
            <a:endParaRPr lang="en-US" sz="989" dirty="0"/>
          </a:p>
          <a:p>
            <a:pPr marL="0" indent="0">
              <a:lnSpc>
                <a:spcPts val="1505"/>
              </a:lnSpc>
              <a:buNone/>
            </a:pPr>
            <a:r>
              <a:rPr lang="en-US" sz="989" dirty="0">
                <a:solidFill>
                  <a:srgbClr val="2A2724"/>
                </a:solidFill>
                <a:latin typeface="Courier New" pitchFamily="34" charset="0"/>
                <a:ea typeface="Courier New" pitchFamily="34" charset="-122"/>
                <a:cs typeface="Courier New" pitchFamily="34" charset="-120"/>
              </a:rPr>
              <a:t>&lt;footer&gt; (c) 2025  Accessibility  Privacy  Sitemap        &lt;/footer&gt;</a:t>
            </a:r>
            <a:endParaRPr lang="en-US" sz="989" dirty="0"/>
          </a:p>
        </p:txBody>
      </p:sp>
      <p:sp>
        <p:nvSpPr>
          <p:cNvPr id="12" name="Text 10"/>
          <p:cNvSpPr/>
          <p:nvPr/>
        </p:nvSpPr>
        <p:spPr>
          <a:xfrm>
            <a:off x="786384" y="3685032"/>
            <a:ext cx="10618927" cy="283098"/>
          </a:xfrm>
          <a:prstGeom prst="rect">
            <a:avLst/>
          </a:prstGeom>
          <a:noFill/>
          <a:ln/>
        </p:spPr>
        <p:txBody>
          <a:bodyPr wrap="square" lIns="0" tIns="0" rIns="0" bIns="0" rtlCol="0" anchor="ctr"/>
          <a:lstStyle/>
          <a:p>
            <a:pPr marL="0" indent="0">
              <a:buNone/>
            </a:pPr>
            <a:r>
              <a:rPr lang="en-US" sz="1462" b="1" dirty="0">
                <a:solidFill>
                  <a:srgbClr val="141414"/>
                </a:solidFill>
                <a:latin typeface="Arial" pitchFamily="34" charset="0"/>
                <a:ea typeface="Arial" pitchFamily="34" charset="-122"/>
                <a:cs typeface="Arial" pitchFamily="34" charset="-120"/>
              </a:rPr>
              <a:t>The same page, two ways</a:t>
            </a:r>
            <a:endParaRPr lang="en-US" sz="1462" dirty="0"/>
          </a:p>
        </p:txBody>
      </p:sp>
      <p:sp>
        <p:nvSpPr>
          <p:cNvPr id="14" name="Shape 12"/>
          <p:cNvSpPr/>
          <p:nvPr/>
        </p:nvSpPr>
        <p:spPr>
          <a:xfrm>
            <a:off x="786384" y="4022655"/>
            <a:ext cx="4751680" cy="18873"/>
          </a:xfrm>
          <a:prstGeom prst="rect">
            <a:avLst/>
          </a:prstGeom>
          <a:solidFill>
            <a:srgbClr val="C0402A"/>
          </a:solidFill>
          <a:ln/>
        </p:spPr>
        <p:txBody>
          <a:bodyPr/>
          <a:lstStyle/>
          <a:p>
            <a:endParaRPr lang="en-HK"/>
          </a:p>
        </p:txBody>
      </p:sp>
      <p:sp>
        <p:nvSpPr>
          <p:cNvPr id="15" name="Text 13"/>
          <p:cNvSpPr/>
          <p:nvPr/>
        </p:nvSpPr>
        <p:spPr>
          <a:xfrm>
            <a:off x="786384" y="4148476"/>
            <a:ext cx="4751680" cy="295986"/>
          </a:xfrm>
          <a:prstGeom prst="rect">
            <a:avLst/>
          </a:prstGeom>
          <a:noFill/>
          <a:ln/>
        </p:spPr>
        <p:txBody>
          <a:bodyPr wrap="square" lIns="0" tIns="0" rIns="0" bIns="0" rtlCol="0" anchor="ctr"/>
          <a:lstStyle/>
          <a:p>
            <a:pPr marL="0" indent="0">
              <a:lnSpc>
                <a:spcPts val="2021"/>
              </a:lnSpc>
              <a:buNone/>
            </a:pPr>
            <a:r>
              <a:rPr lang="en-US" sz="1677" b="1" dirty="0">
                <a:solidFill>
                  <a:srgbClr val="141414"/>
                </a:solidFill>
                <a:latin typeface="Arial" pitchFamily="34" charset="0"/>
                <a:ea typeface="Arial" pitchFamily="34" charset="-122"/>
                <a:cs typeface="Arial" pitchFamily="34" charset="-120"/>
              </a:rPr>
              <a:t>soup.get_text()</a:t>
            </a:r>
            <a:endParaRPr lang="en-US" sz="1677" dirty="0"/>
          </a:p>
        </p:txBody>
      </p:sp>
      <p:sp>
        <p:nvSpPr>
          <p:cNvPr id="16" name="Text 14"/>
          <p:cNvSpPr/>
          <p:nvPr/>
        </p:nvSpPr>
        <p:spPr>
          <a:xfrm>
            <a:off x="786384" y="4507373"/>
            <a:ext cx="4751680" cy="1382725"/>
          </a:xfrm>
          <a:prstGeom prst="rect">
            <a:avLst/>
          </a:prstGeom>
          <a:noFill/>
          <a:ln/>
        </p:spPr>
        <p:txBody>
          <a:bodyPr wrap="square" lIns="0" tIns="0" rIns="0" bIns="0" rtlCol="0" anchor="t"/>
          <a:lstStyle/>
          <a:p>
            <a:pPr marL="0" indent="0">
              <a:lnSpc>
                <a:spcPts val="1763"/>
              </a:lnSpc>
              <a:buNone/>
            </a:pPr>
            <a:r>
              <a:rPr lang="en-US" sz="1161" dirty="0">
                <a:solidFill>
                  <a:srgbClr val="141414"/>
                </a:solidFill>
                <a:latin typeface="Arial" pitchFamily="34" charset="0"/>
                <a:ea typeface="Arial" pitchFamily="34" charset="-122"/>
                <a:cs typeface="Arial" pitchFamily="34" charset="-120"/>
              </a:rPr>
              <a:t>"Home About Venues Equipment Funding Contact Makerspace A Capacity 40. Bookable in two hour slots. (c) 2025 Accessibility Privacy Sitemap"</a:t>
            </a:r>
            <a:endParaRPr lang="en-US" sz="1161" dirty="0"/>
          </a:p>
          <a:p>
            <a:pPr marL="0" indent="0">
              <a:lnSpc>
                <a:spcPts val="1763"/>
              </a:lnSpc>
              <a:buNone/>
            </a:pPr>
            <a:endParaRPr lang="en-US" sz="1161" dirty="0"/>
          </a:p>
          <a:p>
            <a:pPr marL="0" indent="0">
              <a:lnSpc>
                <a:spcPts val="1763"/>
              </a:lnSpc>
              <a:buNone/>
            </a:pPr>
            <a:r>
              <a:rPr lang="en-US" sz="1161" dirty="0">
                <a:solidFill>
                  <a:srgbClr val="141414"/>
                </a:solidFill>
                <a:latin typeface="Arial" pitchFamily="34" charset="0"/>
                <a:ea typeface="Arial" pitchFamily="34" charset="-122"/>
                <a:cs typeface="Arial" pitchFamily="34" charset="-120"/>
              </a:rPr>
              <a:t>Nav and footer on every page, so every chunk looks alike.</a:t>
            </a:r>
            <a:endParaRPr lang="en-US" sz="1161" dirty="0"/>
          </a:p>
        </p:txBody>
      </p:sp>
      <p:sp>
        <p:nvSpPr>
          <p:cNvPr id="17" name="Shape 15"/>
          <p:cNvSpPr/>
          <p:nvPr/>
        </p:nvSpPr>
        <p:spPr>
          <a:xfrm>
            <a:off x="6159855" y="4022655"/>
            <a:ext cx="5227168" cy="14155"/>
          </a:xfrm>
          <a:prstGeom prst="rect">
            <a:avLst/>
          </a:prstGeom>
          <a:solidFill>
            <a:srgbClr val="141414"/>
          </a:solidFill>
          <a:ln/>
        </p:spPr>
        <p:txBody>
          <a:bodyPr/>
          <a:lstStyle/>
          <a:p>
            <a:endParaRPr lang="en-HK"/>
          </a:p>
        </p:txBody>
      </p:sp>
      <p:sp>
        <p:nvSpPr>
          <p:cNvPr id="18" name="Text 16"/>
          <p:cNvSpPr/>
          <p:nvPr/>
        </p:nvSpPr>
        <p:spPr>
          <a:xfrm>
            <a:off x="6159855" y="4148476"/>
            <a:ext cx="5227168" cy="295986"/>
          </a:xfrm>
          <a:prstGeom prst="rect">
            <a:avLst/>
          </a:prstGeom>
          <a:noFill/>
          <a:ln/>
        </p:spPr>
        <p:txBody>
          <a:bodyPr wrap="square" lIns="0" tIns="0" rIns="0" bIns="0" rtlCol="0" anchor="ctr"/>
          <a:lstStyle/>
          <a:p>
            <a:pPr marL="0" indent="0">
              <a:lnSpc>
                <a:spcPts val="2021"/>
              </a:lnSpc>
              <a:buNone/>
            </a:pPr>
            <a:r>
              <a:rPr lang="en-US" sz="1677" b="1" dirty="0">
                <a:solidFill>
                  <a:srgbClr val="141414"/>
                </a:solidFill>
                <a:latin typeface="Arial" pitchFamily="34" charset="0"/>
                <a:ea typeface="Arial" pitchFamily="34" charset="-122"/>
                <a:cs typeface="Arial" pitchFamily="34" charset="-120"/>
              </a:rPr>
              <a:t>soup.select_one("main").get_text()</a:t>
            </a:r>
            <a:endParaRPr lang="en-US" sz="1677" dirty="0"/>
          </a:p>
        </p:txBody>
      </p:sp>
      <p:sp>
        <p:nvSpPr>
          <p:cNvPr id="19" name="Text 17"/>
          <p:cNvSpPr/>
          <p:nvPr/>
        </p:nvSpPr>
        <p:spPr>
          <a:xfrm>
            <a:off x="6159855" y="4507373"/>
            <a:ext cx="5227168" cy="711022"/>
          </a:xfrm>
          <a:prstGeom prst="rect">
            <a:avLst/>
          </a:prstGeom>
          <a:noFill/>
          <a:ln/>
        </p:spPr>
        <p:txBody>
          <a:bodyPr wrap="square" lIns="0" tIns="0" rIns="0" bIns="0" rtlCol="0" anchor="t"/>
          <a:lstStyle/>
          <a:p>
            <a:pPr marL="0" indent="0">
              <a:lnSpc>
                <a:spcPts val="1763"/>
              </a:lnSpc>
              <a:buNone/>
            </a:pPr>
            <a:r>
              <a:rPr lang="en-US" sz="1161" dirty="0">
                <a:solidFill>
                  <a:srgbClr val="141414"/>
                </a:solidFill>
                <a:latin typeface="Arial" pitchFamily="34" charset="0"/>
                <a:ea typeface="Arial" pitchFamily="34" charset="-122"/>
                <a:cs typeface="Arial" pitchFamily="34" charset="-120"/>
              </a:rPr>
              <a:t>"Makerspace A Capacity 40. Bookable in two hour slots."</a:t>
            </a:r>
            <a:endParaRPr lang="en-US" sz="1161" dirty="0"/>
          </a:p>
          <a:p>
            <a:pPr marL="0" indent="0">
              <a:lnSpc>
                <a:spcPts val="1763"/>
              </a:lnSpc>
              <a:buNone/>
            </a:pPr>
            <a:endParaRPr lang="en-US" sz="1161" dirty="0"/>
          </a:p>
          <a:p>
            <a:pPr marL="0" indent="0">
              <a:lnSpc>
                <a:spcPts val="1763"/>
              </a:lnSpc>
              <a:buNone/>
            </a:pPr>
            <a:r>
              <a:rPr lang="en-US" sz="1161" dirty="0">
                <a:solidFill>
                  <a:srgbClr val="141414"/>
                </a:solidFill>
                <a:latin typeface="Arial" pitchFamily="34" charset="0"/>
                <a:ea typeface="Arial" pitchFamily="34" charset="-122"/>
                <a:cs typeface="Arial" pitchFamily="34" charset="-120"/>
              </a:rPr>
              <a:t>Only the content. This is what you want in the index.</a:t>
            </a:r>
            <a:endParaRPr lang="en-US" sz="1161" dirty="0"/>
          </a:p>
        </p:txBody>
      </p:sp>
      <p:sp>
        <p:nvSpPr>
          <p:cNvPr id="20" name="Text 18"/>
          <p:cNvSpPr/>
          <p:nvPr/>
        </p:nvSpPr>
        <p:spPr>
          <a:xfrm>
            <a:off x="786384" y="6323132"/>
            <a:ext cx="8821674" cy="471830"/>
          </a:xfrm>
          <a:prstGeom prst="rect">
            <a:avLst/>
          </a:prstGeom>
          <a:noFill/>
          <a:ln/>
        </p:spPr>
        <p:txBody>
          <a:bodyPr wrap="square" lIns="0" tIns="0" rIns="0" bIns="0" rtlCol="0" anchor="ctr"/>
          <a:lstStyle/>
          <a:p>
            <a:pPr marL="0" indent="0">
              <a:lnSpc>
                <a:spcPts val="1806"/>
              </a:lnSpc>
              <a:buNone/>
            </a:pPr>
            <a:r>
              <a:rPr lang="en-US" sz="1247" dirty="0">
                <a:solidFill>
                  <a:srgbClr val="141414"/>
                </a:solidFill>
                <a:latin typeface="Arial" pitchFamily="34" charset="0"/>
                <a:ea typeface="Arial" pitchFamily="34" charset="-122"/>
                <a:cs typeface="Arial" pitchFamily="34" charset="-120"/>
              </a:rPr>
              <a:t>Before writing the scraper, open the site, right-click the content and choose Inspect. Find the element that wraps it. Ten minutes there saves rebuilding the index later.</a:t>
            </a:r>
            <a:endParaRPr lang="en-US" sz="1247"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Building the Index</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5" name="Text 3"/>
          <p:cNvSpPr/>
          <p:nvPr/>
        </p:nvSpPr>
        <p:spPr>
          <a:xfrm>
            <a:off x="10801807"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6E6A63"/>
                </a:solidFill>
                <a:latin typeface="Arial" pitchFamily="34" charset="0"/>
                <a:ea typeface="Arial" pitchFamily="34" charset="-122"/>
                <a:cs typeface="Arial" pitchFamily="34" charset="-120"/>
              </a:rPr>
              <a:t>LV2</a:t>
            </a:r>
            <a:endParaRPr lang="en-US" sz="1100" dirty="0"/>
          </a:p>
        </p:txBody>
      </p:sp>
      <p:sp>
        <p:nvSpPr>
          <p:cNvPr id="6" name="Shape 4"/>
          <p:cNvSpPr/>
          <p:nvPr/>
        </p:nvSpPr>
        <p:spPr>
          <a:xfrm>
            <a:off x="786384" y="1426464"/>
            <a:ext cx="10618927" cy="10973"/>
          </a:xfrm>
          <a:prstGeom prst="rect">
            <a:avLst/>
          </a:prstGeom>
          <a:solidFill>
            <a:srgbClr val="D5D1CA"/>
          </a:solidFill>
          <a:ln/>
        </p:spPr>
        <p:txBody>
          <a:bodyPr/>
          <a:lstStyle/>
          <a:p>
            <a:endParaRPr lang="en-HK"/>
          </a:p>
        </p:txBody>
      </p:sp>
      <p:sp>
        <p:nvSpPr>
          <p:cNvPr id="7" name="Text 5"/>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24</a:t>
            </a:r>
            <a:endParaRPr lang="en-US" sz="1200" dirty="0"/>
          </a:p>
        </p:txBody>
      </p:sp>
      <p:sp>
        <p:nvSpPr>
          <p:cNvPr id="8" name="Shape 6"/>
          <p:cNvSpPr/>
          <p:nvPr/>
        </p:nvSpPr>
        <p:spPr>
          <a:xfrm>
            <a:off x="786384" y="1820638"/>
            <a:ext cx="2517572" cy="20313"/>
          </a:xfrm>
          <a:prstGeom prst="rect">
            <a:avLst/>
          </a:prstGeom>
          <a:solidFill>
            <a:srgbClr val="D5D1CA"/>
          </a:solidFill>
          <a:ln/>
        </p:spPr>
        <p:txBody>
          <a:bodyPr/>
          <a:lstStyle/>
          <a:p>
            <a:endParaRPr lang="en-HK"/>
          </a:p>
        </p:txBody>
      </p:sp>
      <p:sp>
        <p:nvSpPr>
          <p:cNvPr id="9" name="Text 7"/>
          <p:cNvSpPr/>
          <p:nvPr/>
        </p:nvSpPr>
        <p:spPr>
          <a:xfrm>
            <a:off x="786384" y="1949905"/>
            <a:ext cx="2517572" cy="258532"/>
          </a:xfrm>
          <a:prstGeom prst="rect">
            <a:avLst/>
          </a:prstGeom>
          <a:noFill/>
          <a:ln/>
        </p:spPr>
        <p:txBody>
          <a:bodyPr wrap="square" lIns="0" tIns="0" rIns="0" bIns="0" rtlCol="0" anchor="ctr"/>
          <a:lstStyle/>
          <a:p>
            <a:pPr marL="0" indent="0">
              <a:buNone/>
            </a:pPr>
            <a:r>
              <a:rPr lang="en-US" sz="1200" b="1" kern="0" spc="140" dirty="0">
                <a:solidFill>
                  <a:srgbClr val="9C978E"/>
                </a:solidFill>
                <a:latin typeface="Arial" pitchFamily="34" charset="0"/>
                <a:ea typeface="Arial" pitchFamily="34" charset="-122"/>
                <a:cs typeface="Arial" pitchFamily="34" charset="-120"/>
              </a:rPr>
              <a:t>01</a:t>
            </a:r>
            <a:endParaRPr lang="en-US" sz="1200" dirty="0"/>
          </a:p>
        </p:txBody>
      </p:sp>
      <p:sp>
        <p:nvSpPr>
          <p:cNvPr id="10" name="Text 8"/>
          <p:cNvSpPr/>
          <p:nvPr/>
        </p:nvSpPr>
        <p:spPr>
          <a:xfrm>
            <a:off x="786384" y="2245370"/>
            <a:ext cx="2517572" cy="646331"/>
          </a:xfrm>
          <a:prstGeom prst="rect">
            <a:avLst/>
          </a:prstGeom>
          <a:noFill/>
          <a:ln/>
        </p:spPr>
        <p:txBody>
          <a:bodyPr wrap="square" lIns="0" tIns="0" rIns="0" bIns="0" rtlCol="0" anchor="ctr"/>
          <a:lstStyle/>
          <a:p>
            <a:pPr marL="0" indent="0">
              <a:lnSpc>
                <a:spcPts val="2000"/>
              </a:lnSpc>
              <a:buNone/>
            </a:pPr>
            <a:r>
              <a:rPr lang="en-US" sz="1750" b="1" dirty="0">
                <a:solidFill>
                  <a:srgbClr val="141414"/>
                </a:solidFill>
                <a:latin typeface="Arial" pitchFamily="34" charset="0"/>
                <a:ea typeface="Arial" pitchFamily="34" charset="-122"/>
                <a:cs typeface="Arial" pitchFamily="34" charset="-120"/>
              </a:rPr>
              <a:t>Crawl both sites</a:t>
            </a:r>
            <a:endParaRPr lang="en-US" sz="1750" dirty="0"/>
          </a:p>
        </p:txBody>
      </p:sp>
      <p:sp>
        <p:nvSpPr>
          <p:cNvPr id="11" name="Shape 9"/>
          <p:cNvSpPr/>
          <p:nvPr/>
        </p:nvSpPr>
        <p:spPr>
          <a:xfrm>
            <a:off x="3486836" y="1820638"/>
            <a:ext cx="2517572" cy="20313"/>
          </a:xfrm>
          <a:prstGeom prst="rect">
            <a:avLst/>
          </a:prstGeom>
          <a:solidFill>
            <a:srgbClr val="C0402A"/>
          </a:solidFill>
          <a:ln/>
        </p:spPr>
        <p:txBody>
          <a:bodyPr/>
          <a:lstStyle/>
          <a:p>
            <a:endParaRPr lang="en-HK"/>
          </a:p>
        </p:txBody>
      </p:sp>
      <p:sp>
        <p:nvSpPr>
          <p:cNvPr id="12" name="Text 10"/>
          <p:cNvSpPr/>
          <p:nvPr/>
        </p:nvSpPr>
        <p:spPr>
          <a:xfrm>
            <a:off x="3486836" y="1949905"/>
            <a:ext cx="2517572" cy="258532"/>
          </a:xfrm>
          <a:prstGeom prst="rect">
            <a:avLst/>
          </a:prstGeom>
          <a:noFill/>
          <a:ln/>
        </p:spPr>
        <p:txBody>
          <a:bodyPr wrap="square" lIns="0" tIns="0" rIns="0" bIns="0" rtlCol="0" anchor="ctr"/>
          <a:lstStyle/>
          <a:p>
            <a:pPr marL="0" indent="0">
              <a:buNone/>
            </a:pPr>
            <a:r>
              <a:rPr lang="en-US" sz="1200" b="1" kern="0" spc="140" dirty="0">
                <a:solidFill>
                  <a:srgbClr val="C0402A"/>
                </a:solidFill>
                <a:latin typeface="Arial" pitchFamily="34" charset="0"/>
                <a:ea typeface="Arial" pitchFamily="34" charset="-122"/>
                <a:cs typeface="Arial" pitchFamily="34" charset="-120"/>
              </a:rPr>
              <a:t>02</a:t>
            </a:r>
            <a:endParaRPr lang="en-US" sz="1200" dirty="0"/>
          </a:p>
        </p:txBody>
      </p:sp>
      <p:sp>
        <p:nvSpPr>
          <p:cNvPr id="13" name="Text 11"/>
          <p:cNvSpPr/>
          <p:nvPr/>
        </p:nvSpPr>
        <p:spPr>
          <a:xfrm>
            <a:off x="3486836" y="2245370"/>
            <a:ext cx="2517572" cy="646331"/>
          </a:xfrm>
          <a:prstGeom prst="rect">
            <a:avLst/>
          </a:prstGeom>
          <a:noFill/>
          <a:ln/>
        </p:spPr>
        <p:txBody>
          <a:bodyPr wrap="square" lIns="0" tIns="0" rIns="0" bIns="0" rtlCol="0" anchor="ctr"/>
          <a:lstStyle/>
          <a:p>
            <a:pPr marL="0" indent="0">
              <a:lnSpc>
                <a:spcPts val="2000"/>
              </a:lnSpc>
              <a:buNone/>
            </a:pPr>
            <a:r>
              <a:rPr lang="en-US" sz="1750" b="1" dirty="0">
                <a:solidFill>
                  <a:srgbClr val="141414"/>
                </a:solidFill>
                <a:latin typeface="Arial" pitchFamily="34" charset="0"/>
                <a:ea typeface="Arial" pitchFamily="34" charset="-122"/>
                <a:cs typeface="Arial" pitchFamily="34" charset="-120"/>
              </a:rPr>
              <a:t>Extract readable text</a:t>
            </a:r>
            <a:endParaRPr lang="en-US" sz="1750" dirty="0"/>
          </a:p>
        </p:txBody>
      </p:sp>
      <p:sp>
        <p:nvSpPr>
          <p:cNvPr id="14" name="Shape 12"/>
          <p:cNvSpPr/>
          <p:nvPr/>
        </p:nvSpPr>
        <p:spPr>
          <a:xfrm>
            <a:off x="6187288" y="1820638"/>
            <a:ext cx="2517572" cy="20313"/>
          </a:xfrm>
          <a:prstGeom prst="rect">
            <a:avLst/>
          </a:prstGeom>
          <a:solidFill>
            <a:srgbClr val="D5D1CA"/>
          </a:solidFill>
          <a:ln/>
        </p:spPr>
        <p:txBody>
          <a:bodyPr/>
          <a:lstStyle/>
          <a:p>
            <a:endParaRPr lang="en-HK"/>
          </a:p>
        </p:txBody>
      </p:sp>
      <p:sp>
        <p:nvSpPr>
          <p:cNvPr id="15" name="Text 13"/>
          <p:cNvSpPr/>
          <p:nvPr/>
        </p:nvSpPr>
        <p:spPr>
          <a:xfrm>
            <a:off x="6187288" y="1949905"/>
            <a:ext cx="2517572" cy="258532"/>
          </a:xfrm>
          <a:prstGeom prst="rect">
            <a:avLst/>
          </a:prstGeom>
          <a:noFill/>
          <a:ln/>
        </p:spPr>
        <p:txBody>
          <a:bodyPr wrap="square" lIns="0" tIns="0" rIns="0" bIns="0" rtlCol="0" anchor="ctr"/>
          <a:lstStyle/>
          <a:p>
            <a:pPr marL="0" indent="0">
              <a:buNone/>
            </a:pPr>
            <a:r>
              <a:rPr lang="en-US" sz="1200" b="1" kern="0" spc="140" dirty="0">
                <a:solidFill>
                  <a:srgbClr val="9C978E"/>
                </a:solidFill>
                <a:latin typeface="Arial" pitchFamily="34" charset="0"/>
                <a:ea typeface="Arial" pitchFamily="34" charset="-122"/>
                <a:cs typeface="Arial" pitchFamily="34" charset="-120"/>
              </a:rPr>
              <a:t>03</a:t>
            </a:r>
            <a:endParaRPr lang="en-US" sz="1200" dirty="0"/>
          </a:p>
        </p:txBody>
      </p:sp>
      <p:sp>
        <p:nvSpPr>
          <p:cNvPr id="16" name="Text 14"/>
          <p:cNvSpPr/>
          <p:nvPr/>
        </p:nvSpPr>
        <p:spPr>
          <a:xfrm>
            <a:off x="6187288" y="2245370"/>
            <a:ext cx="2517572" cy="646331"/>
          </a:xfrm>
          <a:prstGeom prst="rect">
            <a:avLst/>
          </a:prstGeom>
          <a:noFill/>
          <a:ln/>
        </p:spPr>
        <p:txBody>
          <a:bodyPr wrap="square" lIns="0" tIns="0" rIns="0" bIns="0" rtlCol="0" anchor="ctr"/>
          <a:lstStyle/>
          <a:p>
            <a:pPr marL="0" indent="0">
              <a:lnSpc>
                <a:spcPts val="2000"/>
              </a:lnSpc>
              <a:buNone/>
            </a:pPr>
            <a:r>
              <a:rPr lang="en-US" sz="1750" b="1" dirty="0">
                <a:solidFill>
                  <a:srgbClr val="141414"/>
                </a:solidFill>
                <a:latin typeface="Arial" pitchFamily="34" charset="0"/>
                <a:ea typeface="Arial" pitchFamily="34" charset="-122"/>
                <a:cs typeface="Arial" pitchFamily="34" charset="-120"/>
              </a:rPr>
              <a:t>Chunk with overlap</a:t>
            </a:r>
            <a:endParaRPr lang="en-US" sz="1750" dirty="0"/>
          </a:p>
        </p:txBody>
      </p:sp>
      <p:sp>
        <p:nvSpPr>
          <p:cNvPr id="17" name="Shape 15"/>
          <p:cNvSpPr/>
          <p:nvPr/>
        </p:nvSpPr>
        <p:spPr>
          <a:xfrm>
            <a:off x="8887739" y="1820638"/>
            <a:ext cx="2517572" cy="20313"/>
          </a:xfrm>
          <a:prstGeom prst="rect">
            <a:avLst/>
          </a:prstGeom>
          <a:solidFill>
            <a:srgbClr val="D5D1CA"/>
          </a:solidFill>
          <a:ln/>
        </p:spPr>
        <p:txBody>
          <a:bodyPr/>
          <a:lstStyle/>
          <a:p>
            <a:endParaRPr lang="en-HK"/>
          </a:p>
        </p:txBody>
      </p:sp>
      <p:sp>
        <p:nvSpPr>
          <p:cNvPr id="18" name="Text 16"/>
          <p:cNvSpPr/>
          <p:nvPr/>
        </p:nvSpPr>
        <p:spPr>
          <a:xfrm>
            <a:off x="8887739" y="1949905"/>
            <a:ext cx="2517572" cy="258532"/>
          </a:xfrm>
          <a:prstGeom prst="rect">
            <a:avLst/>
          </a:prstGeom>
          <a:noFill/>
          <a:ln/>
        </p:spPr>
        <p:txBody>
          <a:bodyPr wrap="square" lIns="0" tIns="0" rIns="0" bIns="0" rtlCol="0" anchor="ctr"/>
          <a:lstStyle/>
          <a:p>
            <a:pPr marL="0" indent="0">
              <a:buNone/>
            </a:pPr>
            <a:r>
              <a:rPr lang="en-US" sz="1200" b="1" kern="0" spc="140" dirty="0">
                <a:solidFill>
                  <a:srgbClr val="9C978E"/>
                </a:solidFill>
                <a:latin typeface="Arial" pitchFamily="34" charset="0"/>
                <a:ea typeface="Arial" pitchFamily="34" charset="-122"/>
                <a:cs typeface="Arial" pitchFamily="34" charset="-120"/>
              </a:rPr>
              <a:t>04</a:t>
            </a:r>
            <a:endParaRPr lang="en-US" sz="1200" dirty="0"/>
          </a:p>
        </p:txBody>
      </p:sp>
      <p:sp>
        <p:nvSpPr>
          <p:cNvPr id="19" name="Text 17"/>
          <p:cNvSpPr/>
          <p:nvPr/>
        </p:nvSpPr>
        <p:spPr>
          <a:xfrm>
            <a:off x="8887739" y="2245370"/>
            <a:ext cx="2517572" cy="646331"/>
          </a:xfrm>
          <a:prstGeom prst="rect">
            <a:avLst/>
          </a:prstGeom>
          <a:noFill/>
          <a:ln/>
        </p:spPr>
        <p:txBody>
          <a:bodyPr wrap="square" lIns="0" tIns="0" rIns="0" bIns="0" rtlCol="0" anchor="ctr"/>
          <a:lstStyle/>
          <a:p>
            <a:pPr marL="0" indent="0">
              <a:lnSpc>
                <a:spcPts val="2000"/>
              </a:lnSpc>
              <a:buNone/>
            </a:pPr>
            <a:r>
              <a:rPr lang="en-US" sz="1750" b="1" dirty="0">
                <a:solidFill>
                  <a:srgbClr val="141414"/>
                </a:solidFill>
                <a:latin typeface="Arial" pitchFamily="34" charset="0"/>
                <a:ea typeface="Arial" pitchFamily="34" charset="-122"/>
                <a:cs typeface="Arial" pitchFamily="34" charset="-120"/>
              </a:rPr>
              <a:t>Embed and store</a:t>
            </a:r>
            <a:endParaRPr lang="en-US" sz="1750" dirty="0"/>
          </a:p>
        </p:txBody>
      </p:sp>
      <p:sp>
        <p:nvSpPr>
          <p:cNvPr id="21" name="Text 19"/>
          <p:cNvSpPr/>
          <p:nvPr/>
        </p:nvSpPr>
        <p:spPr>
          <a:xfrm>
            <a:off x="1060704" y="3390299"/>
            <a:ext cx="10070287" cy="332399"/>
          </a:xfrm>
          <a:prstGeom prst="rect">
            <a:avLst/>
          </a:prstGeom>
          <a:noFill/>
          <a:ln/>
        </p:spPr>
        <p:txBody>
          <a:bodyPr wrap="square" lIns="0" tIns="0" rIns="0" bIns="0" rtlCol="0" anchor="ctr"/>
          <a:lstStyle/>
          <a:p>
            <a:pPr marL="0" indent="0">
              <a:buNone/>
            </a:pPr>
            <a:r>
              <a:rPr lang="en-US" sz="1900" b="1" dirty="0">
                <a:solidFill>
                  <a:srgbClr val="6B4410"/>
                </a:solidFill>
                <a:latin typeface="Arial" pitchFamily="34" charset="0"/>
                <a:ea typeface="Arial" pitchFamily="34" charset="-122"/>
                <a:cs typeface="Arial" pitchFamily="34" charset="-120"/>
              </a:rPr>
              <a:t>The most common mistake here</a:t>
            </a:r>
            <a:endParaRPr lang="en-US" sz="1900" dirty="0"/>
          </a:p>
        </p:txBody>
      </p:sp>
      <p:sp>
        <p:nvSpPr>
          <p:cNvPr id="22" name="Text 20"/>
          <p:cNvSpPr/>
          <p:nvPr/>
        </p:nvSpPr>
        <p:spPr>
          <a:xfrm>
            <a:off x="1060704" y="3759632"/>
            <a:ext cx="10070287" cy="830997"/>
          </a:xfrm>
          <a:prstGeom prst="rect">
            <a:avLst/>
          </a:prstGeom>
          <a:noFill/>
          <a:ln/>
        </p:spPr>
        <p:txBody>
          <a:bodyPr wrap="square" lIns="0" tIns="0" rIns="0" bIns="0" rtlCol="0" anchor="ctr"/>
          <a:lstStyle/>
          <a:p>
            <a:pPr marL="0" indent="0">
              <a:lnSpc>
                <a:spcPts val="2200"/>
              </a:lnSpc>
              <a:buNone/>
            </a:pPr>
            <a:r>
              <a:rPr lang="en-US" sz="1500" dirty="0">
                <a:solidFill>
                  <a:srgbClr val="5A3D14"/>
                </a:solidFill>
                <a:latin typeface="Arial" pitchFamily="34" charset="0"/>
                <a:ea typeface="Arial" pitchFamily="34" charset="-122"/>
                <a:cs typeface="Arial" pitchFamily="34" charset="-120"/>
              </a:rPr>
              <a:t>Calling get_text() on the whole page returns the nav menu, header and footer from every page. Those near-identical fragments become chunks that look moderately similar to every query, and they will push real results out of your top five. Select the main content element instead.</a:t>
            </a:r>
            <a:endParaRPr lang="en-US" sz="1500" dirty="0"/>
          </a:p>
        </p:txBody>
      </p:sp>
      <p:sp>
        <p:nvSpPr>
          <p:cNvPr id="23" name="Shape 21"/>
          <p:cNvSpPr/>
          <p:nvPr/>
        </p:nvSpPr>
        <p:spPr>
          <a:xfrm>
            <a:off x="786384" y="4949188"/>
            <a:ext cx="155448" cy="18467"/>
          </a:xfrm>
          <a:prstGeom prst="rect">
            <a:avLst/>
          </a:prstGeom>
          <a:solidFill>
            <a:srgbClr val="C0402A"/>
          </a:solidFill>
          <a:ln/>
        </p:spPr>
        <p:txBody>
          <a:bodyPr/>
          <a:lstStyle/>
          <a:p>
            <a:endParaRPr lang="en-HK"/>
          </a:p>
        </p:txBody>
      </p:sp>
      <p:sp>
        <p:nvSpPr>
          <p:cNvPr id="24" name="Text 22"/>
          <p:cNvSpPr/>
          <p:nvPr/>
        </p:nvSpPr>
        <p:spPr>
          <a:xfrm>
            <a:off x="1097280" y="4830694"/>
            <a:ext cx="9777085" cy="337528"/>
          </a:xfrm>
          <a:prstGeom prst="rect">
            <a:avLst/>
          </a:prstGeom>
          <a:noFill/>
          <a:ln/>
        </p:spPr>
        <p:txBody>
          <a:bodyPr wrap="square" lIns="0" tIns="0" rIns="0" bIns="0" rtlCol="0" anchor="t"/>
          <a:lstStyle/>
          <a:p>
            <a:pPr marL="0" indent="0">
              <a:lnSpc>
                <a:spcPts val="2200"/>
              </a:lnSpc>
              <a:buNone/>
            </a:pPr>
            <a:r>
              <a:rPr lang="en-US" sz="1500" dirty="0">
                <a:solidFill>
                  <a:srgbClr val="141414"/>
                </a:solidFill>
                <a:latin typeface="Arial" pitchFamily="34" charset="0"/>
                <a:ea typeface="Arial" pitchFamily="34" charset="-122"/>
                <a:cs typeface="Arial" pitchFamily="34" charset="-120"/>
              </a:rPr>
              <a:t>Check for /sitemap.xml before writing a crawler. If it exists it lists every page and you can skip the crawl.</a:t>
            </a:r>
            <a:endParaRPr lang="en-US" sz="1500" dirty="0"/>
          </a:p>
        </p:txBody>
      </p:sp>
      <p:sp>
        <p:nvSpPr>
          <p:cNvPr id="25" name="Shape 23"/>
          <p:cNvSpPr/>
          <p:nvPr/>
        </p:nvSpPr>
        <p:spPr>
          <a:xfrm>
            <a:off x="786384" y="5342117"/>
            <a:ext cx="155448" cy="18467"/>
          </a:xfrm>
          <a:prstGeom prst="rect">
            <a:avLst/>
          </a:prstGeom>
          <a:solidFill>
            <a:srgbClr val="C0402A"/>
          </a:solidFill>
          <a:ln/>
        </p:spPr>
        <p:txBody>
          <a:bodyPr/>
          <a:lstStyle/>
          <a:p>
            <a:endParaRPr lang="en-HK"/>
          </a:p>
        </p:txBody>
      </p:sp>
      <p:sp>
        <p:nvSpPr>
          <p:cNvPr id="26" name="Text 24"/>
          <p:cNvSpPr/>
          <p:nvPr/>
        </p:nvSpPr>
        <p:spPr>
          <a:xfrm>
            <a:off x="1097280" y="5223623"/>
            <a:ext cx="9777085" cy="619657"/>
          </a:xfrm>
          <a:prstGeom prst="rect">
            <a:avLst/>
          </a:prstGeom>
          <a:noFill/>
          <a:ln/>
        </p:spPr>
        <p:txBody>
          <a:bodyPr wrap="square" lIns="0" tIns="0" rIns="0" bIns="0" rtlCol="0" anchor="t"/>
          <a:lstStyle/>
          <a:p>
            <a:pPr marL="0" indent="0">
              <a:lnSpc>
                <a:spcPts val="2200"/>
              </a:lnSpc>
              <a:buNone/>
            </a:pPr>
            <a:r>
              <a:rPr lang="en-US" sz="1500" dirty="0">
                <a:solidFill>
                  <a:srgbClr val="141414"/>
                </a:solidFill>
                <a:latin typeface="Arial" pitchFamily="34" charset="0"/>
                <a:ea typeface="Arial" pitchFamily="34" charset="-122"/>
                <a:cs typeface="Arial" pitchFamily="34" charset="-120"/>
              </a:rPr>
              <a:t>Store the source URL, page title and position alongside every chunk. Workshop 2 needs these fields for filtering, and adding them later means rebuilding the index.</a:t>
            </a:r>
            <a:endParaRPr lang="en-US" sz="1500" dirty="0"/>
          </a:p>
        </p:txBody>
      </p:sp>
      <p:sp>
        <p:nvSpPr>
          <p:cNvPr id="27" name="Shape 25"/>
          <p:cNvSpPr/>
          <p:nvPr/>
        </p:nvSpPr>
        <p:spPr>
          <a:xfrm>
            <a:off x="786384" y="6017174"/>
            <a:ext cx="155448" cy="18467"/>
          </a:xfrm>
          <a:prstGeom prst="rect">
            <a:avLst/>
          </a:prstGeom>
          <a:solidFill>
            <a:srgbClr val="C0402A"/>
          </a:solidFill>
          <a:ln/>
        </p:spPr>
        <p:txBody>
          <a:bodyPr/>
          <a:lstStyle/>
          <a:p>
            <a:endParaRPr lang="en-HK"/>
          </a:p>
        </p:txBody>
      </p:sp>
      <p:sp>
        <p:nvSpPr>
          <p:cNvPr id="28" name="Text 26"/>
          <p:cNvSpPr/>
          <p:nvPr/>
        </p:nvSpPr>
        <p:spPr>
          <a:xfrm>
            <a:off x="1097280" y="5898680"/>
            <a:ext cx="9777085" cy="337528"/>
          </a:xfrm>
          <a:prstGeom prst="rect">
            <a:avLst/>
          </a:prstGeom>
          <a:noFill/>
          <a:ln/>
        </p:spPr>
        <p:txBody>
          <a:bodyPr wrap="square" lIns="0" tIns="0" rIns="0" bIns="0" rtlCol="0" anchor="t"/>
          <a:lstStyle/>
          <a:p>
            <a:pPr marL="0" indent="0">
              <a:lnSpc>
                <a:spcPts val="2200"/>
              </a:lnSpc>
              <a:buNone/>
            </a:pPr>
            <a:r>
              <a:rPr lang="en-US" sz="1500" dirty="0">
                <a:solidFill>
                  <a:srgbClr val="141414"/>
                </a:solidFill>
                <a:latin typeface="Arial" pitchFamily="34" charset="0"/>
                <a:ea typeface="Arial" pitchFamily="34" charset="-122"/>
                <a:cs typeface="Arial" pitchFamily="34" charset="-120"/>
              </a:rPr>
              <a:t>Collect img tags in the same pass. Workshop 2 needs them, and going back means crawling both sites again.</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Chunking &amp; Overlap</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5" name="Text 3"/>
          <p:cNvSpPr/>
          <p:nvPr/>
        </p:nvSpPr>
        <p:spPr>
          <a:xfrm>
            <a:off x="10801807"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6E6A63"/>
                </a:solidFill>
                <a:latin typeface="Arial" pitchFamily="34" charset="0"/>
                <a:ea typeface="Arial" pitchFamily="34" charset="-122"/>
                <a:cs typeface="Arial" pitchFamily="34" charset="-120"/>
              </a:rPr>
              <a:t>LV2</a:t>
            </a:r>
            <a:endParaRPr lang="en-US" sz="1100" dirty="0"/>
          </a:p>
        </p:txBody>
      </p:sp>
      <p:sp>
        <p:nvSpPr>
          <p:cNvPr id="6" name="Shape 4"/>
          <p:cNvSpPr/>
          <p:nvPr/>
        </p:nvSpPr>
        <p:spPr>
          <a:xfrm>
            <a:off x="786384" y="1426464"/>
            <a:ext cx="10618927" cy="10973"/>
          </a:xfrm>
          <a:prstGeom prst="rect">
            <a:avLst/>
          </a:prstGeom>
          <a:solidFill>
            <a:srgbClr val="D5D1CA"/>
          </a:solidFill>
          <a:ln/>
        </p:spPr>
        <p:txBody>
          <a:bodyPr/>
          <a:lstStyle/>
          <a:p>
            <a:endParaRPr lang="en-HK"/>
          </a:p>
        </p:txBody>
      </p:sp>
      <p:sp>
        <p:nvSpPr>
          <p:cNvPr id="7" name="Text 5"/>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25</a:t>
            </a:r>
            <a:endParaRPr lang="en-US" sz="1200" dirty="0"/>
          </a:p>
        </p:txBody>
      </p:sp>
      <p:sp>
        <p:nvSpPr>
          <p:cNvPr id="8" name="Text 6"/>
          <p:cNvSpPr/>
          <p:nvPr/>
        </p:nvSpPr>
        <p:spPr>
          <a:xfrm>
            <a:off x="786384" y="1795053"/>
            <a:ext cx="10087981" cy="675389"/>
          </a:xfrm>
          <a:prstGeom prst="rect">
            <a:avLst/>
          </a:prstGeom>
          <a:noFill/>
          <a:ln/>
        </p:spPr>
        <p:txBody>
          <a:bodyPr wrap="square" lIns="0" tIns="0" rIns="0" bIns="0" rtlCol="0" anchor="ctr"/>
          <a:lstStyle/>
          <a:p>
            <a:pPr marL="0" indent="0">
              <a:lnSpc>
                <a:spcPts val="2216"/>
              </a:lnSpc>
              <a:buNone/>
            </a:pPr>
            <a:r>
              <a:rPr lang="en-US" sz="1477" dirty="0">
                <a:solidFill>
                  <a:srgbClr val="141414"/>
                </a:solidFill>
                <a:latin typeface="Arial" pitchFamily="34" charset="0"/>
                <a:ea typeface="Arial" pitchFamily="34" charset="-122"/>
                <a:cs typeface="Arial" pitchFamily="34" charset="-120"/>
              </a:rPr>
              <a:t>Embedding a whole page produces one vector that averages every topic on that page. It ends up moderately similar to many queries and highly similar to none, so pages have to be split into smaller pieces first.</a:t>
            </a:r>
            <a:endParaRPr lang="en-US" sz="1477" dirty="0"/>
          </a:p>
        </p:txBody>
      </p:sp>
      <p:sp>
        <p:nvSpPr>
          <p:cNvPr id="9" name="Shape 7"/>
          <p:cNvSpPr/>
          <p:nvPr/>
        </p:nvSpPr>
        <p:spPr>
          <a:xfrm>
            <a:off x="786384" y="2605521"/>
            <a:ext cx="10618927" cy="1559728"/>
          </a:xfrm>
          <a:prstGeom prst="rect">
            <a:avLst/>
          </a:prstGeom>
          <a:solidFill>
            <a:srgbClr val="F2EFEA"/>
          </a:solidFill>
          <a:ln/>
        </p:spPr>
        <p:txBody>
          <a:bodyPr/>
          <a:lstStyle/>
          <a:p>
            <a:endParaRPr lang="en-HK"/>
          </a:p>
        </p:txBody>
      </p:sp>
      <p:sp>
        <p:nvSpPr>
          <p:cNvPr id="10" name="Shape 8"/>
          <p:cNvSpPr/>
          <p:nvPr/>
        </p:nvSpPr>
        <p:spPr>
          <a:xfrm>
            <a:off x="786384" y="2605521"/>
            <a:ext cx="27432" cy="1559728"/>
          </a:xfrm>
          <a:prstGeom prst="rect">
            <a:avLst/>
          </a:prstGeom>
          <a:solidFill>
            <a:srgbClr val="C0402A"/>
          </a:solidFill>
          <a:ln/>
        </p:spPr>
        <p:txBody>
          <a:bodyPr/>
          <a:lstStyle/>
          <a:p>
            <a:endParaRPr lang="en-HK"/>
          </a:p>
        </p:txBody>
      </p:sp>
      <p:sp>
        <p:nvSpPr>
          <p:cNvPr id="11" name="Text 9"/>
          <p:cNvSpPr/>
          <p:nvPr/>
        </p:nvSpPr>
        <p:spPr>
          <a:xfrm>
            <a:off x="1042416" y="2740599"/>
            <a:ext cx="10180015" cy="1289572"/>
          </a:xfrm>
          <a:prstGeom prst="rect">
            <a:avLst/>
          </a:prstGeom>
          <a:noFill/>
          <a:ln/>
        </p:spPr>
        <p:txBody>
          <a:bodyPr wrap="square" lIns="0" tIns="0" rIns="0" bIns="0" rtlCol="0" anchor="t"/>
          <a:lstStyle/>
          <a:p>
            <a:pPr marL="0" indent="0">
              <a:lnSpc>
                <a:spcPts val="1708"/>
              </a:lnSpc>
              <a:buNone/>
            </a:pPr>
            <a:r>
              <a:rPr lang="en-US" sz="1154" dirty="0">
                <a:solidFill>
                  <a:srgbClr val="2A2724"/>
                </a:solidFill>
                <a:latin typeface="Courier New" pitchFamily="34" charset="0"/>
                <a:ea typeface="Courier New" pitchFamily="34" charset="-122"/>
                <a:cs typeface="Courier New" pitchFamily="34" charset="-120"/>
              </a:rPr>
              <a:t>chunk(text, size=800, overlap=100)</a:t>
            </a:r>
            <a:endParaRPr lang="en-US" sz="1154" dirty="0"/>
          </a:p>
          <a:p>
            <a:pPr marL="0" indent="0">
              <a:lnSpc>
                <a:spcPts val="1708"/>
              </a:lnSpc>
              <a:buNone/>
            </a:pPr>
            <a:endParaRPr lang="en-US" sz="1154" dirty="0"/>
          </a:p>
          <a:p>
            <a:pPr marL="0" indent="0">
              <a:lnSpc>
                <a:spcPts val="1708"/>
              </a:lnSpc>
              <a:buNone/>
            </a:pPr>
            <a:r>
              <a:rPr lang="en-US" sz="1154" dirty="0">
                <a:solidFill>
                  <a:srgbClr val="2A2724"/>
                </a:solidFill>
                <a:latin typeface="Courier New" pitchFamily="34" charset="0"/>
                <a:ea typeface="Courier New" pitchFamily="34" charset="-122"/>
                <a:cs typeface="Courier New" pitchFamily="34" charset="-120"/>
              </a:rPr>
              <a:t>   ...the deadline for the first round was | 17 October 2025...</a:t>
            </a:r>
            <a:endParaRPr lang="en-US" sz="1154" dirty="0"/>
          </a:p>
          <a:p>
            <a:pPr marL="0" indent="0">
              <a:lnSpc>
                <a:spcPts val="1708"/>
              </a:lnSpc>
              <a:buNone/>
            </a:pPr>
            <a:r>
              <a:rPr lang="en-US" sz="1154" dirty="0">
                <a:solidFill>
                  <a:srgbClr val="2A2724"/>
                </a:solidFill>
                <a:latin typeface="Courier New" pitchFamily="34" charset="0"/>
                <a:ea typeface="Courier New" pitchFamily="34" charset="-122"/>
                <a:cs typeface="Courier New" pitchFamily="34" charset="-120"/>
              </a:rPr>
              <a:t>                                          |</a:t>
            </a:r>
            <a:endParaRPr lang="en-US" sz="1154" dirty="0"/>
          </a:p>
          <a:p>
            <a:pPr marL="0" indent="0">
              <a:lnSpc>
                <a:spcPts val="1708"/>
              </a:lnSpc>
              <a:buNone/>
            </a:pPr>
            <a:r>
              <a:rPr lang="en-US" sz="1154" dirty="0">
                <a:solidFill>
                  <a:srgbClr val="2A2724"/>
                </a:solidFill>
                <a:latin typeface="Courier New" pitchFamily="34" charset="0"/>
                <a:ea typeface="Courier New" pitchFamily="34" charset="-122"/>
                <a:cs typeface="Courier New" pitchFamily="34" charset="-120"/>
              </a:rPr>
              <a:t>                          char 800, a clean cut falls here</a:t>
            </a:r>
            <a:endParaRPr lang="en-US" sz="1154" dirty="0"/>
          </a:p>
        </p:txBody>
      </p:sp>
      <p:sp>
        <p:nvSpPr>
          <p:cNvPr id="13" name="Shape 11"/>
          <p:cNvSpPr/>
          <p:nvPr/>
        </p:nvSpPr>
        <p:spPr>
          <a:xfrm>
            <a:off x="944615" y="4372930"/>
            <a:ext cx="4751680" cy="20262"/>
          </a:xfrm>
          <a:prstGeom prst="rect">
            <a:avLst/>
          </a:prstGeom>
          <a:solidFill>
            <a:srgbClr val="C0402A"/>
          </a:solidFill>
          <a:ln/>
        </p:spPr>
        <p:txBody>
          <a:bodyPr/>
          <a:lstStyle/>
          <a:p>
            <a:endParaRPr lang="en-HK"/>
          </a:p>
        </p:txBody>
      </p:sp>
      <p:sp>
        <p:nvSpPr>
          <p:cNvPr id="14" name="Text 12"/>
          <p:cNvSpPr/>
          <p:nvPr/>
        </p:nvSpPr>
        <p:spPr>
          <a:xfrm>
            <a:off x="944615" y="4508008"/>
            <a:ext cx="4751680" cy="317761"/>
          </a:xfrm>
          <a:prstGeom prst="rect">
            <a:avLst/>
          </a:prstGeom>
          <a:noFill/>
          <a:ln/>
        </p:spPr>
        <p:txBody>
          <a:bodyPr wrap="square" lIns="0" tIns="0" rIns="0" bIns="0" rtlCol="0" anchor="ctr"/>
          <a:lstStyle/>
          <a:p>
            <a:pPr marL="0" indent="0">
              <a:lnSpc>
                <a:spcPts val="2170"/>
              </a:lnSpc>
              <a:buNone/>
            </a:pPr>
            <a:r>
              <a:rPr lang="en-US" sz="1800" b="1" dirty="0">
                <a:solidFill>
                  <a:srgbClr val="141414"/>
                </a:solidFill>
                <a:latin typeface="Arial" pitchFamily="34" charset="0"/>
                <a:ea typeface="Arial" pitchFamily="34" charset="-122"/>
                <a:cs typeface="Arial" pitchFamily="34" charset="-120"/>
              </a:rPr>
              <a:t>Why chunks overlap</a:t>
            </a:r>
            <a:endParaRPr lang="en-US" sz="1800" dirty="0"/>
          </a:p>
        </p:txBody>
      </p:sp>
      <p:sp>
        <p:nvSpPr>
          <p:cNvPr id="15" name="Text 13"/>
          <p:cNvSpPr/>
          <p:nvPr/>
        </p:nvSpPr>
        <p:spPr>
          <a:xfrm>
            <a:off x="944615" y="4893308"/>
            <a:ext cx="4751680" cy="1027155"/>
          </a:xfrm>
          <a:prstGeom prst="rect">
            <a:avLst/>
          </a:prstGeom>
          <a:noFill/>
          <a:ln/>
        </p:spPr>
        <p:txBody>
          <a:bodyPr wrap="square" lIns="0" tIns="0" rIns="0" bIns="0" rtlCol="0" anchor="t"/>
          <a:lstStyle/>
          <a:p>
            <a:pPr marL="0" indent="0">
              <a:lnSpc>
                <a:spcPts val="1939"/>
              </a:lnSpc>
              <a:buNone/>
            </a:pPr>
            <a:r>
              <a:rPr lang="en-US" sz="1293" dirty="0">
                <a:solidFill>
                  <a:srgbClr val="141414"/>
                </a:solidFill>
                <a:latin typeface="Arial" pitchFamily="34" charset="0"/>
                <a:ea typeface="Arial" pitchFamily="34" charset="-122"/>
                <a:cs typeface="Arial" pitchFamily="34" charset="-120"/>
              </a:rPr>
              <a:t>That cut puts "was" at the end of chunk 1 and "17 October 2025" at the start of chunk 2. Neither answers the question. Repeating the last 100 characters keeps the fact whole.</a:t>
            </a:r>
            <a:endParaRPr lang="en-US" sz="1293" dirty="0"/>
          </a:p>
        </p:txBody>
      </p:sp>
      <p:sp>
        <p:nvSpPr>
          <p:cNvPr id="16" name="Shape 14"/>
          <p:cNvSpPr/>
          <p:nvPr/>
        </p:nvSpPr>
        <p:spPr>
          <a:xfrm>
            <a:off x="6178144" y="4367865"/>
            <a:ext cx="5227168" cy="15196"/>
          </a:xfrm>
          <a:prstGeom prst="rect">
            <a:avLst/>
          </a:prstGeom>
          <a:solidFill>
            <a:srgbClr val="141414"/>
          </a:solidFill>
          <a:ln/>
        </p:spPr>
        <p:txBody>
          <a:bodyPr/>
          <a:lstStyle/>
          <a:p>
            <a:endParaRPr lang="en-HK"/>
          </a:p>
        </p:txBody>
      </p:sp>
      <p:sp>
        <p:nvSpPr>
          <p:cNvPr id="17" name="Text 15"/>
          <p:cNvSpPr/>
          <p:nvPr/>
        </p:nvSpPr>
        <p:spPr>
          <a:xfrm>
            <a:off x="6178144" y="4502943"/>
            <a:ext cx="5227168" cy="317761"/>
          </a:xfrm>
          <a:prstGeom prst="rect">
            <a:avLst/>
          </a:prstGeom>
          <a:noFill/>
          <a:ln/>
        </p:spPr>
        <p:txBody>
          <a:bodyPr wrap="square" lIns="0" tIns="0" rIns="0" bIns="0" rtlCol="0" anchor="ctr"/>
          <a:lstStyle/>
          <a:p>
            <a:pPr marL="0" indent="0">
              <a:lnSpc>
                <a:spcPts val="2170"/>
              </a:lnSpc>
              <a:buNone/>
            </a:pPr>
            <a:r>
              <a:rPr lang="en-US" sz="1800" b="1" dirty="0">
                <a:solidFill>
                  <a:srgbClr val="141414"/>
                </a:solidFill>
                <a:latin typeface="Arial" pitchFamily="34" charset="0"/>
                <a:ea typeface="Arial" pitchFamily="34" charset="-122"/>
                <a:cs typeface="Arial" pitchFamily="34" charset="-120"/>
              </a:rPr>
              <a:t>Choosing a size</a:t>
            </a:r>
            <a:endParaRPr lang="en-US" sz="1800" dirty="0"/>
          </a:p>
        </p:txBody>
      </p:sp>
      <p:sp>
        <p:nvSpPr>
          <p:cNvPr id="18" name="Text 16"/>
          <p:cNvSpPr/>
          <p:nvPr/>
        </p:nvSpPr>
        <p:spPr>
          <a:xfrm>
            <a:off x="6178144" y="4888243"/>
            <a:ext cx="5227168" cy="1027155"/>
          </a:xfrm>
          <a:prstGeom prst="rect">
            <a:avLst/>
          </a:prstGeom>
          <a:noFill/>
          <a:ln/>
        </p:spPr>
        <p:txBody>
          <a:bodyPr wrap="square" lIns="0" tIns="0" rIns="0" bIns="0" rtlCol="0" anchor="t"/>
          <a:lstStyle/>
          <a:p>
            <a:pPr marL="0" indent="0">
              <a:lnSpc>
                <a:spcPts val="1939"/>
              </a:lnSpc>
              <a:buNone/>
            </a:pPr>
            <a:r>
              <a:rPr lang="en-US" sz="1293" dirty="0">
                <a:solidFill>
                  <a:srgbClr val="141414"/>
                </a:solidFill>
                <a:latin typeface="Arial" pitchFamily="34" charset="0"/>
                <a:ea typeface="Arial" pitchFamily="34" charset="-122"/>
                <a:cs typeface="Arial" pitchFamily="34" charset="-120"/>
              </a:rPr>
              <a:t>Smaller chunks match more precisely but may cut away the context needed to interpret the fact. Larger chunks keep context but average more topics into one vector. There is no correct answer, so measure it in block 5.</a:t>
            </a:r>
            <a:endParaRPr lang="en-US" sz="1293"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Chunking Strategies</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5" name="Text 3"/>
          <p:cNvSpPr/>
          <p:nvPr/>
        </p:nvSpPr>
        <p:spPr>
          <a:xfrm>
            <a:off x="10801807"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6E6A63"/>
                </a:solidFill>
                <a:latin typeface="Arial" pitchFamily="34" charset="0"/>
                <a:ea typeface="Arial" pitchFamily="34" charset="-122"/>
                <a:cs typeface="Arial" pitchFamily="34" charset="-120"/>
              </a:rPr>
              <a:t>LV2</a:t>
            </a:r>
            <a:endParaRPr lang="en-US" sz="1100" dirty="0"/>
          </a:p>
        </p:txBody>
      </p:sp>
      <p:sp>
        <p:nvSpPr>
          <p:cNvPr id="6" name="Shape 4"/>
          <p:cNvSpPr/>
          <p:nvPr/>
        </p:nvSpPr>
        <p:spPr>
          <a:xfrm>
            <a:off x="786384" y="1426464"/>
            <a:ext cx="10618927" cy="10973"/>
          </a:xfrm>
          <a:prstGeom prst="rect">
            <a:avLst/>
          </a:prstGeom>
          <a:solidFill>
            <a:srgbClr val="D5D1CA"/>
          </a:solidFill>
          <a:ln/>
        </p:spPr>
        <p:txBody>
          <a:bodyPr/>
          <a:lstStyle/>
          <a:p>
            <a:endParaRPr lang="en-HK"/>
          </a:p>
        </p:txBody>
      </p:sp>
      <p:sp>
        <p:nvSpPr>
          <p:cNvPr id="7" name="Text 5"/>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26</a:t>
            </a:r>
            <a:endParaRPr lang="en-US" sz="1200" dirty="0"/>
          </a:p>
        </p:txBody>
      </p:sp>
      <p:sp>
        <p:nvSpPr>
          <p:cNvPr id="8" name="Text 6"/>
          <p:cNvSpPr/>
          <p:nvPr/>
        </p:nvSpPr>
        <p:spPr>
          <a:xfrm>
            <a:off x="786384" y="1812530"/>
            <a:ext cx="2011680" cy="373832"/>
          </a:xfrm>
          <a:prstGeom prst="rect">
            <a:avLst/>
          </a:prstGeom>
          <a:noFill/>
          <a:ln/>
        </p:spPr>
        <p:txBody>
          <a:bodyPr wrap="square" lIns="0" tIns="0" rIns="0" bIns="0" rtlCol="0" anchor="ctr"/>
          <a:lstStyle/>
          <a:p>
            <a:pPr marL="0" indent="0">
              <a:buNone/>
            </a:pPr>
            <a:r>
              <a:rPr lang="en-US" sz="1600" b="1" dirty="0">
                <a:solidFill>
                  <a:srgbClr val="C0402A"/>
                </a:solidFill>
                <a:latin typeface="Arial" pitchFamily="34" charset="0"/>
                <a:ea typeface="Arial" pitchFamily="34" charset="-122"/>
                <a:cs typeface="Arial" pitchFamily="34" charset="-120"/>
              </a:rPr>
              <a:t>Fixed size</a:t>
            </a:r>
            <a:endParaRPr lang="en-US" sz="1600" dirty="0"/>
          </a:p>
        </p:txBody>
      </p:sp>
      <p:sp>
        <p:nvSpPr>
          <p:cNvPr id="9" name="Text 7"/>
          <p:cNvSpPr/>
          <p:nvPr/>
        </p:nvSpPr>
        <p:spPr>
          <a:xfrm>
            <a:off x="2935224" y="1812530"/>
            <a:ext cx="4114800" cy="373832"/>
          </a:xfrm>
          <a:prstGeom prst="rect">
            <a:avLst/>
          </a:prstGeom>
          <a:noFill/>
          <a:ln/>
        </p:spPr>
        <p:txBody>
          <a:bodyPr wrap="square" lIns="0" tIns="0" rIns="0" bIns="0" rtlCol="0" anchor="ctr"/>
          <a:lstStyle/>
          <a:p>
            <a:pPr marL="0" indent="0">
              <a:buNone/>
            </a:pPr>
            <a:r>
              <a:rPr lang="en-US" sz="1450" dirty="0">
                <a:solidFill>
                  <a:srgbClr val="141414"/>
                </a:solidFill>
                <a:latin typeface="Arial" pitchFamily="34" charset="0"/>
                <a:ea typeface="Arial" pitchFamily="34" charset="-122"/>
                <a:cs typeface="Arial" pitchFamily="34" charset="-120"/>
              </a:rPr>
              <a:t>Every 800 characters, wherever that lands.</a:t>
            </a:r>
            <a:endParaRPr lang="en-US" sz="1450" dirty="0"/>
          </a:p>
        </p:txBody>
      </p:sp>
      <p:sp>
        <p:nvSpPr>
          <p:cNvPr id="10" name="Text 8"/>
          <p:cNvSpPr/>
          <p:nvPr/>
        </p:nvSpPr>
        <p:spPr>
          <a:xfrm>
            <a:off x="7187184" y="1812530"/>
            <a:ext cx="4218127" cy="373832"/>
          </a:xfrm>
          <a:prstGeom prst="rect">
            <a:avLst/>
          </a:prstGeom>
          <a:noFill/>
          <a:ln/>
        </p:spPr>
        <p:txBody>
          <a:bodyPr wrap="square" lIns="0" tIns="0" rIns="0" bIns="0" rtlCol="0" anchor="ctr"/>
          <a:lstStyle/>
          <a:p>
            <a:pPr marL="0" indent="0">
              <a:buNone/>
            </a:pPr>
            <a:r>
              <a:rPr lang="en-US" sz="1450" dirty="0">
                <a:solidFill>
                  <a:srgbClr val="6E6A63"/>
                </a:solidFill>
                <a:latin typeface="Arial" pitchFamily="34" charset="0"/>
                <a:ea typeface="Arial" pitchFamily="34" charset="-122"/>
                <a:cs typeface="Arial" pitchFamily="34" charset="-120"/>
              </a:rPr>
              <a:t>Simple, and cuts through sentences and tables.</a:t>
            </a:r>
            <a:endParaRPr lang="en-US" sz="1450" dirty="0"/>
          </a:p>
        </p:txBody>
      </p:sp>
      <p:sp>
        <p:nvSpPr>
          <p:cNvPr id="11" name="Text 9"/>
          <p:cNvSpPr/>
          <p:nvPr/>
        </p:nvSpPr>
        <p:spPr>
          <a:xfrm>
            <a:off x="786384" y="2497889"/>
            <a:ext cx="2011680" cy="373832"/>
          </a:xfrm>
          <a:prstGeom prst="rect">
            <a:avLst/>
          </a:prstGeom>
          <a:noFill/>
          <a:ln/>
        </p:spPr>
        <p:txBody>
          <a:bodyPr wrap="square" lIns="0" tIns="0" rIns="0" bIns="0" rtlCol="0" anchor="ctr"/>
          <a:lstStyle/>
          <a:p>
            <a:pPr marL="0" indent="0">
              <a:buNone/>
            </a:pPr>
            <a:r>
              <a:rPr lang="en-US" sz="1600" b="1" dirty="0">
                <a:solidFill>
                  <a:srgbClr val="C0402A"/>
                </a:solidFill>
                <a:latin typeface="Arial" pitchFamily="34" charset="0"/>
                <a:ea typeface="Arial" pitchFamily="34" charset="-122"/>
                <a:cs typeface="Arial" pitchFamily="34" charset="-120"/>
              </a:rPr>
              <a:t>Recursive</a:t>
            </a:r>
            <a:endParaRPr lang="en-US" sz="1600" dirty="0"/>
          </a:p>
        </p:txBody>
      </p:sp>
      <p:sp>
        <p:nvSpPr>
          <p:cNvPr id="12" name="Text 10"/>
          <p:cNvSpPr/>
          <p:nvPr/>
        </p:nvSpPr>
        <p:spPr>
          <a:xfrm>
            <a:off x="2935224" y="2497889"/>
            <a:ext cx="4114800" cy="373832"/>
          </a:xfrm>
          <a:prstGeom prst="rect">
            <a:avLst/>
          </a:prstGeom>
          <a:noFill/>
          <a:ln/>
        </p:spPr>
        <p:txBody>
          <a:bodyPr wrap="square" lIns="0" tIns="0" rIns="0" bIns="0" rtlCol="0" anchor="ctr"/>
          <a:lstStyle/>
          <a:p>
            <a:pPr marL="0" indent="0">
              <a:buNone/>
            </a:pPr>
            <a:r>
              <a:rPr lang="en-US" sz="1450" dirty="0">
                <a:solidFill>
                  <a:srgbClr val="141414"/>
                </a:solidFill>
                <a:latin typeface="Arial" pitchFamily="34" charset="0"/>
                <a:ea typeface="Arial" pitchFamily="34" charset="-122"/>
                <a:cs typeface="Arial" pitchFamily="34" charset="-120"/>
              </a:rPr>
              <a:t>Try paragraphs, then sentences, then characters.</a:t>
            </a:r>
            <a:endParaRPr lang="en-US" sz="1450" dirty="0"/>
          </a:p>
        </p:txBody>
      </p:sp>
      <p:sp>
        <p:nvSpPr>
          <p:cNvPr id="13" name="Text 11"/>
          <p:cNvSpPr/>
          <p:nvPr/>
        </p:nvSpPr>
        <p:spPr>
          <a:xfrm>
            <a:off x="7187184" y="2497889"/>
            <a:ext cx="4218127" cy="373832"/>
          </a:xfrm>
          <a:prstGeom prst="rect">
            <a:avLst/>
          </a:prstGeom>
          <a:noFill/>
          <a:ln/>
        </p:spPr>
        <p:txBody>
          <a:bodyPr wrap="square" lIns="0" tIns="0" rIns="0" bIns="0" rtlCol="0" anchor="ctr"/>
          <a:lstStyle/>
          <a:p>
            <a:pPr marL="0" indent="0">
              <a:buNone/>
            </a:pPr>
            <a:r>
              <a:rPr lang="en-US" sz="1450" dirty="0">
                <a:solidFill>
                  <a:srgbClr val="6E6A63"/>
                </a:solidFill>
                <a:latin typeface="Arial" pitchFamily="34" charset="0"/>
                <a:ea typeface="Arial" pitchFamily="34" charset="-122"/>
                <a:cs typeface="Arial" pitchFamily="34" charset="-120"/>
              </a:rPr>
              <a:t>Respects structure, and is a good default.</a:t>
            </a:r>
            <a:endParaRPr lang="en-US" sz="1450" dirty="0"/>
          </a:p>
        </p:txBody>
      </p:sp>
      <p:sp>
        <p:nvSpPr>
          <p:cNvPr id="14" name="Text 12"/>
          <p:cNvSpPr/>
          <p:nvPr/>
        </p:nvSpPr>
        <p:spPr>
          <a:xfrm>
            <a:off x="786384" y="3183247"/>
            <a:ext cx="2011680" cy="373832"/>
          </a:xfrm>
          <a:prstGeom prst="rect">
            <a:avLst/>
          </a:prstGeom>
          <a:noFill/>
          <a:ln/>
        </p:spPr>
        <p:txBody>
          <a:bodyPr wrap="square" lIns="0" tIns="0" rIns="0" bIns="0" rtlCol="0" anchor="ctr"/>
          <a:lstStyle/>
          <a:p>
            <a:pPr marL="0" indent="0">
              <a:buNone/>
            </a:pPr>
            <a:r>
              <a:rPr lang="en-US" sz="1600" b="1" dirty="0">
                <a:solidFill>
                  <a:srgbClr val="C0402A"/>
                </a:solidFill>
                <a:latin typeface="Arial" pitchFamily="34" charset="0"/>
                <a:ea typeface="Arial" pitchFamily="34" charset="-122"/>
                <a:cs typeface="Arial" pitchFamily="34" charset="-120"/>
              </a:rPr>
              <a:t>Heading aware</a:t>
            </a:r>
            <a:endParaRPr lang="en-US" sz="1600" dirty="0"/>
          </a:p>
        </p:txBody>
      </p:sp>
      <p:sp>
        <p:nvSpPr>
          <p:cNvPr id="15" name="Text 13"/>
          <p:cNvSpPr/>
          <p:nvPr/>
        </p:nvSpPr>
        <p:spPr>
          <a:xfrm>
            <a:off x="2935224" y="3183247"/>
            <a:ext cx="4114800" cy="373832"/>
          </a:xfrm>
          <a:prstGeom prst="rect">
            <a:avLst/>
          </a:prstGeom>
          <a:noFill/>
          <a:ln/>
        </p:spPr>
        <p:txBody>
          <a:bodyPr wrap="square" lIns="0" tIns="0" rIns="0" bIns="0" rtlCol="0" anchor="ctr"/>
          <a:lstStyle/>
          <a:p>
            <a:pPr marL="0" indent="0">
              <a:buNone/>
            </a:pPr>
            <a:r>
              <a:rPr lang="en-US" sz="1450" dirty="0">
                <a:solidFill>
                  <a:srgbClr val="141414"/>
                </a:solidFill>
                <a:latin typeface="Arial" pitchFamily="34" charset="0"/>
                <a:ea typeface="Arial" pitchFamily="34" charset="-122"/>
                <a:cs typeface="Arial" pitchFamily="34" charset="-120"/>
              </a:rPr>
              <a:t>One chunk per section, heading prepended.</a:t>
            </a:r>
            <a:endParaRPr lang="en-US" sz="1450" dirty="0"/>
          </a:p>
        </p:txBody>
      </p:sp>
      <p:sp>
        <p:nvSpPr>
          <p:cNvPr id="16" name="Text 14"/>
          <p:cNvSpPr/>
          <p:nvPr/>
        </p:nvSpPr>
        <p:spPr>
          <a:xfrm>
            <a:off x="7187184" y="3183247"/>
            <a:ext cx="4218127" cy="373832"/>
          </a:xfrm>
          <a:prstGeom prst="rect">
            <a:avLst/>
          </a:prstGeom>
          <a:noFill/>
          <a:ln/>
        </p:spPr>
        <p:txBody>
          <a:bodyPr wrap="square" lIns="0" tIns="0" rIns="0" bIns="0" rtlCol="0" anchor="ctr"/>
          <a:lstStyle/>
          <a:p>
            <a:pPr marL="0" indent="0">
              <a:buNone/>
            </a:pPr>
            <a:r>
              <a:rPr lang="en-US" sz="1450" dirty="0">
                <a:solidFill>
                  <a:srgbClr val="6E6A63"/>
                </a:solidFill>
                <a:latin typeface="Arial" pitchFamily="34" charset="0"/>
                <a:ea typeface="Arial" pitchFamily="34" charset="-122"/>
                <a:cs typeface="Arial" pitchFamily="34" charset="-120"/>
              </a:rPr>
              <a:t>Keeps topic with content. Needs clean headings.</a:t>
            </a:r>
            <a:endParaRPr lang="en-US" sz="1450" dirty="0"/>
          </a:p>
        </p:txBody>
      </p:sp>
      <p:sp>
        <p:nvSpPr>
          <p:cNvPr id="17" name="Text 15"/>
          <p:cNvSpPr/>
          <p:nvPr/>
        </p:nvSpPr>
        <p:spPr>
          <a:xfrm>
            <a:off x="786384" y="3868606"/>
            <a:ext cx="2011680" cy="373832"/>
          </a:xfrm>
          <a:prstGeom prst="rect">
            <a:avLst/>
          </a:prstGeom>
          <a:noFill/>
          <a:ln/>
        </p:spPr>
        <p:txBody>
          <a:bodyPr wrap="square" lIns="0" tIns="0" rIns="0" bIns="0" rtlCol="0" anchor="ctr"/>
          <a:lstStyle/>
          <a:p>
            <a:pPr marL="0" indent="0">
              <a:buNone/>
            </a:pPr>
            <a:r>
              <a:rPr lang="en-US" sz="1600" b="1" dirty="0">
                <a:solidFill>
                  <a:srgbClr val="C0402A"/>
                </a:solidFill>
                <a:latin typeface="Arial" pitchFamily="34" charset="0"/>
                <a:ea typeface="Arial" pitchFamily="34" charset="-122"/>
                <a:cs typeface="Arial" pitchFamily="34" charset="-120"/>
              </a:rPr>
              <a:t>Semantic</a:t>
            </a:r>
            <a:endParaRPr lang="en-US" sz="1600" dirty="0"/>
          </a:p>
        </p:txBody>
      </p:sp>
      <p:sp>
        <p:nvSpPr>
          <p:cNvPr id="18" name="Text 16"/>
          <p:cNvSpPr/>
          <p:nvPr/>
        </p:nvSpPr>
        <p:spPr>
          <a:xfrm>
            <a:off x="2935224" y="3868606"/>
            <a:ext cx="4114800" cy="373832"/>
          </a:xfrm>
          <a:prstGeom prst="rect">
            <a:avLst/>
          </a:prstGeom>
          <a:noFill/>
          <a:ln/>
        </p:spPr>
        <p:txBody>
          <a:bodyPr wrap="square" lIns="0" tIns="0" rIns="0" bIns="0" rtlCol="0" anchor="ctr"/>
          <a:lstStyle/>
          <a:p>
            <a:pPr marL="0" indent="0">
              <a:buNone/>
            </a:pPr>
            <a:r>
              <a:rPr lang="en-US" sz="1450" dirty="0">
                <a:solidFill>
                  <a:srgbClr val="141414"/>
                </a:solidFill>
                <a:latin typeface="Arial" pitchFamily="34" charset="0"/>
                <a:ea typeface="Arial" pitchFamily="34" charset="-122"/>
                <a:cs typeface="Arial" pitchFamily="34" charset="-120"/>
              </a:rPr>
              <a:t>Split where meaning shifts between sentences.</a:t>
            </a:r>
            <a:endParaRPr lang="en-US" sz="1450" dirty="0"/>
          </a:p>
        </p:txBody>
      </p:sp>
      <p:sp>
        <p:nvSpPr>
          <p:cNvPr id="19" name="Text 17"/>
          <p:cNvSpPr/>
          <p:nvPr/>
        </p:nvSpPr>
        <p:spPr>
          <a:xfrm>
            <a:off x="7187184" y="3868606"/>
            <a:ext cx="4218127" cy="373832"/>
          </a:xfrm>
          <a:prstGeom prst="rect">
            <a:avLst/>
          </a:prstGeom>
          <a:noFill/>
          <a:ln/>
        </p:spPr>
        <p:txBody>
          <a:bodyPr wrap="square" lIns="0" tIns="0" rIns="0" bIns="0" rtlCol="0" anchor="ctr"/>
          <a:lstStyle/>
          <a:p>
            <a:pPr marL="0" indent="0">
              <a:buNone/>
            </a:pPr>
            <a:r>
              <a:rPr lang="en-US" sz="1450" dirty="0">
                <a:solidFill>
                  <a:srgbClr val="6E6A63"/>
                </a:solidFill>
                <a:latin typeface="Arial" pitchFamily="34" charset="0"/>
                <a:ea typeface="Arial" pitchFamily="34" charset="-122"/>
                <a:cs typeface="Arial" pitchFamily="34" charset="-120"/>
              </a:rPr>
              <a:t>Best boundaries, slowest to build.</a:t>
            </a:r>
            <a:endParaRPr lang="en-US" sz="1450" dirty="0"/>
          </a:p>
        </p:txBody>
      </p:sp>
      <p:sp>
        <p:nvSpPr>
          <p:cNvPr id="20" name="Text 18"/>
          <p:cNvSpPr/>
          <p:nvPr/>
        </p:nvSpPr>
        <p:spPr>
          <a:xfrm>
            <a:off x="786384" y="4782417"/>
            <a:ext cx="9981792" cy="830738"/>
          </a:xfrm>
          <a:prstGeom prst="rect">
            <a:avLst/>
          </a:prstGeom>
          <a:noFill/>
          <a:ln/>
        </p:spPr>
        <p:txBody>
          <a:bodyPr wrap="square" lIns="0" tIns="0" rIns="0" bIns="0" rtlCol="0" anchor="ctr"/>
          <a:lstStyle/>
          <a:p>
            <a:pPr marL="0" indent="0">
              <a:lnSpc>
                <a:spcPts val="2300"/>
              </a:lnSpc>
              <a:buNone/>
            </a:pPr>
            <a:r>
              <a:rPr lang="en-US" sz="1550" dirty="0">
                <a:solidFill>
                  <a:srgbClr val="141414"/>
                </a:solidFill>
                <a:latin typeface="Arial" pitchFamily="34" charset="0"/>
                <a:ea typeface="Arial" pitchFamily="34" charset="-122"/>
                <a:cs typeface="Arial" pitchFamily="34" charset="-120"/>
              </a:rPr>
              <a:t>Start with fixed size: it is about ten lines of code and gives you a score to beat. Then try recursive. There is no general answer to which is best, only which scores higher on your corpus, which is what the next block measures.</a:t>
            </a:r>
            <a:endParaRPr lang="en-US" sz="1550" dirty="0"/>
          </a:p>
        </p:txBody>
      </p:sp>
      <p:sp>
        <p:nvSpPr>
          <p:cNvPr id="21" name="Shape 19"/>
          <p:cNvSpPr/>
          <p:nvPr/>
        </p:nvSpPr>
        <p:spPr>
          <a:xfrm>
            <a:off x="786384" y="5716997"/>
            <a:ext cx="10618927" cy="12461"/>
          </a:xfrm>
          <a:prstGeom prst="rect">
            <a:avLst/>
          </a:prstGeom>
          <a:solidFill>
            <a:srgbClr val="D5D1CA"/>
          </a:solidFill>
          <a:ln/>
        </p:spPr>
        <p:txBody>
          <a:bodyPr/>
          <a:lstStyle/>
          <a:p>
            <a:endParaRPr lang="en-HK"/>
          </a:p>
        </p:txBody>
      </p:sp>
      <p:sp>
        <p:nvSpPr>
          <p:cNvPr id="22" name="Text 20"/>
          <p:cNvSpPr/>
          <p:nvPr/>
        </p:nvSpPr>
        <p:spPr>
          <a:xfrm>
            <a:off x="786384" y="5862376"/>
            <a:ext cx="10618927" cy="373832"/>
          </a:xfrm>
          <a:prstGeom prst="rect">
            <a:avLst/>
          </a:prstGeom>
          <a:noFill/>
          <a:ln/>
        </p:spPr>
        <p:txBody>
          <a:bodyPr wrap="square" lIns="0" tIns="0" rIns="0" bIns="0" rtlCol="0" anchor="ctr"/>
          <a:lstStyle/>
          <a:p>
            <a:pPr marL="0" indent="0">
              <a:lnSpc>
                <a:spcPts val="1800"/>
              </a:lnSpc>
              <a:buNone/>
            </a:pPr>
            <a:r>
              <a:rPr lang="en-US" sz="1250" dirty="0">
                <a:solidFill>
                  <a:srgbClr val="827D75"/>
                </a:solidFill>
                <a:latin typeface="Arial" pitchFamily="34" charset="0"/>
                <a:ea typeface="Arial" pitchFamily="34" charset="-122"/>
                <a:cs typeface="Arial" pitchFamily="34" charset="-120"/>
              </a:rPr>
              <a:t>Pinecone, Chunking Strategies for LLM Applications: pinecone.io/learn/chunking-strategies</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0EA"/>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C0402A"/>
                </a:solidFill>
                <a:latin typeface="Arial" pitchFamily="34" charset="0"/>
                <a:ea typeface="Arial" pitchFamily="34" charset="-122"/>
                <a:cs typeface="Arial" pitchFamily="34" charset="-120"/>
              </a:rPr>
              <a:t>FROM EXPERIENCE</a:t>
            </a:r>
            <a:endParaRPr lang="en-US" sz="950" dirty="0"/>
          </a:p>
        </p:txBody>
      </p:sp>
      <p:sp>
        <p:nvSpPr>
          <p:cNvPr id="3" name="Shape 1"/>
          <p:cNvSpPr/>
          <p:nvPr/>
        </p:nvSpPr>
        <p:spPr>
          <a:xfrm>
            <a:off x="0" y="0"/>
            <a:ext cx="128016" cy="6858000"/>
          </a:xfrm>
          <a:prstGeom prst="rect">
            <a:avLst/>
          </a:prstGeom>
          <a:solidFill>
            <a:srgbClr val="C0402A"/>
          </a:solidFill>
          <a:ln/>
        </p:spPr>
        <p:txBody>
          <a:bodyPr/>
          <a:lstStyle/>
          <a:p>
            <a:endParaRPr lang="en-HK"/>
          </a:p>
        </p:txBody>
      </p:sp>
      <p:sp>
        <p:nvSpPr>
          <p:cNvPr id="4" name="Text 2"/>
          <p:cNvSpPr/>
          <p:nvPr/>
        </p:nvSpPr>
        <p:spPr>
          <a:xfrm>
            <a:off x="786384" y="713232"/>
            <a:ext cx="7923047"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Notes on Chunking</a:t>
            </a:r>
            <a:endParaRPr lang="en-US" sz="2900" dirty="0"/>
          </a:p>
        </p:txBody>
      </p:sp>
      <p:sp>
        <p:nvSpPr>
          <p:cNvPr id="5" name="Shape 3"/>
          <p:cNvSpPr/>
          <p:nvPr/>
        </p:nvSpPr>
        <p:spPr>
          <a:xfrm>
            <a:off x="10801807"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6" name="Text 4"/>
          <p:cNvSpPr/>
          <p:nvPr/>
        </p:nvSpPr>
        <p:spPr>
          <a:xfrm>
            <a:off x="10801807"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6E6A63"/>
                </a:solidFill>
                <a:latin typeface="Arial" pitchFamily="34" charset="0"/>
                <a:ea typeface="Arial" pitchFamily="34" charset="-122"/>
                <a:cs typeface="Arial" pitchFamily="34" charset="-120"/>
              </a:rPr>
              <a:t>LV2</a:t>
            </a:r>
            <a:endParaRPr lang="en-US" sz="1100" dirty="0"/>
          </a:p>
        </p:txBody>
      </p:sp>
      <p:sp>
        <p:nvSpPr>
          <p:cNvPr id="7" name="Shape 5"/>
          <p:cNvSpPr/>
          <p:nvPr/>
        </p:nvSpPr>
        <p:spPr>
          <a:xfrm>
            <a:off x="786384" y="1426464"/>
            <a:ext cx="10618927" cy="10973"/>
          </a:xfrm>
          <a:prstGeom prst="rect">
            <a:avLst/>
          </a:prstGeom>
          <a:solidFill>
            <a:srgbClr val="D5D1CA"/>
          </a:solidFill>
          <a:ln/>
        </p:spPr>
        <p:txBody>
          <a:bodyPr/>
          <a:lstStyle/>
          <a:p>
            <a:endParaRPr lang="en-HK"/>
          </a:p>
        </p:txBody>
      </p:sp>
      <p:sp>
        <p:nvSpPr>
          <p:cNvPr id="8" name="Text 6"/>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27</a:t>
            </a:r>
            <a:endParaRPr lang="en-US" sz="1200" dirty="0"/>
          </a:p>
        </p:txBody>
      </p:sp>
      <p:sp>
        <p:nvSpPr>
          <p:cNvPr id="9" name="Shape 7"/>
          <p:cNvSpPr/>
          <p:nvPr/>
        </p:nvSpPr>
        <p:spPr>
          <a:xfrm>
            <a:off x="786384" y="1823010"/>
            <a:ext cx="5227168" cy="20788"/>
          </a:xfrm>
          <a:prstGeom prst="rect">
            <a:avLst/>
          </a:prstGeom>
          <a:solidFill>
            <a:srgbClr val="141414"/>
          </a:solidFill>
          <a:ln/>
        </p:spPr>
        <p:txBody>
          <a:bodyPr/>
          <a:lstStyle/>
          <a:p>
            <a:endParaRPr lang="en-HK"/>
          </a:p>
        </p:txBody>
      </p:sp>
      <p:sp>
        <p:nvSpPr>
          <p:cNvPr id="10" name="Text 8"/>
          <p:cNvSpPr/>
          <p:nvPr/>
        </p:nvSpPr>
        <p:spPr>
          <a:xfrm>
            <a:off x="786384" y="2007789"/>
            <a:ext cx="5227168" cy="434679"/>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Prepend the heading</a:t>
            </a:r>
            <a:endParaRPr lang="en-US" sz="1950" dirty="0"/>
          </a:p>
        </p:txBody>
      </p:sp>
      <p:sp>
        <p:nvSpPr>
          <p:cNvPr id="11" name="Text 9"/>
          <p:cNvSpPr/>
          <p:nvPr/>
        </p:nvSpPr>
        <p:spPr>
          <a:xfrm>
            <a:off x="786384" y="2534858"/>
            <a:ext cx="5227168" cy="1068252"/>
          </a:xfrm>
          <a:prstGeom prst="rect">
            <a:avLst/>
          </a:prstGeom>
          <a:noFill/>
          <a:ln/>
        </p:spPr>
        <p:txBody>
          <a:bodyPr wrap="square" lIns="0" tIns="0" rIns="0" bIns="0" rtlCol="0" anchor="t"/>
          <a:lstStyle/>
          <a:p>
            <a:pPr marL="0" indent="0">
              <a:lnSpc>
                <a:spcPts val="2100"/>
              </a:lnSpc>
              <a:buNone/>
            </a:pPr>
            <a:r>
              <a:rPr lang="en-US" sz="1400" dirty="0">
                <a:solidFill>
                  <a:srgbClr val="141414"/>
                </a:solidFill>
                <a:latin typeface="Arial" pitchFamily="34" charset="0"/>
                <a:ea typeface="Arial" pitchFamily="34" charset="-122"/>
                <a:cs typeface="Arial" pitchFamily="34" charset="-120"/>
              </a:rPr>
              <a:t>Adding the section heading to the start of every chunk is a few lines of code and gives an orphaned paragraph its topic back. One of the cheapest gains available.</a:t>
            </a:r>
            <a:endParaRPr lang="en-US" sz="1400" dirty="0"/>
          </a:p>
        </p:txBody>
      </p:sp>
      <p:sp>
        <p:nvSpPr>
          <p:cNvPr id="12" name="Shape 10"/>
          <p:cNvSpPr/>
          <p:nvPr/>
        </p:nvSpPr>
        <p:spPr>
          <a:xfrm>
            <a:off x="6178144" y="1823010"/>
            <a:ext cx="5227168" cy="20788"/>
          </a:xfrm>
          <a:prstGeom prst="rect">
            <a:avLst/>
          </a:prstGeom>
          <a:solidFill>
            <a:srgbClr val="141414"/>
          </a:solidFill>
          <a:ln/>
        </p:spPr>
        <p:txBody>
          <a:bodyPr/>
          <a:lstStyle/>
          <a:p>
            <a:endParaRPr lang="en-HK"/>
          </a:p>
        </p:txBody>
      </p:sp>
      <p:sp>
        <p:nvSpPr>
          <p:cNvPr id="13" name="Text 11"/>
          <p:cNvSpPr/>
          <p:nvPr/>
        </p:nvSpPr>
        <p:spPr>
          <a:xfrm>
            <a:off x="6178144" y="2007789"/>
            <a:ext cx="5227168" cy="434679"/>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Index small, return large</a:t>
            </a:r>
            <a:endParaRPr lang="en-US" sz="1950" dirty="0"/>
          </a:p>
        </p:txBody>
      </p:sp>
      <p:sp>
        <p:nvSpPr>
          <p:cNvPr id="14" name="Text 12"/>
          <p:cNvSpPr/>
          <p:nvPr/>
        </p:nvSpPr>
        <p:spPr>
          <a:xfrm>
            <a:off x="6178144" y="2534858"/>
            <a:ext cx="5227168" cy="1068252"/>
          </a:xfrm>
          <a:prstGeom prst="rect">
            <a:avLst/>
          </a:prstGeom>
          <a:noFill/>
          <a:ln/>
        </p:spPr>
        <p:txBody>
          <a:bodyPr wrap="square" lIns="0" tIns="0" rIns="0" bIns="0" rtlCol="0" anchor="t"/>
          <a:lstStyle/>
          <a:p>
            <a:pPr marL="0" indent="0">
              <a:lnSpc>
                <a:spcPts val="2100"/>
              </a:lnSpc>
              <a:buNone/>
            </a:pPr>
            <a:r>
              <a:rPr lang="en-US" sz="1400" dirty="0">
                <a:solidFill>
                  <a:srgbClr val="141414"/>
                </a:solidFill>
                <a:latin typeface="Arial" pitchFamily="34" charset="0"/>
                <a:ea typeface="Arial" pitchFamily="34" charset="-122"/>
                <a:cs typeface="Arial" pitchFamily="34" charset="-120"/>
              </a:rPr>
              <a:t>Embed the small chunk for precision, but pass the surrounding passage to the model. This sidesteps the size trade-off rather than compromising on it.</a:t>
            </a:r>
            <a:endParaRPr lang="en-US" sz="1400" dirty="0"/>
          </a:p>
        </p:txBody>
      </p:sp>
      <p:sp>
        <p:nvSpPr>
          <p:cNvPr id="15" name="Shape 13"/>
          <p:cNvSpPr/>
          <p:nvPr/>
        </p:nvSpPr>
        <p:spPr>
          <a:xfrm>
            <a:off x="786384" y="4017258"/>
            <a:ext cx="5227168" cy="20788"/>
          </a:xfrm>
          <a:prstGeom prst="rect">
            <a:avLst/>
          </a:prstGeom>
          <a:solidFill>
            <a:srgbClr val="141414"/>
          </a:solidFill>
          <a:ln/>
        </p:spPr>
        <p:txBody>
          <a:bodyPr/>
          <a:lstStyle/>
          <a:p>
            <a:endParaRPr lang="en-HK"/>
          </a:p>
        </p:txBody>
      </p:sp>
      <p:sp>
        <p:nvSpPr>
          <p:cNvPr id="16" name="Text 14"/>
          <p:cNvSpPr/>
          <p:nvPr/>
        </p:nvSpPr>
        <p:spPr>
          <a:xfrm>
            <a:off x="786384" y="4202037"/>
            <a:ext cx="5227168" cy="434679"/>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Tables are not prose</a:t>
            </a:r>
            <a:endParaRPr lang="en-US" sz="1950" dirty="0"/>
          </a:p>
        </p:txBody>
      </p:sp>
      <p:sp>
        <p:nvSpPr>
          <p:cNvPr id="17" name="Text 15"/>
          <p:cNvSpPr/>
          <p:nvPr/>
        </p:nvSpPr>
        <p:spPr>
          <a:xfrm>
            <a:off x="786384" y="4729106"/>
            <a:ext cx="5227168" cy="1068252"/>
          </a:xfrm>
          <a:prstGeom prst="rect">
            <a:avLst/>
          </a:prstGeom>
          <a:noFill/>
          <a:ln/>
        </p:spPr>
        <p:txBody>
          <a:bodyPr wrap="square" lIns="0" tIns="0" rIns="0" bIns="0" rtlCol="0" anchor="t"/>
          <a:lstStyle/>
          <a:p>
            <a:pPr marL="0" indent="0">
              <a:lnSpc>
                <a:spcPts val="2100"/>
              </a:lnSpc>
              <a:buNone/>
            </a:pPr>
            <a:r>
              <a:rPr lang="en-US" sz="1400" dirty="0">
                <a:solidFill>
                  <a:srgbClr val="141414"/>
                </a:solidFill>
                <a:latin typeface="Arial" pitchFamily="34" charset="0"/>
                <a:ea typeface="Arial" pitchFamily="34" charset="-122"/>
                <a:cs typeface="Arial" pitchFamily="34" charset="-120"/>
              </a:rPr>
              <a:t>Flattened to text a table becomes word soup. Extract rows as structured records. Several Level 4 questions are really table lookups.</a:t>
            </a:r>
            <a:endParaRPr lang="en-US" sz="1400" dirty="0"/>
          </a:p>
        </p:txBody>
      </p:sp>
      <p:sp>
        <p:nvSpPr>
          <p:cNvPr id="19" name="Shape 17"/>
          <p:cNvSpPr/>
          <p:nvPr/>
        </p:nvSpPr>
        <p:spPr>
          <a:xfrm>
            <a:off x="6266801" y="4017259"/>
            <a:ext cx="4751680" cy="27717"/>
          </a:xfrm>
          <a:prstGeom prst="rect">
            <a:avLst/>
          </a:prstGeom>
          <a:solidFill>
            <a:srgbClr val="C0402A"/>
          </a:solidFill>
          <a:ln/>
        </p:spPr>
        <p:txBody>
          <a:bodyPr/>
          <a:lstStyle/>
          <a:p>
            <a:endParaRPr lang="en-HK"/>
          </a:p>
        </p:txBody>
      </p:sp>
      <p:sp>
        <p:nvSpPr>
          <p:cNvPr id="20" name="Text 18"/>
          <p:cNvSpPr/>
          <p:nvPr/>
        </p:nvSpPr>
        <p:spPr>
          <a:xfrm>
            <a:off x="6266801" y="4202037"/>
            <a:ext cx="4751680" cy="434679"/>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Decide metadata now</a:t>
            </a:r>
            <a:endParaRPr lang="en-US" sz="1950" dirty="0"/>
          </a:p>
        </p:txBody>
      </p:sp>
      <p:sp>
        <p:nvSpPr>
          <p:cNvPr id="21" name="Text 19"/>
          <p:cNvSpPr/>
          <p:nvPr/>
        </p:nvSpPr>
        <p:spPr>
          <a:xfrm>
            <a:off x="6266801" y="4729106"/>
            <a:ext cx="4751680" cy="1068252"/>
          </a:xfrm>
          <a:prstGeom prst="rect">
            <a:avLst/>
          </a:prstGeom>
          <a:noFill/>
          <a:ln/>
        </p:spPr>
        <p:txBody>
          <a:bodyPr wrap="square" lIns="0" tIns="0" rIns="0" bIns="0" rtlCol="0" anchor="t"/>
          <a:lstStyle/>
          <a:p>
            <a:pPr marL="0" indent="0">
              <a:lnSpc>
                <a:spcPts val="2100"/>
              </a:lnSpc>
              <a:buNone/>
            </a:pPr>
            <a:r>
              <a:rPr lang="en-US" sz="1400" dirty="0">
                <a:solidFill>
                  <a:srgbClr val="141414"/>
                </a:solidFill>
                <a:latin typeface="Arial" pitchFamily="34" charset="0"/>
                <a:ea typeface="Arial" pitchFamily="34" charset="-122"/>
                <a:cs typeface="Arial" pitchFamily="34" charset="-120"/>
              </a:rPr>
              <a:t>Adding a field later means rebuilding the whole index. Store url, title, page type and year even if you cannot see a use for them yet.</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C0402A"/>
                </a:solidFill>
                <a:latin typeface="Arial" pitchFamily="34" charset="0"/>
                <a:ea typeface="Arial" pitchFamily="34" charset="-122"/>
                <a:cs typeface="Arial" pitchFamily="34" charset="-120"/>
              </a:rPr>
              <a:t>TROUBLESHOOTING</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Common Indexing Issues</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5" name="Text 3"/>
          <p:cNvSpPr/>
          <p:nvPr/>
        </p:nvSpPr>
        <p:spPr>
          <a:xfrm>
            <a:off x="10801807"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6E6A63"/>
                </a:solidFill>
                <a:latin typeface="Arial" pitchFamily="34" charset="0"/>
                <a:ea typeface="Arial" pitchFamily="34" charset="-122"/>
                <a:cs typeface="Arial" pitchFamily="34" charset="-120"/>
              </a:rPr>
              <a:t>LV2</a:t>
            </a:r>
            <a:endParaRPr lang="en-US" sz="1100" dirty="0"/>
          </a:p>
        </p:txBody>
      </p:sp>
      <p:sp>
        <p:nvSpPr>
          <p:cNvPr id="6" name="Shape 4"/>
          <p:cNvSpPr/>
          <p:nvPr/>
        </p:nvSpPr>
        <p:spPr>
          <a:xfrm>
            <a:off x="786384" y="1426464"/>
            <a:ext cx="10618927" cy="10973"/>
          </a:xfrm>
          <a:prstGeom prst="rect">
            <a:avLst/>
          </a:prstGeom>
          <a:solidFill>
            <a:srgbClr val="D5D1CA"/>
          </a:solidFill>
          <a:ln/>
        </p:spPr>
        <p:txBody>
          <a:bodyPr/>
          <a:lstStyle/>
          <a:p>
            <a:endParaRPr lang="en-HK"/>
          </a:p>
        </p:txBody>
      </p:sp>
      <p:sp>
        <p:nvSpPr>
          <p:cNvPr id="7" name="Text 5"/>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28</a:t>
            </a:r>
            <a:endParaRPr lang="en-US" sz="1200" dirty="0"/>
          </a:p>
        </p:txBody>
      </p:sp>
      <p:sp>
        <p:nvSpPr>
          <p:cNvPr id="8" name="Text 6"/>
          <p:cNvSpPr/>
          <p:nvPr/>
        </p:nvSpPr>
        <p:spPr>
          <a:xfrm>
            <a:off x="786384" y="1833298"/>
            <a:ext cx="2743200" cy="353064"/>
          </a:xfrm>
          <a:prstGeom prst="rect">
            <a:avLst/>
          </a:prstGeom>
          <a:noFill/>
          <a:ln/>
        </p:spPr>
        <p:txBody>
          <a:bodyPr wrap="square" lIns="0" tIns="0" rIns="0" bIns="0" rtlCol="0" anchor="ctr"/>
          <a:lstStyle/>
          <a:p>
            <a:pPr marL="0" indent="0">
              <a:buNone/>
            </a:pPr>
            <a:r>
              <a:rPr lang="en-US" sz="1500" b="1" dirty="0">
                <a:solidFill>
                  <a:srgbClr val="141414"/>
                </a:solidFill>
                <a:latin typeface="Arial" pitchFamily="34" charset="0"/>
                <a:ea typeface="Arial" pitchFamily="34" charset="-122"/>
                <a:cs typeface="Arial" pitchFamily="34" charset="-120"/>
              </a:rPr>
              <a:t>Every chunk looks similar</a:t>
            </a:r>
            <a:endParaRPr lang="en-US" sz="1500" dirty="0"/>
          </a:p>
        </p:txBody>
      </p:sp>
      <p:sp>
        <p:nvSpPr>
          <p:cNvPr id="9" name="Text 7"/>
          <p:cNvSpPr/>
          <p:nvPr/>
        </p:nvSpPr>
        <p:spPr>
          <a:xfrm>
            <a:off x="3666744" y="1833298"/>
            <a:ext cx="4572000" cy="353064"/>
          </a:xfrm>
          <a:prstGeom prst="rect">
            <a:avLst/>
          </a:prstGeom>
          <a:noFill/>
          <a:ln/>
        </p:spPr>
        <p:txBody>
          <a:bodyPr wrap="square" lIns="0" tIns="0" rIns="0" bIns="0" rtlCol="0" anchor="ctr"/>
          <a:lstStyle/>
          <a:p>
            <a:pPr marL="0" indent="0">
              <a:buNone/>
            </a:pPr>
            <a:r>
              <a:rPr lang="en-US" sz="1350" dirty="0">
                <a:solidFill>
                  <a:srgbClr val="6E6A63"/>
                </a:solidFill>
                <a:latin typeface="Arial" pitchFamily="34" charset="0"/>
                <a:ea typeface="Arial" pitchFamily="34" charset="-122"/>
                <a:cs typeface="Arial" pitchFamily="34" charset="-120"/>
              </a:rPr>
              <a:t>get_text() pulled the nav menu into every page</a:t>
            </a:r>
            <a:endParaRPr lang="en-US" sz="1350" dirty="0"/>
          </a:p>
        </p:txBody>
      </p:sp>
      <p:sp>
        <p:nvSpPr>
          <p:cNvPr id="10" name="Text 8"/>
          <p:cNvSpPr/>
          <p:nvPr/>
        </p:nvSpPr>
        <p:spPr>
          <a:xfrm>
            <a:off x="8421624" y="1833298"/>
            <a:ext cx="2983687" cy="353064"/>
          </a:xfrm>
          <a:prstGeom prst="rect">
            <a:avLst/>
          </a:prstGeom>
          <a:noFill/>
          <a:ln/>
        </p:spPr>
        <p:txBody>
          <a:bodyPr wrap="square" lIns="0" tIns="0" rIns="0" bIns="0" rtlCol="0" anchor="ctr"/>
          <a:lstStyle/>
          <a:p>
            <a:pPr marL="0" indent="0">
              <a:buNone/>
            </a:pPr>
            <a:r>
              <a:rPr lang="en-US" sz="1350" dirty="0">
                <a:solidFill>
                  <a:srgbClr val="C0402A"/>
                </a:solidFill>
                <a:latin typeface="Arial" pitchFamily="34" charset="0"/>
                <a:ea typeface="Arial" pitchFamily="34" charset="-122"/>
                <a:cs typeface="Arial" pitchFamily="34" charset="-120"/>
              </a:rPr>
              <a:t>Select the main content element only</a:t>
            </a:r>
            <a:endParaRPr lang="en-US" sz="1350" dirty="0"/>
          </a:p>
        </p:txBody>
      </p:sp>
      <p:sp>
        <p:nvSpPr>
          <p:cNvPr id="11" name="Text 9"/>
          <p:cNvSpPr/>
          <p:nvPr/>
        </p:nvSpPr>
        <p:spPr>
          <a:xfrm>
            <a:off x="786384" y="2518657"/>
            <a:ext cx="2743200" cy="353064"/>
          </a:xfrm>
          <a:prstGeom prst="rect">
            <a:avLst/>
          </a:prstGeom>
          <a:noFill/>
          <a:ln/>
        </p:spPr>
        <p:txBody>
          <a:bodyPr wrap="square" lIns="0" tIns="0" rIns="0" bIns="0" rtlCol="0" anchor="ctr"/>
          <a:lstStyle/>
          <a:p>
            <a:pPr marL="0" indent="0">
              <a:buNone/>
            </a:pPr>
            <a:r>
              <a:rPr lang="en-US" sz="1500" b="1" dirty="0">
                <a:solidFill>
                  <a:srgbClr val="141414"/>
                </a:solidFill>
                <a:latin typeface="Arial" pitchFamily="34" charset="0"/>
                <a:ea typeface="Arial" pitchFamily="34" charset="-122"/>
                <a:cs typeface="Arial" pitchFamily="34" charset="-120"/>
              </a:rPr>
              <a:t>Images do not load later</a:t>
            </a:r>
            <a:endParaRPr lang="en-US" sz="1500" dirty="0"/>
          </a:p>
        </p:txBody>
      </p:sp>
      <p:sp>
        <p:nvSpPr>
          <p:cNvPr id="12" name="Text 10"/>
          <p:cNvSpPr/>
          <p:nvPr/>
        </p:nvSpPr>
        <p:spPr>
          <a:xfrm>
            <a:off x="3666744" y="2518657"/>
            <a:ext cx="4572000" cy="353064"/>
          </a:xfrm>
          <a:prstGeom prst="rect">
            <a:avLst/>
          </a:prstGeom>
          <a:noFill/>
          <a:ln/>
        </p:spPr>
        <p:txBody>
          <a:bodyPr wrap="square" lIns="0" tIns="0" rIns="0" bIns="0" rtlCol="0" anchor="ctr"/>
          <a:lstStyle/>
          <a:p>
            <a:pPr marL="0" indent="0">
              <a:buNone/>
            </a:pPr>
            <a:r>
              <a:rPr lang="en-US" sz="1350" dirty="0">
                <a:solidFill>
                  <a:srgbClr val="6E6A63"/>
                </a:solidFill>
                <a:latin typeface="Arial" pitchFamily="34" charset="0"/>
                <a:ea typeface="Arial" pitchFamily="34" charset="-122"/>
                <a:cs typeface="Arial" pitchFamily="34" charset="-120"/>
              </a:rPr>
              <a:t>Relative src values were stored unresolved</a:t>
            </a:r>
            <a:endParaRPr lang="en-US" sz="1350" dirty="0"/>
          </a:p>
        </p:txBody>
      </p:sp>
      <p:sp>
        <p:nvSpPr>
          <p:cNvPr id="13" name="Text 11"/>
          <p:cNvSpPr/>
          <p:nvPr/>
        </p:nvSpPr>
        <p:spPr>
          <a:xfrm>
            <a:off x="8421624" y="2518657"/>
            <a:ext cx="2983687" cy="353064"/>
          </a:xfrm>
          <a:prstGeom prst="rect">
            <a:avLst/>
          </a:prstGeom>
          <a:noFill/>
          <a:ln/>
        </p:spPr>
        <p:txBody>
          <a:bodyPr wrap="square" lIns="0" tIns="0" rIns="0" bIns="0" rtlCol="0" anchor="ctr"/>
          <a:lstStyle/>
          <a:p>
            <a:pPr marL="0" indent="0">
              <a:buNone/>
            </a:pPr>
            <a:r>
              <a:rPr lang="en-US" sz="1350" dirty="0">
                <a:solidFill>
                  <a:srgbClr val="C0402A"/>
                </a:solidFill>
                <a:latin typeface="Arial" pitchFamily="34" charset="0"/>
                <a:ea typeface="Arial" pitchFamily="34" charset="-122"/>
                <a:cs typeface="Arial" pitchFamily="34" charset="-120"/>
              </a:rPr>
              <a:t>urljoin against the page URL at scrape time</a:t>
            </a:r>
            <a:endParaRPr lang="en-US" sz="1350" dirty="0"/>
          </a:p>
        </p:txBody>
      </p:sp>
      <p:sp>
        <p:nvSpPr>
          <p:cNvPr id="14" name="Text 12"/>
          <p:cNvSpPr/>
          <p:nvPr/>
        </p:nvSpPr>
        <p:spPr>
          <a:xfrm>
            <a:off x="786384" y="3204016"/>
            <a:ext cx="2743200" cy="353064"/>
          </a:xfrm>
          <a:prstGeom prst="rect">
            <a:avLst/>
          </a:prstGeom>
          <a:noFill/>
          <a:ln/>
        </p:spPr>
        <p:txBody>
          <a:bodyPr wrap="square" lIns="0" tIns="0" rIns="0" bIns="0" rtlCol="0" anchor="ctr"/>
          <a:lstStyle/>
          <a:p>
            <a:pPr marL="0" indent="0">
              <a:buNone/>
            </a:pPr>
            <a:r>
              <a:rPr lang="en-US" sz="1500" b="1" dirty="0">
                <a:solidFill>
                  <a:srgbClr val="141414"/>
                </a:solidFill>
                <a:latin typeface="Arial" pitchFamily="34" charset="0"/>
                <a:ea typeface="Arial" pitchFamily="34" charset="-122"/>
                <a:cs typeface="Arial" pitchFamily="34" charset="-120"/>
              </a:rPr>
              <a:t>The same text appears repeatedly</a:t>
            </a:r>
            <a:endParaRPr lang="en-US" sz="1500" dirty="0"/>
          </a:p>
        </p:txBody>
      </p:sp>
      <p:sp>
        <p:nvSpPr>
          <p:cNvPr id="15" name="Text 13"/>
          <p:cNvSpPr/>
          <p:nvPr/>
        </p:nvSpPr>
        <p:spPr>
          <a:xfrm>
            <a:off x="3666744" y="3204016"/>
            <a:ext cx="4572000" cy="353064"/>
          </a:xfrm>
          <a:prstGeom prst="rect">
            <a:avLst/>
          </a:prstGeom>
          <a:noFill/>
          <a:ln/>
        </p:spPr>
        <p:txBody>
          <a:bodyPr wrap="square" lIns="0" tIns="0" rIns="0" bIns="0" rtlCol="0" anchor="ctr"/>
          <a:lstStyle/>
          <a:p>
            <a:pPr marL="0" indent="0">
              <a:buNone/>
            </a:pPr>
            <a:r>
              <a:rPr lang="en-US" sz="1350" dirty="0">
                <a:solidFill>
                  <a:srgbClr val="6E6A63"/>
                </a:solidFill>
                <a:latin typeface="Arial" pitchFamily="34" charset="0"/>
                <a:ea typeface="Arial" pitchFamily="34" charset="-122"/>
                <a:cs typeface="Arial" pitchFamily="34" charset="-120"/>
              </a:rPr>
              <a:t>Shared page furniture became many near-identical chunks</a:t>
            </a:r>
            <a:endParaRPr lang="en-US" sz="1350" dirty="0"/>
          </a:p>
        </p:txBody>
      </p:sp>
      <p:sp>
        <p:nvSpPr>
          <p:cNvPr id="16" name="Text 14"/>
          <p:cNvSpPr/>
          <p:nvPr/>
        </p:nvSpPr>
        <p:spPr>
          <a:xfrm>
            <a:off x="8421624" y="3204016"/>
            <a:ext cx="2983687" cy="353064"/>
          </a:xfrm>
          <a:prstGeom prst="rect">
            <a:avLst/>
          </a:prstGeom>
          <a:noFill/>
          <a:ln/>
        </p:spPr>
        <p:txBody>
          <a:bodyPr wrap="square" lIns="0" tIns="0" rIns="0" bIns="0" rtlCol="0" anchor="ctr"/>
          <a:lstStyle/>
          <a:p>
            <a:pPr marL="0" indent="0">
              <a:buNone/>
            </a:pPr>
            <a:r>
              <a:rPr lang="en-US" sz="1350" dirty="0">
                <a:solidFill>
                  <a:srgbClr val="C0402A"/>
                </a:solidFill>
                <a:latin typeface="Arial" pitchFamily="34" charset="0"/>
                <a:ea typeface="Arial" pitchFamily="34" charset="-122"/>
                <a:cs typeface="Arial" pitchFamily="34" charset="-120"/>
              </a:rPr>
              <a:t>Hash chunks and drop duplicates</a:t>
            </a:r>
            <a:endParaRPr lang="en-US" sz="1350" dirty="0"/>
          </a:p>
        </p:txBody>
      </p:sp>
      <p:sp>
        <p:nvSpPr>
          <p:cNvPr id="17" name="Text 15"/>
          <p:cNvSpPr/>
          <p:nvPr/>
        </p:nvSpPr>
        <p:spPr>
          <a:xfrm>
            <a:off x="786384" y="3889374"/>
            <a:ext cx="2743200" cy="353064"/>
          </a:xfrm>
          <a:prstGeom prst="rect">
            <a:avLst/>
          </a:prstGeom>
          <a:noFill/>
          <a:ln/>
        </p:spPr>
        <p:txBody>
          <a:bodyPr wrap="square" lIns="0" tIns="0" rIns="0" bIns="0" rtlCol="0" anchor="ctr"/>
          <a:lstStyle/>
          <a:p>
            <a:pPr marL="0" indent="0">
              <a:buNone/>
            </a:pPr>
            <a:r>
              <a:rPr lang="en-US" sz="1500" b="1" dirty="0">
                <a:solidFill>
                  <a:srgbClr val="141414"/>
                </a:solidFill>
                <a:latin typeface="Arial" pitchFamily="34" charset="0"/>
                <a:ea typeface="Arial" pitchFamily="34" charset="-122"/>
                <a:cs typeface="Arial" pitchFamily="34" charset="-120"/>
              </a:rPr>
              <a:t>Cannot filter by year or type</a:t>
            </a:r>
            <a:endParaRPr lang="en-US" sz="1500" dirty="0"/>
          </a:p>
        </p:txBody>
      </p:sp>
      <p:sp>
        <p:nvSpPr>
          <p:cNvPr id="18" name="Text 16"/>
          <p:cNvSpPr/>
          <p:nvPr/>
        </p:nvSpPr>
        <p:spPr>
          <a:xfrm>
            <a:off x="3666744" y="3889374"/>
            <a:ext cx="4572000" cy="353064"/>
          </a:xfrm>
          <a:prstGeom prst="rect">
            <a:avLst/>
          </a:prstGeom>
          <a:noFill/>
          <a:ln/>
        </p:spPr>
        <p:txBody>
          <a:bodyPr wrap="square" lIns="0" tIns="0" rIns="0" bIns="0" rtlCol="0" anchor="ctr"/>
          <a:lstStyle/>
          <a:p>
            <a:pPr marL="0" indent="0">
              <a:buNone/>
            </a:pPr>
            <a:r>
              <a:rPr lang="en-US" sz="1350" dirty="0">
                <a:solidFill>
                  <a:srgbClr val="6E6A63"/>
                </a:solidFill>
                <a:latin typeface="Arial" pitchFamily="34" charset="0"/>
                <a:ea typeface="Arial" pitchFamily="34" charset="-122"/>
                <a:cs typeface="Arial" pitchFamily="34" charset="-120"/>
              </a:rPr>
              <a:t>Metadata was never stored alongside the chunks</a:t>
            </a:r>
            <a:endParaRPr lang="en-US" sz="1350" dirty="0"/>
          </a:p>
        </p:txBody>
      </p:sp>
      <p:sp>
        <p:nvSpPr>
          <p:cNvPr id="19" name="Text 17"/>
          <p:cNvSpPr/>
          <p:nvPr/>
        </p:nvSpPr>
        <p:spPr>
          <a:xfrm>
            <a:off x="8421624" y="3889374"/>
            <a:ext cx="2983687" cy="353064"/>
          </a:xfrm>
          <a:prstGeom prst="rect">
            <a:avLst/>
          </a:prstGeom>
          <a:noFill/>
          <a:ln/>
        </p:spPr>
        <p:txBody>
          <a:bodyPr wrap="square" lIns="0" tIns="0" rIns="0" bIns="0" rtlCol="0" anchor="ctr"/>
          <a:lstStyle/>
          <a:p>
            <a:pPr marL="0" indent="0">
              <a:buNone/>
            </a:pPr>
            <a:r>
              <a:rPr lang="en-US" sz="1350" dirty="0">
                <a:solidFill>
                  <a:srgbClr val="C0402A"/>
                </a:solidFill>
                <a:latin typeface="Arial" pitchFamily="34" charset="0"/>
                <a:ea typeface="Arial" pitchFamily="34" charset="-122"/>
                <a:cs typeface="Arial" pitchFamily="34" charset="-120"/>
              </a:rPr>
              <a:t>Add the fields and rebuild</a:t>
            </a:r>
            <a:endParaRPr lang="en-US" sz="1350" dirty="0"/>
          </a:p>
        </p:txBody>
      </p:sp>
      <p:sp>
        <p:nvSpPr>
          <p:cNvPr id="20" name="Text 18"/>
          <p:cNvSpPr/>
          <p:nvPr/>
        </p:nvSpPr>
        <p:spPr>
          <a:xfrm>
            <a:off x="786384" y="4574733"/>
            <a:ext cx="2743200" cy="353064"/>
          </a:xfrm>
          <a:prstGeom prst="rect">
            <a:avLst/>
          </a:prstGeom>
          <a:noFill/>
          <a:ln/>
        </p:spPr>
        <p:txBody>
          <a:bodyPr wrap="square" lIns="0" tIns="0" rIns="0" bIns="0" rtlCol="0" anchor="ctr"/>
          <a:lstStyle/>
          <a:p>
            <a:pPr marL="0" indent="0">
              <a:buNone/>
            </a:pPr>
            <a:r>
              <a:rPr lang="en-US" sz="1500" b="1" dirty="0">
                <a:solidFill>
                  <a:srgbClr val="141414"/>
                </a:solidFill>
                <a:latin typeface="Arial" pitchFamily="34" charset="0"/>
                <a:ea typeface="Arial" pitchFamily="34" charset="-122"/>
                <a:cs typeface="Arial" pitchFamily="34" charset="-120"/>
              </a:rPr>
              <a:t>The build takes forever</a:t>
            </a:r>
            <a:endParaRPr lang="en-US" sz="1500" dirty="0"/>
          </a:p>
        </p:txBody>
      </p:sp>
      <p:sp>
        <p:nvSpPr>
          <p:cNvPr id="21" name="Text 19"/>
          <p:cNvSpPr/>
          <p:nvPr/>
        </p:nvSpPr>
        <p:spPr>
          <a:xfrm>
            <a:off x="3666744" y="4574733"/>
            <a:ext cx="4572000" cy="353064"/>
          </a:xfrm>
          <a:prstGeom prst="rect">
            <a:avLst/>
          </a:prstGeom>
          <a:noFill/>
          <a:ln/>
        </p:spPr>
        <p:txBody>
          <a:bodyPr wrap="square" lIns="0" tIns="0" rIns="0" bIns="0" rtlCol="0" anchor="ctr"/>
          <a:lstStyle/>
          <a:p>
            <a:pPr marL="0" indent="0">
              <a:buNone/>
            </a:pPr>
            <a:r>
              <a:rPr lang="en-US" sz="1350" dirty="0">
                <a:solidFill>
                  <a:srgbClr val="6E6A63"/>
                </a:solidFill>
                <a:latin typeface="Arial" pitchFamily="34" charset="0"/>
                <a:ea typeface="Arial" pitchFamily="34" charset="-122"/>
                <a:cs typeface="Arial" pitchFamily="34" charset="-120"/>
              </a:rPr>
              <a:t>One embedding call per chunk</a:t>
            </a:r>
            <a:endParaRPr lang="en-US" sz="1350" dirty="0"/>
          </a:p>
        </p:txBody>
      </p:sp>
      <p:sp>
        <p:nvSpPr>
          <p:cNvPr id="22" name="Text 20"/>
          <p:cNvSpPr/>
          <p:nvPr/>
        </p:nvSpPr>
        <p:spPr>
          <a:xfrm>
            <a:off x="8421624" y="4574733"/>
            <a:ext cx="2983687" cy="353064"/>
          </a:xfrm>
          <a:prstGeom prst="rect">
            <a:avLst/>
          </a:prstGeom>
          <a:noFill/>
          <a:ln/>
        </p:spPr>
        <p:txBody>
          <a:bodyPr wrap="square" lIns="0" tIns="0" rIns="0" bIns="0" rtlCol="0" anchor="ctr"/>
          <a:lstStyle/>
          <a:p>
            <a:pPr marL="0" indent="0">
              <a:buNone/>
            </a:pPr>
            <a:r>
              <a:rPr lang="en-US" sz="1350" dirty="0">
                <a:solidFill>
                  <a:srgbClr val="C0402A"/>
                </a:solidFill>
                <a:latin typeface="Arial" pitchFamily="34" charset="0"/>
                <a:ea typeface="Arial" pitchFamily="34" charset="-122"/>
                <a:cs typeface="Arial" pitchFamily="34" charset="-120"/>
              </a:rPr>
              <a:t>Send lists, not single strings</a:t>
            </a:r>
            <a:endParaRPr lang="en-US" sz="1350" dirty="0"/>
          </a:p>
        </p:txBody>
      </p:sp>
      <p:sp>
        <p:nvSpPr>
          <p:cNvPr id="23" name="Text 21"/>
          <p:cNvSpPr/>
          <p:nvPr/>
        </p:nvSpPr>
        <p:spPr>
          <a:xfrm>
            <a:off x="786384" y="5509313"/>
            <a:ext cx="10087981" cy="726895"/>
          </a:xfrm>
          <a:prstGeom prst="rect">
            <a:avLst/>
          </a:prstGeom>
          <a:noFill/>
          <a:ln/>
        </p:spPr>
        <p:txBody>
          <a:bodyPr wrap="square" lIns="0" tIns="0" rIns="0" bIns="0" rtlCol="0" anchor="ctr"/>
          <a:lstStyle/>
          <a:p>
            <a:pPr marL="0" indent="0">
              <a:lnSpc>
                <a:spcPts val="2300"/>
              </a:lnSpc>
              <a:buNone/>
            </a:pPr>
            <a:r>
              <a:rPr lang="en-US" sz="1550" dirty="0">
                <a:solidFill>
                  <a:srgbClr val="141414"/>
                </a:solidFill>
                <a:latin typeface="Arial" pitchFamily="34" charset="0"/>
                <a:ea typeface="Arial" pitchFamily="34" charset="-122"/>
                <a:cs typeface="Arial" pitchFamily="34" charset="-120"/>
              </a:rPr>
              <a:t>The first is the one to check first. Boilerplate in the index degrades every question at once, and it is invisible until you print the chunks.</a:t>
            </a:r>
            <a:endParaRPr lang="en-US" sz="15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21212"/>
        </a:solidFill>
        <a:effectLst/>
      </p:bgPr>
    </p:bg>
    <p:spTree>
      <p:nvGrpSpPr>
        <p:cNvPr id="1" name=""/>
        <p:cNvGrpSpPr/>
        <p:nvPr/>
      </p:nvGrpSpPr>
      <p:grpSpPr>
        <a:xfrm>
          <a:off x="0" y="0"/>
          <a:ext cx="0" cy="0"/>
          <a:chOff x="0" y="0"/>
          <a:chExt cx="0" cy="0"/>
        </a:xfrm>
      </p:grpSpPr>
      <p:sp>
        <p:nvSpPr>
          <p:cNvPr id="2" name="Text 0"/>
          <p:cNvSpPr/>
          <p:nvPr/>
        </p:nvSpPr>
        <p:spPr>
          <a:xfrm>
            <a:off x="8899855" y="960120"/>
            <a:ext cx="3017520" cy="3200400"/>
          </a:xfrm>
          <a:prstGeom prst="rect">
            <a:avLst/>
          </a:prstGeom>
          <a:noFill/>
          <a:ln/>
        </p:spPr>
        <p:txBody>
          <a:bodyPr wrap="square" lIns="0" tIns="0" rIns="0" bIns="0" rtlCol="0" anchor="ctr"/>
          <a:lstStyle/>
          <a:p>
            <a:pPr marL="0" indent="0" algn="r">
              <a:buNone/>
            </a:pPr>
            <a:r>
              <a:rPr lang="en-US" sz="9600" b="1" dirty="0">
                <a:solidFill>
                  <a:srgbClr val="3D3934"/>
                </a:solidFill>
                <a:latin typeface="Arial" pitchFamily="34" charset="0"/>
                <a:ea typeface="Arial" pitchFamily="34" charset="-122"/>
                <a:cs typeface="Arial" pitchFamily="34" charset="-120"/>
              </a:rPr>
              <a:t>5</a:t>
            </a:r>
            <a:endParaRPr lang="en-US" sz="9600" dirty="0"/>
          </a:p>
        </p:txBody>
      </p:sp>
      <p:sp>
        <p:nvSpPr>
          <p:cNvPr id="3" name="Text 1"/>
          <p:cNvSpPr/>
          <p:nvPr/>
        </p:nvSpPr>
        <p:spPr>
          <a:xfrm>
            <a:off x="786384" y="1975104"/>
            <a:ext cx="10618927" cy="274320"/>
          </a:xfrm>
          <a:prstGeom prst="rect">
            <a:avLst/>
          </a:prstGeom>
          <a:noFill/>
          <a:ln/>
        </p:spPr>
        <p:txBody>
          <a:bodyPr wrap="square" lIns="0" tIns="0" rIns="0" bIns="0" rtlCol="0" anchor="ctr"/>
          <a:lstStyle/>
          <a:p>
            <a:pPr marL="0" indent="0">
              <a:buNone/>
            </a:pPr>
            <a:r>
              <a:rPr lang="en-US" sz="1200" b="1" kern="0" spc="260" dirty="0">
                <a:solidFill>
                  <a:srgbClr val="C0402A"/>
                </a:solidFill>
                <a:latin typeface="Arial" pitchFamily="34" charset="0"/>
                <a:ea typeface="Arial" pitchFamily="34" charset="-122"/>
                <a:cs typeface="Arial" pitchFamily="34" charset="-120"/>
              </a:rPr>
              <a:t>BLOCK 5  ·  LAB</a:t>
            </a:r>
            <a:endParaRPr lang="en-US" sz="1200" dirty="0"/>
          </a:p>
        </p:txBody>
      </p:sp>
      <p:sp>
        <p:nvSpPr>
          <p:cNvPr id="4" name="Shape 2"/>
          <p:cNvSpPr/>
          <p:nvPr/>
        </p:nvSpPr>
        <p:spPr>
          <a:xfrm>
            <a:off x="786384" y="2377440"/>
            <a:ext cx="1371600" cy="20117"/>
          </a:xfrm>
          <a:prstGeom prst="rect">
            <a:avLst/>
          </a:prstGeom>
          <a:solidFill>
            <a:srgbClr val="C0402A"/>
          </a:solidFill>
          <a:ln/>
        </p:spPr>
        <p:txBody>
          <a:bodyPr/>
          <a:lstStyle/>
          <a:p>
            <a:endParaRPr lang="en-HK"/>
          </a:p>
        </p:txBody>
      </p:sp>
      <p:sp>
        <p:nvSpPr>
          <p:cNvPr id="5" name="Text 3"/>
          <p:cNvSpPr/>
          <p:nvPr/>
        </p:nvSpPr>
        <p:spPr>
          <a:xfrm>
            <a:off x="786384" y="2596896"/>
            <a:ext cx="7024421" cy="1188720"/>
          </a:xfrm>
          <a:prstGeom prst="rect">
            <a:avLst/>
          </a:prstGeom>
          <a:noFill/>
          <a:ln/>
        </p:spPr>
        <p:txBody>
          <a:bodyPr wrap="square" lIns="0" tIns="0" rIns="0" bIns="0" rtlCol="0" anchor="ctr"/>
          <a:lstStyle/>
          <a:p>
            <a:pPr marL="0" indent="0">
              <a:lnSpc>
                <a:spcPts val="4000"/>
              </a:lnSpc>
              <a:buNone/>
            </a:pPr>
            <a:r>
              <a:rPr lang="en-US" sz="3600" b="1" dirty="0">
                <a:solidFill>
                  <a:srgbClr val="FAF8F5"/>
                </a:solidFill>
                <a:latin typeface="Arial" pitchFamily="34" charset="0"/>
                <a:ea typeface="Arial" pitchFamily="34" charset="-122"/>
                <a:cs typeface="Arial" pitchFamily="34" charset="-120"/>
              </a:rPr>
              <a:t>Experiment &amp; Measure</a:t>
            </a:r>
            <a:endParaRPr lang="en-US" sz="3600" dirty="0"/>
          </a:p>
        </p:txBody>
      </p:sp>
      <p:sp>
        <p:nvSpPr>
          <p:cNvPr id="6" name="Text 4"/>
          <p:cNvSpPr/>
          <p:nvPr/>
        </p:nvSpPr>
        <p:spPr>
          <a:xfrm>
            <a:off x="786384" y="3895344"/>
            <a:ext cx="6125794" cy="822960"/>
          </a:xfrm>
          <a:prstGeom prst="rect">
            <a:avLst/>
          </a:prstGeom>
          <a:noFill/>
          <a:ln/>
        </p:spPr>
        <p:txBody>
          <a:bodyPr wrap="square" lIns="0" tIns="0" rIns="0" bIns="0" rtlCol="0" anchor="ctr"/>
          <a:lstStyle/>
          <a:p>
            <a:pPr marL="0" indent="0">
              <a:lnSpc>
                <a:spcPts val="2300"/>
              </a:lnSpc>
              <a:buNone/>
            </a:pPr>
            <a:r>
              <a:rPr lang="en-US" sz="1750" dirty="0">
                <a:solidFill>
                  <a:srgbClr val="A8A39B"/>
                </a:solidFill>
                <a:latin typeface="Arial" pitchFamily="34" charset="0"/>
                <a:ea typeface="Arial" pitchFamily="34" charset="-122"/>
                <a:cs typeface="Arial" pitchFamily="34" charset="-120"/>
              </a:rPr>
              <a:t>The longest block in the session. Every team completes at least one full cycle.</a:t>
            </a:r>
            <a:endParaRPr lang="en-US" sz="1750" dirty="0"/>
          </a:p>
        </p:txBody>
      </p:sp>
      <p:sp>
        <p:nvSpPr>
          <p:cNvPr id="7" name="Text 5"/>
          <p:cNvSpPr/>
          <p:nvPr/>
        </p:nvSpPr>
        <p:spPr>
          <a:xfrm>
            <a:off x="9210751" y="5358384"/>
            <a:ext cx="2194560" cy="310896"/>
          </a:xfrm>
          <a:prstGeom prst="rect">
            <a:avLst/>
          </a:prstGeom>
          <a:noFill/>
          <a:ln/>
        </p:spPr>
        <p:txBody>
          <a:bodyPr wrap="square" lIns="0" tIns="0" rIns="0" bIns="0" rtlCol="0" anchor="ctr"/>
          <a:lstStyle/>
          <a:p>
            <a:pPr marL="0" indent="0" algn="r">
              <a:buNone/>
            </a:pPr>
            <a:r>
              <a:rPr lang="en-US" sz="1450" b="1" kern="0" spc="180" dirty="0">
                <a:solidFill>
                  <a:srgbClr val="C0402A"/>
                </a:solidFill>
                <a:latin typeface="Arial" pitchFamily="34" charset="0"/>
                <a:ea typeface="Arial" pitchFamily="34" charset="-122"/>
                <a:cs typeface="Arial" pitchFamily="34" charset="-120"/>
              </a:rPr>
              <a:t>25 MIN</a:t>
            </a:r>
            <a:endParaRPr lang="en-US" sz="1450" dirty="0"/>
          </a:p>
        </p:txBody>
      </p:sp>
      <p:sp>
        <p:nvSpPr>
          <p:cNvPr id="8" name="Shape 6"/>
          <p:cNvSpPr/>
          <p:nvPr/>
        </p:nvSpPr>
        <p:spPr>
          <a:xfrm>
            <a:off x="786384" y="5358384"/>
            <a:ext cx="585216" cy="292608"/>
          </a:xfrm>
          <a:prstGeom prst="rect">
            <a:avLst/>
          </a:prstGeom>
          <a:solidFill>
            <a:srgbClr val="121212"/>
          </a:solidFill>
          <a:ln w="9525">
            <a:solidFill>
              <a:srgbClr val="45423E"/>
            </a:solidFill>
            <a:prstDash val="solid"/>
          </a:ln>
        </p:spPr>
        <p:txBody>
          <a:bodyPr/>
          <a:lstStyle/>
          <a:p>
            <a:endParaRPr lang="en-HK"/>
          </a:p>
        </p:txBody>
      </p:sp>
      <p:sp>
        <p:nvSpPr>
          <p:cNvPr id="9" name="Text 7"/>
          <p:cNvSpPr/>
          <p:nvPr/>
        </p:nvSpPr>
        <p:spPr>
          <a:xfrm>
            <a:off x="786384" y="5358384"/>
            <a:ext cx="585216" cy="292608"/>
          </a:xfrm>
          <a:prstGeom prst="rect">
            <a:avLst/>
          </a:prstGeom>
          <a:noFill/>
          <a:ln/>
        </p:spPr>
        <p:txBody>
          <a:bodyPr wrap="square" lIns="0" tIns="0" rIns="0" bIns="0" rtlCol="0" anchor="ctr"/>
          <a:lstStyle/>
          <a:p>
            <a:pPr marL="0" indent="0" algn="ctr">
              <a:buNone/>
            </a:pPr>
            <a:r>
              <a:rPr lang="en-US" sz="1100" b="1" kern="0" spc="60" dirty="0">
                <a:solidFill>
                  <a:srgbClr val="B5B0A8"/>
                </a:solidFill>
                <a:latin typeface="Arial" pitchFamily="34" charset="0"/>
                <a:ea typeface="Arial" pitchFamily="34" charset="-122"/>
                <a:cs typeface="Arial" pitchFamily="34" charset="-120"/>
              </a:rPr>
              <a:t>LV2</a:t>
            </a:r>
            <a:endParaRPr lang="en-US" sz="1100" dirty="0"/>
          </a:p>
        </p:txBody>
      </p:sp>
      <p:sp>
        <p:nvSpPr>
          <p:cNvPr id="10" name="Text 8"/>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56534E"/>
                </a:solidFill>
                <a:latin typeface="Arial" pitchFamily="34" charset="0"/>
                <a:ea typeface="Arial" pitchFamily="34" charset="-122"/>
                <a:cs typeface="Arial"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What to Measure</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5" name="Text 3"/>
          <p:cNvSpPr/>
          <p:nvPr/>
        </p:nvSpPr>
        <p:spPr>
          <a:xfrm>
            <a:off x="10801807"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6E6A63"/>
                </a:solidFill>
                <a:latin typeface="Arial" pitchFamily="34" charset="0"/>
                <a:ea typeface="Arial" pitchFamily="34" charset="-122"/>
                <a:cs typeface="Arial" pitchFamily="34" charset="-120"/>
              </a:rPr>
              <a:t>LV2</a:t>
            </a:r>
            <a:endParaRPr lang="en-US" sz="1100" dirty="0"/>
          </a:p>
        </p:txBody>
      </p:sp>
      <p:sp>
        <p:nvSpPr>
          <p:cNvPr id="6" name="Shape 4"/>
          <p:cNvSpPr/>
          <p:nvPr/>
        </p:nvSpPr>
        <p:spPr>
          <a:xfrm>
            <a:off x="786384" y="1426464"/>
            <a:ext cx="10618927" cy="10973"/>
          </a:xfrm>
          <a:prstGeom prst="rect">
            <a:avLst/>
          </a:prstGeom>
          <a:solidFill>
            <a:srgbClr val="D5D1CA"/>
          </a:solidFill>
          <a:ln/>
        </p:spPr>
        <p:txBody>
          <a:bodyPr/>
          <a:lstStyle/>
          <a:p>
            <a:endParaRPr lang="en-HK"/>
          </a:p>
        </p:txBody>
      </p:sp>
      <p:sp>
        <p:nvSpPr>
          <p:cNvPr id="7" name="Text 5"/>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30</a:t>
            </a:r>
            <a:endParaRPr lang="en-US" sz="1200" dirty="0"/>
          </a:p>
        </p:txBody>
      </p:sp>
      <p:sp>
        <p:nvSpPr>
          <p:cNvPr id="8" name="Shape 6"/>
          <p:cNvSpPr/>
          <p:nvPr/>
        </p:nvSpPr>
        <p:spPr>
          <a:xfrm>
            <a:off x="786384" y="1821476"/>
            <a:ext cx="5163160" cy="20481"/>
          </a:xfrm>
          <a:prstGeom prst="rect">
            <a:avLst/>
          </a:prstGeom>
          <a:solidFill>
            <a:srgbClr val="141414"/>
          </a:solidFill>
          <a:ln/>
        </p:spPr>
        <p:txBody>
          <a:bodyPr/>
          <a:lstStyle/>
          <a:p>
            <a:endParaRPr lang="en-HK"/>
          </a:p>
        </p:txBody>
      </p:sp>
      <p:sp>
        <p:nvSpPr>
          <p:cNvPr id="9" name="Text 7"/>
          <p:cNvSpPr/>
          <p:nvPr/>
        </p:nvSpPr>
        <p:spPr>
          <a:xfrm>
            <a:off x="786384" y="2003526"/>
            <a:ext cx="5163160" cy="428262"/>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1. Retrieval success</a:t>
            </a:r>
            <a:endParaRPr lang="en-US" sz="1950" dirty="0"/>
          </a:p>
        </p:txBody>
      </p:sp>
      <p:sp>
        <p:nvSpPr>
          <p:cNvPr id="10" name="Text 8"/>
          <p:cNvSpPr/>
          <p:nvPr/>
        </p:nvSpPr>
        <p:spPr>
          <a:xfrm>
            <a:off x="786384" y="2522814"/>
            <a:ext cx="5163160" cy="1755716"/>
          </a:xfrm>
          <a:prstGeom prst="rect">
            <a:avLst/>
          </a:prstGeom>
          <a:noFill/>
          <a:ln/>
        </p:spPr>
        <p:txBody>
          <a:bodyPr wrap="square" lIns="0" tIns="0" rIns="0" bIns="0" rtlCol="0" anchor="t"/>
          <a:lstStyle/>
          <a:p>
            <a:pPr marL="0" indent="0">
              <a:lnSpc>
                <a:spcPts val="2150"/>
              </a:lnSpc>
              <a:buNone/>
            </a:pPr>
            <a:r>
              <a:rPr lang="en-US" sz="1450" dirty="0">
                <a:solidFill>
                  <a:srgbClr val="141414"/>
                </a:solidFill>
                <a:latin typeface="Arial" pitchFamily="34" charset="0"/>
                <a:ea typeface="Arial" pitchFamily="34" charset="-122"/>
                <a:cs typeface="Arial" pitchFamily="34" charset="-120"/>
              </a:rPr>
              <a:t>For each dev question: is the expected answer present anywhere in the chunks that came back?</a:t>
            </a:r>
            <a:endParaRPr lang="en-US" sz="1450" dirty="0"/>
          </a:p>
          <a:p>
            <a:pPr marL="0" indent="0">
              <a:lnSpc>
                <a:spcPts val="2150"/>
              </a:lnSpc>
              <a:buNone/>
            </a:pPr>
            <a:endParaRPr lang="en-US" sz="1450" dirty="0"/>
          </a:p>
          <a:p>
            <a:pPr marL="0" indent="0">
              <a:lnSpc>
                <a:spcPts val="2150"/>
              </a:lnSpc>
              <a:buNone/>
            </a:pPr>
            <a:r>
              <a:rPr lang="en-US" sz="1450" dirty="0">
                <a:solidFill>
                  <a:srgbClr val="141414"/>
                </a:solidFill>
                <a:latin typeface="Arial" pitchFamily="34" charset="0"/>
                <a:ea typeface="Arial" pitchFamily="34" charset="-122"/>
                <a:cs typeface="Arial" pitchFamily="34" charset="-120"/>
              </a:rPr>
              <a:t>One yes or no per question, read off the printed chunks. This is what chunking and k move.</a:t>
            </a:r>
            <a:endParaRPr lang="en-US" sz="1450" dirty="0"/>
          </a:p>
        </p:txBody>
      </p:sp>
      <p:sp>
        <p:nvSpPr>
          <p:cNvPr id="11" name="Shape 9"/>
          <p:cNvSpPr/>
          <p:nvPr/>
        </p:nvSpPr>
        <p:spPr>
          <a:xfrm>
            <a:off x="6242152" y="1821476"/>
            <a:ext cx="5163160" cy="27308"/>
          </a:xfrm>
          <a:prstGeom prst="rect">
            <a:avLst/>
          </a:prstGeom>
          <a:solidFill>
            <a:srgbClr val="C0402A"/>
          </a:solidFill>
          <a:ln/>
        </p:spPr>
        <p:txBody>
          <a:bodyPr/>
          <a:lstStyle/>
          <a:p>
            <a:endParaRPr lang="en-HK"/>
          </a:p>
        </p:txBody>
      </p:sp>
      <p:sp>
        <p:nvSpPr>
          <p:cNvPr id="12" name="Text 10"/>
          <p:cNvSpPr/>
          <p:nvPr/>
        </p:nvSpPr>
        <p:spPr>
          <a:xfrm>
            <a:off x="6242152" y="2003526"/>
            <a:ext cx="5163160" cy="428262"/>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2. Answer accuracy</a:t>
            </a:r>
            <a:endParaRPr lang="en-US" sz="1950" dirty="0"/>
          </a:p>
        </p:txBody>
      </p:sp>
      <p:sp>
        <p:nvSpPr>
          <p:cNvPr id="13" name="Text 11"/>
          <p:cNvSpPr/>
          <p:nvPr/>
        </p:nvSpPr>
        <p:spPr>
          <a:xfrm>
            <a:off x="6242152" y="2522814"/>
            <a:ext cx="5163160" cy="1755716"/>
          </a:xfrm>
          <a:prstGeom prst="rect">
            <a:avLst/>
          </a:prstGeom>
          <a:noFill/>
          <a:ln/>
        </p:spPr>
        <p:txBody>
          <a:bodyPr wrap="square" lIns="0" tIns="0" rIns="0" bIns="0" rtlCol="0" anchor="t"/>
          <a:lstStyle/>
          <a:p>
            <a:pPr marL="0" indent="0">
              <a:lnSpc>
                <a:spcPts val="2150"/>
              </a:lnSpc>
              <a:buNone/>
            </a:pPr>
            <a:r>
              <a:rPr lang="en-US" sz="1450" dirty="0">
                <a:solidFill>
                  <a:srgbClr val="141414"/>
                </a:solidFill>
                <a:latin typeface="Arial" pitchFamily="34" charset="0"/>
                <a:ea typeface="Arial" pitchFamily="34" charset="-122"/>
                <a:cs typeface="Arial" pitchFamily="34" charset="-120"/>
              </a:rPr>
              <a:t>How many of the 15 you mark correct, and what judges will mark on the day.</a:t>
            </a:r>
            <a:endParaRPr lang="en-US" sz="1450" dirty="0"/>
          </a:p>
          <a:p>
            <a:pPr marL="0" indent="0">
              <a:lnSpc>
                <a:spcPts val="2150"/>
              </a:lnSpc>
              <a:buNone/>
            </a:pPr>
            <a:endParaRPr lang="en-US" sz="1450" dirty="0"/>
          </a:p>
          <a:p>
            <a:pPr marL="0" indent="0">
              <a:lnSpc>
                <a:spcPts val="2150"/>
              </a:lnSpc>
              <a:buNone/>
            </a:pPr>
            <a:r>
              <a:rPr lang="en-US" sz="1450" dirty="0">
                <a:solidFill>
                  <a:srgbClr val="141414"/>
                </a:solidFill>
                <a:latin typeface="Arial" pitchFamily="34" charset="0"/>
                <a:ea typeface="Arial" pitchFamily="34" charset="-122"/>
                <a:cs typeface="Arial" pitchFamily="34" charset="-120"/>
              </a:rPr>
              <a:t>This depends on retrieval and the prompt together, so alone it cannot tell you which one failed.</a:t>
            </a:r>
            <a:endParaRPr lang="en-US" sz="1450" dirty="0"/>
          </a:p>
        </p:txBody>
      </p:sp>
      <p:sp>
        <p:nvSpPr>
          <p:cNvPr id="14" name="Text 12"/>
          <p:cNvSpPr/>
          <p:nvPr/>
        </p:nvSpPr>
        <p:spPr>
          <a:xfrm>
            <a:off x="786384" y="4301918"/>
            <a:ext cx="9981792" cy="910254"/>
          </a:xfrm>
          <a:prstGeom prst="rect">
            <a:avLst/>
          </a:prstGeom>
          <a:noFill/>
          <a:ln/>
        </p:spPr>
        <p:txBody>
          <a:bodyPr wrap="square" lIns="0" tIns="0" rIns="0" bIns="0" rtlCol="0" anchor="ctr"/>
          <a:lstStyle/>
          <a:p>
            <a:pPr marL="0" indent="0">
              <a:lnSpc>
                <a:spcPts val="2400"/>
              </a:lnSpc>
              <a:buNone/>
            </a:pPr>
            <a:r>
              <a:rPr lang="en-US" sz="1600" dirty="0">
                <a:solidFill>
                  <a:srgbClr val="141414"/>
                </a:solidFill>
                <a:latin typeface="Arial" pitchFamily="34" charset="0"/>
                <a:ea typeface="Arial" pitchFamily="34" charset="-122"/>
                <a:cs typeface="Arial" pitchFamily="34" charset="-120"/>
              </a:rPr>
              <a:t>The first sets an upper limit on the second. If the right chunk is never retrieved, no wording of the prompt can recover the answer.</a:t>
            </a:r>
            <a:endParaRPr lang="en-US" sz="1600" dirty="0"/>
          </a:p>
        </p:txBody>
      </p:sp>
      <p:sp>
        <p:nvSpPr>
          <p:cNvPr id="15" name="Text 13"/>
          <p:cNvSpPr/>
          <p:nvPr/>
        </p:nvSpPr>
        <p:spPr>
          <a:xfrm>
            <a:off x="786384" y="5325954"/>
            <a:ext cx="9981792" cy="910254"/>
          </a:xfrm>
          <a:prstGeom prst="rect">
            <a:avLst/>
          </a:prstGeom>
          <a:noFill/>
          <a:ln/>
        </p:spPr>
        <p:txBody>
          <a:bodyPr wrap="square" lIns="0" tIns="0" rIns="0" bIns="0" rtlCol="0" anchor="ctr"/>
          <a:lstStyle/>
          <a:p>
            <a:pPr marL="0" indent="0">
              <a:lnSpc>
                <a:spcPts val="2300"/>
              </a:lnSpc>
              <a:buNone/>
            </a:pPr>
            <a:r>
              <a:rPr lang="en-US" sz="1550" dirty="0">
                <a:solidFill>
                  <a:srgbClr val="6E6A63"/>
                </a:solidFill>
                <a:latin typeface="Arial" pitchFamily="34" charset="0"/>
                <a:ea typeface="Arial" pitchFamily="34" charset="-122"/>
                <a:cs typeface="Arial" pitchFamily="34" charset="-120"/>
              </a:rPr>
              <a:t>Both are counted by hand from 15 questions. Reading the output is how you notice the bot answered a different question, hedged, or returned three paragraphs where one word was wanted.</a:t>
            </a:r>
            <a:endParaRPr lang="en-US" sz="15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C0402A"/>
                </a:solidFill>
                <a:latin typeface="Arial" pitchFamily="34" charset="0"/>
                <a:ea typeface="Arial" pitchFamily="34" charset="-122"/>
                <a:cs typeface="Arial" pitchFamily="34" charset="-120"/>
              </a:rPr>
              <a:t>LAB</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Lab: Test &amp; Iterate</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5" name="Text 3"/>
          <p:cNvSpPr/>
          <p:nvPr/>
        </p:nvSpPr>
        <p:spPr>
          <a:xfrm>
            <a:off x="10801807"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6E6A63"/>
                </a:solidFill>
                <a:latin typeface="Arial" pitchFamily="34" charset="0"/>
                <a:ea typeface="Arial" pitchFamily="34" charset="-122"/>
                <a:cs typeface="Arial" pitchFamily="34" charset="-120"/>
              </a:rPr>
              <a:t>LV2</a:t>
            </a:r>
            <a:endParaRPr lang="en-US" sz="1100" dirty="0"/>
          </a:p>
        </p:txBody>
      </p:sp>
      <p:sp>
        <p:nvSpPr>
          <p:cNvPr id="6" name="Text 4"/>
          <p:cNvSpPr/>
          <p:nvPr/>
        </p:nvSpPr>
        <p:spPr>
          <a:xfrm>
            <a:off x="8662111" y="420624"/>
            <a:ext cx="2743200" cy="237744"/>
          </a:xfrm>
          <a:prstGeom prst="rect">
            <a:avLst/>
          </a:prstGeom>
          <a:noFill/>
          <a:ln/>
        </p:spPr>
        <p:txBody>
          <a:bodyPr wrap="square" lIns="0" tIns="0" rIns="0" bIns="0" rtlCol="0" anchor="ctr"/>
          <a:lstStyle/>
          <a:p>
            <a:pPr marL="0" indent="0" algn="r">
              <a:buNone/>
            </a:pPr>
            <a:r>
              <a:rPr lang="en-US" sz="950" b="1" kern="0" spc="180" dirty="0">
                <a:solidFill>
                  <a:srgbClr val="9C978E"/>
                </a:solidFill>
                <a:latin typeface="Arial" pitchFamily="34" charset="0"/>
                <a:ea typeface="Arial" pitchFamily="34" charset="-122"/>
                <a:cs typeface="Arial" pitchFamily="34" charset="-120"/>
              </a:rPr>
              <a:t>25 MINUTES</a:t>
            </a:r>
            <a:endParaRPr lang="en-US" sz="950" dirty="0"/>
          </a:p>
        </p:txBody>
      </p:sp>
      <p:sp>
        <p:nvSpPr>
          <p:cNvPr id="7" name="Shape 5"/>
          <p:cNvSpPr/>
          <p:nvPr/>
        </p:nvSpPr>
        <p:spPr>
          <a:xfrm>
            <a:off x="786384" y="1426464"/>
            <a:ext cx="10618927" cy="10973"/>
          </a:xfrm>
          <a:prstGeom prst="rect">
            <a:avLst/>
          </a:prstGeom>
          <a:solidFill>
            <a:srgbClr val="D5D1CA"/>
          </a:solidFill>
          <a:ln/>
        </p:spPr>
        <p:txBody>
          <a:bodyPr/>
          <a:lstStyle/>
          <a:p>
            <a:endParaRPr lang="en-HK"/>
          </a:p>
        </p:txBody>
      </p:sp>
      <p:sp>
        <p:nvSpPr>
          <p:cNvPr id="8" name="Text 6"/>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31</a:t>
            </a:r>
            <a:endParaRPr lang="en-US" sz="1200" dirty="0"/>
          </a:p>
        </p:txBody>
      </p:sp>
      <p:sp>
        <p:nvSpPr>
          <p:cNvPr id="10" name="Text 7"/>
          <p:cNvSpPr/>
          <p:nvPr/>
        </p:nvSpPr>
        <p:spPr>
          <a:xfrm>
            <a:off x="786384" y="1765402"/>
            <a:ext cx="10087981" cy="333573"/>
          </a:xfrm>
          <a:prstGeom prst="rect">
            <a:avLst/>
          </a:prstGeom>
          <a:noFill/>
          <a:ln/>
        </p:spPr>
        <p:txBody>
          <a:bodyPr wrap="square" lIns="0" tIns="0" rIns="0" bIns="0" rtlCol="0" anchor="ctr"/>
          <a:lstStyle/>
          <a:p>
            <a:pPr marL="0" indent="0">
              <a:buNone/>
            </a:pPr>
            <a:r>
              <a:rPr lang="en-US" sz="1500" dirty="0">
                <a:solidFill>
                  <a:srgbClr val="6E6A63"/>
                </a:solidFill>
                <a:latin typeface="Arial" pitchFamily="34" charset="0"/>
                <a:ea typeface="Arial" pitchFamily="34" charset="-122"/>
                <a:cs typeface="Arial" pitchFamily="34" charset="-120"/>
              </a:rPr>
              <a:t>25 minutes. Every team completes at least one full cycle and reports a result in block 6.</a:t>
            </a:r>
            <a:endParaRPr lang="en-US" sz="1500" dirty="0"/>
          </a:p>
        </p:txBody>
      </p:sp>
      <p:sp>
        <p:nvSpPr>
          <p:cNvPr id="11" name="Text 8"/>
          <p:cNvSpPr/>
          <p:nvPr/>
        </p:nvSpPr>
        <p:spPr>
          <a:xfrm>
            <a:off x="786384" y="2210166"/>
            <a:ext cx="457200" cy="315041"/>
          </a:xfrm>
          <a:prstGeom prst="rect">
            <a:avLst/>
          </a:prstGeom>
          <a:noFill/>
          <a:ln/>
        </p:spPr>
        <p:txBody>
          <a:bodyPr wrap="square" lIns="0" tIns="0" rIns="0" bIns="0" rtlCol="0" anchor="ctr"/>
          <a:lstStyle/>
          <a:p>
            <a:pPr marL="0" indent="0">
              <a:buNone/>
            </a:pPr>
            <a:r>
              <a:rPr lang="en-US" sz="1750" b="1" dirty="0">
                <a:solidFill>
                  <a:srgbClr val="C0402A"/>
                </a:solidFill>
                <a:latin typeface="Arial" pitchFamily="34" charset="0"/>
                <a:ea typeface="Arial" pitchFamily="34" charset="-122"/>
                <a:cs typeface="Arial" pitchFamily="34" charset="-120"/>
              </a:rPr>
              <a:t>01</a:t>
            </a:r>
            <a:endParaRPr lang="en-US" sz="1750" dirty="0"/>
          </a:p>
        </p:txBody>
      </p:sp>
      <p:sp>
        <p:nvSpPr>
          <p:cNvPr id="12" name="Text 9"/>
          <p:cNvSpPr/>
          <p:nvPr/>
        </p:nvSpPr>
        <p:spPr>
          <a:xfrm>
            <a:off x="1353312" y="2210166"/>
            <a:ext cx="9153373" cy="348759"/>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Index the sample corpus, then answer the 15 questions</a:t>
            </a:r>
            <a:endParaRPr lang="en-US" sz="1950" dirty="0"/>
          </a:p>
        </p:txBody>
      </p:sp>
      <p:sp>
        <p:nvSpPr>
          <p:cNvPr id="13" name="Text 10"/>
          <p:cNvSpPr/>
          <p:nvPr/>
        </p:nvSpPr>
        <p:spPr>
          <a:xfrm>
            <a:off x="1353312" y="2595988"/>
            <a:ext cx="9153373" cy="323020"/>
          </a:xfrm>
          <a:prstGeom prst="rect">
            <a:avLst/>
          </a:prstGeom>
          <a:noFill/>
          <a:ln/>
        </p:spPr>
        <p:txBody>
          <a:bodyPr wrap="square" lIns="0" tIns="0" rIns="0" bIns="0" rtlCol="0" anchor="ctr"/>
          <a:lstStyle/>
          <a:p>
            <a:pPr marL="0" indent="0">
              <a:lnSpc>
                <a:spcPts val="2150"/>
              </a:lnSpc>
              <a:buNone/>
            </a:pPr>
            <a:r>
              <a:rPr lang="en-US" sz="1650" dirty="0">
                <a:solidFill>
                  <a:srgbClr val="6E6A63"/>
                </a:solidFill>
                <a:latin typeface="Arial" pitchFamily="34" charset="0"/>
                <a:ea typeface="Arial" pitchFamily="34" charset="-122"/>
                <a:cs typeface="Arial" pitchFamily="34" charset="-120"/>
              </a:rPr>
              <a:t>Build against sample_corpus/, run the dev set, save the output.</a:t>
            </a:r>
            <a:endParaRPr lang="en-US" sz="1650" dirty="0"/>
          </a:p>
        </p:txBody>
      </p:sp>
      <p:sp>
        <p:nvSpPr>
          <p:cNvPr id="14" name="Text 11"/>
          <p:cNvSpPr/>
          <p:nvPr/>
        </p:nvSpPr>
        <p:spPr>
          <a:xfrm>
            <a:off x="786384" y="3039466"/>
            <a:ext cx="457200" cy="315041"/>
          </a:xfrm>
          <a:prstGeom prst="rect">
            <a:avLst/>
          </a:prstGeom>
          <a:noFill/>
          <a:ln/>
        </p:spPr>
        <p:txBody>
          <a:bodyPr wrap="square" lIns="0" tIns="0" rIns="0" bIns="0" rtlCol="0" anchor="ctr"/>
          <a:lstStyle/>
          <a:p>
            <a:pPr marL="0" indent="0">
              <a:buNone/>
            </a:pPr>
            <a:r>
              <a:rPr lang="en-US" sz="1750" b="1" dirty="0">
                <a:solidFill>
                  <a:srgbClr val="C0402A"/>
                </a:solidFill>
                <a:latin typeface="Arial" pitchFamily="34" charset="0"/>
                <a:ea typeface="Arial" pitchFamily="34" charset="-122"/>
                <a:cs typeface="Arial" pitchFamily="34" charset="-120"/>
              </a:rPr>
              <a:t>02</a:t>
            </a:r>
            <a:endParaRPr lang="en-US" sz="1750" dirty="0"/>
          </a:p>
        </p:txBody>
      </p:sp>
      <p:sp>
        <p:nvSpPr>
          <p:cNvPr id="15" name="Text 12"/>
          <p:cNvSpPr/>
          <p:nvPr/>
        </p:nvSpPr>
        <p:spPr>
          <a:xfrm>
            <a:off x="1353312" y="3039466"/>
            <a:ext cx="9153373" cy="348759"/>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Change exactly one setting</a:t>
            </a:r>
            <a:endParaRPr lang="en-US" sz="1950" dirty="0"/>
          </a:p>
        </p:txBody>
      </p:sp>
      <p:sp>
        <p:nvSpPr>
          <p:cNvPr id="16" name="Text 13"/>
          <p:cNvSpPr/>
          <p:nvPr/>
        </p:nvSpPr>
        <p:spPr>
          <a:xfrm>
            <a:off x="1353312" y="3425288"/>
            <a:ext cx="9153373" cy="323020"/>
          </a:xfrm>
          <a:prstGeom prst="rect">
            <a:avLst/>
          </a:prstGeom>
          <a:noFill/>
          <a:ln/>
        </p:spPr>
        <p:txBody>
          <a:bodyPr wrap="square" lIns="0" tIns="0" rIns="0" bIns="0" rtlCol="0" anchor="ctr"/>
          <a:lstStyle/>
          <a:p>
            <a:pPr marL="0" indent="0">
              <a:lnSpc>
                <a:spcPts val="2150"/>
              </a:lnSpc>
              <a:buNone/>
            </a:pPr>
            <a:r>
              <a:rPr lang="en-US" sz="1650" dirty="0">
                <a:solidFill>
                  <a:srgbClr val="6E6A63"/>
                </a:solidFill>
                <a:latin typeface="Arial" pitchFamily="34" charset="0"/>
                <a:ea typeface="Arial" pitchFamily="34" charset="-122"/>
                <a:cs typeface="Arial" pitchFamily="34" charset="-120"/>
              </a:rPr>
              <a:t>Chunk size, overlap, k, or one prompt instruction. One only.</a:t>
            </a:r>
            <a:endParaRPr lang="en-US" sz="1650" dirty="0"/>
          </a:p>
        </p:txBody>
      </p:sp>
      <p:sp>
        <p:nvSpPr>
          <p:cNvPr id="17" name="Text 14"/>
          <p:cNvSpPr/>
          <p:nvPr/>
        </p:nvSpPr>
        <p:spPr>
          <a:xfrm>
            <a:off x="786384" y="3868765"/>
            <a:ext cx="457200" cy="315041"/>
          </a:xfrm>
          <a:prstGeom prst="rect">
            <a:avLst/>
          </a:prstGeom>
          <a:noFill/>
          <a:ln/>
        </p:spPr>
        <p:txBody>
          <a:bodyPr wrap="square" lIns="0" tIns="0" rIns="0" bIns="0" rtlCol="0" anchor="ctr"/>
          <a:lstStyle/>
          <a:p>
            <a:pPr marL="0" indent="0">
              <a:buNone/>
            </a:pPr>
            <a:r>
              <a:rPr lang="en-US" sz="1750" b="1" dirty="0">
                <a:solidFill>
                  <a:srgbClr val="C0402A"/>
                </a:solidFill>
                <a:latin typeface="Arial" pitchFamily="34" charset="0"/>
                <a:ea typeface="Arial" pitchFamily="34" charset="-122"/>
                <a:cs typeface="Arial" pitchFamily="34" charset="-120"/>
              </a:rPr>
              <a:t>03</a:t>
            </a:r>
            <a:endParaRPr lang="en-US" sz="1750" dirty="0"/>
          </a:p>
        </p:txBody>
      </p:sp>
      <p:sp>
        <p:nvSpPr>
          <p:cNvPr id="18" name="Text 15"/>
          <p:cNvSpPr/>
          <p:nvPr/>
        </p:nvSpPr>
        <p:spPr>
          <a:xfrm>
            <a:off x="1353312" y="3868765"/>
            <a:ext cx="9153373" cy="348759"/>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Rebuild if you changed chunking, then re-score</a:t>
            </a:r>
            <a:endParaRPr lang="en-US" sz="1950" dirty="0"/>
          </a:p>
        </p:txBody>
      </p:sp>
      <p:sp>
        <p:nvSpPr>
          <p:cNvPr id="19" name="Text 16"/>
          <p:cNvSpPr/>
          <p:nvPr/>
        </p:nvSpPr>
        <p:spPr>
          <a:xfrm>
            <a:off x="1353312" y="4254588"/>
            <a:ext cx="9153373" cy="323020"/>
          </a:xfrm>
          <a:prstGeom prst="rect">
            <a:avLst/>
          </a:prstGeom>
          <a:noFill/>
          <a:ln/>
        </p:spPr>
        <p:txBody>
          <a:bodyPr wrap="square" lIns="0" tIns="0" rIns="0" bIns="0" rtlCol="0" anchor="ctr"/>
          <a:lstStyle/>
          <a:p>
            <a:pPr marL="0" indent="0">
              <a:lnSpc>
                <a:spcPts val="2150"/>
              </a:lnSpc>
              <a:buNone/>
            </a:pPr>
            <a:r>
              <a:rPr lang="en-US" sz="1650" dirty="0">
                <a:solidFill>
                  <a:srgbClr val="6E6A63"/>
                </a:solidFill>
                <a:latin typeface="Arial" pitchFamily="34" charset="0"/>
                <a:ea typeface="Arial" pitchFamily="34" charset="-122"/>
                <a:cs typeface="Arial" pitchFamily="34" charset="-120"/>
              </a:rPr>
              <a:t>Chunk size and overlap change stored data. k and the prompt do not.</a:t>
            </a:r>
            <a:endParaRPr lang="en-US" sz="1650" dirty="0"/>
          </a:p>
        </p:txBody>
      </p:sp>
      <p:sp>
        <p:nvSpPr>
          <p:cNvPr id="20" name="Text 17"/>
          <p:cNvSpPr/>
          <p:nvPr/>
        </p:nvSpPr>
        <p:spPr>
          <a:xfrm>
            <a:off x="786384" y="4698065"/>
            <a:ext cx="457200" cy="315041"/>
          </a:xfrm>
          <a:prstGeom prst="rect">
            <a:avLst/>
          </a:prstGeom>
          <a:noFill/>
          <a:ln/>
        </p:spPr>
        <p:txBody>
          <a:bodyPr wrap="square" lIns="0" tIns="0" rIns="0" bIns="0" rtlCol="0" anchor="ctr"/>
          <a:lstStyle/>
          <a:p>
            <a:pPr marL="0" indent="0">
              <a:buNone/>
            </a:pPr>
            <a:r>
              <a:rPr lang="en-US" sz="1750" b="1" dirty="0">
                <a:solidFill>
                  <a:srgbClr val="C0402A"/>
                </a:solidFill>
                <a:latin typeface="Arial" pitchFamily="34" charset="0"/>
                <a:ea typeface="Arial" pitchFamily="34" charset="-122"/>
                <a:cs typeface="Arial" pitchFamily="34" charset="-120"/>
              </a:rPr>
              <a:t>04</a:t>
            </a:r>
            <a:endParaRPr lang="en-US" sz="1750" dirty="0"/>
          </a:p>
        </p:txBody>
      </p:sp>
      <p:sp>
        <p:nvSpPr>
          <p:cNvPr id="21" name="Text 18"/>
          <p:cNvSpPr/>
          <p:nvPr/>
        </p:nvSpPr>
        <p:spPr>
          <a:xfrm>
            <a:off x="1353312" y="4698065"/>
            <a:ext cx="9153373" cy="348759"/>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Mark them and write the row into your log</a:t>
            </a:r>
            <a:endParaRPr lang="en-US" sz="1950" dirty="0"/>
          </a:p>
        </p:txBody>
      </p:sp>
      <p:sp>
        <p:nvSpPr>
          <p:cNvPr id="22" name="Text 19"/>
          <p:cNvSpPr/>
          <p:nvPr/>
        </p:nvSpPr>
        <p:spPr>
          <a:xfrm>
            <a:off x="1353312" y="5083888"/>
            <a:ext cx="9153373" cy="323020"/>
          </a:xfrm>
          <a:prstGeom prst="rect">
            <a:avLst/>
          </a:prstGeom>
          <a:noFill/>
          <a:ln/>
        </p:spPr>
        <p:txBody>
          <a:bodyPr wrap="square" lIns="0" tIns="0" rIns="0" bIns="0" rtlCol="0" anchor="ctr"/>
          <a:lstStyle/>
          <a:p>
            <a:pPr marL="0" indent="0">
              <a:lnSpc>
                <a:spcPts val="2150"/>
              </a:lnSpc>
              <a:buNone/>
            </a:pPr>
            <a:r>
              <a:rPr lang="en-US" sz="1650" dirty="0">
                <a:solidFill>
                  <a:srgbClr val="6E6A63"/>
                </a:solidFill>
                <a:latin typeface="Arial" pitchFamily="34" charset="0"/>
                <a:ea typeface="Arial" pitchFamily="34" charset="-122"/>
                <a:cs typeface="Arial" pitchFamily="34" charset="-120"/>
              </a:rPr>
              <a:t>What you changed, how many correct, how many retrievals hit.</a:t>
            </a:r>
            <a:endParaRPr lang="en-US" sz="1650" dirty="0"/>
          </a:p>
        </p:txBody>
      </p:sp>
      <p:sp>
        <p:nvSpPr>
          <p:cNvPr id="23" name="Text 20"/>
          <p:cNvSpPr/>
          <p:nvPr/>
        </p:nvSpPr>
        <p:spPr>
          <a:xfrm>
            <a:off x="786384" y="5527365"/>
            <a:ext cx="457200" cy="315041"/>
          </a:xfrm>
          <a:prstGeom prst="rect">
            <a:avLst/>
          </a:prstGeom>
          <a:noFill/>
          <a:ln/>
        </p:spPr>
        <p:txBody>
          <a:bodyPr wrap="square" lIns="0" tIns="0" rIns="0" bIns="0" rtlCol="0" anchor="ctr"/>
          <a:lstStyle/>
          <a:p>
            <a:pPr marL="0" indent="0">
              <a:buNone/>
            </a:pPr>
            <a:r>
              <a:rPr lang="en-US" sz="1750" b="1" dirty="0">
                <a:solidFill>
                  <a:srgbClr val="C0402A"/>
                </a:solidFill>
                <a:latin typeface="Arial" pitchFamily="34" charset="0"/>
                <a:ea typeface="Arial" pitchFamily="34" charset="-122"/>
                <a:cs typeface="Arial" pitchFamily="34" charset="-120"/>
              </a:rPr>
              <a:t>05</a:t>
            </a:r>
            <a:endParaRPr lang="en-US" sz="1750" dirty="0"/>
          </a:p>
        </p:txBody>
      </p:sp>
      <p:sp>
        <p:nvSpPr>
          <p:cNvPr id="24" name="Text 21"/>
          <p:cNvSpPr/>
          <p:nvPr/>
        </p:nvSpPr>
        <p:spPr>
          <a:xfrm>
            <a:off x="1353312" y="5527365"/>
            <a:ext cx="9153373" cy="348759"/>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Decide whether to keep it, then go again</a:t>
            </a:r>
            <a:endParaRPr lang="en-US" sz="1950" dirty="0"/>
          </a:p>
        </p:txBody>
      </p:sp>
      <p:sp>
        <p:nvSpPr>
          <p:cNvPr id="25" name="Text 22"/>
          <p:cNvSpPr/>
          <p:nvPr/>
        </p:nvSpPr>
        <p:spPr>
          <a:xfrm>
            <a:off x="1353312" y="5913188"/>
            <a:ext cx="9153373" cy="323020"/>
          </a:xfrm>
          <a:prstGeom prst="rect">
            <a:avLst/>
          </a:prstGeom>
          <a:noFill/>
          <a:ln/>
        </p:spPr>
        <p:txBody>
          <a:bodyPr wrap="square" lIns="0" tIns="0" rIns="0" bIns="0" rtlCol="0" anchor="ctr"/>
          <a:lstStyle/>
          <a:p>
            <a:pPr marL="0" indent="0">
              <a:lnSpc>
                <a:spcPts val="2150"/>
              </a:lnSpc>
              <a:buNone/>
            </a:pPr>
            <a:r>
              <a:rPr lang="en-US" sz="1650" dirty="0">
                <a:solidFill>
                  <a:srgbClr val="6E6A63"/>
                </a:solidFill>
                <a:latin typeface="Arial" pitchFamily="34" charset="0"/>
                <a:ea typeface="Arial" pitchFamily="34" charset="-122"/>
                <a:cs typeface="Arial" pitchFamily="34" charset="-120"/>
              </a:rPr>
              <a:t>Bring your best row to block 6.</a:t>
            </a:r>
            <a:endParaRPr lang="en-US" sz="16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C0402A"/>
                </a:solidFill>
                <a:latin typeface="Arial" pitchFamily="34" charset="0"/>
                <a:ea typeface="Arial" pitchFamily="34" charset="-122"/>
                <a:cs typeface="Arial" pitchFamily="34" charset="-120"/>
              </a:rPr>
              <a:t>LAB</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Lab: Settings &amp; Logging</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5" name="Text 3"/>
          <p:cNvSpPr/>
          <p:nvPr/>
        </p:nvSpPr>
        <p:spPr>
          <a:xfrm>
            <a:off x="10801807"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6E6A63"/>
                </a:solidFill>
                <a:latin typeface="Arial" pitchFamily="34" charset="0"/>
                <a:ea typeface="Arial" pitchFamily="34" charset="-122"/>
                <a:cs typeface="Arial" pitchFamily="34" charset="-120"/>
              </a:rPr>
              <a:t>LV2</a:t>
            </a:r>
            <a:endParaRPr lang="en-US" sz="1100" dirty="0"/>
          </a:p>
        </p:txBody>
      </p:sp>
      <p:sp>
        <p:nvSpPr>
          <p:cNvPr id="6" name="Shape 4"/>
          <p:cNvSpPr/>
          <p:nvPr/>
        </p:nvSpPr>
        <p:spPr>
          <a:xfrm>
            <a:off x="786384" y="1426464"/>
            <a:ext cx="10618927" cy="10973"/>
          </a:xfrm>
          <a:prstGeom prst="rect">
            <a:avLst/>
          </a:prstGeom>
          <a:solidFill>
            <a:srgbClr val="D5D1CA"/>
          </a:solidFill>
          <a:ln/>
        </p:spPr>
        <p:txBody>
          <a:bodyPr/>
          <a:lstStyle/>
          <a:p>
            <a:endParaRPr lang="en-HK"/>
          </a:p>
        </p:txBody>
      </p:sp>
      <p:sp>
        <p:nvSpPr>
          <p:cNvPr id="7" name="Text 5"/>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32</a:t>
            </a:r>
            <a:endParaRPr lang="en-US" sz="1200" dirty="0"/>
          </a:p>
        </p:txBody>
      </p:sp>
      <p:sp>
        <p:nvSpPr>
          <p:cNvPr id="8" name="Text 6"/>
          <p:cNvSpPr/>
          <p:nvPr/>
        </p:nvSpPr>
        <p:spPr>
          <a:xfrm>
            <a:off x="786384" y="1759047"/>
            <a:ext cx="10618927" cy="303807"/>
          </a:xfrm>
          <a:prstGeom prst="rect">
            <a:avLst/>
          </a:prstGeom>
          <a:noFill/>
          <a:ln/>
        </p:spPr>
        <p:txBody>
          <a:bodyPr wrap="square" lIns="0" tIns="0" rIns="0" bIns="0" rtlCol="0" anchor="ctr"/>
          <a:lstStyle/>
          <a:p>
            <a:pPr marL="0" indent="0">
              <a:buNone/>
            </a:pPr>
            <a:r>
              <a:rPr lang="en-US" sz="1486" b="1" dirty="0">
                <a:solidFill>
                  <a:srgbClr val="141414"/>
                </a:solidFill>
                <a:latin typeface="Arial" pitchFamily="34" charset="0"/>
                <a:ea typeface="Arial" pitchFamily="34" charset="-122"/>
                <a:cs typeface="Arial" pitchFamily="34" charset="-120"/>
              </a:rPr>
              <a:t>Ranges worth testing</a:t>
            </a:r>
            <a:endParaRPr lang="en-US" sz="1486" dirty="0"/>
          </a:p>
        </p:txBody>
      </p:sp>
      <p:sp>
        <p:nvSpPr>
          <p:cNvPr id="9" name="Text 7"/>
          <p:cNvSpPr/>
          <p:nvPr/>
        </p:nvSpPr>
        <p:spPr>
          <a:xfrm>
            <a:off x="786384" y="2142803"/>
            <a:ext cx="1737360" cy="271828"/>
          </a:xfrm>
          <a:prstGeom prst="rect">
            <a:avLst/>
          </a:prstGeom>
          <a:noFill/>
          <a:ln/>
        </p:spPr>
        <p:txBody>
          <a:bodyPr wrap="square" lIns="0" tIns="0" rIns="0" bIns="0" rtlCol="0" anchor="ctr"/>
          <a:lstStyle/>
          <a:p>
            <a:pPr marL="0" indent="0">
              <a:buNone/>
            </a:pPr>
            <a:r>
              <a:rPr lang="en-US" sz="1180" dirty="0">
                <a:solidFill>
                  <a:srgbClr val="C0402A"/>
                </a:solidFill>
                <a:latin typeface="Courier New" pitchFamily="34" charset="0"/>
                <a:ea typeface="Courier New" pitchFamily="34" charset="-122"/>
                <a:cs typeface="Courier New" pitchFamily="34" charset="-120"/>
              </a:rPr>
              <a:t>chunk size</a:t>
            </a:r>
            <a:endParaRPr lang="en-US" sz="1180" dirty="0"/>
          </a:p>
        </p:txBody>
      </p:sp>
      <p:sp>
        <p:nvSpPr>
          <p:cNvPr id="10" name="Text 8"/>
          <p:cNvSpPr/>
          <p:nvPr/>
        </p:nvSpPr>
        <p:spPr>
          <a:xfrm>
            <a:off x="2615184" y="2142803"/>
            <a:ext cx="2468880" cy="271828"/>
          </a:xfrm>
          <a:prstGeom prst="rect">
            <a:avLst/>
          </a:prstGeom>
          <a:noFill/>
          <a:ln/>
        </p:spPr>
        <p:txBody>
          <a:bodyPr wrap="square" lIns="0" tIns="0" rIns="0" bIns="0" rtlCol="0" anchor="ctr"/>
          <a:lstStyle/>
          <a:p>
            <a:pPr marL="0" indent="0">
              <a:buNone/>
            </a:pPr>
            <a:r>
              <a:rPr lang="en-US" sz="1268" b="1" dirty="0">
                <a:solidFill>
                  <a:srgbClr val="141414"/>
                </a:solidFill>
                <a:latin typeface="Arial" pitchFamily="34" charset="0"/>
                <a:ea typeface="Arial" pitchFamily="34" charset="-122"/>
                <a:cs typeface="Arial" pitchFamily="34" charset="-120"/>
              </a:rPr>
              <a:t>400 to 1200 chars</a:t>
            </a:r>
            <a:endParaRPr lang="en-US" sz="1268" dirty="0"/>
          </a:p>
        </p:txBody>
      </p:sp>
      <p:sp>
        <p:nvSpPr>
          <p:cNvPr id="11" name="Text 9"/>
          <p:cNvSpPr/>
          <p:nvPr/>
        </p:nvSpPr>
        <p:spPr>
          <a:xfrm>
            <a:off x="5266944" y="2142803"/>
            <a:ext cx="6138367" cy="271828"/>
          </a:xfrm>
          <a:prstGeom prst="rect">
            <a:avLst/>
          </a:prstGeom>
          <a:noFill/>
          <a:ln/>
        </p:spPr>
        <p:txBody>
          <a:bodyPr wrap="square" lIns="0" tIns="0" rIns="0" bIns="0" rtlCol="0" anchor="ctr"/>
          <a:lstStyle/>
          <a:p>
            <a:pPr marL="0" indent="0">
              <a:buNone/>
            </a:pPr>
            <a:r>
              <a:rPr lang="en-US" sz="1224" dirty="0">
                <a:solidFill>
                  <a:srgbClr val="6E6A63"/>
                </a:solidFill>
                <a:latin typeface="Arial" pitchFamily="34" charset="0"/>
                <a:ea typeface="Arial" pitchFamily="34" charset="-122"/>
                <a:cs typeface="Arial" pitchFamily="34" charset="-120"/>
              </a:rPr>
              <a:t>Smaller retrieves more precisely, larger keeps more context</a:t>
            </a:r>
            <a:endParaRPr lang="en-US" sz="1224" dirty="0"/>
          </a:p>
        </p:txBody>
      </p:sp>
      <p:sp>
        <p:nvSpPr>
          <p:cNvPr id="12" name="Text 10"/>
          <p:cNvSpPr/>
          <p:nvPr/>
        </p:nvSpPr>
        <p:spPr>
          <a:xfrm>
            <a:off x="786384" y="2574530"/>
            <a:ext cx="1737360" cy="271828"/>
          </a:xfrm>
          <a:prstGeom prst="rect">
            <a:avLst/>
          </a:prstGeom>
          <a:noFill/>
          <a:ln/>
        </p:spPr>
        <p:txBody>
          <a:bodyPr wrap="square" lIns="0" tIns="0" rIns="0" bIns="0" rtlCol="0" anchor="ctr"/>
          <a:lstStyle/>
          <a:p>
            <a:pPr marL="0" indent="0">
              <a:buNone/>
            </a:pPr>
            <a:r>
              <a:rPr lang="en-US" sz="1180" dirty="0">
                <a:solidFill>
                  <a:srgbClr val="C0402A"/>
                </a:solidFill>
                <a:latin typeface="Courier New" pitchFamily="34" charset="0"/>
                <a:ea typeface="Courier New" pitchFamily="34" charset="-122"/>
                <a:cs typeface="Courier New" pitchFamily="34" charset="-120"/>
              </a:rPr>
              <a:t>overlap</a:t>
            </a:r>
            <a:endParaRPr lang="en-US" sz="1180" dirty="0"/>
          </a:p>
        </p:txBody>
      </p:sp>
      <p:sp>
        <p:nvSpPr>
          <p:cNvPr id="13" name="Text 11"/>
          <p:cNvSpPr/>
          <p:nvPr/>
        </p:nvSpPr>
        <p:spPr>
          <a:xfrm>
            <a:off x="2615184" y="2574530"/>
            <a:ext cx="2468880" cy="271828"/>
          </a:xfrm>
          <a:prstGeom prst="rect">
            <a:avLst/>
          </a:prstGeom>
          <a:noFill/>
          <a:ln/>
        </p:spPr>
        <p:txBody>
          <a:bodyPr wrap="square" lIns="0" tIns="0" rIns="0" bIns="0" rtlCol="0" anchor="ctr"/>
          <a:lstStyle/>
          <a:p>
            <a:pPr marL="0" indent="0">
              <a:buNone/>
            </a:pPr>
            <a:r>
              <a:rPr lang="en-US" sz="1268" b="1" dirty="0">
                <a:solidFill>
                  <a:srgbClr val="141414"/>
                </a:solidFill>
                <a:latin typeface="Arial" pitchFamily="34" charset="0"/>
                <a:ea typeface="Arial" pitchFamily="34" charset="-122"/>
                <a:cs typeface="Arial" pitchFamily="34" charset="-120"/>
              </a:rPr>
              <a:t>0 to 20% of chunk size</a:t>
            </a:r>
            <a:endParaRPr lang="en-US" sz="1268" dirty="0"/>
          </a:p>
        </p:txBody>
      </p:sp>
      <p:sp>
        <p:nvSpPr>
          <p:cNvPr id="14" name="Text 12"/>
          <p:cNvSpPr/>
          <p:nvPr/>
        </p:nvSpPr>
        <p:spPr>
          <a:xfrm>
            <a:off x="5266944" y="2574530"/>
            <a:ext cx="6138367" cy="271828"/>
          </a:xfrm>
          <a:prstGeom prst="rect">
            <a:avLst/>
          </a:prstGeom>
          <a:noFill/>
          <a:ln/>
        </p:spPr>
        <p:txBody>
          <a:bodyPr wrap="square" lIns="0" tIns="0" rIns="0" bIns="0" rtlCol="0" anchor="ctr"/>
          <a:lstStyle/>
          <a:p>
            <a:pPr marL="0" indent="0">
              <a:buNone/>
            </a:pPr>
            <a:r>
              <a:rPr lang="en-US" sz="1224" dirty="0">
                <a:solidFill>
                  <a:srgbClr val="6E6A63"/>
                </a:solidFill>
                <a:latin typeface="Arial" pitchFamily="34" charset="0"/>
                <a:ea typeface="Arial" pitchFamily="34" charset="-122"/>
                <a:cs typeface="Arial" pitchFamily="34" charset="-120"/>
              </a:rPr>
              <a:t>Guards against a fact cut in half at a boundary</a:t>
            </a:r>
            <a:endParaRPr lang="en-US" sz="1224" dirty="0"/>
          </a:p>
        </p:txBody>
      </p:sp>
      <p:sp>
        <p:nvSpPr>
          <p:cNvPr id="15" name="Text 13"/>
          <p:cNvSpPr/>
          <p:nvPr/>
        </p:nvSpPr>
        <p:spPr>
          <a:xfrm>
            <a:off x="786384" y="3006256"/>
            <a:ext cx="1737360" cy="271828"/>
          </a:xfrm>
          <a:prstGeom prst="rect">
            <a:avLst/>
          </a:prstGeom>
          <a:noFill/>
          <a:ln/>
        </p:spPr>
        <p:txBody>
          <a:bodyPr wrap="square" lIns="0" tIns="0" rIns="0" bIns="0" rtlCol="0" anchor="ctr"/>
          <a:lstStyle/>
          <a:p>
            <a:pPr marL="0" indent="0">
              <a:buNone/>
            </a:pPr>
            <a:r>
              <a:rPr lang="en-US" sz="1180" dirty="0">
                <a:solidFill>
                  <a:srgbClr val="C0402A"/>
                </a:solidFill>
                <a:latin typeface="Courier New" pitchFamily="34" charset="0"/>
                <a:ea typeface="Courier New" pitchFamily="34" charset="-122"/>
                <a:cs typeface="Courier New" pitchFamily="34" charset="-120"/>
              </a:rPr>
              <a:t>k</a:t>
            </a:r>
            <a:endParaRPr lang="en-US" sz="1180" dirty="0"/>
          </a:p>
        </p:txBody>
      </p:sp>
      <p:sp>
        <p:nvSpPr>
          <p:cNvPr id="16" name="Text 14"/>
          <p:cNvSpPr/>
          <p:nvPr/>
        </p:nvSpPr>
        <p:spPr>
          <a:xfrm>
            <a:off x="2615184" y="3006256"/>
            <a:ext cx="2468880" cy="271828"/>
          </a:xfrm>
          <a:prstGeom prst="rect">
            <a:avLst/>
          </a:prstGeom>
          <a:noFill/>
          <a:ln/>
        </p:spPr>
        <p:txBody>
          <a:bodyPr wrap="square" lIns="0" tIns="0" rIns="0" bIns="0" rtlCol="0" anchor="ctr"/>
          <a:lstStyle/>
          <a:p>
            <a:pPr marL="0" indent="0">
              <a:buNone/>
            </a:pPr>
            <a:r>
              <a:rPr lang="en-US" sz="1268" b="1" dirty="0">
                <a:solidFill>
                  <a:srgbClr val="141414"/>
                </a:solidFill>
                <a:latin typeface="Arial" pitchFamily="34" charset="0"/>
                <a:ea typeface="Arial" pitchFamily="34" charset="-122"/>
                <a:cs typeface="Arial" pitchFamily="34" charset="-120"/>
              </a:rPr>
              <a:t>3 to 10 chunks</a:t>
            </a:r>
            <a:endParaRPr lang="en-US" sz="1268" dirty="0"/>
          </a:p>
        </p:txBody>
      </p:sp>
      <p:sp>
        <p:nvSpPr>
          <p:cNvPr id="17" name="Text 15"/>
          <p:cNvSpPr/>
          <p:nvPr/>
        </p:nvSpPr>
        <p:spPr>
          <a:xfrm>
            <a:off x="5266944" y="3006256"/>
            <a:ext cx="6138367" cy="271828"/>
          </a:xfrm>
          <a:prstGeom prst="rect">
            <a:avLst/>
          </a:prstGeom>
          <a:noFill/>
          <a:ln/>
        </p:spPr>
        <p:txBody>
          <a:bodyPr wrap="square" lIns="0" tIns="0" rIns="0" bIns="0" rtlCol="0" anchor="ctr"/>
          <a:lstStyle/>
          <a:p>
            <a:pPr marL="0" indent="0">
              <a:buNone/>
            </a:pPr>
            <a:r>
              <a:rPr lang="en-US" sz="1224" dirty="0">
                <a:solidFill>
                  <a:srgbClr val="6E6A63"/>
                </a:solidFill>
                <a:latin typeface="Arial" pitchFamily="34" charset="0"/>
                <a:ea typeface="Arial" pitchFamily="34" charset="-122"/>
                <a:cs typeface="Arial" pitchFamily="34" charset="-120"/>
              </a:rPr>
              <a:t>More raises the chance of including the answer, and of adding noise</a:t>
            </a:r>
            <a:endParaRPr lang="en-US" sz="1224" dirty="0"/>
          </a:p>
        </p:txBody>
      </p:sp>
      <p:sp>
        <p:nvSpPr>
          <p:cNvPr id="18" name="Text 16"/>
          <p:cNvSpPr/>
          <p:nvPr/>
        </p:nvSpPr>
        <p:spPr>
          <a:xfrm>
            <a:off x="786384" y="3437982"/>
            <a:ext cx="1737360" cy="271828"/>
          </a:xfrm>
          <a:prstGeom prst="rect">
            <a:avLst/>
          </a:prstGeom>
          <a:noFill/>
          <a:ln/>
        </p:spPr>
        <p:txBody>
          <a:bodyPr wrap="square" lIns="0" tIns="0" rIns="0" bIns="0" rtlCol="0" anchor="ctr"/>
          <a:lstStyle/>
          <a:p>
            <a:pPr marL="0" indent="0">
              <a:buNone/>
            </a:pPr>
            <a:r>
              <a:rPr lang="en-US" sz="1180" dirty="0">
                <a:solidFill>
                  <a:srgbClr val="C0402A"/>
                </a:solidFill>
                <a:latin typeface="Courier New" pitchFamily="34" charset="0"/>
                <a:ea typeface="Courier New" pitchFamily="34" charset="-122"/>
                <a:cs typeface="Courier New" pitchFamily="34" charset="-120"/>
              </a:rPr>
              <a:t>prompt</a:t>
            </a:r>
            <a:endParaRPr lang="en-US" sz="1180" dirty="0"/>
          </a:p>
        </p:txBody>
      </p:sp>
      <p:sp>
        <p:nvSpPr>
          <p:cNvPr id="19" name="Text 17"/>
          <p:cNvSpPr/>
          <p:nvPr/>
        </p:nvSpPr>
        <p:spPr>
          <a:xfrm>
            <a:off x="2615184" y="3437982"/>
            <a:ext cx="2468880" cy="271828"/>
          </a:xfrm>
          <a:prstGeom prst="rect">
            <a:avLst/>
          </a:prstGeom>
          <a:noFill/>
          <a:ln/>
        </p:spPr>
        <p:txBody>
          <a:bodyPr wrap="square" lIns="0" tIns="0" rIns="0" bIns="0" rtlCol="0" anchor="ctr"/>
          <a:lstStyle/>
          <a:p>
            <a:pPr marL="0" indent="0">
              <a:buNone/>
            </a:pPr>
            <a:r>
              <a:rPr lang="en-US" sz="1268" b="1" dirty="0">
                <a:solidFill>
                  <a:srgbClr val="141414"/>
                </a:solidFill>
                <a:latin typeface="Arial" pitchFamily="34" charset="0"/>
                <a:ea typeface="Arial" pitchFamily="34" charset="-122"/>
                <a:cs typeface="Arial" pitchFamily="34" charset="-120"/>
              </a:rPr>
              <a:t>one instruction at a time</a:t>
            </a:r>
            <a:endParaRPr lang="en-US" sz="1268" dirty="0"/>
          </a:p>
        </p:txBody>
      </p:sp>
      <p:sp>
        <p:nvSpPr>
          <p:cNvPr id="20" name="Text 18"/>
          <p:cNvSpPr/>
          <p:nvPr/>
        </p:nvSpPr>
        <p:spPr>
          <a:xfrm>
            <a:off x="5266944" y="3437982"/>
            <a:ext cx="6138367" cy="271828"/>
          </a:xfrm>
          <a:prstGeom prst="rect">
            <a:avLst/>
          </a:prstGeom>
          <a:noFill/>
          <a:ln/>
        </p:spPr>
        <p:txBody>
          <a:bodyPr wrap="square" lIns="0" tIns="0" rIns="0" bIns="0" rtlCol="0" anchor="ctr"/>
          <a:lstStyle/>
          <a:p>
            <a:pPr marL="0" indent="0">
              <a:buNone/>
            </a:pPr>
            <a:r>
              <a:rPr lang="en-US" sz="1224" dirty="0">
                <a:solidFill>
                  <a:srgbClr val="6E6A63"/>
                </a:solidFill>
                <a:latin typeface="Arial" pitchFamily="34" charset="0"/>
                <a:ea typeface="Arial" pitchFamily="34" charset="-122"/>
                <a:cs typeface="Arial" pitchFamily="34" charset="-120"/>
              </a:rPr>
              <a:t>For example, requiring a short answer with no explanation</a:t>
            </a:r>
            <a:endParaRPr lang="en-US" sz="1224" dirty="0"/>
          </a:p>
        </p:txBody>
      </p:sp>
      <p:sp>
        <p:nvSpPr>
          <p:cNvPr id="21" name="Text 19"/>
          <p:cNvSpPr/>
          <p:nvPr/>
        </p:nvSpPr>
        <p:spPr>
          <a:xfrm>
            <a:off x="786384" y="3965648"/>
            <a:ext cx="10618927" cy="303807"/>
          </a:xfrm>
          <a:prstGeom prst="rect">
            <a:avLst/>
          </a:prstGeom>
          <a:noFill/>
          <a:ln/>
        </p:spPr>
        <p:txBody>
          <a:bodyPr wrap="square" lIns="0" tIns="0" rIns="0" bIns="0" rtlCol="0" anchor="ctr"/>
          <a:lstStyle/>
          <a:p>
            <a:pPr marL="0" indent="0">
              <a:buNone/>
            </a:pPr>
            <a:r>
              <a:rPr lang="en-US" sz="1486" b="1" dirty="0">
                <a:solidFill>
                  <a:srgbClr val="141414"/>
                </a:solidFill>
                <a:latin typeface="Arial" pitchFamily="34" charset="0"/>
                <a:ea typeface="Arial" pitchFamily="34" charset="-122"/>
                <a:cs typeface="Arial" pitchFamily="34" charset="-120"/>
              </a:rPr>
              <a:t>Your experiment log</a:t>
            </a:r>
            <a:endParaRPr lang="en-US" sz="1486" dirty="0"/>
          </a:p>
        </p:txBody>
      </p:sp>
      <p:sp>
        <p:nvSpPr>
          <p:cNvPr id="22" name="Shape 20"/>
          <p:cNvSpPr/>
          <p:nvPr/>
        </p:nvSpPr>
        <p:spPr>
          <a:xfrm>
            <a:off x="786384" y="4349404"/>
            <a:ext cx="10618927" cy="1199240"/>
          </a:xfrm>
          <a:prstGeom prst="rect">
            <a:avLst/>
          </a:prstGeom>
          <a:solidFill>
            <a:srgbClr val="F2EFEA"/>
          </a:solidFill>
          <a:ln/>
        </p:spPr>
        <p:txBody>
          <a:bodyPr/>
          <a:lstStyle/>
          <a:p>
            <a:endParaRPr lang="en-HK"/>
          </a:p>
        </p:txBody>
      </p:sp>
      <p:sp>
        <p:nvSpPr>
          <p:cNvPr id="23" name="Shape 21"/>
          <p:cNvSpPr/>
          <p:nvPr/>
        </p:nvSpPr>
        <p:spPr>
          <a:xfrm>
            <a:off x="786384" y="4349404"/>
            <a:ext cx="27432" cy="1199240"/>
          </a:xfrm>
          <a:prstGeom prst="rect">
            <a:avLst/>
          </a:prstGeom>
          <a:solidFill>
            <a:srgbClr val="C0402A"/>
          </a:solidFill>
          <a:ln/>
        </p:spPr>
        <p:txBody>
          <a:bodyPr/>
          <a:lstStyle/>
          <a:p>
            <a:endParaRPr lang="en-HK"/>
          </a:p>
        </p:txBody>
      </p:sp>
      <p:sp>
        <p:nvSpPr>
          <p:cNvPr id="24" name="Text 22"/>
          <p:cNvSpPr/>
          <p:nvPr/>
        </p:nvSpPr>
        <p:spPr>
          <a:xfrm>
            <a:off x="1042416" y="4477323"/>
            <a:ext cx="10180015" cy="943402"/>
          </a:xfrm>
          <a:prstGeom prst="rect">
            <a:avLst/>
          </a:prstGeom>
          <a:noFill/>
          <a:ln/>
        </p:spPr>
        <p:txBody>
          <a:bodyPr wrap="square" lIns="0" tIns="0" rIns="0" bIns="0" rtlCol="0" anchor="t"/>
          <a:lstStyle/>
          <a:p>
            <a:pPr marL="0" indent="0">
              <a:lnSpc>
                <a:spcPts val="1486"/>
              </a:lnSpc>
              <a:buNone/>
            </a:pPr>
            <a:r>
              <a:rPr lang="en-US" sz="962" dirty="0">
                <a:solidFill>
                  <a:srgbClr val="2A2724"/>
                </a:solidFill>
                <a:latin typeface="Courier New" pitchFamily="34" charset="0"/>
                <a:ea typeface="Courier New" pitchFamily="34" charset="-122"/>
                <a:cs typeface="Courier New" pitchFamily="34" charset="-120"/>
              </a:rPr>
              <a:t>date   change            chunk  ovl   k   retrieved  correct  slowest</a:t>
            </a:r>
            <a:endParaRPr lang="en-US" sz="962" dirty="0"/>
          </a:p>
          <a:p>
            <a:pPr marL="0" indent="0">
              <a:lnSpc>
                <a:spcPts val="1486"/>
              </a:lnSpc>
              <a:buNone/>
            </a:pPr>
            <a:r>
              <a:rPr lang="en-US" sz="962" dirty="0">
                <a:solidFill>
                  <a:srgbClr val="2A2724"/>
                </a:solidFill>
                <a:latin typeface="Courier New" pitchFamily="34" charset="0"/>
                <a:ea typeface="Courier New" pitchFamily="34" charset="-122"/>
                <a:cs typeface="Courier New" pitchFamily="34" charset="-120"/>
              </a:rPr>
              <a:t>16/09  baseline            800   100   5    9/15      6/15      2.1s</a:t>
            </a:r>
            <a:endParaRPr lang="en-US" sz="962" dirty="0"/>
          </a:p>
          <a:p>
            <a:pPr marL="0" indent="0">
              <a:lnSpc>
                <a:spcPts val="1486"/>
              </a:lnSpc>
              <a:buNone/>
            </a:pPr>
            <a:r>
              <a:rPr lang="en-US" sz="962" dirty="0">
                <a:solidFill>
                  <a:srgbClr val="2A2724"/>
                </a:solidFill>
                <a:latin typeface="Courier New" pitchFamily="34" charset="0"/>
                <a:ea typeface="Courier New" pitchFamily="34" charset="-122"/>
                <a:cs typeface="Courier New" pitchFamily="34" charset="-120"/>
              </a:rPr>
              <a:t>16/09  chunk 800 -&gt; 500    500   100   5   11/15      8/15      2.0s</a:t>
            </a:r>
            <a:endParaRPr lang="en-US" sz="962" dirty="0"/>
          </a:p>
          <a:p>
            <a:pPr marL="0" indent="0">
              <a:lnSpc>
                <a:spcPts val="1486"/>
              </a:lnSpc>
              <a:buNone/>
            </a:pPr>
            <a:r>
              <a:rPr lang="en-US" sz="962" dirty="0">
                <a:solidFill>
                  <a:srgbClr val="2A2724"/>
                </a:solidFill>
                <a:latin typeface="Courier New" pitchFamily="34" charset="0"/>
                <a:ea typeface="Courier New" pitchFamily="34" charset="-122"/>
                <a:cs typeface="Courier New" pitchFamily="34" charset="-120"/>
              </a:rPr>
              <a:t>16/09  k 5 -&gt; 8            500   100   8   13/15      9/15      3.4s</a:t>
            </a:r>
            <a:endParaRPr lang="en-US" sz="962" dirty="0"/>
          </a:p>
        </p:txBody>
      </p:sp>
      <p:sp>
        <p:nvSpPr>
          <p:cNvPr id="25" name="Text 23"/>
          <p:cNvSpPr/>
          <p:nvPr/>
        </p:nvSpPr>
        <p:spPr>
          <a:xfrm>
            <a:off x="786384" y="5676563"/>
            <a:ext cx="10087981" cy="559645"/>
          </a:xfrm>
          <a:prstGeom prst="rect">
            <a:avLst/>
          </a:prstGeom>
          <a:noFill/>
          <a:ln/>
        </p:spPr>
        <p:txBody>
          <a:bodyPr wrap="square" lIns="0" tIns="0" rIns="0" bIns="0" rtlCol="0" anchor="ctr"/>
          <a:lstStyle/>
          <a:p>
            <a:pPr marL="0" indent="0">
              <a:lnSpc>
                <a:spcPts val="1924"/>
              </a:lnSpc>
              <a:buNone/>
            </a:pPr>
            <a:r>
              <a:rPr lang="en-US" sz="1312" dirty="0">
                <a:solidFill>
                  <a:srgbClr val="141414"/>
                </a:solidFill>
                <a:latin typeface="Arial" pitchFamily="34" charset="0"/>
                <a:ea typeface="Arial" pitchFamily="34" charset="-122"/>
                <a:cs typeface="Arial" pitchFamily="34" charset="-120"/>
              </a:rPr>
              <a:t>Retrievals rising while correct answers do not means the prompt is the limit. Both rising is a keep.</a:t>
            </a:r>
            <a:endParaRPr lang="en-US" sz="1312"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C0402A"/>
                </a:solidFill>
                <a:latin typeface="Arial" pitchFamily="34" charset="0"/>
                <a:ea typeface="Arial" pitchFamily="34" charset="-122"/>
                <a:cs typeface="Arial" pitchFamily="34" charset="-120"/>
              </a:rPr>
              <a:t>LAB</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Lab: Going Further</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5" name="Text 3"/>
          <p:cNvSpPr/>
          <p:nvPr/>
        </p:nvSpPr>
        <p:spPr>
          <a:xfrm>
            <a:off x="10801807"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6E6A63"/>
                </a:solidFill>
                <a:latin typeface="Arial" pitchFamily="34" charset="0"/>
                <a:ea typeface="Arial" pitchFamily="34" charset="-122"/>
                <a:cs typeface="Arial" pitchFamily="34" charset="-120"/>
              </a:rPr>
              <a:t>LV2</a:t>
            </a:r>
            <a:endParaRPr lang="en-US" sz="1100" dirty="0"/>
          </a:p>
        </p:txBody>
      </p:sp>
      <p:sp>
        <p:nvSpPr>
          <p:cNvPr id="6" name="Shape 4"/>
          <p:cNvSpPr/>
          <p:nvPr/>
        </p:nvSpPr>
        <p:spPr>
          <a:xfrm>
            <a:off x="786384" y="1426464"/>
            <a:ext cx="10618927" cy="10973"/>
          </a:xfrm>
          <a:prstGeom prst="rect">
            <a:avLst/>
          </a:prstGeom>
          <a:solidFill>
            <a:srgbClr val="D5D1CA"/>
          </a:solidFill>
          <a:ln/>
        </p:spPr>
        <p:txBody>
          <a:bodyPr/>
          <a:lstStyle/>
          <a:p>
            <a:endParaRPr lang="en-HK"/>
          </a:p>
        </p:txBody>
      </p:sp>
      <p:sp>
        <p:nvSpPr>
          <p:cNvPr id="7" name="Text 5"/>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33</a:t>
            </a:r>
            <a:endParaRPr lang="en-US" sz="1200" dirty="0"/>
          </a:p>
        </p:txBody>
      </p:sp>
      <p:sp>
        <p:nvSpPr>
          <p:cNvPr id="8" name="Text 6"/>
          <p:cNvSpPr/>
          <p:nvPr/>
        </p:nvSpPr>
        <p:spPr>
          <a:xfrm>
            <a:off x="786384" y="1842066"/>
            <a:ext cx="457200" cy="321676"/>
          </a:xfrm>
          <a:prstGeom prst="rect">
            <a:avLst/>
          </a:prstGeom>
          <a:noFill/>
          <a:ln/>
        </p:spPr>
        <p:txBody>
          <a:bodyPr wrap="square" lIns="0" tIns="0" rIns="0" bIns="0" rtlCol="0" anchor="ctr"/>
          <a:lstStyle/>
          <a:p>
            <a:pPr marL="0" indent="0">
              <a:buNone/>
            </a:pPr>
            <a:r>
              <a:rPr lang="en-US" sz="1750" b="1" dirty="0">
                <a:solidFill>
                  <a:srgbClr val="C0402A"/>
                </a:solidFill>
                <a:latin typeface="Arial" pitchFamily="34" charset="0"/>
                <a:ea typeface="Arial" pitchFamily="34" charset="-122"/>
                <a:cs typeface="Arial" pitchFamily="34" charset="-120"/>
              </a:rPr>
              <a:t>01</a:t>
            </a:r>
            <a:endParaRPr lang="en-US" sz="1750" dirty="0"/>
          </a:p>
        </p:txBody>
      </p:sp>
      <p:sp>
        <p:nvSpPr>
          <p:cNvPr id="9" name="Text 7"/>
          <p:cNvSpPr/>
          <p:nvPr/>
        </p:nvSpPr>
        <p:spPr>
          <a:xfrm>
            <a:off x="1353312" y="1842066"/>
            <a:ext cx="9521053" cy="356104"/>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Sweep k properly</a:t>
            </a:r>
            <a:endParaRPr lang="en-US" sz="1950" dirty="0"/>
          </a:p>
        </p:txBody>
      </p:sp>
      <p:sp>
        <p:nvSpPr>
          <p:cNvPr id="10" name="Text 8"/>
          <p:cNvSpPr/>
          <p:nvPr/>
        </p:nvSpPr>
        <p:spPr>
          <a:xfrm>
            <a:off x="1353312" y="2236014"/>
            <a:ext cx="9521053" cy="612342"/>
          </a:xfrm>
          <a:prstGeom prst="rect">
            <a:avLst/>
          </a:prstGeom>
          <a:noFill/>
          <a:ln/>
        </p:spPr>
        <p:txBody>
          <a:bodyPr wrap="square" lIns="0" tIns="0" rIns="0" bIns="0" rtlCol="0" anchor="ctr"/>
          <a:lstStyle/>
          <a:p>
            <a:pPr marL="0" indent="0">
              <a:lnSpc>
                <a:spcPts val="2150"/>
              </a:lnSpc>
              <a:buNone/>
            </a:pPr>
            <a:r>
              <a:rPr lang="en-US" sz="1650" dirty="0">
                <a:solidFill>
                  <a:srgbClr val="6E6A63"/>
                </a:solidFill>
                <a:latin typeface="Arial" pitchFamily="34" charset="0"/>
                <a:ea typeface="Arial" pitchFamily="34" charset="-122"/>
                <a:cs typeface="Arial" pitchFamily="34" charset="-120"/>
              </a:rPr>
              <a:t>Count retrievals at k = 3, 5, 8, 10, 15 and write all five down. The count usually rises then flattens, and the flat point is where extra chunks only add noise.</a:t>
            </a:r>
            <a:endParaRPr lang="en-US" sz="1650" dirty="0"/>
          </a:p>
        </p:txBody>
      </p:sp>
      <p:sp>
        <p:nvSpPr>
          <p:cNvPr id="11" name="Text 9"/>
          <p:cNvSpPr/>
          <p:nvPr/>
        </p:nvSpPr>
        <p:spPr>
          <a:xfrm>
            <a:off x="786384" y="2971350"/>
            <a:ext cx="457200" cy="321676"/>
          </a:xfrm>
          <a:prstGeom prst="rect">
            <a:avLst/>
          </a:prstGeom>
          <a:noFill/>
          <a:ln/>
        </p:spPr>
        <p:txBody>
          <a:bodyPr wrap="square" lIns="0" tIns="0" rIns="0" bIns="0" rtlCol="0" anchor="ctr"/>
          <a:lstStyle/>
          <a:p>
            <a:pPr marL="0" indent="0">
              <a:buNone/>
            </a:pPr>
            <a:r>
              <a:rPr lang="en-US" sz="1750" b="1" dirty="0">
                <a:solidFill>
                  <a:srgbClr val="C0402A"/>
                </a:solidFill>
                <a:latin typeface="Arial" pitchFamily="34" charset="0"/>
                <a:ea typeface="Arial" pitchFamily="34" charset="-122"/>
                <a:cs typeface="Arial" pitchFamily="34" charset="-120"/>
              </a:rPr>
              <a:t>02</a:t>
            </a:r>
            <a:endParaRPr lang="en-US" sz="1750" dirty="0"/>
          </a:p>
        </p:txBody>
      </p:sp>
      <p:sp>
        <p:nvSpPr>
          <p:cNvPr id="12" name="Text 10"/>
          <p:cNvSpPr/>
          <p:nvPr/>
        </p:nvSpPr>
        <p:spPr>
          <a:xfrm>
            <a:off x="1353312" y="2971350"/>
            <a:ext cx="9521053" cy="356104"/>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Sweep chunk size at your best k</a:t>
            </a:r>
            <a:endParaRPr lang="en-US" sz="1950" dirty="0"/>
          </a:p>
        </p:txBody>
      </p:sp>
      <p:sp>
        <p:nvSpPr>
          <p:cNvPr id="13" name="Text 11"/>
          <p:cNvSpPr/>
          <p:nvPr/>
        </p:nvSpPr>
        <p:spPr>
          <a:xfrm>
            <a:off x="1353312" y="3365298"/>
            <a:ext cx="9521053" cy="612342"/>
          </a:xfrm>
          <a:prstGeom prst="rect">
            <a:avLst/>
          </a:prstGeom>
          <a:noFill/>
          <a:ln/>
        </p:spPr>
        <p:txBody>
          <a:bodyPr wrap="square" lIns="0" tIns="0" rIns="0" bIns="0" rtlCol="0" anchor="ctr"/>
          <a:lstStyle/>
          <a:p>
            <a:pPr marL="0" indent="0">
              <a:lnSpc>
                <a:spcPts val="2150"/>
              </a:lnSpc>
              <a:buNone/>
            </a:pPr>
            <a:r>
              <a:rPr lang="en-US" sz="1650" dirty="0">
                <a:solidFill>
                  <a:srgbClr val="6E6A63"/>
                </a:solidFill>
                <a:latin typeface="Arial" pitchFamily="34" charset="0"/>
                <a:ea typeface="Arial" pitchFamily="34" charset="-122"/>
                <a:cs typeface="Arial" pitchFamily="34" charset="-120"/>
              </a:rPr>
              <a:t>The two settings interact, so the best chunk size at k=3 is not the best at k=10. This is why you change one at a time.</a:t>
            </a:r>
            <a:endParaRPr lang="en-US" sz="1650" dirty="0"/>
          </a:p>
        </p:txBody>
      </p:sp>
      <p:sp>
        <p:nvSpPr>
          <p:cNvPr id="14" name="Text 12"/>
          <p:cNvSpPr/>
          <p:nvPr/>
        </p:nvSpPr>
        <p:spPr>
          <a:xfrm>
            <a:off x="786384" y="4100634"/>
            <a:ext cx="457200" cy="321676"/>
          </a:xfrm>
          <a:prstGeom prst="rect">
            <a:avLst/>
          </a:prstGeom>
          <a:noFill/>
          <a:ln/>
        </p:spPr>
        <p:txBody>
          <a:bodyPr wrap="square" lIns="0" tIns="0" rIns="0" bIns="0" rtlCol="0" anchor="ctr"/>
          <a:lstStyle/>
          <a:p>
            <a:pPr marL="0" indent="0">
              <a:buNone/>
            </a:pPr>
            <a:r>
              <a:rPr lang="en-US" sz="1750" b="1" dirty="0">
                <a:solidFill>
                  <a:srgbClr val="C0402A"/>
                </a:solidFill>
                <a:latin typeface="Arial" pitchFamily="34" charset="0"/>
                <a:ea typeface="Arial" pitchFamily="34" charset="-122"/>
                <a:cs typeface="Arial" pitchFamily="34" charset="-120"/>
              </a:rPr>
              <a:t>03</a:t>
            </a:r>
            <a:endParaRPr lang="en-US" sz="1750" dirty="0"/>
          </a:p>
        </p:txBody>
      </p:sp>
      <p:sp>
        <p:nvSpPr>
          <p:cNvPr id="15" name="Text 13"/>
          <p:cNvSpPr/>
          <p:nvPr/>
        </p:nvSpPr>
        <p:spPr>
          <a:xfrm>
            <a:off x="1353312" y="4100634"/>
            <a:ext cx="9521053" cy="356104"/>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Add the source URL to each chunk in the prompt</a:t>
            </a:r>
            <a:endParaRPr lang="en-US" sz="1950" dirty="0"/>
          </a:p>
        </p:txBody>
      </p:sp>
      <p:sp>
        <p:nvSpPr>
          <p:cNvPr id="16" name="Text 14"/>
          <p:cNvSpPr/>
          <p:nvPr/>
        </p:nvSpPr>
        <p:spPr>
          <a:xfrm>
            <a:off x="1353312" y="4494582"/>
            <a:ext cx="9521053" cy="612342"/>
          </a:xfrm>
          <a:prstGeom prst="rect">
            <a:avLst/>
          </a:prstGeom>
          <a:noFill/>
          <a:ln/>
        </p:spPr>
        <p:txBody>
          <a:bodyPr wrap="square" lIns="0" tIns="0" rIns="0" bIns="0" rtlCol="0" anchor="ctr"/>
          <a:lstStyle/>
          <a:p>
            <a:pPr marL="0" indent="0">
              <a:lnSpc>
                <a:spcPts val="2150"/>
              </a:lnSpc>
              <a:buNone/>
            </a:pPr>
            <a:r>
              <a:rPr lang="en-US" sz="1650" dirty="0">
                <a:solidFill>
                  <a:srgbClr val="6E6A63"/>
                </a:solidFill>
                <a:latin typeface="Arial" pitchFamily="34" charset="0"/>
                <a:ea typeface="Arial" pitchFamily="34" charset="-122"/>
                <a:cs typeface="Arial" pitchFamily="34" charset="-120"/>
              </a:rPr>
              <a:t>Label each chunk before the model sees it. Then ask the model to name which chunk it used, and check whether it is telling the truth.</a:t>
            </a:r>
            <a:endParaRPr lang="en-US" sz="1650" dirty="0"/>
          </a:p>
        </p:txBody>
      </p:sp>
      <p:sp>
        <p:nvSpPr>
          <p:cNvPr id="17" name="Text 15"/>
          <p:cNvSpPr/>
          <p:nvPr/>
        </p:nvSpPr>
        <p:spPr>
          <a:xfrm>
            <a:off x="786384" y="5229918"/>
            <a:ext cx="457200" cy="321676"/>
          </a:xfrm>
          <a:prstGeom prst="rect">
            <a:avLst/>
          </a:prstGeom>
          <a:noFill/>
          <a:ln/>
        </p:spPr>
        <p:txBody>
          <a:bodyPr wrap="square" lIns="0" tIns="0" rIns="0" bIns="0" rtlCol="0" anchor="ctr"/>
          <a:lstStyle/>
          <a:p>
            <a:pPr marL="0" indent="0">
              <a:buNone/>
            </a:pPr>
            <a:r>
              <a:rPr lang="en-US" sz="1750" b="1" dirty="0">
                <a:solidFill>
                  <a:srgbClr val="C0402A"/>
                </a:solidFill>
                <a:latin typeface="Arial" pitchFamily="34" charset="0"/>
                <a:ea typeface="Arial" pitchFamily="34" charset="-122"/>
                <a:cs typeface="Arial" pitchFamily="34" charset="-120"/>
              </a:rPr>
              <a:t>04</a:t>
            </a:r>
            <a:endParaRPr lang="en-US" sz="1750" dirty="0"/>
          </a:p>
        </p:txBody>
      </p:sp>
      <p:sp>
        <p:nvSpPr>
          <p:cNvPr id="18" name="Text 16"/>
          <p:cNvSpPr/>
          <p:nvPr/>
        </p:nvSpPr>
        <p:spPr>
          <a:xfrm>
            <a:off x="1353312" y="5229918"/>
            <a:ext cx="9521053" cy="356104"/>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Write ten questions of your own</a:t>
            </a:r>
            <a:endParaRPr lang="en-US" sz="1950" dirty="0"/>
          </a:p>
        </p:txBody>
      </p:sp>
      <p:sp>
        <p:nvSpPr>
          <p:cNvPr id="19" name="Text 17"/>
          <p:cNvSpPr/>
          <p:nvPr/>
        </p:nvSpPr>
        <p:spPr>
          <a:xfrm>
            <a:off x="1353312" y="5623866"/>
            <a:ext cx="9521053" cy="612342"/>
          </a:xfrm>
          <a:prstGeom prst="rect">
            <a:avLst/>
          </a:prstGeom>
          <a:noFill/>
          <a:ln/>
        </p:spPr>
        <p:txBody>
          <a:bodyPr wrap="square" lIns="0" tIns="0" rIns="0" bIns="0" rtlCol="0" anchor="ctr"/>
          <a:lstStyle/>
          <a:p>
            <a:pPr marL="0" indent="0">
              <a:lnSpc>
                <a:spcPts val="2150"/>
              </a:lnSpc>
              <a:buNone/>
            </a:pPr>
            <a:r>
              <a:rPr lang="en-US" sz="1650" dirty="0">
                <a:solidFill>
                  <a:srgbClr val="6E6A63"/>
                </a:solidFill>
                <a:latin typeface="Arial" pitchFamily="34" charset="0"/>
                <a:ea typeface="Arial" pitchFamily="34" charset="-122"/>
                <a:cs typeface="Arial" pitchFamily="34" charset="-120"/>
              </a:rPr>
              <a:t>Against the sample corpus, weighted at the levels you score worst on. Fifteen dev questions is too few to decide anything from.</a:t>
            </a:r>
            <a:endParaRPr lang="en-US" sz="16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C0402A"/>
                </a:solidFill>
                <a:latin typeface="Arial" pitchFamily="34" charset="0"/>
                <a:ea typeface="Arial" pitchFamily="34" charset="-122"/>
                <a:cs typeface="Arial" pitchFamily="34" charset="-120"/>
              </a:rPr>
              <a:t>TROUBLESHOOTING</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Reading Your Results</a:t>
            </a:r>
            <a:endParaRPr lang="en-US" sz="2900" dirty="0"/>
          </a:p>
        </p:txBody>
      </p:sp>
      <p:sp>
        <p:nvSpPr>
          <p:cNvPr id="4" name="Shape 2"/>
          <p:cNvSpPr/>
          <p:nvPr/>
        </p:nvSpPr>
        <p:spPr>
          <a:xfrm>
            <a:off x="10198303"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5" name="Text 3"/>
          <p:cNvSpPr/>
          <p:nvPr/>
        </p:nvSpPr>
        <p:spPr>
          <a:xfrm>
            <a:off x="10198303"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8A857D"/>
                </a:solidFill>
                <a:latin typeface="Arial" pitchFamily="34" charset="0"/>
                <a:ea typeface="Arial" pitchFamily="34" charset="-122"/>
                <a:cs typeface="Arial" pitchFamily="34" charset="-120"/>
              </a:rPr>
              <a:t>LV1</a:t>
            </a:r>
            <a:endParaRPr lang="en-US" sz="1100" dirty="0"/>
          </a:p>
        </p:txBody>
      </p:sp>
      <p:sp>
        <p:nvSpPr>
          <p:cNvPr id="6" name="Shape 4"/>
          <p:cNvSpPr/>
          <p:nvPr/>
        </p:nvSpPr>
        <p:spPr>
          <a:xfrm>
            <a:off x="10874959"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7" name="Text 5"/>
          <p:cNvSpPr/>
          <p:nvPr/>
        </p:nvSpPr>
        <p:spPr>
          <a:xfrm>
            <a:off x="10874959"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6E6A63"/>
                </a:solidFill>
                <a:latin typeface="Arial" pitchFamily="34" charset="0"/>
                <a:ea typeface="Arial" pitchFamily="34" charset="-122"/>
                <a:cs typeface="Arial" pitchFamily="34" charset="-120"/>
              </a:rPr>
              <a:t>LV2</a:t>
            </a:r>
            <a:endParaRPr lang="en-US" sz="1100" dirty="0"/>
          </a:p>
        </p:txBody>
      </p:sp>
      <p:sp>
        <p:nvSpPr>
          <p:cNvPr id="8" name="Shape 6"/>
          <p:cNvSpPr/>
          <p:nvPr/>
        </p:nvSpPr>
        <p:spPr>
          <a:xfrm>
            <a:off x="786384" y="1426464"/>
            <a:ext cx="10618927" cy="10973"/>
          </a:xfrm>
          <a:prstGeom prst="rect">
            <a:avLst/>
          </a:prstGeom>
          <a:solidFill>
            <a:srgbClr val="D5D1CA"/>
          </a:solidFill>
          <a:ln/>
        </p:spPr>
        <p:txBody>
          <a:bodyPr/>
          <a:lstStyle/>
          <a:p>
            <a:endParaRPr lang="en-HK"/>
          </a:p>
        </p:txBody>
      </p:sp>
      <p:sp>
        <p:nvSpPr>
          <p:cNvPr id="9" name="Text 7"/>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34</a:t>
            </a:r>
            <a:endParaRPr lang="en-US" sz="1200" dirty="0"/>
          </a:p>
        </p:txBody>
      </p:sp>
      <p:sp>
        <p:nvSpPr>
          <p:cNvPr id="10" name="Text 8"/>
          <p:cNvSpPr/>
          <p:nvPr/>
        </p:nvSpPr>
        <p:spPr>
          <a:xfrm>
            <a:off x="786384" y="1825776"/>
            <a:ext cx="1463040" cy="426816"/>
          </a:xfrm>
          <a:prstGeom prst="rect">
            <a:avLst/>
          </a:prstGeom>
          <a:noFill/>
          <a:ln/>
        </p:spPr>
        <p:txBody>
          <a:bodyPr wrap="square" lIns="0" tIns="0" rIns="0" bIns="0" rtlCol="0" anchor="ctr"/>
          <a:lstStyle/>
          <a:p>
            <a:pPr marL="0" indent="0">
              <a:buNone/>
            </a:pPr>
            <a:r>
              <a:rPr lang="en-US" sz="1650" b="1" dirty="0">
                <a:solidFill>
                  <a:srgbClr val="C0402A"/>
                </a:solidFill>
                <a:latin typeface="Arial" pitchFamily="34" charset="0"/>
                <a:ea typeface="Arial" pitchFamily="34" charset="-122"/>
                <a:cs typeface="Arial" pitchFamily="34" charset="-120"/>
              </a:rPr>
              <a:t>Lv1 low</a:t>
            </a:r>
            <a:endParaRPr lang="en-US" sz="1650" dirty="0"/>
          </a:p>
        </p:txBody>
      </p:sp>
      <p:sp>
        <p:nvSpPr>
          <p:cNvPr id="11" name="Text 9"/>
          <p:cNvSpPr/>
          <p:nvPr/>
        </p:nvSpPr>
        <p:spPr>
          <a:xfrm>
            <a:off x="2478024" y="1825776"/>
            <a:ext cx="8927287" cy="426816"/>
          </a:xfrm>
          <a:prstGeom prst="rect">
            <a:avLst/>
          </a:prstGeom>
          <a:noFill/>
          <a:ln/>
        </p:spPr>
        <p:txBody>
          <a:bodyPr wrap="square" lIns="0" tIns="0" rIns="0" bIns="0" rtlCol="0" anchor="ctr"/>
          <a:lstStyle/>
          <a:p>
            <a:pPr marL="0" indent="0">
              <a:buNone/>
            </a:pPr>
            <a:r>
              <a:rPr lang="en-US" sz="1550" dirty="0">
                <a:solidFill>
                  <a:srgbClr val="141414"/>
                </a:solidFill>
                <a:latin typeface="Arial" pitchFamily="34" charset="0"/>
                <a:ea typeface="Arial" pitchFamily="34" charset="-122"/>
                <a:cs typeface="Arial" pitchFamily="34" charset="-120"/>
              </a:rPr>
              <a:t>Look at the prompt and the output format. Retrieval is not involved at this level.</a:t>
            </a:r>
            <a:endParaRPr lang="en-US" sz="1550" dirty="0"/>
          </a:p>
        </p:txBody>
      </p:sp>
      <p:sp>
        <p:nvSpPr>
          <p:cNvPr id="12" name="Text 10"/>
          <p:cNvSpPr/>
          <p:nvPr/>
        </p:nvSpPr>
        <p:spPr>
          <a:xfrm>
            <a:off x="786384" y="2537136"/>
            <a:ext cx="1463040" cy="426816"/>
          </a:xfrm>
          <a:prstGeom prst="rect">
            <a:avLst/>
          </a:prstGeom>
          <a:noFill/>
          <a:ln/>
        </p:spPr>
        <p:txBody>
          <a:bodyPr wrap="square" lIns="0" tIns="0" rIns="0" bIns="0" rtlCol="0" anchor="ctr"/>
          <a:lstStyle/>
          <a:p>
            <a:pPr marL="0" indent="0">
              <a:buNone/>
            </a:pPr>
            <a:r>
              <a:rPr lang="en-US" sz="1650" b="1" dirty="0">
                <a:solidFill>
                  <a:srgbClr val="C0402A"/>
                </a:solidFill>
                <a:latin typeface="Arial" pitchFamily="34" charset="0"/>
                <a:ea typeface="Arial" pitchFamily="34" charset="-122"/>
                <a:cs typeface="Arial" pitchFamily="34" charset="-120"/>
              </a:rPr>
              <a:t>Lv2 low</a:t>
            </a:r>
            <a:endParaRPr lang="en-US" sz="1650" dirty="0"/>
          </a:p>
        </p:txBody>
      </p:sp>
      <p:sp>
        <p:nvSpPr>
          <p:cNvPr id="13" name="Text 11"/>
          <p:cNvSpPr/>
          <p:nvPr/>
        </p:nvSpPr>
        <p:spPr>
          <a:xfrm>
            <a:off x="2478024" y="2537136"/>
            <a:ext cx="8927287" cy="426816"/>
          </a:xfrm>
          <a:prstGeom prst="rect">
            <a:avLst/>
          </a:prstGeom>
          <a:noFill/>
          <a:ln/>
        </p:spPr>
        <p:txBody>
          <a:bodyPr wrap="square" lIns="0" tIns="0" rIns="0" bIns="0" rtlCol="0" anchor="ctr"/>
          <a:lstStyle/>
          <a:p>
            <a:pPr marL="0" indent="0">
              <a:buNone/>
            </a:pPr>
            <a:r>
              <a:rPr lang="en-US" sz="1550" dirty="0">
                <a:solidFill>
                  <a:srgbClr val="141414"/>
                </a:solidFill>
                <a:latin typeface="Arial" pitchFamily="34" charset="0"/>
                <a:ea typeface="Arial" pitchFamily="34" charset="-122"/>
                <a:cs typeface="Arial" pitchFamily="34" charset="-120"/>
              </a:rPr>
              <a:t>Look at retrieval or chunking. Print the returned chunks before changing the prompt.</a:t>
            </a:r>
            <a:endParaRPr lang="en-US" sz="1550" dirty="0"/>
          </a:p>
        </p:txBody>
      </p:sp>
      <p:sp>
        <p:nvSpPr>
          <p:cNvPr id="14" name="Text 12"/>
          <p:cNvSpPr/>
          <p:nvPr/>
        </p:nvSpPr>
        <p:spPr>
          <a:xfrm>
            <a:off x="786384" y="3248496"/>
            <a:ext cx="1463040" cy="426816"/>
          </a:xfrm>
          <a:prstGeom prst="rect">
            <a:avLst/>
          </a:prstGeom>
          <a:noFill/>
          <a:ln/>
        </p:spPr>
        <p:txBody>
          <a:bodyPr wrap="square" lIns="0" tIns="0" rIns="0" bIns="0" rtlCol="0" anchor="ctr"/>
          <a:lstStyle/>
          <a:p>
            <a:pPr marL="0" indent="0">
              <a:buNone/>
            </a:pPr>
            <a:r>
              <a:rPr lang="en-US" sz="1650" b="1" dirty="0">
                <a:solidFill>
                  <a:srgbClr val="C0402A"/>
                </a:solidFill>
                <a:latin typeface="Arial" pitchFamily="34" charset="0"/>
                <a:ea typeface="Arial" pitchFamily="34" charset="-122"/>
                <a:cs typeface="Arial" pitchFamily="34" charset="-120"/>
              </a:rPr>
              <a:t>Lv3 zero</a:t>
            </a:r>
            <a:endParaRPr lang="en-US" sz="1650" dirty="0"/>
          </a:p>
        </p:txBody>
      </p:sp>
      <p:sp>
        <p:nvSpPr>
          <p:cNvPr id="15" name="Text 13"/>
          <p:cNvSpPr/>
          <p:nvPr/>
        </p:nvSpPr>
        <p:spPr>
          <a:xfrm>
            <a:off x="2478024" y="3248496"/>
            <a:ext cx="8927287" cy="426816"/>
          </a:xfrm>
          <a:prstGeom prst="rect">
            <a:avLst/>
          </a:prstGeom>
          <a:noFill/>
          <a:ln/>
        </p:spPr>
        <p:txBody>
          <a:bodyPr wrap="square" lIns="0" tIns="0" rIns="0" bIns="0" rtlCol="0" anchor="ctr"/>
          <a:lstStyle/>
          <a:p>
            <a:pPr marL="0" indent="0">
              <a:buNone/>
            </a:pPr>
            <a:r>
              <a:rPr lang="en-US" sz="1550" dirty="0">
                <a:solidFill>
                  <a:srgbClr val="141414"/>
                </a:solidFill>
                <a:latin typeface="Arial" pitchFamily="34" charset="0"/>
                <a:ea typeface="Arial" pitchFamily="34" charset="-122"/>
                <a:cs typeface="Arial" pitchFamily="34" charset="-120"/>
              </a:rPr>
              <a:t>Expected until Workshop 2. Images are not in your index yet.</a:t>
            </a:r>
            <a:endParaRPr lang="en-US" sz="1550" dirty="0"/>
          </a:p>
        </p:txBody>
      </p:sp>
      <p:sp>
        <p:nvSpPr>
          <p:cNvPr id="16" name="Text 14"/>
          <p:cNvSpPr/>
          <p:nvPr/>
        </p:nvSpPr>
        <p:spPr>
          <a:xfrm>
            <a:off x="786384" y="3959856"/>
            <a:ext cx="1463040" cy="426816"/>
          </a:xfrm>
          <a:prstGeom prst="rect">
            <a:avLst/>
          </a:prstGeom>
          <a:noFill/>
          <a:ln/>
        </p:spPr>
        <p:txBody>
          <a:bodyPr wrap="square" lIns="0" tIns="0" rIns="0" bIns="0" rtlCol="0" anchor="ctr"/>
          <a:lstStyle/>
          <a:p>
            <a:pPr marL="0" indent="0">
              <a:buNone/>
            </a:pPr>
            <a:r>
              <a:rPr lang="en-US" sz="1650" b="1" dirty="0">
                <a:solidFill>
                  <a:srgbClr val="C0402A"/>
                </a:solidFill>
                <a:latin typeface="Arial" pitchFamily="34" charset="0"/>
                <a:ea typeface="Arial" pitchFamily="34" charset="-122"/>
                <a:cs typeface="Arial" pitchFamily="34" charset="-120"/>
              </a:rPr>
              <a:t>Lv4 low</a:t>
            </a:r>
            <a:endParaRPr lang="en-US" sz="1650" dirty="0"/>
          </a:p>
        </p:txBody>
      </p:sp>
      <p:sp>
        <p:nvSpPr>
          <p:cNvPr id="17" name="Text 15"/>
          <p:cNvSpPr/>
          <p:nvPr/>
        </p:nvSpPr>
        <p:spPr>
          <a:xfrm>
            <a:off x="2478024" y="3959856"/>
            <a:ext cx="8927287" cy="426816"/>
          </a:xfrm>
          <a:prstGeom prst="rect">
            <a:avLst/>
          </a:prstGeom>
          <a:noFill/>
          <a:ln/>
        </p:spPr>
        <p:txBody>
          <a:bodyPr wrap="square" lIns="0" tIns="0" rIns="0" bIns="0" rtlCol="0" anchor="ctr"/>
          <a:lstStyle/>
          <a:p>
            <a:pPr marL="0" indent="0">
              <a:buNone/>
            </a:pPr>
            <a:r>
              <a:rPr lang="en-US" sz="1550" dirty="0">
                <a:solidFill>
                  <a:srgbClr val="141414"/>
                </a:solidFill>
                <a:latin typeface="Arial" pitchFamily="34" charset="0"/>
                <a:ea typeface="Arial" pitchFamily="34" charset="-122"/>
                <a:cs typeface="Arial" pitchFamily="34" charset="-120"/>
              </a:rPr>
              <a:t>The approach needs changing, not the settings. Covered in Workshop 2.</a:t>
            </a:r>
            <a:endParaRPr lang="en-US" sz="1550" dirty="0"/>
          </a:p>
        </p:txBody>
      </p:sp>
      <p:sp>
        <p:nvSpPr>
          <p:cNvPr id="18" name="Text 16"/>
          <p:cNvSpPr/>
          <p:nvPr/>
        </p:nvSpPr>
        <p:spPr>
          <a:xfrm>
            <a:off x="786384" y="4860912"/>
            <a:ext cx="10618927" cy="497952"/>
          </a:xfrm>
          <a:prstGeom prst="rect">
            <a:avLst/>
          </a:prstGeom>
          <a:noFill/>
          <a:ln/>
        </p:spPr>
        <p:txBody>
          <a:bodyPr wrap="square" lIns="0" tIns="0" rIns="0" bIns="0" rtlCol="0" anchor="ctr"/>
          <a:lstStyle/>
          <a:p>
            <a:pPr marL="0" indent="0">
              <a:buNone/>
            </a:pPr>
            <a:r>
              <a:rPr lang="en-US" sz="2000" b="1" dirty="0">
                <a:solidFill>
                  <a:srgbClr val="141414"/>
                </a:solidFill>
                <a:latin typeface="Arial" pitchFamily="34" charset="0"/>
                <a:ea typeface="Arial" pitchFamily="34" charset="-122"/>
                <a:cs typeface="Arial" pitchFamily="34" charset="-120"/>
              </a:rPr>
              <a:t>Record timing alongside accuracy</a:t>
            </a:r>
            <a:endParaRPr lang="en-US" sz="2000" dirty="0"/>
          </a:p>
        </p:txBody>
      </p:sp>
      <p:sp>
        <p:nvSpPr>
          <p:cNvPr id="19" name="Text 17"/>
          <p:cNvSpPr/>
          <p:nvPr/>
        </p:nvSpPr>
        <p:spPr>
          <a:xfrm>
            <a:off x="786384" y="5406288"/>
            <a:ext cx="9769413" cy="829920"/>
          </a:xfrm>
          <a:prstGeom prst="rect">
            <a:avLst/>
          </a:prstGeom>
          <a:noFill/>
          <a:ln/>
        </p:spPr>
        <p:txBody>
          <a:bodyPr wrap="square" lIns="0" tIns="0" rIns="0" bIns="0" rtlCol="0" anchor="ctr"/>
          <a:lstStyle/>
          <a:p>
            <a:pPr marL="0" indent="0">
              <a:lnSpc>
                <a:spcPts val="2400"/>
              </a:lnSpc>
              <a:buNone/>
            </a:pPr>
            <a:r>
              <a:rPr lang="en-US" sz="1600" dirty="0">
                <a:solidFill>
                  <a:srgbClr val="141414"/>
                </a:solidFill>
                <a:latin typeface="Arial" pitchFamily="34" charset="0"/>
                <a:ea typeface="Arial" pitchFamily="34" charset="-122"/>
                <a:cs typeface="Arial" pitchFamily="34" charset="-120"/>
              </a:rPr>
              <a:t>A change that improves accuracy but pushes a question past 30 seconds scores zero on that question. Time a few questions with a stopwatch or time.time(), not just the ones that feel slow.</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0EA"/>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C0402A"/>
                </a:solidFill>
                <a:latin typeface="Arial" pitchFamily="34" charset="0"/>
                <a:ea typeface="Arial" pitchFamily="34" charset="-122"/>
                <a:cs typeface="Arial" pitchFamily="34" charset="-120"/>
              </a:rPr>
              <a:t>FROM EXPERIENCE</a:t>
            </a:r>
            <a:endParaRPr lang="en-US" sz="950" dirty="0"/>
          </a:p>
        </p:txBody>
      </p:sp>
      <p:sp>
        <p:nvSpPr>
          <p:cNvPr id="3" name="Shape 1"/>
          <p:cNvSpPr/>
          <p:nvPr/>
        </p:nvSpPr>
        <p:spPr>
          <a:xfrm>
            <a:off x="0" y="0"/>
            <a:ext cx="128016" cy="6858000"/>
          </a:xfrm>
          <a:prstGeom prst="rect">
            <a:avLst/>
          </a:prstGeom>
          <a:solidFill>
            <a:srgbClr val="C0402A"/>
          </a:solidFill>
          <a:ln/>
        </p:spPr>
        <p:txBody>
          <a:bodyPr/>
          <a:lstStyle/>
          <a:p>
            <a:endParaRPr lang="en-HK"/>
          </a:p>
        </p:txBody>
      </p:sp>
      <p:sp>
        <p:nvSpPr>
          <p:cNvPr id="4" name="Text 2"/>
          <p:cNvSpPr/>
          <p:nvPr/>
        </p:nvSpPr>
        <p:spPr>
          <a:xfrm>
            <a:off x="786384" y="713232"/>
            <a:ext cx="7923047"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Measuring Well</a:t>
            </a:r>
            <a:endParaRPr lang="en-US" sz="2900" dirty="0"/>
          </a:p>
        </p:txBody>
      </p:sp>
      <p:sp>
        <p:nvSpPr>
          <p:cNvPr id="5" name="Shape 3"/>
          <p:cNvSpPr/>
          <p:nvPr/>
        </p:nvSpPr>
        <p:spPr>
          <a:xfrm>
            <a:off x="10801807"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6" name="Text 4"/>
          <p:cNvSpPr/>
          <p:nvPr/>
        </p:nvSpPr>
        <p:spPr>
          <a:xfrm>
            <a:off x="10801807"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6E6A63"/>
                </a:solidFill>
                <a:latin typeface="Arial" pitchFamily="34" charset="0"/>
                <a:ea typeface="Arial" pitchFamily="34" charset="-122"/>
                <a:cs typeface="Arial" pitchFamily="34" charset="-120"/>
              </a:rPr>
              <a:t>LV2</a:t>
            </a:r>
            <a:endParaRPr lang="en-US" sz="1100" dirty="0"/>
          </a:p>
        </p:txBody>
      </p:sp>
      <p:sp>
        <p:nvSpPr>
          <p:cNvPr id="7" name="Shape 5"/>
          <p:cNvSpPr/>
          <p:nvPr/>
        </p:nvSpPr>
        <p:spPr>
          <a:xfrm>
            <a:off x="786384" y="1426464"/>
            <a:ext cx="10618927" cy="10973"/>
          </a:xfrm>
          <a:prstGeom prst="rect">
            <a:avLst/>
          </a:prstGeom>
          <a:solidFill>
            <a:srgbClr val="D5D1CA"/>
          </a:solidFill>
          <a:ln/>
        </p:spPr>
        <p:txBody>
          <a:bodyPr/>
          <a:lstStyle/>
          <a:p>
            <a:endParaRPr lang="en-HK"/>
          </a:p>
        </p:txBody>
      </p:sp>
      <p:sp>
        <p:nvSpPr>
          <p:cNvPr id="8" name="Text 6"/>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35</a:t>
            </a:r>
            <a:endParaRPr lang="en-US" sz="1200" dirty="0"/>
          </a:p>
        </p:txBody>
      </p:sp>
      <p:sp>
        <p:nvSpPr>
          <p:cNvPr id="10" name="Shape 8"/>
          <p:cNvSpPr/>
          <p:nvPr/>
        </p:nvSpPr>
        <p:spPr>
          <a:xfrm>
            <a:off x="924737" y="1834509"/>
            <a:ext cx="4751680" cy="28968"/>
          </a:xfrm>
          <a:prstGeom prst="rect">
            <a:avLst/>
          </a:prstGeom>
          <a:solidFill>
            <a:srgbClr val="C0402A"/>
          </a:solidFill>
          <a:ln/>
        </p:spPr>
        <p:txBody>
          <a:bodyPr/>
          <a:lstStyle/>
          <a:p>
            <a:endParaRPr lang="en-HK"/>
          </a:p>
        </p:txBody>
      </p:sp>
      <p:sp>
        <p:nvSpPr>
          <p:cNvPr id="11" name="Text 9"/>
          <p:cNvSpPr/>
          <p:nvPr/>
        </p:nvSpPr>
        <p:spPr>
          <a:xfrm>
            <a:off x="924737" y="2027630"/>
            <a:ext cx="4751680" cy="454304"/>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Fifteen questions is too few</a:t>
            </a:r>
            <a:endParaRPr lang="en-US" sz="1950" dirty="0"/>
          </a:p>
        </p:txBody>
      </p:sp>
      <p:sp>
        <p:nvSpPr>
          <p:cNvPr id="12" name="Text 10"/>
          <p:cNvSpPr/>
          <p:nvPr/>
        </p:nvSpPr>
        <p:spPr>
          <a:xfrm>
            <a:off x="924737" y="2578495"/>
            <a:ext cx="4751680" cy="1116482"/>
          </a:xfrm>
          <a:prstGeom prst="rect">
            <a:avLst/>
          </a:prstGeom>
          <a:noFill/>
          <a:ln/>
        </p:spPr>
        <p:txBody>
          <a:bodyPr wrap="square" lIns="0" tIns="0" rIns="0" bIns="0" rtlCol="0" anchor="t"/>
          <a:lstStyle/>
          <a:p>
            <a:pPr marL="0" indent="0">
              <a:lnSpc>
                <a:spcPts val="2100"/>
              </a:lnSpc>
              <a:buNone/>
            </a:pPr>
            <a:r>
              <a:rPr lang="en-US" sz="1400" dirty="0">
                <a:solidFill>
                  <a:srgbClr val="141414"/>
                </a:solidFill>
                <a:latin typeface="Arial" pitchFamily="34" charset="0"/>
                <a:ea typeface="Arial" pitchFamily="34" charset="-122"/>
                <a:cs typeface="Arial" pitchFamily="34" charset="-120"/>
              </a:rPr>
              <a:t>One question is seven percent of your score, so a single lucky answer looks like progress. Write another 30 to 50 against your own corpus.</a:t>
            </a:r>
            <a:endParaRPr lang="en-US" sz="1400" dirty="0"/>
          </a:p>
        </p:txBody>
      </p:sp>
      <p:sp>
        <p:nvSpPr>
          <p:cNvPr id="13" name="Shape 11"/>
          <p:cNvSpPr/>
          <p:nvPr/>
        </p:nvSpPr>
        <p:spPr>
          <a:xfrm>
            <a:off x="6178144" y="1827703"/>
            <a:ext cx="5227168" cy="21726"/>
          </a:xfrm>
          <a:prstGeom prst="rect">
            <a:avLst/>
          </a:prstGeom>
          <a:solidFill>
            <a:srgbClr val="141414"/>
          </a:solidFill>
          <a:ln/>
        </p:spPr>
        <p:txBody>
          <a:bodyPr/>
          <a:lstStyle/>
          <a:p>
            <a:endParaRPr lang="en-HK"/>
          </a:p>
        </p:txBody>
      </p:sp>
      <p:sp>
        <p:nvSpPr>
          <p:cNvPr id="14" name="Text 12"/>
          <p:cNvSpPr/>
          <p:nvPr/>
        </p:nvSpPr>
        <p:spPr>
          <a:xfrm>
            <a:off x="6178144" y="2020824"/>
            <a:ext cx="5227168" cy="454304"/>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Weight them where you are weak</a:t>
            </a:r>
            <a:endParaRPr lang="en-US" sz="1950" dirty="0"/>
          </a:p>
        </p:txBody>
      </p:sp>
      <p:sp>
        <p:nvSpPr>
          <p:cNvPr id="15" name="Text 13"/>
          <p:cNvSpPr/>
          <p:nvPr/>
        </p:nvSpPr>
        <p:spPr>
          <a:xfrm>
            <a:off x="6178144" y="2571689"/>
            <a:ext cx="5227168" cy="1116482"/>
          </a:xfrm>
          <a:prstGeom prst="rect">
            <a:avLst/>
          </a:prstGeom>
          <a:noFill/>
          <a:ln/>
        </p:spPr>
        <p:txBody>
          <a:bodyPr wrap="square" lIns="0" tIns="0" rIns="0" bIns="0" rtlCol="0" anchor="t"/>
          <a:lstStyle/>
          <a:p>
            <a:pPr marL="0" indent="0">
              <a:lnSpc>
                <a:spcPts val="2100"/>
              </a:lnSpc>
              <a:buNone/>
            </a:pPr>
            <a:r>
              <a:rPr lang="en-US" sz="1400" dirty="0">
                <a:solidFill>
                  <a:srgbClr val="141414"/>
                </a:solidFill>
                <a:latin typeface="Arial" pitchFamily="34" charset="0"/>
                <a:ea typeface="Arial" pitchFamily="34" charset="-122"/>
                <a:cs typeface="Arial" pitchFamily="34" charset="-120"/>
              </a:rPr>
              <a:t>There is no point writing twenty more Lv1 questions when you already answer all of them. Write for the level you score worst on.</a:t>
            </a:r>
            <a:endParaRPr lang="en-US" sz="1400" dirty="0"/>
          </a:p>
        </p:txBody>
      </p:sp>
      <p:sp>
        <p:nvSpPr>
          <p:cNvPr id="16" name="Shape 14"/>
          <p:cNvSpPr/>
          <p:nvPr/>
        </p:nvSpPr>
        <p:spPr>
          <a:xfrm>
            <a:off x="786384" y="4121018"/>
            <a:ext cx="5227168" cy="21726"/>
          </a:xfrm>
          <a:prstGeom prst="rect">
            <a:avLst/>
          </a:prstGeom>
          <a:solidFill>
            <a:srgbClr val="141414"/>
          </a:solidFill>
          <a:ln/>
        </p:spPr>
        <p:txBody>
          <a:bodyPr/>
          <a:lstStyle/>
          <a:p>
            <a:endParaRPr lang="en-HK"/>
          </a:p>
        </p:txBody>
      </p:sp>
      <p:sp>
        <p:nvSpPr>
          <p:cNvPr id="17" name="Text 15"/>
          <p:cNvSpPr/>
          <p:nvPr/>
        </p:nvSpPr>
        <p:spPr>
          <a:xfrm>
            <a:off x="786384" y="4314139"/>
            <a:ext cx="5227168" cy="454304"/>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Append, never overwrite</a:t>
            </a:r>
            <a:endParaRPr lang="en-US" sz="1950" dirty="0"/>
          </a:p>
        </p:txBody>
      </p:sp>
      <p:sp>
        <p:nvSpPr>
          <p:cNvPr id="18" name="Text 16"/>
          <p:cNvSpPr/>
          <p:nvPr/>
        </p:nvSpPr>
        <p:spPr>
          <a:xfrm>
            <a:off x="786384" y="4865004"/>
            <a:ext cx="5227168" cy="1116482"/>
          </a:xfrm>
          <a:prstGeom prst="rect">
            <a:avLst/>
          </a:prstGeom>
          <a:noFill/>
          <a:ln/>
        </p:spPr>
        <p:txBody>
          <a:bodyPr wrap="square" lIns="0" tIns="0" rIns="0" bIns="0" rtlCol="0" anchor="t"/>
          <a:lstStyle/>
          <a:p>
            <a:pPr marL="0" indent="0">
              <a:lnSpc>
                <a:spcPts val="2100"/>
              </a:lnSpc>
              <a:buNone/>
            </a:pPr>
            <a:r>
              <a:rPr lang="en-US" sz="1400" dirty="0">
                <a:solidFill>
                  <a:srgbClr val="141414"/>
                </a:solidFill>
                <a:latin typeface="Arial" pitchFamily="34" charset="0"/>
                <a:ea typeface="Arial" pitchFamily="34" charset="-122"/>
                <a:cs typeface="Arial" pitchFamily="34" charset="-120"/>
              </a:rPr>
              <a:t>One CSV row per run, with the settings. By mid-October you will want to know whether 800 with 100 overlap beat 600 with 50, and nobody remembers.</a:t>
            </a:r>
            <a:endParaRPr lang="en-US" sz="1400" dirty="0"/>
          </a:p>
        </p:txBody>
      </p:sp>
      <p:sp>
        <p:nvSpPr>
          <p:cNvPr id="19" name="Shape 17"/>
          <p:cNvSpPr/>
          <p:nvPr/>
        </p:nvSpPr>
        <p:spPr>
          <a:xfrm>
            <a:off x="6178144" y="4121018"/>
            <a:ext cx="5227168" cy="21726"/>
          </a:xfrm>
          <a:prstGeom prst="rect">
            <a:avLst/>
          </a:prstGeom>
          <a:solidFill>
            <a:srgbClr val="141414"/>
          </a:solidFill>
          <a:ln/>
        </p:spPr>
        <p:txBody>
          <a:bodyPr/>
          <a:lstStyle/>
          <a:p>
            <a:endParaRPr lang="en-HK"/>
          </a:p>
        </p:txBody>
      </p:sp>
      <p:sp>
        <p:nvSpPr>
          <p:cNvPr id="20" name="Text 18"/>
          <p:cNvSpPr/>
          <p:nvPr/>
        </p:nvSpPr>
        <p:spPr>
          <a:xfrm>
            <a:off x="6178144" y="4314139"/>
            <a:ext cx="5227168" cy="454304"/>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Keep the failures</a:t>
            </a:r>
            <a:endParaRPr lang="en-US" sz="1950" dirty="0"/>
          </a:p>
        </p:txBody>
      </p:sp>
      <p:sp>
        <p:nvSpPr>
          <p:cNvPr id="21" name="Text 19"/>
          <p:cNvSpPr/>
          <p:nvPr/>
        </p:nvSpPr>
        <p:spPr>
          <a:xfrm>
            <a:off x="6178144" y="4865004"/>
            <a:ext cx="5227168" cy="1116482"/>
          </a:xfrm>
          <a:prstGeom prst="rect">
            <a:avLst/>
          </a:prstGeom>
          <a:noFill/>
          <a:ln/>
        </p:spPr>
        <p:txBody>
          <a:bodyPr wrap="square" lIns="0" tIns="0" rIns="0" bIns="0" rtlCol="0" anchor="t"/>
          <a:lstStyle/>
          <a:p>
            <a:pPr marL="0" indent="0">
              <a:lnSpc>
                <a:spcPts val="2100"/>
              </a:lnSpc>
              <a:buNone/>
            </a:pPr>
            <a:r>
              <a:rPr lang="en-US" sz="1400" dirty="0">
                <a:solidFill>
                  <a:srgbClr val="141414"/>
                </a:solidFill>
                <a:latin typeface="Arial" pitchFamily="34" charset="0"/>
                <a:ea typeface="Arial" pitchFamily="34" charset="-122"/>
                <a:cs typeface="Arial" pitchFamily="34" charset="-120"/>
              </a:rPr>
              <a:t>Save the questions your bot gets wrong to their own file. That list is your work queue, and it is more useful than the score.</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21212"/>
        </a:solidFill>
        <a:effectLst/>
      </p:bgPr>
    </p:bg>
    <p:spTree>
      <p:nvGrpSpPr>
        <p:cNvPr id="1" name=""/>
        <p:cNvGrpSpPr/>
        <p:nvPr/>
      </p:nvGrpSpPr>
      <p:grpSpPr>
        <a:xfrm>
          <a:off x="0" y="0"/>
          <a:ext cx="0" cy="0"/>
          <a:chOff x="0" y="0"/>
          <a:chExt cx="0" cy="0"/>
        </a:xfrm>
      </p:grpSpPr>
      <p:sp>
        <p:nvSpPr>
          <p:cNvPr id="2" name="Text 0"/>
          <p:cNvSpPr/>
          <p:nvPr/>
        </p:nvSpPr>
        <p:spPr>
          <a:xfrm>
            <a:off x="8899855" y="960120"/>
            <a:ext cx="3017520" cy="3200400"/>
          </a:xfrm>
          <a:prstGeom prst="rect">
            <a:avLst/>
          </a:prstGeom>
          <a:noFill/>
          <a:ln/>
        </p:spPr>
        <p:txBody>
          <a:bodyPr wrap="square" lIns="0" tIns="0" rIns="0" bIns="0" rtlCol="0" anchor="ctr"/>
          <a:lstStyle/>
          <a:p>
            <a:pPr marL="0" indent="0" algn="r">
              <a:buNone/>
            </a:pPr>
            <a:r>
              <a:rPr lang="en-US" sz="9600" b="1" dirty="0">
                <a:solidFill>
                  <a:srgbClr val="3D3934"/>
                </a:solidFill>
                <a:latin typeface="Arial" pitchFamily="34" charset="0"/>
                <a:ea typeface="Arial" pitchFamily="34" charset="-122"/>
                <a:cs typeface="Arial" pitchFamily="34" charset="-120"/>
              </a:rPr>
              <a:t>6</a:t>
            </a:r>
            <a:endParaRPr lang="en-US" sz="9600" dirty="0"/>
          </a:p>
        </p:txBody>
      </p:sp>
      <p:sp>
        <p:nvSpPr>
          <p:cNvPr id="3" name="Text 1"/>
          <p:cNvSpPr/>
          <p:nvPr/>
        </p:nvSpPr>
        <p:spPr>
          <a:xfrm>
            <a:off x="786384" y="1975104"/>
            <a:ext cx="10618927" cy="274320"/>
          </a:xfrm>
          <a:prstGeom prst="rect">
            <a:avLst/>
          </a:prstGeom>
          <a:noFill/>
          <a:ln/>
        </p:spPr>
        <p:txBody>
          <a:bodyPr wrap="square" lIns="0" tIns="0" rIns="0" bIns="0" rtlCol="0" anchor="ctr"/>
          <a:lstStyle/>
          <a:p>
            <a:pPr marL="0" indent="0">
              <a:buNone/>
            </a:pPr>
            <a:r>
              <a:rPr lang="en-US" sz="1200" b="1" kern="0" spc="260" dirty="0">
                <a:solidFill>
                  <a:srgbClr val="C0402A"/>
                </a:solidFill>
                <a:latin typeface="Arial" pitchFamily="34" charset="0"/>
                <a:ea typeface="Arial" pitchFamily="34" charset="-122"/>
                <a:cs typeface="Arial" pitchFamily="34" charset="-120"/>
              </a:rPr>
              <a:t>BLOCK 6</a:t>
            </a:r>
            <a:endParaRPr lang="en-US" sz="1200" dirty="0"/>
          </a:p>
        </p:txBody>
      </p:sp>
      <p:sp>
        <p:nvSpPr>
          <p:cNvPr id="4" name="Shape 2"/>
          <p:cNvSpPr/>
          <p:nvPr/>
        </p:nvSpPr>
        <p:spPr>
          <a:xfrm>
            <a:off x="786384" y="2377440"/>
            <a:ext cx="1371600" cy="20117"/>
          </a:xfrm>
          <a:prstGeom prst="rect">
            <a:avLst/>
          </a:prstGeom>
          <a:solidFill>
            <a:srgbClr val="C0402A"/>
          </a:solidFill>
          <a:ln/>
        </p:spPr>
        <p:txBody>
          <a:bodyPr/>
          <a:lstStyle/>
          <a:p>
            <a:endParaRPr lang="en-HK"/>
          </a:p>
        </p:txBody>
      </p:sp>
      <p:sp>
        <p:nvSpPr>
          <p:cNvPr id="5" name="Text 3"/>
          <p:cNvSpPr/>
          <p:nvPr/>
        </p:nvSpPr>
        <p:spPr>
          <a:xfrm>
            <a:off x="786384" y="2596896"/>
            <a:ext cx="7024421" cy="1188720"/>
          </a:xfrm>
          <a:prstGeom prst="rect">
            <a:avLst/>
          </a:prstGeom>
          <a:noFill/>
          <a:ln/>
        </p:spPr>
        <p:txBody>
          <a:bodyPr wrap="square" lIns="0" tIns="0" rIns="0" bIns="0" rtlCol="0" anchor="ctr"/>
          <a:lstStyle/>
          <a:p>
            <a:pPr marL="0" indent="0">
              <a:lnSpc>
                <a:spcPts val="4000"/>
              </a:lnSpc>
              <a:buNone/>
            </a:pPr>
            <a:r>
              <a:rPr lang="en-US" sz="3600" b="1" dirty="0">
                <a:solidFill>
                  <a:srgbClr val="FAF8F5"/>
                </a:solidFill>
                <a:latin typeface="Arial" pitchFamily="34" charset="0"/>
                <a:ea typeface="Arial" pitchFamily="34" charset="-122"/>
                <a:cs typeface="Arial" pitchFamily="34" charset="-120"/>
              </a:rPr>
              <a:t>Report Back</a:t>
            </a:r>
            <a:endParaRPr lang="en-US" sz="3600" dirty="0"/>
          </a:p>
        </p:txBody>
      </p:sp>
      <p:sp>
        <p:nvSpPr>
          <p:cNvPr id="6" name="Text 4"/>
          <p:cNvSpPr/>
          <p:nvPr/>
        </p:nvSpPr>
        <p:spPr>
          <a:xfrm>
            <a:off x="786384" y="3895344"/>
            <a:ext cx="6125794" cy="822960"/>
          </a:xfrm>
          <a:prstGeom prst="rect">
            <a:avLst/>
          </a:prstGeom>
          <a:noFill/>
          <a:ln/>
        </p:spPr>
        <p:txBody>
          <a:bodyPr wrap="square" lIns="0" tIns="0" rIns="0" bIns="0" rtlCol="0" anchor="ctr"/>
          <a:lstStyle/>
          <a:p>
            <a:pPr marL="0" indent="0">
              <a:lnSpc>
                <a:spcPts val="2300"/>
              </a:lnSpc>
              <a:buNone/>
            </a:pPr>
            <a:r>
              <a:rPr lang="en-US" sz="1750" dirty="0">
                <a:solidFill>
                  <a:srgbClr val="A8A39B"/>
                </a:solidFill>
                <a:latin typeface="Arial" pitchFamily="34" charset="0"/>
                <a:ea typeface="Arial" pitchFamily="34" charset="-122"/>
                <a:cs typeface="Arial" pitchFamily="34" charset="-120"/>
              </a:rPr>
              <a:t>Three teams report, two minutes each. Then the tasks for the next two weeks.</a:t>
            </a:r>
            <a:endParaRPr lang="en-US" sz="1750" dirty="0"/>
          </a:p>
        </p:txBody>
      </p:sp>
      <p:sp>
        <p:nvSpPr>
          <p:cNvPr id="7" name="Text 5"/>
          <p:cNvSpPr/>
          <p:nvPr/>
        </p:nvSpPr>
        <p:spPr>
          <a:xfrm>
            <a:off x="9210751" y="5358384"/>
            <a:ext cx="2194560" cy="310896"/>
          </a:xfrm>
          <a:prstGeom prst="rect">
            <a:avLst/>
          </a:prstGeom>
          <a:noFill/>
          <a:ln/>
        </p:spPr>
        <p:txBody>
          <a:bodyPr wrap="square" lIns="0" tIns="0" rIns="0" bIns="0" rtlCol="0" anchor="ctr"/>
          <a:lstStyle/>
          <a:p>
            <a:pPr marL="0" indent="0" algn="r">
              <a:buNone/>
            </a:pPr>
            <a:r>
              <a:rPr lang="en-US" sz="1450" b="1" kern="0" spc="180" dirty="0">
                <a:solidFill>
                  <a:srgbClr val="C0402A"/>
                </a:solidFill>
                <a:latin typeface="Arial" pitchFamily="34" charset="0"/>
                <a:ea typeface="Arial" pitchFamily="34" charset="-122"/>
                <a:cs typeface="Arial" pitchFamily="34" charset="-120"/>
              </a:rPr>
              <a:t>10 MIN</a:t>
            </a:r>
            <a:endParaRPr lang="en-US" sz="1450" dirty="0"/>
          </a:p>
        </p:txBody>
      </p:sp>
      <p:sp>
        <p:nvSpPr>
          <p:cNvPr id="8" name="Text 6"/>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56534E"/>
                </a:solidFill>
                <a:latin typeface="Arial" pitchFamily="34" charset="0"/>
                <a:ea typeface="Arial" pitchFamily="34" charset="-122"/>
                <a:cs typeface="Arial" pitchFamily="34" charset="-120"/>
              </a:rPr>
              <a:t>36</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75488"/>
            <a:ext cx="9720301"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Before Workshop 2</a:t>
            </a:r>
            <a:endParaRPr lang="en-US" sz="2900" dirty="0"/>
          </a:p>
        </p:txBody>
      </p:sp>
      <p:sp>
        <p:nvSpPr>
          <p:cNvPr id="3" name="Shape 1"/>
          <p:cNvSpPr/>
          <p:nvPr/>
        </p:nvSpPr>
        <p:spPr>
          <a:xfrm>
            <a:off x="786384" y="1207008"/>
            <a:ext cx="10618927" cy="10973"/>
          </a:xfrm>
          <a:prstGeom prst="rect">
            <a:avLst/>
          </a:prstGeom>
          <a:solidFill>
            <a:srgbClr val="D5D1CA"/>
          </a:solidFill>
          <a:ln/>
        </p:spPr>
        <p:txBody>
          <a:bodyPr/>
          <a:lstStyle/>
          <a:p>
            <a:endParaRPr lang="en-HK"/>
          </a:p>
        </p:txBody>
      </p:sp>
      <p:sp>
        <p:nvSpPr>
          <p:cNvPr id="4" name="Text 2"/>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37</a:t>
            </a:r>
            <a:endParaRPr lang="en-US" sz="1200" dirty="0"/>
          </a:p>
        </p:txBody>
      </p:sp>
      <p:sp>
        <p:nvSpPr>
          <p:cNvPr id="5" name="Shape 3"/>
          <p:cNvSpPr/>
          <p:nvPr/>
        </p:nvSpPr>
        <p:spPr>
          <a:xfrm>
            <a:off x="786384" y="1622210"/>
            <a:ext cx="5163160" cy="20061"/>
          </a:xfrm>
          <a:prstGeom prst="rect">
            <a:avLst/>
          </a:prstGeom>
          <a:solidFill>
            <a:srgbClr val="141414"/>
          </a:solidFill>
          <a:ln/>
        </p:spPr>
        <p:txBody>
          <a:bodyPr/>
          <a:lstStyle/>
          <a:p>
            <a:endParaRPr lang="en-HK"/>
          </a:p>
        </p:txBody>
      </p:sp>
      <p:sp>
        <p:nvSpPr>
          <p:cNvPr id="6" name="Text 4"/>
          <p:cNvSpPr/>
          <p:nvPr/>
        </p:nvSpPr>
        <p:spPr>
          <a:xfrm>
            <a:off x="786384" y="1800529"/>
            <a:ext cx="5163160" cy="419482"/>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By 23 September</a:t>
            </a:r>
            <a:endParaRPr lang="en-US" sz="1950" dirty="0"/>
          </a:p>
        </p:txBody>
      </p:sp>
      <p:sp>
        <p:nvSpPr>
          <p:cNvPr id="7" name="Text 5"/>
          <p:cNvSpPr/>
          <p:nvPr/>
        </p:nvSpPr>
        <p:spPr>
          <a:xfrm>
            <a:off x="786384" y="2309171"/>
            <a:ext cx="5163160" cy="1077342"/>
          </a:xfrm>
          <a:prstGeom prst="rect">
            <a:avLst/>
          </a:prstGeom>
          <a:noFill/>
          <a:ln/>
        </p:spPr>
        <p:txBody>
          <a:bodyPr wrap="square" lIns="0" tIns="0" rIns="0" bIns="0" rtlCol="0" anchor="t"/>
          <a:lstStyle/>
          <a:p>
            <a:pPr marL="0" indent="0">
              <a:lnSpc>
                <a:spcPts val="2200"/>
              </a:lnSpc>
              <a:buNone/>
            </a:pPr>
            <a:r>
              <a:rPr lang="en-US" sz="1500" dirty="0">
                <a:solidFill>
                  <a:srgbClr val="141414"/>
                </a:solidFill>
                <a:latin typeface="Arial" pitchFamily="34" charset="0"/>
                <a:ea typeface="Arial" pitchFamily="34" charset="-122"/>
                <a:cs typeface="Arial" pitchFamily="34" charset="-120"/>
              </a:rPr>
              <a:t>Write your own scraper, run it against both websites, and build your own index from the result. Score above zero on Lv1 and Lv2 with it.</a:t>
            </a:r>
            <a:endParaRPr lang="en-US" sz="1500" dirty="0"/>
          </a:p>
        </p:txBody>
      </p:sp>
      <p:sp>
        <p:nvSpPr>
          <p:cNvPr id="9" name="Shape 7"/>
          <p:cNvSpPr/>
          <p:nvPr/>
        </p:nvSpPr>
        <p:spPr>
          <a:xfrm>
            <a:off x="6479896" y="1642271"/>
            <a:ext cx="4687672" cy="26748"/>
          </a:xfrm>
          <a:prstGeom prst="rect">
            <a:avLst/>
          </a:prstGeom>
          <a:solidFill>
            <a:srgbClr val="C0402A"/>
          </a:solidFill>
          <a:ln/>
        </p:spPr>
        <p:txBody>
          <a:bodyPr/>
          <a:lstStyle/>
          <a:p>
            <a:endParaRPr lang="en-HK"/>
          </a:p>
        </p:txBody>
      </p:sp>
      <p:sp>
        <p:nvSpPr>
          <p:cNvPr id="10" name="Text 8"/>
          <p:cNvSpPr/>
          <p:nvPr/>
        </p:nvSpPr>
        <p:spPr>
          <a:xfrm>
            <a:off x="6479896" y="1820590"/>
            <a:ext cx="4687672" cy="419482"/>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By 30 September</a:t>
            </a:r>
            <a:endParaRPr lang="en-US" sz="1950" dirty="0"/>
          </a:p>
        </p:txBody>
      </p:sp>
      <p:sp>
        <p:nvSpPr>
          <p:cNvPr id="11" name="Text 9"/>
          <p:cNvSpPr/>
          <p:nvPr/>
        </p:nvSpPr>
        <p:spPr>
          <a:xfrm>
            <a:off x="6479896" y="2329232"/>
            <a:ext cx="4687672" cy="1077342"/>
          </a:xfrm>
          <a:prstGeom prst="rect">
            <a:avLst/>
          </a:prstGeom>
          <a:noFill/>
          <a:ln/>
        </p:spPr>
        <p:txBody>
          <a:bodyPr wrap="square" lIns="0" tIns="0" rIns="0" bIns="0" rtlCol="0" anchor="t"/>
          <a:lstStyle/>
          <a:p>
            <a:pPr marL="0" indent="0">
              <a:lnSpc>
                <a:spcPts val="2200"/>
              </a:lnSpc>
              <a:buNone/>
            </a:pPr>
            <a:r>
              <a:rPr lang="en-US" sz="1500" dirty="0">
                <a:solidFill>
                  <a:srgbClr val="141414"/>
                </a:solidFill>
                <a:latin typeface="Arial" pitchFamily="34" charset="0"/>
                <a:ea typeface="Arial" pitchFamily="34" charset="-122"/>
                <a:cs typeface="Arial" pitchFamily="34" charset="-120"/>
              </a:rPr>
              <a:t>Try to get your bot answering questions whose answer is only in an image. No method is given, and you are not expected to succeed.</a:t>
            </a:r>
            <a:endParaRPr lang="en-US" sz="1500" dirty="0"/>
          </a:p>
        </p:txBody>
      </p:sp>
      <p:sp>
        <p:nvSpPr>
          <p:cNvPr id="12" name="Text 10"/>
          <p:cNvSpPr/>
          <p:nvPr/>
        </p:nvSpPr>
        <p:spPr>
          <a:xfrm>
            <a:off x="786384" y="4252412"/>
            <a:ext cx="9769413" cy="1003043"/>
          </a:xfrm>
          <a:prstGeom prst="rect">
            <a:avLst/>
          </a:prstGeom>
          <a:noFill/>
          <a:ln/>
        </p:spPr>
        <p:txBody>
          <a:bodyPr wrap="square" lIns="0" tIns="0" rIns="0" bIns="0" rtlCol="0" anchor="ctr"/>
          <a:lstStyle/>
          <a:p>
            <a:pPr marL="0" indent="0">
              <a:lnSpc>
                <a:spcPts val="2400"/>
              </a:lnSpc>
              <a:buNone/>
            </a:pPr>
            <a:r>
              <a:rPr lang="en-US" sz="1600" dirty="0">
                <a:solidFill>
                  <a:srgbClr val="141414"/>
                </a:solidFill>
                <a:latin typeface="Arial" pitchFamily="34" charset="0"/>
                <a:ea typeface="Arial" pitchFamily="34" charset="-122"/>
                <a:cs typeface="Arial" pitchFamily="34" charset="-120"/>
              </a:rPr>
              <a:t>Workshop 2 starts with three teams describing what they tried and where it broke, then a lab working out why. Both need you to have attempted it, so a failed attempt is more useful than no attempt.</a:t>
            </a:r>
            <a:endParaRPr lang="en-US" sz="1600" dirty="0"/>
          </a:p>
        </p:txBody>
      </p:sp>
      <p:sp>
        <p:nvSpPr>
          <p:cNvPr id="13" name="Text 11"/>
          <p:cNvSpPr/>
          <p:nvPr/>
        </p:nvSpPr>
        <p:spPr>
          <a:xfrm>
            <a:off x="786384" y="5366904"/>
            <a:ext cx="9769413" cy="869304"/>
          </a:xfrm>
          <a:prstGeom prst="rect">
            <a:avLst/>
          </a:prstGeom>
          <a:noFill/>
          <a:ln/>
        </p:spPr>
        <p:txBody>
          <a:bodyPr wrap="square" lIns="0" tIns="0" rIns="0" bIns="0" rtlCol="0" anchor="ctr"/>
          <a:lstStyle/>
          <a:p>
            <a:pPr marL="0" indent="0">
              <a:lnSpc>
                <a:spcPts val="2200"/>
              </a:lnSpc>
              <a:buNone/>
            </a:pPr>
            <a:r>
              <a:rPr lang="en-US" sz="1550" dirty="0">
                <a:solidFill>
                  <a:srgbClr val="6E6A63"/>
                </a:solidFill>
                <a:latin typeface="Arial" pitchFamily="34" charset="0"/>
                <a:ea typeface="Arial" pitchFamily="34" charset="-122"/>
                <a:cs typeface="Arial" pitchFamily="34" charset="-120"/>
              </a:rPr>
              <a:t>Readings are tagged by level in the notes. If the embedding section was unclear, start with the 3Blue1Brown video, chapter 5 of the Deep Learning series.</a:t>
            </a:r>
            <a:endParaRPr lang="en-US" sz="15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75488"/>
            <a:ext cx="9720301"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Open Lab</a:t>
            </a:r>
            <a:endParaRPr lang="en-US" sz="2900" dirty="0"/>
          </a:p>
        </p:txBody>
      </p:sp>
      <p:sp>
        <p:nvSpPr>
          <p:cNvPr id="3" name="Shape 1"/>
          <p:cNvSpPr/>
          <p:nvPr/>
        </p:nvSpPr>
        <p:spPr>
          <a:xfrm>
            <a:off x="786384" y="1207008"/>
            <a:ext cx="10618927" cy="10973"/>
          </a:xfrm>
          <a:prstGeom prst="rect">
            <a:avLst/>
          </a:prstGeom>
          <a:solidFill>
            <a:srgbClr val="D5D1CA"/>
          </a:solidFill>
          <a:ln/>
        </p:spPr>
        <p:txBody>
          <a:bodyPr/>
          <a:lstStyle/>
          <a:p>
            <a:endParaRPr lang="en-HK"/>
          </a:p>
        </p:txBody>
      </p:sp>
      <p:sp>
        <p:nvSpPr>
          <p:cNvPr id="4" name="Text 2"/>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38</a:t>
            </a:r>
            <a:endParaRPr lang="en-US" sz="1200" dirty="0"/>
          </a:p>
        </p:txBody>
      </p:sp>
      <p:sp>
        <p:nvSpPr>
          <p:cNvPr id="5" name="Text 3"/>
          <p:cNvSpPr/>
          <p:nvPr/>
        </p:nvSpPr>
        <p:spPr>
          <a:xfrm>
            <a:off x="786384" y="1680667"/>
            <a:ext cx="9344656" cy="1207008"/>
          </a:xfrm>
          <a:prstGeom prst="rect">
            <a:avLst/>
          </a:prstGeom>
          <a:noFill/>
          <a:ln/>
        </p:spPr>
        <p:txBody>
          <a:bodyPr wrap="square" lIns="0" tIns="0" rIns="0" bIns="0" rtlCol="0" anchor="ctr"/>
          <a:lstStyle/>
          <a:p>
            <a:pPr marL="0" indent="0">
              <a:lnSpc>
                <a:spcPts val="2600"/>
              </a:lnSpc>
              <a:buNone/>
            </a:pPr>
            <a:r>
              <a:rPr lang="en-US" sz="1700" dirty="0">
                <a:solidFill>
                  <a:srgbClr val="141414"/>
                </a:solidFill>
                <a:latin typeface="Arial" pitchFamily="34" charset="0"/>
                <a:ea typeface="Arial" pitchFamily="34" charset="-122"/>
                <a:cs typeface="Arial" pitchFamily="34" charset="-120"/>
              </a:rPr>
              <a:t>Thirty minutes, immediately after this session. Mentors stay in the room. Nothing here is compulsory and no new material is covered, so you can leave on the hour.</a:t>
            </a:r>
            <a:endParaRPr lang="en-US" sz="1700" dirty="0"/>
          </a:p>
        </p:txBody>
      </p:sp>
      <p:sp>
        <p:nvSpPr>
          <p:cNvPr id="6" name="Shape 4"/>
          <p:cNvSpPr/>
          <p:nvPr/>
        </p:nvSpPr>
        <p:spPr>
          <a:xfrm>
            <a:off x="786384" y="3411718"/>
            <a:ext cx="155448" cy="24140"/>
          </a:xfrm>
          <a:prstGeom prst="rect">
            <a:avLst/>
          </a:prstGeom>
          <a:solidFill>
            <a:srgbClr val="C0402A"/>
          </a:solidFill>
          <a:ln/>
        </p:spPr>
        <p:txBody>
          <a:bodyPr/>
          <a:lstStyle/>
          <a:p>
            <a:endParaRPr lang="en-HK"/>
          </a:p>
        </p:txBody>
      </p:sp>
      <p:sp>
        <p:nvSpPr>
          <p:cNvPr id="7" name="Text 5"/>
          <p:cNvSpPr/>
          <p:nvPr/>
        </p:nvSpPr>
        <p:spPr>
          <a:xfrm>
            <a:off x="1097280" y="3249778"/>
            <a:ext cx="9246138" cy="457992"/>
          </a:xfrm>
          <a:prstGeom prst="rect">
            <a:avLst/>
          </a:prstGeom>
          <a:noFill/>
          <a:ln/>
        </p:spPr>
        <p:txBody>
          <a:bodyPr wrap="square" lIns="0" tIns="0" rIns="0" bIns="0" rtlCol="0" anchor="t"/>
          <a:lstStyle/>
          <a:p>
            <a:pPr marL="0" indent="0">
              <a:lnSpc>
                <a:spcPts val="2300"/>
              </a:lnSpc>
              <a:buNone/>
            </a:pPr>
            <a:r>
              <a:rPr lang="en-US" sz="1600" dirty="0">
                <a:solidFill>
                  <a:srgbClr val="141414"/>
                </a:solidFill>
                <a:latin typeface="Arial" pitchFamily="34" charset="0"/>
                <a:ea typeface="Arial" pitchFamily="34" charset="-122"/>
                <a:cs typeface="Arial" pitchFamily="34" charset="-120"/>
              </a:rPr>
              <a:t>Finish the block 5 loop if you did not complete all five steps.</a:t>
            </a:r>
            <a:endParaRPr lang="en-US" sz="1600" dirty="0"/>
          </a:p>
        </p:txBody>
      </p:sp>
      <p:sp>
        <p:nvSpPr>
          <p:cNvPr id="8" name="Shape 6"/>
          <p:cNvSpPr/>
          <p:nvPr/>
        </p:nvSpPr>
        <p:spPr>
          <a:xfrm>
            <a:off x="786384" y="4015222"/>
            <a:ext cx="155448" cy="24140"/>
          </a:xfrm>
          <a:prstGeom prst="rect">
            <a:avLst/>
          </a:prstGeom>
          <a:solidFill>
            <a:srgbClr val="C0402A"/>
          </a:solidFill>
          <a:ln/>
        </p:spPr>
        <p:txBody>
          <a:bodyPr/>
          <a:lstStyle/>
          <a:p>
            <a:endParaRPr lang="en-HK"/>
          </a:p>
        </p:txBody>
      </p:sp>
      <p:sp>
        <p:nvSpPr>
          <p:cNvPr id="9" name="Text 7"/>
          <p:cNvSpPr/>
          <p:nvPr/>
        </p:nvSpPr>
        <p:spPr>
          <a:xfrm>
            <a:off x="1097280" y="3853282"/>
            <a:ext cx="9246138" cy="457992"/>
          </a:xfrm>
          <a:prstGeom prst="rect">
            <a:avLst/>
          </a:prstGeom>
          <a:noFill/>
          <a:ln/>
        </p:spPr>
        <p:txBody>
          <a:bodyPr wrap="square" lIns="0" tIns="0" rIns="0" bIns="0" rtlCol="0" anchor="t"/>
          <a:lstStyle/>
          <a:p>
            <a:pPr marL="0" indent="0">
              <a:lnSpc>
                <a:spcPts val="2300"/>
              </a:lnSpc>
              <a:buNone/>
            </a:pPr>
            <a:r>
              <a:rPr lang="en-US" sz="1600" dirty="0">
                <a:solidFill>
                  <a:srgbClr val="141414"/>
                </a:solidFill>
                <a:latin typeface="Arial" pitchFamily="34" charset="0"/>
                <a:ea typeface="Arial" pitchFamily="34" charset="-122"/>
                <a:cs typeface="Arial" pitchFamily="34" charset="-120"/>
              </a:rPr>
              <a:t>Start writing your scraper, with a mentor nearby when it breaks.</a:t>
            </a:r>
            <a:endParaRPr lang="en-US" sz="1600" dirty="0"/>
          </a:p>
        </p:txBody>
      </p:sp>
      <p:sp>
        <p:nvSpPr>
          <p:cNvPr id="10" name="Shape 8"/>
          <p:cNvSpPr/>
          <p:nvPr/>
        </p:nvSpPr>
        <p:spPr>
          <a:xfrm>
            <a:off x="786384" y="4618726"/>
            <a:ext cx="155448" cy="24140"/>
          </a:xfrm>
          <a:prstGeom prst="rect">
            <a:avLst/>
          </a:prstGeom>
          <a:solidFill>
            <a:srgbClr val="C0402A"/>
          </a:solidFill>
          <a:ln/>
        </p:spPr>
        <p:txBody>
          <a:bodyPr/>
          <a:lstStyle/>
          <a:p>
            <a:endParaRPr lang="en-HK"/>
          </a:p>
        </p:txBody>
      </p:sp>
      <p:sp>
        <p:nvSpPr>
          <p:cNvPr id="11" name="Text 9"/>
          <p:cNvSpPr/>
          <p:nvPr/>
        </p:nvSpPr>
        <p:spPr>
          <a:xfrm>
            <a:off x="1097280" y="4456786"/>
            <a:ext cx="9246138" cy="457992"/>
          </a:xfrm>
          <a:prstGeom prst="rect">
            <a:avLst/>
          </a:prstGeom>
          <a:noFill/>
          <a:ln/>
        </p:spPr>
        <p:txBody>
          <a:bodyPr wrap="square" lIns="0" tIns="0" rIns="0" bIns="0" rtlCol="0" anchor="t"/>
          <a:lstStyle/>
          <a:p>
            <a:pPr marL="0" indent="0">
              <a:lnSpc>
                <a:spcPts val="2300"/>
              </a:lnSpc>
              <a:buNone/>
            </a:pPr>
            <a:r>
              <a:rPr lang="en-US" sz="1600" dirty="0">
                <a:solidFill>
                  <a:srgbClr val="141414"/>
                </a:solidFill>
                <a:latin typeface="Arial" pitchFamily="34" charset="0"/>
                <a:ea typeface="Arial" pitchFamily="34" charset="-122"/>
                <a:cs typeface="Arial" pitchFamily="34" charset="-120"/>
              </a:rPr>
              <a:t>Ask about anything from the Extended sections that you want to try.</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5380</Words>
  <Application>Microsoft Office PowerPoint</Application>
  <PresentationFormat>Widescreen</PresentationFormat>
  <Paragraphs>599</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Chatbot Challenge 2026: Workshop 1</dc:title>
  <dc:subject>PptxGenJS Presentation</dc:subject>
  <dc:creator>Tam Wing Fan Innovation Wing</dc:creator>
  <cp:lastModifiedBy>Akshay Thanipet Padmanabhan</cp:lastModifiedBy>
  <cp:revision>2</cp:revision>
  <dcterms:created xsi:type="dcterms:W3CDTF">2026-09-16T06:41:32Z</dcterms:created>
  <dcterms:modified xsi:type="dcterms:W3CDTF">2026-09-16T06:48:52Z</dcterms:modified>
</cp:coreProperties>
</file>