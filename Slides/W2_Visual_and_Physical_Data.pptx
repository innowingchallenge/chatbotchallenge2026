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Lst>
  <p:notesMasterIdLst>
    <p:notesMasterId r:id="rId3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notesMaster" Target="notesMasters/notesMaster1.xml"/><Relationship Id="rId34" Type="http://schemas.openxmlformats.org/officeDocument/2006/relationships/presProps" Target="presProps.xml"/><Relationship Id="rId35" Type="http://schemas.openxmlformats.org/officeDocument/2006/relationships/viewProps" Target="viewProps.xml"/><Relationship Id="rId36" Type="http://schemas.openxmlformats.org/officeDocument/2006/relationships/theme" Target="theme/theme1.xml"/><Relationship Id="rId3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of the five blocks are labs. Teams should have their own bots running. If a team has nothing working, put them with a mentor in block 1 rather than letting them watch.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Pick the three teams during the break beforehand, not on the spot. Choose one that got something working and two that failed differently.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Keep this to a gloss. It exists so the verbatim instruction in block 3 and the OCR suggestion both make sense rather than sounding arbitrary.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2 is the one to enforce. Teams want to index immediately and then wonder why the score did not move.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this land before offering the fix. It reframes Lv4 from a hard retrieval problem to a different kind of problem.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AF8F5"/>
        </a:solidFill>
      </p:bgPr>
    </p:bg>
    <p:spTree>
      <p:nvGrpSpPr>
        <p:cNvPr id="1" name=""/>
        <p:cNvGrpSpPr/>
        <p:nvPr/>
      </p:nvGrpSpPr>
      <p:grpSpPr>
        <a:xfrm>
          <a:off x="0" y="0"/>
          <a:ext cx="0" cy="0"/>
          <a:chOff x="0" y="0"/>
          <a:chExt cx="0" cy="0"/>
        </a:xfrm>
      </p:grpSpPr>
      <p:sp>
        <p:nvSpPr>
          <p:cNvPr id="2" name="Shape 0"/>
          <p:cNvSpPr/>
          <p:nvPr/>
        </p:nvSpPr>
        <p:spPr>
          <a:xfrm>
            <a:off x="0" y="0"/>
            <a:ext cx="274320" cy="6858000"/>
          </a:xfrm>
          <a:prstGeom prst="rect">
            <a:avLst/>
          </a:prstGeom>
          <a:solidFill>
            <a:srgbClr val="C0402A"/>
          </a:solidFill>
          <a:ln/>
        </p:spPr>
      </p:sp>
      <p:sp>
        <p:nvSpPr>
          <p:cNvPr id="3" name="Text 1"/>
          <p:cNvSpPr/>
          <p:nvPr/>
        </p:nvSpPr>
        <p:spPr>
          <a:xfrm>
            <a:off x="786384" y="1051560"/>
            <a:ext cx="10618927" cy="274320"/>
          </a:xfrm>
          <a:prstGeom prst="rect">
            <a:avLst/>
          </a:prstGeom>
          <a:noFill/>
          <a:ln/>
        </p:spPr>
        <p:txBody>
          <a:bodyPr wrap="square" lIns="0" tIns="0" rIns="0" bIns="0" rtlCol="0" anchor="ctr"/>
          <a:lstStyle/>
          <a:p>
            <a:pPr indent="0" marL="0">
              <a:buNone/>
            </a:pPr>
            <a:r>
              <a:rPr lang="en-US" sz="1200" b="1" spc="260" kern="0" dirty="0">
                <a:solidFill>
                  <a:srgbClr val="6E6A63"/>
                </a:solidFill>
                <a:latin typeface="Arial" pitchFamily="34" charset="0"/>
                <a:ea typeface="Arial" pitchFamily="34" charset="-122"/>
                <a:cs typeface="Arial" pitchFamily="34" charset="-120"/>
              </a:rPr>
              <a:t>WORKSHOP 2  ·  30 SEPTEMBER  ·  90 MINUTES</a:t>
            </a:r>
            <a:endParaRPr lang="en-US" sz="1200" dirty="0"/>
          </a:p>
        </p:txBody>
      </p:sp>
      <p:sp>
        <p:nvSpPr>
          <p:cNvPr id="4" name="Shape 2"/>
          <p:cNvSpPr/>
          <p:nvPr/>
        </p:nvSpPr>
        <p:spPr>
          <a:xfrm>
            <a:off x="786384" y="1444752"/>
            <a:ext cx="10618927" cy="10973"/>
          </a:xfrm>
          <a:prstGeom prst="rect">
            <a:avLst/>
          </a:prstGeom>
          <a:solidFill>
            <a:srgbClr val="D5D1CA"/>
          </a:solidFill>
          <a:ln/>
        </p:spPr>
      </p:sp>
      <p:sp>
        <p:nvSpPr>
          <p:cNvPr id="5" name="Text 3"/>
          <p:cNvSpPr/>
          <p:nvPr/>
        </p:nvSpPr>
        <p:spPr>
          <a:xfrm>
            <a:off x="786384" y="1719072"/>
            <a:ext cx="7923047" cy="1737360"/>
          </a:xfrm>
          <a:prstGeom prst="rect">
            <a:avLst/>
          </a:prstGeom>
          <a:noFill/>
          <a:ln/>
        </p:spPr>
        <p:txBody>
          <a:bodyPr wrap="square" lIns="0" tIns="0" rIns="0" bIns="0" rtlCol="0" anchor="ctr"/>
          <a:lstStyle/>
          <a:p>
            <a:pPr indent="0" marL="0">
              <a:lnSpc>
                <a:spcPts val="5000"/>
              </a:lnSpc>
              <a:buNone/>
            </a:pPr>
            <a:r>
              <a:rPr lang="en-US" sz="4800" b="1" dirty="0">
                <a:solidFill>
                  <a:srgbClr val="141414"/>
                </a:solidFill>
                <a:latin typeface="Arial" pitchFamily="34" charset="0"/>
                <a:ea typeface="Arial" pitchFamily="34" charset="-122"/>
                <a:cs typeface="Arial" pitchFamily="34" charset="-120"/>
              </a:rPr>
              <a:t>Visual &amp; Physical Data</a:t>
            </a:r>
            <a:endParaRPr lang="en-US" sz="4800" dirty="0"/>
          </a:p>
        </p:txBody>
      </p:sp>
      <p:sp>
        <p:nvSpPr>
          <p:cNvPr id="6" name="Text 4"/>
          <p:cNvSpPr/>
          <p:nvPr/>
        </p:nvSpPr>
        <p:spPr>
          <a:xfrm>
            <a:off x="786384" y="3703320"/>
            <a:ext cx="6125794" cy="914400"/>
          </a:xfrm>
          <a:prstGeom prst="rect">
            <a:avLst/>
          </a:prstGeom>
          <a:noFill/>
          <a:ln/>
        </p:spPr>
        <p:txBody>
          <a:bodyPr wrap="square" lIns="0" tIns="0" rIns="0" bIns="0" rtlCol="0" anchor="ctr"/>
          <a:lstStyle/>
          <a:p>
            <a:pPr indent="0" marL="0">
              <a:lnSpc>
                <a:spcPts val="2500"/>
              </a:lnSpc>
              <a:buNone/>
            </a:pPr>
            <a:r>
              <a:rPr lang="en-US" sz="1950" dirty="0">
                <a:solidFill>
                  <a:srgbClr val="6E6A63"/>
                </a:solidFill>
                <a:latin typeface="Arial" pitchFamily="34" charset="0"/>
                <a:ea typeface="Arial" pitchFamily="34" charset="-122"/>
                <a:cs typeface="Arial" pitchFamily="34" charset="-120"/>
              </a:rPr>
              <a:t>Levels 3, 4 and 5. Images, multi-step reasoning, and data you collect yourself.</a:t>
            </a:r>
            <a:endParaRPr lang="en-US" sz="1950" dirty="0"/>
          </a:p>
        </p:txBody>
      </p:sp>
      <p:sp>
        <p:nvSpPr>
          <p:cNvPr id="7" name="Shape 5"/>
          <p:cNvSpPr/>
          <p:nvPr/>
        </p:nvSpPr>
        <p:spPr>
          <a:xfrm>
            <a:off x="786384" y="5760720"/>
            <a:ext cx="10618927" cy="10973"/>
          </a:xfrm>
          <a:prstGeom prst="rect">
            <a:avLst/>
          </a:prstGeom>
          <a:solidFill>
            <a:srgbClr val="D5D1CA"/>
          </a:solidFill>
          <a:ln/>
        </p:spPr>
      </p:sp>
      <p:sp>
        <p:nvSpPr>
          <p:cNvPr id="8" name="Text 6"/>
          <p:cNvSpPr/>
          <p:nvPr/>
        </p:nvSpPr>
        <p:spPr>
          <a:xfrm>
            <a:off x="786384" y="5907024"/>
            <a:ext cx="10618927" cy="274320"/>
          </a:xfrm>
          <a:prstGeom prst="rect">
            <a:avLst/>
          </a:prstGeom>
          <a:noFill/>
          <a:ln/>
        </p:spPr>
        <p:txBody>
          <a:bodyPr wrap="square" lIns="0" tIns="0" rIns="0" bIns="0" rtlCol="0" anchor="ctr"/>
          <a:lstStyle/>
          <a:p>
            <a:pPr indent="0" marL="0">
              <a:buNone/>
            </a:pPr>
            <a:r>
              <a:rPr lang="en-US" sz="1450" dirty="0">
                <a:solidFill>
                  <a:srgbClr val="9C978E"/>
                </a:solidFill>
                <a:latin typeface="Arial" pitchFamily="34" charset="0"/>
                <a:ea typeface="Arial" pitchFamily="34" charset="-122"/>
                <a:cs typeface="Arial" pitchFamily="34" charset="-120"/>
              </a:rPr>
              <a:t>Chatbot Challenge 2026  ·  Open lab for 30 minutes afterwards</a:t>
            </a:r>
            <a:endParaRPr lang="en-US" sz="14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AF8F5"/>
        </a:solidFill>
      </p:bgPr>
    </p:bg>
    <p:spTree>
      <p:nvGrpSpPr>
        <p:cNvPr id="1" name=""/>
        <p:cNvGrpSpPr/>
        <p:nvPr/>
      </p:nvGrpSpPr>
      <p:grpSpPr>
        <a:xfrm>
          <a:off x="0" y="0"/>
          <a:ext cx="0" cy="0"/>
          <a:chOff x="0" y="0"/>
          <a:chExt cx="0" cy="0"/>
        </a:xfrm>
      </p:grpSpPr>
      <p:sp>
        <p:nvSpPr>
          <p:cNvPr id="2" name="Text 0"/>
          <p:cNvSpPr/>
          <p:nvPr/>
        </p:nvSpPr>
        <p:spPr>
          <a:xfrm>
            <a:off x="786384" y="475488"/>
            <a:ext cx="9720301" cy="676656"/>
          </a:xfrm>
          <a:prstGeom prst="rect">
            <a:avLst/>
          </a:prstGeom>
          <a:noFill/>
          <a:ln/>
        </p:spPr>
        <p:txBody>
          <a:bodyPr wrap="square" lIns="0" tIns="0" rIns="0" bIns="0" rtlCol="0" anchor="ctr"/>
          <a:lstStyle/>
          <a:p>
            <a:pPr indent="0" marL="0">
              <a:buNone/>
            </a:pPr>
            <a:r>
              <a:rPr lang="en-US" sz="2900" b="1" dirty="0">
                <a:solidFill>
                  <a:srgbClr val="141414"/>
                </a:solidFill>
                <a:latin typeface="Arial" pitchFamily="34" charset="0"/>
                <a:ea typeface="Arial" pitchFamily="34" charset="-122"/>
                <a:cs typeface="Arial" pitchFamily="34" charset="-120"/>
              </a:rPr>
              <a:t>Today's Session</a:t>
            </a:r>
            <a:endParaRPr lang="en-US" sz="2900" dirty="0"/>
          </a:p>
        </p:txBody>
      </p:sp>
      <p:sp>
        <p:nvSpPr>
          <p:cNvPr id="3" name="Shape 1"/>
          <p:cNvSpPr/>
          <p:nvPr/>
        </p:nvSpPr>
        <p:spPr>
          <a:xfrm>
            <a:off x="786384" y="1207008"/>
            <a:ext cx="10618927" cy="10973"/>
          </a:xfrm>
          <a:prstGeom prst="rect">
            <a:avLst/>
          </a:prstGeom>
          <a:solidFill>
            <a:srgbClr val="D5D1CA"/>
          </a:solidFill>
          <a:ln/>
        </p:spPr>
      </p:sp>
      <p:sp>
        <p:nvSpPr>
          <p:cNvPr id="4" name="Text 2"/>
          <p:cNvSpPr/>
          <p:nvPr/>
        </p:nvSpPr>
        <p:spPr>
          <a:xfrm>
            <a:off x="10490911" y="6309360"/>
            <a:ext cx="914400" cy="274320"/>
          </a:xfrm>
          <a:prstGeom prst="rect">
            <a:avLst/>
          </a:prstGeom>
          <a:noFill/>
          <a:ln/>
        </p:spPr>
        <p:txBody>
          <a:bodyPr wrap="square" lIns="0" tIns="0" rIns="0" bIns="0" rtlCol="0" anchor="ctr"/>
          <a:lstStyle/>
          <a:p>
            <a:pPr algn="r" indent="0" marL="0">
              <a:buNone/>
            </a:pPr>
            <a:r>
              <a:rPr lang="en-US" sz="1200" dirty="0">
                <a:solidFill>
                  <a:srgbClr val="9C978E"/>
                </a:solidFill>
                <a:latin typeface="Arial" pitchFamily="34" charset="0"/>
                <a:ea typeface="Arial" pitchFamily="34" charset="-122"/>
                <a:cs typeface="Arial" pitchFamily="34" charset="-120"/>
              </a:rPr>
              <a:t>02</a:t>
            </a:r>
            <a:endParaRPr lang="en-US" sz="1200" dirty="0"/>
          </a:p>
        </p:txBody>
      </p:sp>
      <p:sp>
        <p:nvSpPr>
          <p:cNvPr id="5" name="Shape 3"/>
          <p:cNvSpPr/>
          <p:nvPr/>
        </p:nvSpPr>
        <p:spPr>
          <a:xfrm>
            <a:off x="786384" y="1678580"/>
            <a:ext cx="566928" cy="369860"/>
          </a:xfrm>
          <a:prstGeom prst="roundRect">
            <a:avLst>
              <a:gd name="adj" fmla="val 12361"/>
            </a:avLst>
          </a:prstGeom>
          <a:solidFill>
            <a:srgbClr val="8C5A2B"/>
          </a:solidFill>
          <a:ln/>
        </p:spPr>
      </p:sp>
      <p:sp>
        <p:nvSpPr>
          <p:cNvPr id="6" name="Text 4"/>
          <p:cNvSpPr/>
          <p:nvPr/>
        </p:nvSpPr>
        <p:spPr>
          <a:xfrm>
            <a:off x="786384" y="1678580"/>
            <a:ext cx="566928" cy="369860"/>
          </a:xfrm>
          <a:prstGeom prst="rect">
            <a:avLst/>
          </a:prstGeom>
          <a:noFill/>
          <a:ln/>
        </p:spPr>
        <p:txBody>
          <a:bodyPr wrap="square" lIns="0" tIns="0" rIns="0" bIns="0" rtlCol="0" anchor="ctr"/>
          <a:lstStyle/>
          <a:p>
            <a:pPr algn="ctr" indent="0" marL="0">
              <a:buNone/>
            </a:pPr>
            <a:r>
              <a:rPr lang="en-US" sz="1150" b="1" dirty="0">
                <a:solidFill>
                  <a:srgbClr val="FFFFFF"/>
                </a:solidFill>
                <a:latin typeface="Arial" pitchFamily="34" charset="0"/>
                <a:ea typeface="Arial" pitchFamily="34" charset="-122"/>
                <a:cs typeface="Arial" pitchFamily="34" charset="-120"/>
              </a:rPr>
              <a:t>Lv3</a:t>
            </a:r>
            <a:endParaRPr lang="en-US" sz="1150" dirty="0"/>
          </a:p>
        </p:txBody>
      </p:sp>
      <p:sp>
        <p:nvSpPr>
          <p:cNvPr id="7" name="Text 5"/>
          <p:cNvSpPr/>
          <p:nvPr/>
        </p:nvSpPr>
        <p:spPr>
          <a:xfrm>
            <a:off x="1563624" y="1642788"/>
            <a:ext cx="2743200" cy="429515"/>
          </a:xfrm>
          <a:prstGeom prst="rect">
            <a:avLst/>
          </a:prstGeom>
          <a:noFill/>
          <a:ln/>
        </p:spPr>
        <p:txBody>
          <a:bodyPr wrap="square" lIns="0" tIns="0" rIns="0" bIns="0" rtlCol="0" anchor="ctr"/>
          <a:lstStyle/>
          <a:p>
            <a:pPr indent="0" marL="0">
              <a:buNone/>
            </a:pPr>
            <a:r>
              <a:rPr lang="en-US" sz="1700" b="1" dirty="0">
                <a:solidFill>
                  <a:srgbClr val="141414"/>
                </a:solidFill>
                <a:latin typeface="Arial" pitchFamily="34" charset="0"/>
                <a:ea typeface="Arial" pitchFamily="34" charset="-122"/>
                <a:cs typeface="Arial" pitchFamily="34" charset="-120"/>
              </a:rPr>
              <a:t>Visual retrieval</a:t>
            </a:r>
            <a:endParaRPr lang="en-US" sz="1700" dirty="0"/>
          </a:p>
        </p:txBody>
      </p:sp>
      <p:sp>
        <p:nvSpPr>
          <p:cNvPr id="8" name="Text 6"/>
          <p:cNvSpPr/>
          <p:nvPr/>
        </p:nvSpPr>
        <p:spPr>
          <a:xfrm>
            <a:off x="4352544" y="1654719"/>
            <a:ext cx="3291840" cy="429515"/>
          </a:xfrm>
          <a:prstGeom prst="rect">
            <a:avLst/>
          </a:prstGeom>
          <a:noFill/>
          <a:ln/>
        </p:spPr>
        <p:txBody>
          <a:bodyPr wrap="square" lIns="0" tIns="0" rIns="0" bIns="0" rtlCol="0" anchor="ctr"/>
          <a:lstStyle/>
          <a:p>
            <a:pPr indent="0" marL="0">
              <a:buNone/>
            </a:pPr>
            <a:r>
              <a:rPr lang="en-US" sz="1500" dirty="0">
                <a:solidFill>
                  <a:srgbClr val="141414"/>
                </a:solidFill>
                <a:latin typeface="Arial" pitchFamily="34" charset="0"/>
                <a:ea typeface="Arial" pitchFamily="34" charset="-122"/>
                <a:cs typeface="Arial" pitchFamily="34" charset="-120"/>
              </a:rPr>
              <a:t>40% of the preliminary round</a:t>
            </a:r>
            <a:endParaRPr lang="en-US" sz="1500" dirty="0"/>
          </a:p>
        </p:txBody>
      </p:sp>
      <p:sp>
        <p:nvSpPr>
          <p:cNvPr id="9" name="Text 7"/>
          <p:cNvSpPr/>
          <p:nvPr/>
        </p:nvSpPr>
        <p:spPr>
          <a:xfrm>
            <a:off x="8662111" y="1654719"/>
            <a:ext cx="2743200" cy="429515"/>
          </a:xfrm>
          <a:prstGeom prst="rect">
            <a:avLst/>
          </a:prstGeom>
          <a:noFill/>
          <a:ln/>
        </p:spPr>
        <p:txBody>
          <a:bodyPr wrap="square" lIns="0" tIns="0" rIns="0" bIns="0" rtlCol="0" anchor="ctr"/>
          <a:lstStyle/>
          <a:p>
            <a:pPr algn="r" indent="0" marL="0">
              <a:buNone/>
            </a:pPr>
            <a:r>
              <a:rPr lang="en-US" sz="1500" dirty="0">
                <a:solidFill>
                  <a:srgbClr val="6E6A63"/>
                </a:solidFill>
                <a:latin typeface="Arial" pitchFamily="34" charset="0"/>
                <a:ea typeface="Arial" pitchFamily="34" charset="-122"/>
                <a:cs typeface="Arial" pitchFamily="34" charset="-120"/>
              </a:rPr>
              <a:t>Block 2 and 3</a:t>
            </a:r>
            <a:endParaRPr lang="en-US" sz="1500" dirty="0"/>
          </a:p>
        </p:txBody>
      </p:sp>
      <p:sp>
        <p:nvSpPr>
          <p:cNvPr id="10" name="Shape 8"/>
          <p:cNvSpPr/>
          <p:nvPr/>
        </p:nvSpPr>
        <p:spPr>
          <a:xfrm>
            <a:off x="786384" y="2537610"/>
            <a:ext cx="566928" cy="369860"/>
          </a:xfrm>
          <a:prstGeom prst="roundRect">
            <a:avLst>
              <a:gd name="adj" fmla="val 12361"/>
            </a:avLst>
          </a:prstGeom>
          <a:solidFill>
            <a:srgbClr val="7A3B52"/>
          </a:solidFill>
          <a:ln/>
        </p:spPr>
      </p:sp>
      <p:sp>
        <p:nvSpPr>
          <p:cNvPr id="11" name="Text 9"/>
          <p:cNvSpPr/>
          <p:nvPr/>
        </p:nvSpPr>
        <p:spPr>
          <a:xfrm>
            <a:off x="786384" y="2537610"/>
            <a:ext cx="566928" cy="369860"/>
          </a:xfrm>
          <a:prstGeom prst="rect">
            <a:avLst/>
          </a:prstGeom>
          <a:noFill/>
          <a:ln/>
        </p:spPr>
        <p:txBody>
          <a:bodyPr wrap="square" lIns="0" tIns="0" rIns="0" bIns="0" rtlCol="0" anchor="ctr"/>
          <a:lstStyle/>
          <a:p>
            <a:pPr algn="ctr" indent="0" marL="0">
              <a:buNone/>
            </a:pPr>
            <a:r>
              <a:rPr lang="en-US" sz="1150" b="1" dirty="0">
                <a:solidFill>
                  <a:srgbClr val="FFFFFF"/>
                </a:solidFill>
                <a:latin typeface="Arial" pitchFamily="34" charset="0"/>
                <a:ea typeface="Arial" pitchFamily="34" charset="-122"/>
                <a:cs typeface="Arial" pitchFamily="34" charset="-120"/>
              </a:rPr>
              <a:t>Lv4</a:t>
            </a:r>
            <a:endParaRPr lang="en-US" sz="1150" dirty="0"/>
          </a:p>
        </p:txBody>
      </p:sp>
      <p:sp>
        <p:nvSpPr>
          <p:cNvPr id="12" name="Text 10"/>
          <p:cNvSpPr/>
          <p:nvPr/>
        </p:nvSpPr>
        <p:spPr>
          <a:xfrm>
            <a:off x="1563624" y="2501817"/>
            <a:ext cx="2743200" cy="429515"/>
          </a:xfrm>
          <a:prstGeom prst="rect">
            <a:avLst/>
          </a:prstGeom>
          <a:noFill/>
          <a:ln/>
        </p:spPr>
        <p:txBody>
          <a:bodyPr wrap="square" lIns="0" tIns="0" rIns="0" bIns="0" rtlCol="0" anchor="ctr"/>
          <a:lstStyle/>
          <a:p>
            <a:pPr indent="0" marL="0">
              <a:buNone/>
            </a:pPr>
            <a:r>
              <a:rPr lang="en-US" sz="1700" b="1" dirty="0">
                <a:solidFill>
                  <a:srgbClr val="141414"/>
                </a:solidFill>
                <a:latin typeface="Arial" pitchFamily="34" charset="0"/>
                <a:ea typeface="Arial" pitchFamily="34" charset="-122"/>
                <a:cs typeface="Arial" pitchFamily="34" charset="-120"/>
              </a:rPr>
              <a:t>Reasoning</a:t>
            </a:r>
            <a:endParaRPr lang="en-US" sz="1700" dirty="0"/>
          </a:p>
        </p:txBody>
      </p:sp>
      <p:sp>
        <p:nvSpPr>
          <p:cNvPr id="13" name="Text 11"/>
          <p:cNvSpPr/>
          <p:nvPr/>
        </p:nvSpPr>
        <p:spPr>
          <a:xfrm>
            <a:off x="4352544" y="2513748"/>
            <a:ext cx="3291840" cy="429515"/>
          </a:xfrm>
          <a:prstGeom prst="rect">
            <a:avLst/>
          </a:prstGeom>
          <a:noFill/>
          <a:ln/>
        </p:spPr>
        <p:txBody>
          <a:bodyPr wrap="square" lIns="0" tIns="0" rIns="0" bIns="0" rtlCol="0" anchor="ctr"/>
          <a:lstStyle/>
          <a:p>
            <a:pPr indent="0" marL="0">
              <a:buNone/>
            </a:pPr>
            <a:r>
              <a:rPr lang="en-US" sz="1500" dirty="0">
                <a:solidFill>
                  <a:srgbClr val="141414"/>
                </a:solidFill>
                <a:latin typeface="Arial" pitchFamily="34" charset="0"/>
                <a:ea typeface="Arial" pitchFamily="34" charset="-122"/>
                <a:cs typeface="Arial" pitchFamily="34" charset="-120"/>
              </a:rPr>
              <a:t>About 30% of the final</a:t>
            </a:r>
            <a:endParaRPr lang="en-US" sz="1500" dirty="0"/>
          </a:p>
        </p:txBody>
      </p:sp>
      <p:sp>
        <p:nvSpPr>
          <p:cNvPr id="14" name="Text 12"/>
          <p:cNvSpPr/>
          <p:nvPr/>
        </p:nvSpPr>
        <p:spPr>
          <a:xfrm>
            <a:off x="8662111" y="2513748"/>
            <a:ext cx="2743200" cy="429515"/>
          </a:xfrm>
          <a:prstGeom prst="rect">
            <a:avLst/>
          </a:prstGeom>
          <a:noFill/>
          <a:ln/>
        </p:spPr>
        <p:txBody>
          <a:bodyPr wrap="square" lIns="0" tIns="0" rIns="0" bIns="0" rtlCol="0" anchor="ctr"/>
          <a:lstStyle/>
          <a:p>
            <a:pPr algn="r" indent="0" marL="0">
              <a:buNone/>
            </a:pPr>
            <a:r>
              <a:rPr lang="en-US" sz="1500" dirty="0">
                <a:solidFill>
                  <a:srgbClr val="6E6A63"/>
                </a:solidFill>
                <a:latin typeface="Arial" pitchFamily="34" charset="0"/>
                <a:ea typeface="Arial" pitchFamily="34" charset="-122"/>
                <a:cs typeface="Arial" pitchFamily="34" charset="-120"/>
              </a:rPr>
              <a:t>Block 4</a:t>
            </a:r>
            <a:endParaRPr lang="en-US" sz="1500" dirty="0"/>
          </a:p>
        </p:txBody>
      </p:sp>
      <p:sp>
        <p:nvSpPr>
          <p:cNvPr id="15" name="Shape 13"/>
          <p:cNvSpPr/>
          <p:nvPr/>
        </p:nvSpPr>
        <p:spPr>
          <a:xfrm>
            <a:off x="786384" y="3396639"/>
            <a:ext cx="566928" cy="369860"/>
          </a:xfrm>
          <a:prstGeom prst="roundRect">
            <a:avLst>
              <a:gd name="adj" fmla="val 12361"/>
            </a:avLst>
          </a:prstGeom>
          <a:solidFill>
            <a:srgbClr val="4A3C7A"/>
          </a:solidFill>
          <a:ln/>
        </p:spPr>
      </p:sp>
      <p:sp>
        <p:nvSpPr>
          <p:cNvPr id="16" name="Text 14"/>
          <p:cNvSpPr/>
          <p:nvPr/>
        </p:nvSpPr>
        <p:spPr>
          <a:xfrm>
            <a:off x="786384" y="3396639"/>
            <a:ext cx="566928" cy="369860"/>
          </a:xfrm>
          <a:prstGeom prst="rect">
            <a:avLst/>
          </a:prstGeom>
          <a:noFill/>
          <a:ln/>
        </p:spPr>
        <p:txBody>
          <a:bodyPr wrap="square" lIns="0" tIns="0" rIns="0" bIns="0" rtlCol="0" anchor="ctr"/>
          <a:lstStyle/>
          <a:p>
            <a:pPr algn="ctr" indent="0" marL="0">
              <a:buNone/>
            </a:pPr>
            <a:r>
              <a:rPr lang="en-US" sz="1150" b="1" dirty="0">
                <a:solidFill>
                  <a:srgbClr val="FFFFFF"/>
                </a:solidFill>
                <a:latin typeface="Arial" pitchFamily="34" charset="0"/>
                <a:ea typeface="Arial" pitchFamily="34" charset="-122"/>
                <a:cs typeface="Arial" pitchFamily="34" charset="-120"/>
              </a:rPr>
              <a:t>Lv5</a:t>
            </a:r>
            <a:endParaRPr lang="en-US" sz="1150" dirty="0"/>
          </a:p>
        </p:txBody>
      </p:sp>
      <p:sp>
        <p:nvSpPr>
          <p:cNvPr id="17" name="Text 15"/>
          <p:cNvSpPr/>
          <p:nvPr/>
        </p:nvSpPr>
        <p:spPr>
          <a:xfrm>
            <a:off x="1563624" y="3360846"/>
            <a:ext cx="2743200" cy="429515"/>
          </a:xfrm>
          <a:prstGeom prst="rect">
            <a:avLst/>
          </a:prstGeom>
          <a:noFill/>
          <a:ln/>
        </p:spPr>
        <p:txBody>
          <a:bodyPr wrap="square" lIns="0" tIns="0" rIns="0" bIns="0" rtlCol="0" anchor="ctr"/>
          <a:lstStyle/>
          <a:p>
            <a:pPr indent="0" marL="0">
              <a:buNone/>
            </a:pPr>
            <a:r>
              <a:rPr lang="en-US" sz="1700" b="1" dirty="0">
                <a:solidFill>
                  <a:srgbClr val="141414"/>
                </a:solidFill>
                <a:latin typeface="Arial" pitchFamily="34" charset="0"/>
                <a:ea typeface="Arial" pitchFamily="34" charset="-122"/>
                <a:cs typeface="Arial" pitchFamily="34" charset="-120"/>
              </a:rPr>
              <a:t>Physical world</a:t>
            </a:r>
            <a:endParaRPr lang="en-US" sz="1700" dirty="0"/>
          </a:p>
        </p:txBody>
      </p:sp>
      <p:sp>
        <p:nvSpPr>
          <p:cNvPr id="18" name="Text 16"/>
          <p:cNvSpPr/>
          <p:nvPr/>
        </p:nvSpPr>
        <p:spPr>
          <a:xfrm>
            <a:off x="4352544" y="3372777"/>
            <a:ext cx="3291840" cy="429515"/>
          </a:xfrm>
          <a:prstGeom prst="rect">
            <a:avLst/>
          </a:prstGeom>
          <a:noFill/>
          <a:ln/>
        </p:spPr>
        <p:txBody>
          <a:bodyPr wrap="square" lIns="0" tIns="0" rIns="0" bIns="0" rtlCol="0" anchor="ctr"/>
          <a:lstStyle/>
          <a:p>
            <a:pPr indent="0" marL="0">
              <a:buNone/>
            </a:pPr>
            <a:r>
              <a:rPr lang="en-US" sz="1500" dirty="0">
                <a:solidFill>
                  <a:srgbClr val="141414"/>
                </a:solidFill>
                <a:latin typeface="Arial" pitchFamily="34" charset="0"/>
                <a:ea typeface="Arial" pitchFamily="34" charset="-122"/>
                <a:cs typeface="Arial" pitchFamily="34" charset="-120"/>
              </a:rPr>
              <a:t>About 40% of the final</a:t>
            </a:r>
            <a:endParaRPr lang="en-US" sz="1500" dirty="0"/>
          </a:p>
        </p:txBody>
      </p:sp>
      <p:sp>
        <p:nvSpPr>
          <p:cNvPr id="19" name="Text 17"/>
          <p:cNvSpPr/>
          <p:nvPr/>
        </p:nvSpPr>
        <p:spPr>
          <a:xfrm>
            <a:off x="8662111" y="3372777"/>
            <a:ext cx="2743200" cy="429515"/>
          </a:xfrm>
          <a:prstGeom prst="rect">
            <a:avLst/>
          </a:prstGeom>
          <a:noFill/>
          <a:ln/>
        </p:spPr>
        <p:txBody>
          <a:bodyPr wrap="square" lIns="0" tIns="0" rIns="0" bIns="0" rtlCol="0" anchor="ctr"/>
          <a:lstStyle/>
          <a:p>
            <a:pPr algn="r" indent="0" marL="0">
              <a:buNone/>
            </a:pPr>
            <a:r>
              <a:rPr lang="en-US" sz="1500" dirty="0">
                <a:solidFill>
                  <a:srgbClr val="6E6A63"/>
                </a:solidFill>
                <a:latin typeface="Arial" pitchFamily="34" charset="0"/>
                <a:ea typeface="Arial" pitchFamily="34" charset="-122"/>
                <a:cs typeface="Arial" pitchFamily="34" charset="-120"/>
              </a:rPr>
              <a:t>Your own time</a:t>
            </a:r>
            <a:endParaRPr lang="en-US" sz="1500" dirty="0"/>
          </a:p>
        </p:txBody>
      </p:sp>
      <p:sp>
        <p:nvSpPr>
          <p:cNvPr id="20" name="Text 18"/>
          <p:cNvSpPr/>
          <p:nvPr/>
        </p:nvSpPr>
        <p:spPr>
          <a:xfrm>
            <a:off x="786384" y="4661321"/>
            <a:ext cx="9769413" cy="954477"/>
          </a:xfrm>
          <a:prstGeom prst="rect">
            <a:avLst/>
          </a:prstGeom>
          <a:noFill/>
          <a:ln/>
        </p:spPr>
        <p:txBody>
          <a:bodyPr wrap="square" lIns="0" tIns="0" rIns="0" bIns="0" rtlCol="0" anchor="ctr"/>
          <a:lstStyle/>
          <a:p>
            <a:pPr indent="0" marL="0">
              <a:lnSpc>
                <a:spcPts val="2500"/>
              </a:lnSpc>
              <a:buNone/>
            </a:pPr>
            <a:r>
              <a:rPr lang="en-US" sz="1700" dirty="0">
                <a:solidFill>
                  <a:srgbClr val="141414"/>
                </a:solidFill>
                <a:latin typeface="Arial" pitchFamily="34" charset="0"/>
                <a:ea typeface="Arial" pitchFamily="34" charset="-122"/>
                <a:cs typeface="Arial" pitchFamily="34" charset="-120"/>
              </a:rPr>
              <a:t>A bot that handles only Levels 1 and 2 covers 60% of the preliminary round and none of the final round.</a:t>
            </a:r>
            <a:endParaRPr lang="en-US" sz="1700" dirty="0"/>
          </a:p>
        </p:txBody>
      </p:sp>
      <p:sp>
        <p:nvSpPr>
          <p:cNvPr id="21" name="Text 19"/>
          <p:cNvSpPr/>
          <p:nvPr/>
        </p:nvSpPr>
        <p:spPr>
          <a:xfrm>
            <a:off x="786384" y="5711246"/>
            <a:ext cx="10618927" cy="524962"/>
          </a:xfrm>
          <a:prstGeom prst="rect">
            <a:avLst/>
          </a:prstGeom>
          <a:noFill/>
          <a:ln/>
        </p:spPr>
        <p:txBody>
          <a:bodyPr wrap="square" lIns="0" tIns="0" rIns="0" bIns="0" rtlCol="0" anchor="ctr"/>
          <a:lstStyle/>
          <a:p>
            <a:pPr indent="0" marL="0">
              <a:buNone/>
            </a:pPr>
            <a:r>
              <a:rPr lang="en-US" sz="2100" b="1" dirty="0">
                <a:solidFill>
                  <a:srgbClr val="C0402A"/>
                </a:solidFill>
                <a:latin typeface="Arial" pitchFamily="34" charset="0"/>
                <a:ea typeface="Arial" pitchFamily="34" charset="-122"/>
                <a:cs typeface="Arial" pitchFamily="34" charset="-120"/>
              </a:rPr>
              <a:t>This session covers the remaining three levels.</a:t>
            </a:r>
            <a:endParaRPr lang="en-US" sz="2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121212"/>
        </a:solidFill>
      </p:bgPr>
    </p:bg>
    <p:spTree>
      <p:nvGrpSpPr>
        <p:cNvPr id="1" name=""/>
        <p:cNvGrpSpPr/>
        <p:nvPr/>
      </p:nvGrpSpPr>
      <p:grpSpPr>
        <a:xfrm>
          <a:off x="0" y="0"/>
          <a:ext cx="0" cy="0"/>
          <a:chOff x="0" y="0"/>
          <a:chExt cx="0" cy="0"/>
        </a:xfrm>
      </p:grpSpPr>
      <p:sp>
        <p:nvSpPr>
          <p:cNvPr id="2" name="Text 0"/>
          <p:cNvSpPr/>
          <p:nvPr/>
        </p:nvSpPr>
        <p:spPr>
          <a:xfrm>
            <a:off x="8899855" y="960120"/>
            <a:ext cx="3017520" cy="3200400"/>
          </a:xfrm>
          <a:prstGeom prst="rect">
            <a:avLst/>
          </a:prstGeom>
          <a:noFill/>
          <a:ln/>
        </p:spPr>
        <p:txBody>
          <a:bodyPr wrap="square" lIns="0" tIns="0" rIns="0" bIns="0" rtlCol="0" anchor="ctr"/>
          <a:lstStyle/>
          <a:p>
            <a:pPr algn="r" indent="0" marL="0">
              <a:buNone/>
            </a:pPr>
            <a:r>
              <a:rPr lang="en-US" sz="9600" b="1" dirty="0">
                <a:solidFill>
                  <a:srgbClr val="3D3934"/>
                </a:solidFill>
                <a:latin typeface="Arial" pitchFamily="34" charset="0"/>
                <a:ea typeface="Arial" pitchFamily="34" charset="-122"/>
                <a:cs typeface="Arial" pitchFamily="34" charset="-120"/>
              </a:rPr>
              <a:t>1</a:t>
            </a:r>
            <a:endParaRPr lang="en-US" sz="9600" dirty="0"/>
          </a:p>
        </p:txBody>
      </p:sp>
      <p:sp>
        <p:nvSpPr>
          <p:cNvPr id="3" name="Text 1"/>
          <p:cNvSpPr/>
          <p:nvPr/>
        </p:nvSpPr>
        <p:spPr>
          <a:xfrm>
            <a:off x="786384" y="1975104"/>
            <a:ext cx="10618927" cy="274320"/>
          </a:xfrm>
          <a:prstGeom prst="rect">
            <a:avLst/>
          </a:prstGeom>
          <a:noFill/>
          <a:ln/>
        </p:spPr>
        <p:txBody>
          <a:bodyPr wrap="square" lIns="0" tIns="0" rIns="0" bIns="0" rtlCol="0" anchor="ctr"/>
          <a:lstStyle/>
          <a:p>
            <a:pPr indent="0" marL="0">
              <a:buNone/>
            </a:pPr>
            <a:r>
              <a:rPr lang="en-US" sz="1200" b="1" spc="260" kern="0" dirty="0">
                <a:solidFill>
                  <a:srgbClr val="C0402A"/>
                </a:solidFill>
                <a:latin typeface="Arial" pitchFamily="34" charset="0"/>
                <a:ea typeface="Arial" pitchFamily="34" charset="-122"/>
                <a:cs typeface="Arial" pitchFamily="34" charset="-120"/>
              </a:rPr>
              <a:t>BLOCK 1</a:t>
            </a:r>
            <a:endParaRPr lang="en-US" sz="1200" dirty="0"/>
          </a:p>
        </p:txBody>
      </p:sp>
      <p:sp>
        <p:nvSpPr>
          <p:cNvPr id="4" name="Shape 2"/>
          <p:cNvSpPr/>
          <p:nvPr/>
        </p:nvSpPr>
        <p:spPr>
          <a:xfrm>
            <a:off x="786384" y="2377440"/>
            <a:ext cx="1371600" cy="20117"/>
          </a:xfrm>
          <a:prstGeom prst="rect">
            <a:avLst/>
          </a:prstGeom>
          <a:solidFill>
            <a:srgbClr val="C0402A"/>
          </a:solidFill>
          <a:ln/>
        </p:spPr>
      </p:sp>
      <p:sp>
        <p:nvSpPr>
          <p:cNvPr id="5" name="Text 3"/>
          <p:cNvSpPr/>
          <p:nvPr/>
        </p:nvSpPr>
        <p:spPr>
          <a:xfrm>
            <a:off x="786384" y="2596896"/>
            <a:ext cx="7024421" cy="1188720"/>
          </a:xfrm>
          <a:prstGeom prst="rect">
            <a:avLst/>
          </a:prstGeom>
          <a:noFill/>
          <a:ln/>
        </p:spPr>
        <p:txBody>
          <a:bodyPr wrap="square" lIns="0" tIns="0" rIns="0" bIns="0" rtlCol="0" anchor="ctr"/>
          <a:lstStyle/>
          <a:p>
            <a:pPr indent="0" marL="0">
              <a:lnSpc>
                <a:spcPts val="4000"/>
              </a:lnSpc>
              <a:buNone/>
            </a:pPr>
            <a:r>
              <a:rPr lang="en-US" sz="3600" b="1" dirty="0">
                <a:solidFill>
                  <a:srgbClr val="FAF8F5"/>
                </a:solidFill>
                <a:latin typeface="Arial" pitchFamily="34" charset="0"/>
                <a:ea typeface="Arial" pitchFamily="34" charset="-122"/>
                <a:cs typeface="Arial" pitchFamily="34" charset="-120"/>
              </a:rPr>
              <a:t>Sharing</a:t>
            </a:r>
            <a:endParaRPr lang="en-US" sz="3600" dirty="0"/>
          </a:p>
        </p:txBody>
      </p:sp>
      <p:sp>
        <p:nvSpPr>
          <p:cNvPr id="6" name="Text 4"/>
          <p:cNvSpPr/>
          <p:nvPr/>
        </p:nvSpPr>
        <p:spPr>
          <a:xfrm>
            <a:off x="786384" y="3895344"/>
            <a:ext cx="6125794" cy="822960"/>
          </a:xfrm>
          <a:prstGeom prst="rect">
            <a:avLst/>
          </a:prstGeom>
          <a:noFill/>
          <a:ln/>
        </p:spPr>
        <p:txBody>
          <a:bodyPr wrap="square" lIns="0" tIns="0" rIns="0" bIns="0" rtlCol="0" anchor="ctr"/>
          <a:lstStyle/>
          <a:p>
            <a:pPr indent="0" marL="0">
              <a:lnSpc>
                <a:spcPts val="2300"/>
              </a:lnSpc>
              <a:buNone/>
            </a:pPr>
            <a:r>
              <a:rPr lang="en-US" sz="1750" dirty="0">
                <a:solidFill>
                  <a:srgbClr val="A8A39B"/>
                </a:solidFill>
                <a:latin typeface="Arial" pitchFamily="34" charset="0"/>
                <a:ea typeface="Arial" pitchFamily="34" charset="-122"/>
                <a:cs typeface="Arial" pitchFamily="34" charset="-120"/>
              </a:rPr>
              <a:t>Three teams report on the image-data homework. Everyone posts a per-level score.</a:t>
            </a:r>
            <a:endParaRPr lang="en-US" sz="1750" dirty="0"/>
          </a:p>
        </p:txBody>
      </p:sp>
      <p:sp>
        <p:nvSpPr>
          <p:cNvPr id="7" name="Text 5"/>
          <p:cNvSpPr/>
          <p:nvPr/>
        </p:nvSpPr>
        <p:spPr>
          <a:xfrm>
            <a:off x="9210751" y="5358384"/>
            <a:ext cx="2194560" cy="310896"/>
          </a:xfrm>
          <a:prstGeom prst="rect">
            <a:avLst/>
          </a:prstGeom>
          <a:noFill/>
          <a:ln/>
        </p:spPr>
        <p:txBody>
          <a:bodyPr wrap="square" lIns="0" tIns="0" rIns="0" bIns="0" rtlCol="0" anchor="ctr"/>
          <a:lstStyle/>
          <a:p>
            <a:pPr algn="r" indent="0" marL="0">
              <a:buNone/>
            </a:pPr>
            <a:r>
              <a:rPr lang="en-US" sz="1450" b="1" spc="180" kern="0" dirty="0">
                <a:solidFill>
                  <a:srgbClr val="C0402A"/>
                </a:solidFill>
                <a:latin typeface="Arial" pitchFamily="34" charset="0"/>
                <a:ea typeface="Arial" pitchFamily="34" charset="-122"/>
                <a:cs typeface="Arial" pitchFamily="34" charset="-120"/>
              </a:rPr>
              <a:t>15 MIN</a:t>
            </a:r>
            <a:endParaRPr lang="en-US" sz="1450" dirty="0"/>
          </a:p>
        </p:txBody>
      </p:sp>
      <p:sp>
        <p:nvSpPr>
          <p:cNvPr id="8" name="Text 6"/>
          <p:cNvSpPr/>
          <p:nvPr/>
        </p:nvSpPr>
        <p:spPr>
          <a:xfrm>
            <a:off x="10490911" y="6309360"/>
            <a:ext cx="914400" cy="274320"/>
          </a:xfrm>
          <a:prstGeom prst="rect">
            <a:avLst/>
          </a:prstGeom>
          <a:noFill/>
          <a:ln/>
        </p:spPr>
        <p:txBody>
          <a:bodyPr wrap="square" lIns="0" tIns="0" rIns="0" bIns="0" rtlCol="0" anchor="ctr"/>
          <a:lstStyle/>
          <a:p>
            <a:pPr algn="r" indent="0" marL="0">
              <a:buNone/>
            </a:pPr>
            <a:r>
              <a:rPr lang="en-US" sz="1200" dirty="0">
                <a:solidFill>
                  <a:srgbClr val="56534E"/>
                </a:solidFill>
                <a:latin typeface="Arial" pitchFamily="34" charset="0"/>
                <a:ea typeface="Arial" pitchFamily="34" charset="-122"/>
                <a:cs typeface="Arial" pitchFamily="34" charset="-120"/>
              </a:rPr>
              <a:t>03</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AF8F5"/>
        </a:solidFill>
      </p:bgPr>
    </p:bg>
    <p:spTree>
      <p:nvGrpSpPr>
        <p:cNvPr id="1" name=""/>
        <p:cNvGrpSpPr/>
        <p:nvPr/>
      </p:nvGrpSpPr>
      <p:grpSpPr>
        <a:xfrm>
          <a:off x="0" y="0"/>
          <a:ext cx="0" cy="0"/>
          <a:chOff x="0" y="0"/>
          <a:chExt cx="0" cy="0"/>
        </a:xfrm>
      </p:grpSpPr>
      <p:sp>
        <p:nvSpPr>
          <p:cNvPr id="2" name="Text 0"/>
          <p:cNvSpPr/>
          <p:nvPr/>
        </p:nvSpPr>
        <p:spPr>
          <a:xfrm>
            <a:off x="786384" y="475488"/>
            <a:ext cx="9720301" cy="676656"/>
          </a:xfrm>
          <a:prstGeom prst="rect">
            <a:avLst/>
          </a:prstGeom>
          <a:noFill/>
          <a:ln/>
        </p:spPr>
        <p:txBody>
          <a:bodyPr wrap="square" lIns="0" tIns="0" rIns="0" bIns="0" rtlCol="0" anchor="ctr"/>
          <a:lstStyle/>
          <a:p>
            <a:pPr indent="0" marL="0">
              <a:buNone/>
            </a:pPr>
            <a:r>
              <a:rPr lang="en-US" sz="2900" b="1" dirty="0">
                <a:solidFill>
                  <a:srgbClr val="141414"/>
                </a:solidFill>
                <a:latin typeface="Arial" pitchFamily="34" charset="0"/>
                <a:ea typeface="Arial" pitchFamily="34" charset="-122"/>
                <a:cs typeface="Arial" pitchFamily="34" charset="-120"/>
              </a:rPr>
              <a:t>Where Everyone Is</a:t>
            </a:r>
            <a:endParaRPr lang="en-US" sz="2900" dirty="0"/>
          </a:p>
        </p:txBody>
      </p:sp>
      <p:sp>
        <p:nvSpPr>
          <p:cNvPr id="3" name="Shape 1"/>
          <p:cNvSpPr/>
          <p:nvPr/>
        </p:nvSpPr>
        <p:spPr>
          <a:xfrm>
            <a:off x="786384" y="1207008"/>
            <a:ext cx="10618927" cy="10973"/>
          </a:xfrm>
          <a:prstGeom prst="rect">
            <a:avLst/>
          </a:prstGeom>
          <a:solidFill>
            <a:srgbClr val="D5D1CA"/>
          </a:solidFill>
          <a:ln/>
        </p:spPr>
      </p:sp>
      <p:sp>
        <p:nvSpPr>
          <p:cNvPr id="4" name="Text 2"/>
          <p:cNvSpPr/>
          <p:nvPr/>
        </p:nvSpPr>
        <p:spPr>
          <a:xfrm>
            <a:off x="10490911" y="6309360"/>
            <a:ext cx="914400" cy="274320"/>
          </a:xfrm>
          <a:prstGeom prst="rect">
            <a:avLst/>
          </a:prstGeom>
          <a:noFill/>
          <a:ln/>
        </p:spPr>
        <p:txBody>
          <a:bodyPr wrap="square" lIns="0" tIns="0" rIns="0" bIns="0" rtlCol="0" anchor="ctr"/>
          <a:lstStyle/>
          <a:p>
            <a:pPr algn="r" indent="0" marL="0">
              <a:buNone/>
            </a:pPr>
            <a:r>
              <a:rPr lang="en-US" sz="1200" dirty="0">
                <a:solidFill>
                  <a:srgbClr val="9C978E"/>
                </a:solidFill>
                <a:latin typeface="Arial" pitchFamily="34" charset="0"/>
                <a:ea typeface="Arial" pitchFamily="34" charset="-122"/>
                <a:cs typeface="Arial" pitchFamily="34" charset="-120"/>
              </a:rPr>
              <a:t>04</a:t>
            </a:r>
            <a:endParaRPr lang="en-US" sz="1200" dirty="0"/>
          </a:p>
        </p:txBody>
      </p:sp>
      <p:sp>
        <p:nvSpPr>
          <p:cNvPr id="6" name="Shape 3"/>
          <p:cNvSpPr/>
          <p:nvPr/>
        </p:nvSpPr>
        <p:spPr>
          <a:xfrm>
            <a:off x="786384" y="1615657"/>
            <a:ext cx="6583735" cy="2004349"/>
          </a:xfrm>
          <a:prstGeom prst="rect">
            <a:avLst/>
          </a:prstGeom>
          <a:solidFill>
            <a:srgbClr val="F2EFEA"/>
          </a:solidFill>
          <a:ln/>
        </p:spPr>
      </p:sp>
      <p:sp>
        <p:nvSpPr>
          <p:cNvPr id="7" name="Shape 4"/>
          <p:cNvSpPr/>
          <p:nvPr/>
        </p:nvSpPr>
        <p:spPr>
          <a:xfrm>
            <a:off x="786384" y="1615657"/>
            <a:ext cx="27432" cy="2004349"/>
          </a:xfrm>
          <a:prstGeom prst="rect">
            <a:avLst/>
          </a:prstGeom>
          <a:solidFill>
            <a:srgbClr val="C0402A"/>
          </a:solidFill>
          <a:ln/>
        </p:spPr>
      </p:sp>
      <p:sp>
        <p:nvSpPr>
          <p:cNvPr id="8" name="Text 5"/>
          <p:cNvSpPr/>
          <p:nvPr/>
        </p:nvSpPr>
        <p:spPr>
          <a:xfrm>
            <a:off x="1042416" y="1784444"/>
            <a:ext cx="6144823" cy="1666774"/>
          </a:xfrm>
          <a:prstGeom prst="rect">
            <a:avLst/>
          </a:prstGeom>
          <a:noFill/>
          <a:ln/>
        </p:spPr>
        <p:txBody>
          <a:bodyPr wrap="square" lIns="0" tIns="0" rIns="0" bIns="0" rtlCol="0" anchor="t"/>
          <a:lstStyle/>
          <a:p>
            <a:pPr indent="0" marL="0">
              <a:lnSpc>
                <a:spcPts val="1900"/>
              </a:lnSpc>
              <a:buNone/>
            </a:pPr>
            <a:r>
              <a:rPr lang="en-US" sz="1300" dirty="0">
                <a:solidFill>
                  <a:srgbClr val="2A2724"/>
                </a:solidFill>
                <a:latin typeface="Courier New" pitchFamily="34" charset="0"/>
                <a:ea typeface="Courier New" pitchFamily="34" charset="-122"/>
                <a:cs typeface="Courier New" pitchFamily="34" charset="-120"/>
              </a:rPr>
              <a:t>  Team          Lv1    Lv2    Lv3    Lv4    Lv5    Total</a:t>
            </a:r>
            <a:endParaRPr lang="en-US" sz="1300" dirty="0"/>
          </a:p>
          <a:p>
            <a:pPr indent="0" marL="0">
              <a:lnSpc>
                <a:spcPts val="1900"/>
              </a:lnSpc>
              <a:buNone/>
            </a:pPr>
            <a:endParaRPr lang="en-US" sz="1300" dirty="0"/>
          </a:p>
          <a:p>
            <a:pPr indent="0" marL="0">
              <a:lnSpc>
                <a:spcPts val="1900"/>
              </a:lnSpc>
              <a:buNone/>
            </a:pPr>
            <a:r>
              <a:rPr lang="en-US" sz="1300" dirty="0">
                <a:solidFill>
                  <a:srgbClr val="2A2724"/>
                </a:solidFill>
                <a:latin typeface="Courier New" pitchFamily="34" charset="0"/>
                <a:ea typeface="Courier New" pitchFamily="34" charset="-122"/>
                <a:cs typeface="Courier New" pitchFamily="34" charset="-120"/>
              </a:rPr>
              <a:t>  ....          3/3    2/3    0/3    0/3    0/3     5/15</a:t>
            </a:r>
            <a:endParaRPr lang="en-US" sz="1300" dirty="0"/>
          </a:p>
          <a:p>
            <a:pPr indent="0" marL="0">
              <a:lnSpc>
                <a:spcPts val="1900"/>
              </a:lnSpc>
              <a:buNone/>
            </a:pPr>
            <a:r>
              <a:rPr lang="en-US" sz="1300" dirty="0">
                <a:solidFill>
                  <a:srgbClr val="2A2724"/>
                </a:solidFill>
                <a:latin typeface="Courier New" pitchFamily="34" charset="0"/>
                <a:ea typeface="Courier New" pitchFamily="34" charset="-122"/>
                <a:cs typeface="Courier New" pitchFamily="34" charset="-120"/>
              </a:rPr>
              <a:t>  ....          3/3    3/3    0/3    1/3    0/3     7/15</a:t>
            </a:r>
            <a:endParaRPr lang="en-US" sz="1300" dirty="0"/>
          </a:p>
          <a:p>
            <a:pPr indent="0" marL="0">
              <a:lnSpc>
                <a:spcPts val="1900"/>
              </a:lnSpc>
              <a:buNone/>
            </a:pPr>
            <a:r>
              <a:rPr lang="en-US" sz="1300" dirty="0">
                <a:solidFill>
                  <a:srgbClr val="2A2724"/>
                </a:solidFill>
                <a:latin typeface="Courier New" pitchFamily="34" charset="0"/>
                <a:ea typeface="Courier New" pitchFamily="34" charset="-122"/>
                <a:cs typeface="Courier New" pitchFamily="34" charset="-120"/>
              </a:rPr>
              <a:t>  ....          2/3    2/3    1/3    0/3    0/3     5/15</a:t>
            </a:r>
            <a:endParaRPr lang="en-US" sz="1300" dirty="0"/>
          </a:p>
        </p:txBody>
      </p:sp>
      <p:sp>
        <p:nvSpPr>
          <p:cNvPr id="9" name="Shape 6"/>
          <p:cNvSpPr/>
          <p:nvPr/>
        </p:nvSpPr>
        <p:spPr>
          <a:xfrm>
            <a:off x="7794876" y="1615657"/>
            <a:ext cx="3610435" cy="18989"/>
          </a:xfrm>
          <a:prstGeom prst="rect">
            <a:avLst/>
          </a:prstGeom>
          <a:solidFill>
            <a:srgbClr val="141414"/>
          </a:solidFill>
          <a:ln/>
        </p:spPr>
      </p:sp>
      <p:sp>
        <p:nvSpPr>
          <p:cNvPr id="10" name="Text 7"/>
          <p:cNvSpPr/>
          <p:nvPr/>
        </p:nvSpPr>
        <p:spPr>
          <a:xfrm>
            <a:off x="7794876" y="1784444"/>
            <a:ext cx="3610435" cy="397060"/>
          </a:xfrm>
          <a:prstGeom prst="rect">
            <a:avLst/>
          </a:prstGeom>
          <a:noFill/>
          <a:ln/>
        </p:spPr>
        <p:txBody>
          <a:bodyPr wrap="square" lIns="0" tIns="0" rIns="0" bIns="0" rtlCol="0" anchor="ctr"/>
          <a:lstStyle/>
          <a:p>
            <a:pPr indent="0" marL="0">
              <a:lnSpc>
                <a:spcPts val="2350"/>
              </a:lnSpc>
              <a:buNone/>
            </a:pPr>
            <a:r>
              <a:rPr lang="en-US" sz="1950" b="1" dirty="0">
                <a:solidFill>
                  <a:srgbClr val="141414"/>
                </a:solidFill>
                <a:latin typeface="Arial" pitchFamily="34" charset="0"/>
                <a:ea typeface="Arial" pitchFamily="34" charset="-122"/>
                <a:cs typeface="Arial" pitchFamily="34" charset="-120"/>
              </a:rPr>
              <a:t>Zero on Lv3 is expected</a:t>
            </a:r>
            <a:endParaRPr lang="en-US" sz="1950" dirty="0"/>
          </a:p>
        </p:txBody>
      </p:sp>
      <p:sp>
        <p:nvSpPr>
          <p:cNvPr id="11" name="Text 8"/>
          <p:cNvSpPr/>
          <p:nvPr/>
        </p:nvSpPr>
        <p:spPr>
          <a:xfrm>
            <a:off x="7794876" y="2265898"/>
            <a:ext cx="3610435" cy="1312790"/>
          </a:xfrm>
          <a:prstGeom prst="rect">
            <a:avLst/>
          </a:prstGeom>
          <a:noFill/>
          <a:ln/>
        </p:spPr>
        <p:txBody>
          <a:bodyPr wrap="square" lIns="0" tIns="0" rIns="0" bIns="0" rtlCol="0" anchor="t"/>
          <a:lstStyle/>
          <a:p>
            <a:pPr indent="0" marL="0">
              <a:lnSpc>
                <a:spcPts val="2150"/>
              </a:lnSpc>
              <a:buNone/>
            </a:pPr>
            <a:r>
              <a:rPr lang="en-US" sz="1450" dirty="0">
                <a:solidFill>
                  <a:srgbClr val="141414"/>
                </a:solidFill>
                <a:latin typeface="Arial" pitchFamily="34" charset="0"/>
                <a:ea typeface="Arial" pitchFamily="34" charset="-122"/>
                <a:cs typeface="Arial" pitchFamily="34" charset="-120"/>
              </a:rPr>
              <a:t>The homework asked you to try something we had not taught. Most teams will have scored nothing, and that is the intended starting point for block 2.</a:t>
            </a:r>
            <a:endParaRPr lang="en-US" sz="1450" dirty="0"/>
          </a:p>
        </p:txBody>
      </p:sp>
      <p:sp>
        <p:nvSpPr>
          <p:cNvPr id="12" name="Text 9"/>
          <p:cNvSpPr/>
          <p:nvPr/>
        </p:nvSpPr>
        <p:spPr>
          <a:xfrm>
            <a:off x="786384" y="3936482"/>
            <a:ext cx="10618927" cy="464165"/>
          </a:xfrm>
          <a:prstGeom prst="rect">
            <a:avLst/>
          </a:prstGeom>
          <a:noFill/>
          <a:ln/>
        </p:spPr>
        <p:txBody>
          <a:bodyPr wrap="square" lIns="0" tIns="0" rIns="0" bIns="0" rtlCol="0" anchor="ctr"/>
          <a:lstStyle/>
          <a:p>
            <a:pPr indent="0" marL="0">
              <a:buNone/>
            </a:pPr>
            <a:r>
              <a:rPr lang="en-US" sz="2100" b="1" dirty="0">
                <a:solidFill>
                  <a:srgbClr val="141414"/>
                </a:solidFill>
                <a:latin typeface="Arial" pitchFamily="34" charset="0"/>
                <a:ea typeface="Arial" pitchFamily="34" charset="-122"/>
                <a:cs typeface="Arial" pitchFamily="34" charset="-120"/>
              </a:rPr>
              <a:t>Three teams, two minutes each</a:t>
            </a:r>
            <a:endParaRPr lang="en-US" sz="2100" dirty="0"/>
          </a:p>
        </p:txBody>
      </p:sp>
      <p:sp>
        <p:nvSpPr>
          <p:cNvPr id="13" name="Shape 10"/>
          <p:cNvSpPr/>
          <p:nvPr/>
        </p:nvSpPr>
        <p:spPr>
          <a:xfrm>
            <a:off x="786384" y="4584379"/>
            <a:ext cx="155448" cy="21098"/>
          </a:xfrm>
          <a:prstGeom prst="rect">
            <a:avLst/>
          </a:prstGeom>
          <a:solidFill>
            <a:srgbClr val="C0402A"/>
          </a:solidFill>
          <a:ln/>
        </p:spPr>
      </p:sp>
      <p:sp>
        <p:nvSpPr>
          <p:cNvPr id="14" name="Text 11"/>
          <p:cNvSpPr/>
          <p:nvPr/>
        </p:nvSpPr>
        <p:spPr>
          <a:xfrm>
            <a:off x="1097280" y="4442844"/>
            <a:ext cx="9246138" cy="400284"/>
          </a:xfrm>
          <a:prstGeom prst="rect">
            <a:avLst/>
          </a:prstGeom>
          <a:noFill/>
          <a:ln/>
        </p:spPr>
        <p:txBody>
          <a:bodyPr wrap="square" lIns="0" tIns="0" rIns="0" bIns="0" rtlCol="0" anchor="t"/>
          <a:lstStyle/>
          <a:p>
            <a:pPr indent="0" marL="0">
              <a:lnSpc>
                <a:spcPts val="2300"/>
              </a:lnSpc>
              <a:buNone/>
            </a:pPr>
            <a:r>
              <a:rPr lang="en-US" sz="1600" dirty="0">
                <a:solidFill>
                  <a:srgbClr val="141414"/>
                </a:solidFill>
                <a:latin typeface="Arial" pitchFamily="34" charset="0"/>
                <a:ea typeface="Arial" pitchFamily="34" charset="-122"/>
                <a:cs typeface="Arial" pitchFamily="34" charset="-120"/>
              </a:rPr>
              <a:t>What approach did you take to image data?</a:t>
            </a:r>
            <a:endParaRPr lang="en-US" sz="1600" dirty="0"/>
          </a:p>
        </p:txBody>
      </p:sp>
      <p:sp>
        <p:nvSpPr>
          <p:cNvPr id="15" name="Shape 12"/>
          <p:cNvSpPr/>
          <p:nvPr/>
        </p:nvSpPr>
        <p:spPr>
          <a:xfrm>
            <a:off x="786384" y="5047958"/>
            <a:ext cx="155448" cy="21098"/>
          </a:xfrm>
          <a:prstGeom prst="rect">
            <a:avLst/>
          </a:prstGeom>
          <a:solidFill>
            <a:srgbClr val="C0402A"/>
          </a:solidFill>
          <a:ln/>
        </p:spPr>
      </p:sp>
      <p:sp>
        <p:nvSpPr>
          <p:cNvPr id="16" name="Text 13"/>
          <p:cNvSpPr/>
          <p:nvPr/>
        </p:nvSpPr>
        <p:spPr>
          <a:xfrm>
            <a:off x="1097280" y="4906422"/>
            <a:ext cx="9246138" cy="400284"/>
          </a:xfrm>
          <a:prstGeom prst="rect">
            <a:avLst/>
          </a:prstGeom>
          <a:noFill/>
          <a:ln/>
        </p:spPr>
        <p:txBody>
          <a:bodyPr wrap="square" lIns="0" tIns="0" rIns="0" bIns="0" rtlCol="0" anchor="t"/>
          <a:lstStyle/>
          <a:p>
            <a:pPr indent="0" marL="0">
              <a:lnSpc>
                <a:spcPts val="2300"/>
              </a:lnSpc>
              <a:buNone/>
            </a:pPr>
            <a:r>
              <a:rPr lang="en-US" sz="1600" dirty="0">
                <a:solidFill>
                  <a:srgbClr val="141414"/>
                </a:solidFill>
                <a:latin typeface="Arial" pitchFamily="34" charset="0"/>
                <a:ea typeface="Arial" pitchFamily="34" charset="-122"/>
                <a:cs typeface="Arial" pitchFamily="34" charset="-120"/>
              </a:rPr>
              <a:t>Where exactly did it break?</a:t>
            </a:r>
            <a:endParaRPr lang="en-US" sz="1600" dirty="0"/>
          </a:p>
        </p:txBody>
      </p:sp>
      <p:sp>
        <p:nvSpPr>
          <p:cNvPr id="17" name="Shape 14"/>
          <p:cNvSpPr/>
          <p:nvPr/>
        </p:nvSpPr>
        <p:spPr>
          <a:xfrm>
            <a:off x="786384" y="5511536"/>
            <a:ext cx="155448" cy="21098"/>
          </a:xfrm>
          <a:prstGeom prst="rect">
            <a:avLst/>
          </a:prstGeom>
          <a:solidFill>
            <a:srgbClr val="C0402A"/>
          </a:solidFill>
          <a:ln/>
        </p:spPr>
      </p:sp>
      <p:sp>
        <p:nvSpPr>
          <p:cNvPr id="18" name="Text 15"/>
          <p:cNvSpPr/>
          <p:nvPr/>
        </p:nvSpPr>
        <p:spPr>
          <a:xfrm>
            <a:off x="1097280" y="5370001"/>
            <a:ext cx="9246138" cy="400284"/>
          </a:xfrm>
          <a:prstGeom prst="rect">
            <a:avLst/>
          </a:prstGeom>
          <a:noFill/>
          <a:ln/>
        </p:spPr>
        <p:txBody>
          <a:bodyPr wrap="square" lIns="0" tIns="0" rIns="0" bIns="0" rtlCol="0" anchor="t"/>
          <a:lstStyle/>
          <a:p>
            <a:pPr indent="0" marL="0">
              <a:lnSpc>
                <a:spcPts val="2300"/>
              </a:lnSpc>
              <a:buNone/>
            </a:pPr>
            <a:r>
              <a:rPr lang="en-US" sz="1600" dirty="0">
                <a:solidFill>
                  <a:srgbClr val="141414"/>
                </a:solidFill>
                <a:latin typeface="Arial" pitchFamily="34" charset="0"/>
                <a:ea typeface="Arial" pitchFamily="34" charset="-122"/>
                <a:cs typeface="Arial" pitchFamily="34" charset="-120"/>
              </a:rPr>
              <a:t>What did the score do?</a:t>
            </a:r>
            <a:endParaRPr lang="en-US" sz="1600" dirty="0"/>
          </a:p>
        </p:txBody>
      </p:sp>
      <p:sp>
        <p:nvSpPr>
          <p:cNvPr id="19" name="Text 16"/>
          <p:cNvSpPr/>
          <p:nvPr/>
        </p:nvSpPr>
        <p:spPr>
          <a:xfrm>
            <a:off x="786384" y="5772043"/>
            <a:ext cx="10618927" cy="464165"/>
          </a:xfrm>
          <a:prstGeom prst="rect">
            <a:avLst/>
          </a:prstGeom>
          <a:noFill/>
          <a:ln/>
        </p:spPr>
        <p:txBody>
          <a:bodyPr wrap="square" lIns="0" tIns="0" rIns="0" bIns="0" rtlCol="0" anchor="ctr"/>
          <a:lstStyle/>
          <a:p>
            <a:pPr indent="0" marL="0">
              <a:buNone/>
            </a:pPr>
            <a:r>
              <a:rPr lang="en-US" sz="1500" i="1" dirty="0">
                <a:solidFill>
                  <a:srgbClr val="6E6A63"/>
                </a:solidFill>
                <a:latin typeface="Arial" pitchFamily="34" charset="0"/>
                <a:ea typeface="Arial" pitchFamily="34" charset="-122"/>
                <a:cs typeface="Arial" pitchFamily="34" charset="-120"/>
              </a:rPr>
              <a:t>Describe what you tried and what happened, rather than what you planned to build.</a:t>
            </a:r>
            <a:endParaRPr lang="en-US" sz="15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121212"/>
        </a:solidFill>
      </p:bgPr>
    </p:bg>
    <p:spTree>
      <p:nvGrpSpPr>
        <p:cNvPr id="1" name=""/>
        <p:cNvGrpSpPr/>
        <p:nvPr/>
      </p:nvGrpSpPr>
      <p:grpSpPr>
        <a:xfrm>
          <a:off x="0" y="0"/>
          <a:ext cx="0" cy="0"/>
          <a:chOff x="0" y="0"/>
          <a:chExt cx="0" cy="0"/>
        </a:xfrm>
      </p:grpSpPr>
      <p:sp>
        <p:nvSpPr>
          <p:cNvPr id="2" name="Text 0"/>
          <p:cNvSpPr/>
          <p:nvPr/>
        </p:nvSpPr>
        <p:spPr>
          <a:xfrm>
            <a:off x="8899855" y="960120"/>
            <a:ext cx="3017520" cy="3200400"/>
          </a:xfrm>
          <a:prstGeom prst="rect">
            <a:avLst/>
          </a:prstGeom>
          <a:noFill/>
          <a:ln/>
        </p:spPr>
        <p:txBody>
          <a:bodyPr wrap="square" lIns="0" tIns="0" rIns="0" bIns="0" rtlCol="0" anchor="ctr"/>
          <a:lstStyle/>
          <a:p>
            <a:pPr algn="r" indent="0" marL="0">
              <a:buNone/>
            </a:pPr>
            <a:r>
              <a:rPr lang="en-US" sz="9600" b="1" dirty="0">
                <a:solidFill>
                  <a:srgbClr val="3D3934"/>
                </a:solidFill>
                <a:latin typeface="Arial" pitchFamily="34" charset="0"/>
                <a:ea typeface="Arial" pitchFamily="34" charset="-122"/>
                <a:cs typeface="Arial" pitchFamily="34" charset="-120"/>
              </a:rPr>
              <a:t>2</a:t>
            </a:r>
            <a:endParaRPr lang="en-US" sz="9600" dirty="0"/>
          </a:p>
        </p:txBody>
      </p:sp>
      <p:sp>
        <p:nvSpPr>
          <p:cNvPr id="3" name="Text 1"/>
          <p:cNvSpPr/>
          <p:nvPr/>
        </p:nvSpPr>
        <p:spPr>
          <a:xfrm>
            <a:off x="786384" y="1975104"/>
            <a:ext cx="10618927" cy="274320"/>
          </a:xfrm>
          <a:prstGeom prst="rect">
            <a:avLst/>
          </a:prstGeom>
          <a:noFill/>
          <a:ln/>
        </p:spPr>
        <p:txBody>
          <a:bodyPr wrap="square" lIns="0" tIns="0" rIns="0" bIns="0" rtlCol="0" anchor="ctr"/>
          <a:lstStyle/>
          <a:p>
            <a:pPr indent="0" marL="0">
              <a:buNone/>
            </a:pPr>
            <a:r>
              <a:rPr lang="en-US" sz="1200" b="1" spc="260" kern="0" dirty="0">
                <a:solidFill>
                  <a:srgbClr val="C0402A"/>
                </a:solidFill>
                <a:latin typeface="Arial" pitchFamily="34" charset="0"/>
                <a:ea typeface="Arial" pitchFamily="34" charset="-122"/>
                <a:cs typeface="Arial" pitchFamily="34" charset="-120"/>
              </a:rPr>
              <a:t>BLOCK 2  ·  LAB</a:t>
            </a:r>
            <a:endParaRPr lang="en-US" sz="1200" dirty="0"/>
          </a:p>
        </p:txBody>
      </p:sp>
      <p:sp>
        <p:nvSpPr>
          <p:cNvPr id="4" name="Shape 2"/>
          <p:cNvSpPr/>
          <p:nvPr/>
        </p:nvSpPr>
        <p:spPr>
          <a:xfrm>
            <a:off x="786384" y="2377440"/>
            <a:ext cx="1371600" cy="20117"/>
          </a:xfrm>
          <a:prstGeom prst="rect">
            <a:avLst/>
          </a:prstGeom>
          <a:solidFill>
            <a:srgbClr val="C0402A"/>
          </a:solidFill>
          <a:ln/>
        </p:spPr>
      </p:sp>
      <p:sp>
        <p:nvSpPr>
          <p:cNvPr id="5" name="Text 3"/>
          <p:cNvSpPr/>
          <p:nvPr/>
        </p:nvSpPr>
        <p:spPr>
          <a:xfrm>
            <a:off x="786384" y="2596896"/>
            <a:ext cx="7024421" cy="1188720"/>
          </a:xfrm>
          <a:prstGeom prst="rect">
            <a:avLst/>
          </a:prstGeom>
          <a:noFill/>
          <a:ln/>
        </p:spPr>
        <p:txBody>
          <a:bodyPr wrap="square" lIns="0" tIns="0" rIns="0" bIns="0" rtlCol="0" anchor="ctr"/>
          <a:lstStyle/>
          <a:p>
            <a:pPr indent="0" marL="0">
              <a:lnSpc>
                <a:spcPts val="4000"/>
              </a:lnSpc>
              <a:buNone/>
            </a:pPr>
            <a:r>
              <a:rPr lang="en-US" sz="3600" b="1" dirty="0">
                <a:solidFill>
                  <a:srgbClr val="FAF8F5"/>
                </a:solidFill>
                <a:latin typeface="Arial" pitchFamily="34" charset="0"/>
                <a:ea typeface="Arial" pitchFamily="34" charset="-122"/>
                <a:cs typeface="Arial" pitchFamily="34" charset="-120"/>
              </a:rPr>
              <a:t>Diagnosing Image Failures</a:t>
            </a:r>
            <a:endParaRPr lang="en-US" sz="3600" dirty="0"/>
          </a:p>
        </p:txBody>
      </p:sp>
      <p:sp>
        <p:nvSpPr>
          <p:cNvPr id="6" name="Text 4"/>
          <p:cNvSpPr/>
          <p:nvPr/>
        </p:nvSpPr>
        <p:spPr>
          <a:xfrm>
            <a:off x="786384" y="3895344"/>
            <a:ext cx="6125794" cy="822960"/>
          </a:xfrm>
          <a:prstGeom prst="rect">
            <a:avLst/>
          </a:prstGeom>
          <a:noFill/>
          <a:ln/>
        </p:spPr>
        <p:txBody>
          <a:bodyPr wrap="square" lIns="0" tIns="0" rIns="0" bIns="0" rtlCol="0" anchor="ctr"/>
          <a:lstStyle/>
          <a:p>
            <a:pPr indent="0" marL="0">
              <a:lnSpc>
                <a:spcPts val="2300"/>
              </a:lnSpc>
              <a:buNone/>
            </a:pPr>
            <a:r>
              <a:rPr lang="en-US" sz="1750" dirty="0">
                <a:solidFill>
                  <a:srgbClr val="A8A39B"/>
                </a:solidFill>
                <a:latin typeface="Arial" pitchFamily="34" charset="0"/>
                <a:ea typeface="Arial" pitchFamily="34" charset="-122"/>
                <a:cs typeface="Arial" pitchFamily="34" charset="-120"/>
              </a:rPr>
              <a:t>Work out why your bot failed, then look at the two methods that fix it.</a:t>
            </a:r>
            <a:endParaRPr lang="en-US" sz="1750" dirty="0"/>
          </a:p>
        </p:txBody>
      </p:sp>
      <p:sp>
        <p:nvSpPr>
          <p:cNvPr id="7" name="Text 5"/>
          <p:cNvSpPr/>
          <p:nvPr/>
        </p:nvSpPr>
        <p:spPr>
          <a:xfrm>
            <a:off x="9210751" y="5358384"/>
            <a:ext cx="2194560" cy="310896"/>
          </a:xfrm>
          <a:prstGeom prst="rect">
            <a:avLst/>
          </a:prstGeom>
          <a:noFill/>
          <a:ln/>
        </p:spPr>
        <p:txBody>
          <a:bodyPr wrap="square" lIns="0" tIns="0" rIns="0" bIns="0" rtlCol="0" anchor="ctr"/>
          <a:lstStyle/>
          <a:p>
            <a:pPr algn="r" indent="0" marL="0">
              <a:buNone/>
            </a:pPr>
            <a:r>
              <a:rPr lang="en-US" sz="1450" b="1" spc="180" kern="0" dirty="0">
                <a:solidFill>
                  <a:srgbClr val="C0402A"/>
                </a:solidFill>
                <a:latin typeface="Arial" pitchFamily="34" charset="0"/>
                <a:ea typeface="Arial" pitchFamily="34" charset="-122"/>
                <a:cs typeface="Arial" pitchFamily="34" charset="-120"/>
              </a:rPr>
              <a:t>25 MIN</a:t>
            </a:r>
            <a:endParaRPr lang="en-US" sz="1450" dirty="0"/>
          </a:p>
        </p:txBody>
      </p:sp>
      <p:sp>
        <p:nvSpPr>
          <p:cNvPr id="8" name="Shape 6"/>
          <p:cNvSpPr/>
          <p:nvPr/>
        </p:nvSpPr>
        <p:spPr>
          <a:xfrm>
            <a:off x="786384" y="5358384"/>
            <a:ext cx="585216" cy="292608"/>
          </a:xfrm>
          <a:prstGeom prst="rect">
            <a:avLst/>
          </a:prstGeom>
          <a:solidFill>
            <a:srgbClr val="121212"/>
          </a:solidFill>
          <a:ln w="9525">
            <a:solidFill>
              <a:srgbClr val="45423E"/>
            </a:solidFill>
            <a:prstDash val="solid"/>
          </a:ln>
        </p:spPr>
      </p:sp>
      <p:sp>
        <p:nvSpPr>
          <p:cNvPr id="9" name="Text 7"/>
          <p:cNvSpPr/>
          <p:nvPr/>
        </p:nvSpPr>
        <p:spPr>
          <a:xfrm>
            <a:off x="786384" y="5358384"/>
            <a:ext cx="585216" cy="292608"/>
          </a:xfrm>
          <a:prstGeom prst="rect">
            <a:avLst/>
          </a:prstGeom>
          <a:noFill/>
          <a:ln/>
        </p:spPr>
        <p:txBody>
          <a:bodyPr wrap="square" lIns="0" tIns="0" rIns="0" bIns="0" rtlCol="0" anchor="ctr"/>
          <a:lstStyle/>
          <a:p>
            <a:pPr algn="ctr" indent="0" marL="0">
              <a:buNone/>
            </a:pPr>
            <a:r>
              <a:rPr lang="en-US" sz="1100" b="1" spc="60" kern="0" dirty="0">
                <a:solidFill>
                  <a:srgbClr val="B5B0A8"/>
                </a:solidFill>
                <a:latin typeface="Arial" pitchFamily="34" charset="0"/>
                <a:ea typeface="Arial" pitchFamily="34" charset="-122"/>
                <a:cs typeface="Arial" pitchFamily="34" charset="-120"/>
              </a:rPr>
              <a:t>LV3</a:t>
            </a:r>
            <a:endParaRPr lang="en-US" sz="1100" dirty="0"/>
          </a:p>
        </p:txBody>
      </p:sp>
      <p:sp>
        <p:nvSpPr>
          <p:cNvPr id="10" name="Text 8"/>
          <p:cNvSpPr/>
          <p:nvPr/>
        </p:nvSpPr>
        <p:spPr>
          <a:xfrm>
            <a:off x="10490911" y="6309360"/>
            <a:ext cx="914400" cy="274320"/>
          </a:xfrm>
          <a:prstGeom prst="rect">
            <a:avLst/>
          </a:prstGeom>
          <a:noFill/>
          <a:ln/>
        </p:spPr>
        <p:txBody>
          <a:bodyPr wrap="square" lIns="0" tIns="0" rIns="0" bIns="0" rtlCol="0" anchor="ctr"/>
          <a:lstStyle/>
          <a:p>
            <a:pPr algn="r" indent="0" marL="0">
              <a:buNone/>
            </a:pPr>
            <a:r>
              <a:rPr lang="en-US" sz="1200" dirty="0">
                <a:solidFill>
                  <a:srgbClr val="56534E"/>
                </a:solidFill>
                <a:latin typeface="Arial" pitchFamily="34" charset="0"/>
                <a:ea typeface="Arial" pitchFamily="34" charset="-122"/>
                <a:cs typeface="Arial" pitchFamily="34" charset="-120"/>
              </a:rPr>
              <a:t>05</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AF8F5"/>
        </a:solidFill>
      </p:bgPr>
    </p:bg>
    <p:spTree>
      <p:nvGrpSpPr>
        <p:cNvPr id="1" name=""/>
        <p:cNvGrpSpPr/>
        <p:nvPr/>
      </p:nvGrpSpPr>
      <p:grpSpPr>
        <a:xfrm>
          <a:off x="0" y="0"/>
          <a:ext cx="0" cy="0"/>
          <a:chOff x="0" y="0"/>
          <a:chExt cx="0" cy="0"/>
        </a:xfrm>
      </p:grpSpPr>
      <p:sp>
        <p:nvSpPr>
          <p:cNvPr id="2" name="Text 0"/>
          <p:cNvSpPr/>
          <p:nvPr/>
        </p:nvSpPr>
        <p:spPr>
          <a:xfrm>
            <a:off x="786384" y="402336"/>
            <a:ext cx="3657600" cy="237744"/>
          </a:xfrm>
          <a:prstGeom prst="rect">
            <a:avLst/>
          </a:prstGeom>
          <a:noFill/>
          <a:ln/>
        </p:spPr>
        <p:txBody>
          <a:bodyPr wrap="square" lIns="0" tIns="0" rIns="0" bIns="0" rtlCol="0" anchor="ctr"/>
          <a:lstStyle/>
          <a:p>
            <a:pPr indent="0" marL="0">
              <a:buNone/>
            </a:pPr>
            <a:r>
              <a:rPr lang="en-US" sz="950" b="1" spc="240" kern="0" dirty="0">
                <a:solidFill>
                  <a:srgbClr val="9C978E"/>
                </a:solidFill>
                <a:latin typeface="Arial" pitchFamily="34" charset="0"/>
                <a:ea typeface="Arial" pitchFamily="34" charset="-122"/>
                <a:cs typeface="Arial" pitchFamily="34" charset="-120"/>
              </a:rPr>
              <a:t>THEORY</a:t>
            </a:r>
            <a:endParaRPr lang="en-US" sz="950" dirty="0"/>
          </a:p>
        </p:txBody>
      </p:sp>
      <p:sp>
        <p:nvSpPr>
          <p:cNvPr id="3" name="Text 1"/>
          <p:cNvSpPr/>
          <p:nvPr/>
        </p:nvSpPr>
        <p:spPr>
          <a:xfrm>
            <a:off x="786384" y="713232"/>
            <a:ext cx="7923047" cy="676656"/>
          </a:xfrm>
          <a:prstGeom prst="rect">
            <a:avLst/>
          </a:prstGeom>
          <a:noFill/>
          <a:ln/>
        </p:spPr>
        <p:txBody>
          <a:bodyPr wrap="square" lIns="0" tIns="0" rIns="0" bIns="0" rtlCol="0" anchor="ctr"/>
          <a:lstStyle/>
          <a:p>
            <a:pPr indent="0" marL="0">
              <a:buNone/>
            </a:pPr>
            <a:r>
              <a:rPr lang="en-US" sz="2900" b="1" dirty="0">
                <a:solidFill>
                  <a:srgbClr val="141414"/>
                </a:solidFill>
                <a:latin typeface="Arial" pitchFamily="34" charset="0"/>
                <a:ea typeface="Arial" pitchFamily="34" charset="-122"/>
                <a:cs typeface="Arial" pitchFamily="34" charset="-120"/>
              </a:rPr>
              <a:t>How Vision Models Work</a:t>
            </a:r>
            <a:endParaRPr lang="en-US" sz="2900" dirty="0"/>
          </a:p>
        </p:txBody>
      </p:sp>
      <p:sp>
        <p:nvSpPr>
          <p:cNvPr id="4" name="Shape 2"/>
          <p:cNvSpPr/>
          <p:nvPr/>
        </p:nvSpPr>
        <p:spPr>
          <a:xfrm>
            <a:off x="10801807" y="877824"/>
            <a:ext cx="585216" cy="292608"/>
          </a:xfrm>
          <a:prstGeom prst="rect">
            <a:avLst/>
          </a:prstGeom>
          <a:solidFill>
            <a:srgbClr val="FAF8F5"/>
          </a:solidFill>
          <a:ln w="9525">
            <a:solidFill>
              <a:srgbClr val="D5D1CA"/>
            </a:solidFill>
            <a:prstDash val="solid"/>
          </a:ln>
        </p:spPr>
      </p:sp>
      <p:sp>
        <p:nvSpPr>
          <p:cNvPr id="5" name="Text 3"/>
          <p:cNvSpPr/>
          <p:nvPr/>
        </p:nvSpPr>
        <p:spPr>
          <a:xfrm>
            <a:off x="10801807" y="877824"/>
            <a:ext cx="585216" cy="292608"/>
          </a:xfrm>
          <a:prstGeom prst="rect">
            <a:avLst/>
          </a:prstGeom>
          <a:noFill/>
          <a:ln/>
        </p:spPr>
        <p:txBody>
          <a:bodyPr wrap="square" lIns="0" tIns="0" rIns="0" bIns="0" rtlCol="0" anchor="ctr"/>
          <a:lstStyle/>
          <a:p>
            <a:pPr algn="ctr" indent="0" marL="0">
              <a:buNone/>
            </a:pPr>
            <a:r>
              <a:rPr lang="en-US" sz="1100" b="1" spc="60" kern="0" dirty="0">
                <a:solidFill>
                  <a:srgbClr val="4A4741"/>
                </a:solidFill>
                <a:latin typeface="Arial" pitchFamily="34" charset="0"/>
                <a:ea typeface="Arial" pitchFamily="34" charset="-122"/>
                <a:cs typeface="Arial" pitchFamily="34" charset="-120"/>
              </a:rPr>
              <a:t>LV3</a:t>
            </a:r>
            <a:endParaRPr lang="en-US" sz="1100" dirty="0"/>
          </a:p>
        </p:txBody>
      </p:sp>
      <p:sp>
        <p:nvSpPr>
          <p:cNvPr id="6" name="Shape 4"/>
          <p:cNvSpPr/>
          <p:nvPr/>
        </p:nvSpPr>
        <p:spPr>
          <a:xfrm>
            <a:off x="786384" y="1426464"/>
            <a:ext cx="10618927" cy="10973"/>
          </a:xfrm>
          <a:prstGeom prst="rect">
            <a:avLst/>
          </a:prstGeom>
          <a:solidFill>
            <a:srgbClr val="D5D1CA"/>
          </a:solidFill>
          <a:ln/>
        </p:spPr>
      </p:sp>
      <p:sp>
        <p:nvSpPr>
          <p:cNvPr id="7" name="Text 5"/>
          <p:cNvSpPr/>
          <p:nvPr/>
        </p:nvSpPr>
        <p:spPr>
          <a:xfrm>
            <a:off x="10490911" y="6309360"/>
            <a:ext cx="914400" cy="274320"/>
          </a:xfrm>
          <a:prstGeom prst="rect">
            <a:avLst/>
          </a:prstGeom>
          <a:noFill/>
          <a:ln/>
        </p:spPr>
        <p:txBody>
          <a:bodyPr wrap="square" lIns="0" tIns="0" rIns="0" bIns="0" rtlCol="0" anchor="ctr"/>
          <a:lstStyle/>
          <a:p>
            <a:pPr algn="r" indent="0" marL="0">
              <a:buNone/>
            </a:pPr>
            <a:r>
              <a:rPr lang="en-US" sz="1200" dirty="0">
                <a:solidFill>
                  <a:srgbClr val="9C978E"/>
                </a:solidFill>
                <a:latin typeface="Arial" pitchFamily="34" charset="0"/>
                <a:ea typeface="Arial" pitchFamily="34" charset="-122"/>
                <a:cs typeface="Arial" pitchFamily="34" charset="-120"/>
              </a:rPr>
              <a:t>06</a:t>
            </a:r>
            <a:endParaRPr lang="en-US" sz="1200" dirty="0"/>
          </a:p>
        </p:txBody>
      </p:sp>
      <p:sp>
        <p:nvSpPr>
          <p:cNvPr id="9" name="Shape 6"/>
          <p:cNvSpPr/>
          <p:nvPr/>
        </p:nvSpPr>
        <p:spPr>
          <a:xfrm>
            <a:off x="786384" y="1861718"/>
            <a:ext cx="2448992" cy="20921"/>
          </a:xfrm>
          <a:prstGeom prst="rect">
            <a:avLst/>
          </a:prstGeom>
          <a:solidFill>
            <a:srgbClr val="141414"/>
          </a:solidFill>
          <a:ln/>
        </p:spPr>
      </p:sp>
      <p:sp>
        <p:nvSpPr>
          <p:cNvPr id="10" name="Text 7"/>
          <p:cNvSpPr/>
          <p:nvPr/>
        </p:nvSpPr>
        <p:spPr>
          <a:xfrm>
            <a:off x="786384" y="2013875"/>
            <a:ext cx="2448992" cy="456468"/>
          </a:xfrm>
          <a:prstGeom prst="rect">
            <a:avLst/>
          </a:prstGeom>
          <a:noFill/>
          <a:ln/>
        </p:spPr>
        <p:txBody>
          <a:bodyPr wrap="square" lIns="0" tIns="0" rIns="0" bIns="0" rtlCol="0" anchor="ctr"/>
          <a:lstStyle/>
          <a:p>
            <a:pPr indent="0" marL="0">
              <a:lnSpc>
                <a:spcPts val="1900"/>
              </a:lnSpc>
              <a:buNone/>
            </a:pPr>
            <a:r>
              <a:rPr lang="en-US" sz="1750" b="1" dirty="0">
                <a:solidFill>
                  <a:srgbClr val="141414"/>
                </a:solidFill>
                <a:latin typeface="Arial" pitchFamily="34" charset="0"/>
                <a:ea typeface="Arial" pitchFamily="34" charset="-122"/>
                <a:cs typeface="Arial" pitchFamily="34" charset="-120"/>
              </a:rPr>
              <a:t>Cut into patches</a:t>
            </a:r>
            <a:endParaRPr lang="en-US" sz="1750" dirty="0"/>
          </a:p>
        </p:txBody>
      </p:sp>
      <p:sp>
        <p:nvSpPr>
          <p:cNvPr id="11" name="Text 8"/>
          <p:cNvSpPr/>
          <p:nvPr/>
        </p:nvSpPr>
        <p:spPr>
          <a:xfrm>
            <a:off x="786384" y="2508382"/>
            <a:ext cx="2448992" cy="551566"/>
          </a:xfrm>
          <a:prstGeom prst="rect">
            <a:avLst/>
          </a:prstGeom>
          <a:noFill/>
          <a:ln/>
        </p:spPr>
        <p:txBody>
          <a:bodyPr wrap="square" lIns="0" tIns="0" rIns="0" bIns="0" rtlCol="0" anchor="ctr"/>
          <a:lstStyle/>
          <a:p>
            <a:pPr indent="0" marL="0">
              <a:lnSpc>
                <a:spcPts val="1800"/>
              </a:lnSpc>
              <a:buNone/>
            </a:pPr>
            <a:r>
              <a:rPr lang="en-US" sz="1350" dirty="0">
                <a:solidFill>
                  <a:srgbClr val="6E6A63"/>
                </a:solidFill>
                <a:latin typeface="Arial" pitchFamily="34" charset="0"/>
                <a:ea typeface="Arial" pitchFamily="34" charset="-122"/>
                <a:cs typeface="Arial" pitchFamily="34" charset="-120"/>
              </a:rPr>
              <a:t>A grid of small squares</a:t>
            </a:r>
            <a:endParaRPr lang="en-US" sz="1350" dirty="0"/>
          </a:p>
        </p:txBody>
      </p:sp>
      <p:sp>
        <p:nvSpPr>
          <p:cNvPr id="12" name="Text 9"/>
          <p:cNvSpPr/>
          <p:nvPr/>
        </p:nvSpPr>
        <p:spPr>
          <a:xfrm>
            <a:off x="3235376" y="1937796"/>
            <a:ext cx="274320" cy="399410"/>
          </a:xfrm>
          <a:prstGeom prst="rect">
            <a:avLst/>
          </a:prstGeom>
          <a:noFill/>
          <a:ln/>
        </p:spPr>
        <p:txBody>
          <a:bodyPr wrap="square" lIns="0" tIns="0" rIns="0" bIns="0" rtlCol="0" anchor="ctr"/>
          <a:lstStyle/>
          <a:p>
            <a:pPr algn="ctr" indent="0" marL="0">
              <a:buNone/>
            </a:pPr>
            <a:r>
              <a:rPr lang="en-US" sz="1400" dirty="0">
                <a:solidFill>
                  <a:srgbClr val="9C978E"/>
                </a:solidFill>
                <a:latin typeface="Arial" pitchFamily="34" charset="0"/>
                <a:ea typeface="Arial" pitchFamily="34" charset="-122"/>
                <a:cs typeface="Arial" pitchFamily="34" charset="-120"/>
              </a:rPr>
              <a:t>→</a:t>
            </a:r>
            <a:endParaRPr lang="en-US" sz="1400" dirty="0"/>
          </a:p>
        </p:txBody>
      </p:sp>
      <p:sp>
        <p:nvSpPr>
          <p:cNvPr id="13" name="Shape 10"/>
          <p:cNvSpPr/>
          <p:nvPr/>
        </p:nvSpPr>
        <p:spPr>
          <a:xfrm>
            <a:off x="3509696" y="1861718"/>
            <a:ext cx="2448992" cy="20921"/>
          </a:xfrm>
          <a:prstGeom prst="rect">
            <a:avLst/>
          </a:prstGeom>
          <a:solidFill>
            <a:srgbClr val="141414"/>
          </a:solidFill>
          <a:ln/>
        </p:spPr>
      </p:sp>
      <p:sp>
        <p:nvSpPr>
          <p:cNvPr id="14" name="Text 11"/>
          <p:cNvSpPr/>
          <p:nvPr/>
        </p:nvSpPr>
        <p:spPr>
          <a:xfrm>
            <a:off x="3509696" y="2013875"/>
            <a:ext cx="2448992" cy="456468"/>
          </a:xfrm>
          <a:prstGeom prst="rect">
            <a:avLst/>
          </a:prstGeom>
          <a:noFill/>
          <a:ln/>
        </p:spPr>
        <p:txBody>
          <a:bodyPr wrap="square" lIns="0" tIns="0" rIns="0" bIns="0" rtlCol="0" anchor="ctr"/>
          <a:lstStyle/>
          <a:p>
            <a:pPr indent="0" marL="0">
              <a:lnSpc>
                <a:spcPts val="1900"/>
              </a:lnSpc>
              <a:buNone/>
            </a:pPr>
            <a:r>
              <a:rPr lang="en-US" sz="1750" b="1" dirty="0">
                <a:solidFill>
                  <a:srgbClr val="141414"/>
                </a:solidFill>
                <a:latin typeface="Arial" pitchFamily="34" charset="0"/>
                <a:ea typeface="Arial" pitchFamily="34" charset="-122"/>
                <a:cs typeface="Arial" pitchFamily="34" charset="-120"/>
              </a:rPr>
              <a:t>Embed each patch</a:t>
            </a:r>
            <a:endParaRPr lang="en-US" sz="1750" dirty="0"/>
          </a:p>
        </p:txBody>
      </p:sp>
      <p:sp>
        <p:nvSpPr>
          <p:cNvPr id="15" name="Text 12"/>
          <p:cNvSpPr/>
          <p:nvPr/>
        </p:nvSpPr>
        <p:spPr>
          <a:xfrm>
            <a:off x="3509696" y="2508382"/>
            <a:ext cx="2448992" cy="551566"/>
          </a:xfrm>
          <a:prstGeom prst="rect">
            <a:avLst/>
          </a:prstGeom>
          <a:noFill/>
          <a:ln/>
        </p:spPr>
        <p:txBody>
          <a:bodyPr wrap="square" lIns="0" tIns="0" rIns="0" bIns="0" rtlCol="0" anchor="ctr"/>
          <a:lstStyle/>
          <a:p>
            <a:pPr indent="0" marL="0">
              <a:lnSpc>
                <a:spcPts val="1800"/>
              </a:lnSpc>
              <a:buNone/>
            </a:pPr>
            <a:r>
              <a:rPr lang="en-US" sz="1350" dirty="0">
                <a:solidFill>
                  <a:srgbClr val="6E6A63"/>
                </a:solidFill>
                <a:latin typeface="Arial" pitchFamily="34" charset="0"/>
                <a:ea typeface="Arial" pitchFamily="34" charset="-122"/>
                <a:cs typeface="Arial" pitchFamily="34" charset="-120"/>
              </a:rPr>
              <a:t>Every square becomes a vector</a:t>
            </a:r>
            <a:endParaRPr lang="en-US" sz="1350" dirty="0"/>
          </a:p>
        </p:txBody>
      </p:sp>
      <p:sp>
        <p:nvSpPr>
          <p:cNvPr id="16" name="Text 13"/>
          <p:cNvSpPr/>
          <p:nvPr/>
        </p:nvSpPr>
        <p:spPr>
          <a:xfrm>
            <a:off x="5958688" y="1937796"/>
            <a:ext cx="274320" cy="399410"/>
          </a:xfrm>
          <a:prstGeom prst="rect">
            <a:avLst/>
          </a:prstGeom>
          <a:noFill/>
          <a:ln/>
        </p:spPr>
        <p:txBody>
          <a:bodyPr wrap="square" lIns="0" tIns="0" rIns="0" bIns="0" rtlCol="0" anchor="ctr"/>
          <a:lstStyle/>
          <a:p>
            <a:pPr algn="ctr" indent="0" marL="0">
              <a:buNone/>
            </a:pPr>
            <a:r>
              <a:rPr lang="en-US" sz="1400" dirty="0">
                <a:solidFill>
                  <a:srgbClr val="9C978E"/>
                </a:solidFill>
                <a:latin typeface="Arial" pitchFamily="34" charset="0"/>
                <a:ea typeface="Arial" pitchFamily="34" charset="-122"/>
                <a:cs typeface="Arial" pitchFamily="34" charset="-120"/>
              </a:rPr>
              <a:t>→</a:t>
            </a:r>
            <a:endParaRPr lang="en-US" sz="1400" dirty="0"/>
          </a:p>
        </p:txBody>
      </p:sp>
      <p:sp>
        <p:nvSpPr>
          <p:cNvPr id="17" name="Shape 14"/>
          <p:cNvSpPr/>
          <p:nvPr/>
        </p:nvSpPr>
        <p:spPr>
          <a:xfrm>
            <a:off x="6233008" y="1861718"/>
            <a:ext cx="2448992" cy="20921"/>
          </a:xfrm>
          <a:prstGeom prst="rect">
            <a:avLst/>
          </a:prstGeom>
          <a:solidFill>
            <a:srgbClr val="141414"/>
          </a:solidFill>
          <a:ln/>
        </p:spPr>
      </p:sp>
      <p:sp>
        <p:nvSpPr>
          <p:cNvPr id="18" name="Text 15"/>
          <p:cNvSpPr/>
          <p:nvPr/>
        </p:nvSpPr>
        <p:spPr>
          <a:xfrm>
            <a:off x="6233008" y="2013875"/>
            <a:ext cx="2448992" cy="456468"/>
          </a:xfrm>
          <a:prstGeom prst="rect">
            <a:avLst/>
          </a:prstGeom>
          <a:noFill/>
          <a:ln/>
        </p:spPr>
        <p:txBody>
          <a:bodyPr wrap="square" lIns="0" tIns="0" rIns="0" bIns="0" rtlCol="0" anchor="ctr"/>
          <a:lstStyle/>
          <a:p>
            <a:pPr indent="0" marL="0">
              <a:lnSpc>
                <a:spcPts val="1900"/>
              </a:lnSpc>
              <a:buNone/>
            </a:pPr>
            <a:r>
              <a:rPr lang="en-US" sz="1750" b="1" dirty="0">
                <a:solidFill>
                  <a:srgbClr val="141414"/>
                </a:solidFill>
                <a:latin typeface="Arial" pitchFamily="34" charset="0"/>
                <a:ea typeface="Arial" pitchFamily="34" charset="-122"/>
                <a:cs typeface="Arial" pitchFamily="34" charset="-120"/>
              </a:rPr>
              <a:t>Same transformer</a:t>
            </a:r>
            <a:endParaRPr lang="en-US" sz="1750" dirty="0"/>
          </a:p>
        </p:txBody>
      </p:sp>
      <p:sp>
        <p:nvSpPr>
          <p:cNvPr id="19" name="Text 16"/>
          <p:cNvSpPr/>
          <p:nvPr/>
        </p:nvSpPr>
        <p:spPr>
          <a:xfrm>
            <a:off x="6233008" y="2508382"/>
            <a:ext cx="2448992" cy="551566"/>
          </a:xfrm>
          <a:prstGeom prst="rect">
            <a:avLst/>
          </a:prstGeom>
          <a:noFill/>
          <a:ln/>
        </p:spPr>
        <p:txBody>
          <a:bodyPr wrap="square" lIns="0" tIns="0" rIns="0" bIns="0" rtlCol="0" anchor="ctr"/>
          <a:lstStyle/>
          <a:p>
            <a:pPr indent="0" marL="0">
              <a:lnSpc>
                <a:spcPts val="1800"/>
              </a:lnSpc>
              <a:buNone/>
            </a:pPr>
            <a:r>
              <a:rPr lang="en-US" sz="1350" dirty="0">
                <a:solidFill>
                  <a:srgbClr val="6E6A63"/>
                </a:solidFill>
                <a:latin typeface="Arial" pitchFamily="34" charset="0"/>
                <a:ea typeface="Arial" pitchFamily="34" charset="-122"/>
                <a:cs typeface="Arial" pitchFamily="34" charset="-120"/>
              </a:rPr>
              <a:t>Patches treated like tokens</a:t>
            </a:r>
            <a:endParaRPr lang="en-US" sz="1350" dirty="0"/>
          </a:p>
        </p:txBody>
      </p:sp>
      <p:sp>
        <p:nvSpPr>
          <p:cNvPr id="20" name="Text 17"/>
          <p:cNvSpPr/>
          <p:nvPr/>
        </p:nvSpPr>
        <p:spPr>
          <a:xfrm>
            <a:off x="8681999" y="1937796"/>
            <a:ext cx="274320" cy="399410"/>
          </a:xfrm>
          <a:prstGeom prst="rect">
            <a:avLst/>
          </a:prstGeom>
          <a:noFill/>
          <a:ln/>
        </p:spPr>
        <p:txBody>
          <a:bodyPr wrap="square" lIns="0" tIns="0" rIns="0" bIns="0" rtlCol="0" anchor="ctr"/>
          <a:lstStyle/>
          <a:p>
            <a:pPr algn="ctr" indent="0" marL="0">
              <a:buNone/>
            </a:pPr>
            <a:r>
              <a:rPr lang="en-US" sz="1400" dirty="0">
                <a:solidFill>
                  <a:srgbClr val="9C978E"/>
                </a:solidFill>
                <a:latin typeface="Arial" pitchFamily="34" charset="0"/>
                <a:ea typeface="Arial" pitchFamily="34" charset="-122"/>
                <a:cs typeface="Arial" pitchFamily="34" charset="-120"/>
              </a:rPr>
              <a:t>→</a:t>
            </a:r>
            <a:endParaRPr lang="en-US" sz="1400" dirty="0"/>
          </a:p>
        </p:txBody>
      </p:sp>
      <p:sp>
        <p:nvSpPr>
          <p:cNvPr id="21" name="Shape 18"/>
          <p:cNvSpPr/>
          <p:nvPr/>
        </p:nvSpPr>
        <p:spPr>
          <a:xfrm>
            <a:off x="8956319" y="1861718"/>
            <a:ext cx="2448992" cy="20921"/>
          </a:xfrm>
          <a:prstGeom prst="rect">
            <a:avLst/>
          </a:prstGeom>
          <a:solidFill>
            <a:srgbClr val="141414"/>
          </a:solidFill>
          <a:ln/>
        </p:spPr>
      </p:sp>
      <p:sp>
        <p:nvSpPr>
          <p:cNvPr id="22" name="Text 19"/>
          <p:cNvSpPr/>
          <p:nvPr/>
        </p:nvSpPr>
        <p:spPr>
          <a:xfrm>
            <a:off x="8956319" y="2013875"/>
            <a:ext cx="2448992" cy="456468"/>
          </a:xfrm>
          <a:prstGeom prst="rect">
            <a:avLst/>
          </a:prstGeom>
          <a:noFill/>
          <a:ln/>
        </p:spPr>
        <p:txBody>
          <a:bodyPr wrap="square" lIns="0" tIns="0" rIns="0" bIns="0" rtlCol="0" anchor="ctr"/>
          <a:lstStyle/>
          <a:p>
            <a:pPr indent="0" marL="0">
              <a:lnSpc>
                <a:spcPts val="1900"/>
              </a:lnSpc>
              <a:buNone/>
            </a:pPr>
            <a:r>
              <a:rPr lang="en-US" sz="1750" b="1" dirty="0">
                <a:solidFill>
                  <a:srgbClr val="141414"/>
                </a:solidFill>
                <a:latin typeface="Arial" pitchFamily="34" charset="0"/>
                <a:ea typeface="Arial" pitchFamily="34" charset="-122"/>
                <a:cs typeface="Arial" pitchFamily="34" charset="-120"/>
              </a:rPr>
              <a:t>Generate text</a:t>
            </a:r>
            <a:endParaRPr lang="en-US" sz="1750" dirty="0"/>
          </a:p>
        </p:txBody>
      </p:sp>
      <p:sp>
        <p:nvSpPr>
          <p:cNvPr id="23" name="Text 20"/>
          <p:cNvSpPr/>
          <p:nvPr/>
        </p:nvSpPr>
        <p:spPr>
          <a:xfrm>
            <a:off x="8956319" y="2508382"/>
            <a:ext cx="2448992" cy="551566"/>
          </a:xfrm>
          <a:prstGeom prst="rect">
            <a:avLst/>
          </a:prstGeom>
          <a:noFill/>
          <a:ln/>
        </p:spPr>
        <p:txBody>
          <a:bodyPr wrap="square" lIns="0" tIns="0" rIns="0" bIns="0" rtlCol="0" anchor="ctr"/>
          <a:lstStyle/>
          <a:p>
            <a:pPr indent="0" marL="0">
              <a:lnSpc>
                <a:spcPts val="1800"/>
              </a:lnSpc>
              <a:buNone/>
            </a:pPr>
            <a:r>
              <a:rPr lang="en-US" sz="1350" dirty="0">
                <a:solidFill>
                  <a:srgbClr val="6E6A63"/>
                </a:solidFill>
                <a:latin typeface="Arial" pitchFamily="34" charset="0"/>
                <a:ea typeface="Arial" pitchFamily="34" charset="-122"/>
                <a:cs typeface="Arial" pitchFamily="34" charset="-120"/>
              </a:rPr>
              <a:t>Word by word, as before</a:t>
            </a:r>
            <a:endParaRPr lang="en-US" sz="1350" dirty="0"/>
          </a:p>
        </p:txBody>
      </p:sp>
      <p:sp>
        <p:nvSpPr>
          <p:cNvPr id="24" name="Text 21"/>
          <p:cNvSpPr/>
          <p:nvPr/>
        </p:nvSpPr>
        <p:spPr>
          <a:xfrm>
            <a:off x="786384" y="3440339"/>
            <a:ext cx="9981792" cy="665683"/>
          </a:xfrm>
          <a:prstGeom prst="rect">
            <a:avLst/>
          </a:prstGeom>
          <a:noFill/>
          <a:ln/>
        </p:spPr>
        <p:txBody>
          <a:bodyPr wrap="square" lIns="0" tIns="0" rIns="0" bIns="0" rtlCol="0" anchor="ctr"/>
          <a:lstStyle/>
          <a:p>
            <a:pPr indent="0" marL="0">
              <a:lnSpc>
                <a:spcPts val="2400"/>
              </a:lnSpc>
              <a:buNone/>
            </a:pPr>
            <a:r>
              <a:rPr lang="en-US" sz="1650" dirty="0">
                <a:solidFill>
                  <a:srgbClr val="141414"/>
                </a:solidFill>
                <a:latin typeface="Arial" pitchFamily="34" charset="0"/>
                <a:ea typeface="Arial" pitchFamily="34" charset="-122"/>
                <a:cs typeface="Arial" pitchFamily="34" charset="-120"/>
              </a:rPr>
              <a:t>The image becomes a sequence of vectors and passes through the same network that handles text. There is no separate text-reading component inside the model.</a:t>
            </a:r>
            <a:endParaRPr lang="en-US" sz="1650" dirty="0"/>
          </a:p>
        </p:txBody>
      </p:sp>
      <p:sp>
        <p:nvSpPr>
          <p:cNvPr id="25" name="Shape 22"/>
          <p:cNvSpPr/>
          <p:nvPr/>
        </p:nvSpPr>
        <p:spPr>
          <a:xfrm>
            <a:off x="786384" y="4201119"/>
            <a:ext cx="5163160" cy="17118"/>
          </a:xfrm>
          <a:prstGeom prst="rect">
            <a:avLst/>
          </a:prstGeom>
          <a:solidFill>
            <a:srgbClr val="141414"/>
          </a:solidFill>
          <a:ln/>
        </p:spPr>
      </p:sp>
      <p:sp>
        <p:nvSpPr>
          <p:cNvPr id="26" name="Text 23"/>
          <p:cNvSpPr/>
          <p:nvPr/>
        </p:nvSpPr>
        <p:spPr>
          <a:xfrm>
            <a:off x="786384" y="4353276"/>
            <a:ext cx="5163160" cy="357937"/>
          </a:xfrm>
          <a:prstGeom prst="rect">
            <a:avLst/>
          </a:prstGeom>
          <a:noFill/>
          <a:ln/>
        </p:spPr>
        <p:txBody>
          <a:bodyPr wrap="square" lIns="0" tIns="0" rIns="0" bIns="0" rtlCol="0" anchor="ctr"/>
          <a:lstStyle/>
          <a:p>
            <a:pPr indent="0" marL="0">
              <a:lnSpc>
                <a:spcPts val="2350"/>
              </a:lnSpc>
              <a:buNone/>
            </a:pPr>
            <a:r>
              <a:rPr lang="en-US" sz="1950" b="1" dirty="0">
                <a:solidFill>
                  <a:srgbClr val="141414"/>
                </a:solidFill>
                <a:latin typeface="Arial" pitchFamily="34" charset="0"/>
                <a:ea typeface="Arial" pitchFamily="34" charset="-122"/>
                <a:cs typeface="Arial" pitchFamily="34" charset="-120"/>
              </a:rPr>
              <a:t>Consequence 1</a:t>
            </a:r>
            <a:endParaRPr lang="en-US" sz="1950" dirty="0"/>
          </a:p>
        </p:txBody>
      </p:sp>
      <p:sp>
        <p:nvSpPr>
          <p:cNvPr id="27" name="Text 24"/>
          <p:cNvSpPr/>
          <p:nvPr/>
        </p:nvSpPr>
        <p:spPr>
          <a:xfrm>
            <a:off x="786384" y="4787290"/>
            <a:ext cx="5163160" cy="899465"/>
          </a:xfrm>
          <a:prstGeom prst="rect">
            <a:avLst/>
          </a:prstGeom>
          <a:noFill/>
          <a:ln/>
        </p:spPr>
        <p:txBody>
          <a:bodyPr wrap="square" lIns="0" tIns="0" rIns="0" bIns="0" rtlCol="0" anchor="t"/>
          <a:lstStyle/>
          <a:p>
            <a:pPr indent="0" marL="0">
              <a:lnSpc>
                <a:spcPts val="2150"/>
              </a:lnSpc>
              <a:buNone/>
            </a:pPr>
            <a:r>
              <a:rPr lang="en-US" sz="1450" dirty="0">
                <a:solidFill>
                  <a:srgbClr val="141414"/>
                </a:solidFill>
                <a:latin typeface="Arial" pitchFamily="34" charset="0"/>
                <a:ea typeface="Arial" pitchFamily="34" charset="-122"/>
                <a:cs typeface="Arial" pitchFamily="34" charset="-120"/>
              </a:rPr>
              <a:t>The description is generated text, so it is a prediction, with the same properties covered in Workshop 1. It can paraphrase, approximate and invent.</a:t>
            </a:r>
            <a:endParaRPr lang="en-US" sz="1450" dirty="0"/>
          </a:p>
        </p:txBody>
      </p:sp>
      <p:sp>
        <p:nvSpPr>
          <p:cNvPr id="28" name="Shape 25"/>
          <p:cNvSpPr/>
          <p:nvPr/>
        </p:nvSpPr>
        <p:spPr>
          <a:xfrm>
            <a:off x="6242152" y="4201119"/>
            <a:ext cx="5163160" cy="1847007"/>
          </a:xfrm>
          <a:prstGeom prst="rect">
            <a:avLst/>
          </a:prstGeom>
          <a:solidFill>
            <a:srgbClr val="F7E6E0"/>
          </a:solidFill>
          <a:ln/>
        </p:spPr>
      </p:sp>
      <p:sp>
        <p:nvSpPr>
          <p:cNvPr id="29" name="Shape 26"/>
          <p:cNvSpPr/>
          <p:nvPr/>
        </p:nvSpPr>
        <p:spPr>
          <a:xfrm>
            <a:off x="6479896" y="4429354"/>
            <a:ext cx="4687672" cy="22823"/>
          </a:xfrm>
          <a:prstGeom prst="rect">
            <a:avLst/>
          </a:prstGeom>
          <a:solidFill>
            <a:srgbClr val="C0402A"/>
          </a:solidFill>
          <a:ln/>
        </p:spPr>
      </p:sp>
      <p:sp>
        <p:nvSpPr>
          <p:cNvPr id="30" name="Text 27"/>
          <p:cNvSpPr/>
          <p:nvPr/>
        </p:nvSpPr>
        <p:spPr>
          <a:xfrm>
            <a:off x="6479896" y="4581510"/>
            <a:ext cx="4687672" cy="357937"/>
          </a:xfrm>
          <a:prstGeom prst="rect">
            <a:avLst/>
          </a:prstGeom>
          <a:noFill/>
          <a:ln/>
        </p:spPr>
        <p:txBody>
          <a:bodyPr wrap="square" lIns="0" tIns="0" rIns="0" bIns="0" rtlCol="0" anchor="ctr"/>
          <a:lstStyle/>
          <a:p>
            <a:pPr indent="0" marL="0">
              <a:lnSpc>
                <a:spcPts val="2350"/>
              </a:lnSpc>
              <a:buNone/>
            </a:pPr>
            <a:r>
              <a:rPr lang="en-US" sz="1950" b="1" dirty="0">
                <a:solidFill>
                  <a:srgbClr val="141414"/>
                </a:solidFill>
                <a:latin typeface="Arial" pitchFamily="34" charset="0"/>
                <a:ea typeface="Arial" pitchFamily="34" charset="-122"/>
                <a:cs typeface="Arial" pitchFamily="34" charset="-120"/>
              </a:rPr>
              <a:t>Consequence 2</a:t>
            </a:r>
            <a:endParaRPr lang="en-US" sz="1950" dirty="0"/>
          </a:p>
        </p:txBody>
      </p:sp>
      <p:sp>
        <p:nvSpPr>
          <p:cNvPr id="31" name="Text 28"/>
          <p:cNvSpPr/>
          <p:nvPr/>
        </p:nvSpPr>
        <p:spPr>
          <a:xfrm>
            <a:off x="6479896" y="5015525"/>
            <a:ext cx="4687672" cy="899465"/>
          </a:xfrm>
          <a:prstGeom prst="rect">
            <a:avLst/>
          </a:prstGeom>
          <a:noFill/>
          <a:ln/>
        </p:spPr>
        <p:txBody>
          <a:bodyPr wrap="square" lIns="0" tIns="0" rIns="0" bIns="0" rtlCol="0" anchor="t"/>
          <a:lstStyle/>
          <a:p>
            <a:pPr indent="0" marL="0">
              <a:lnSpc>
                <a:spcPts val="2150"/>
              </a:lnSpc>
              <a:buNone/>
            </a:pPr>
            <a:r>
              <a:rPr lang="en-US" sz="1450" dirty="0">
                <a:solidFill>
                  <a:srgbClr val="141414"/>
                </a:solidFill>
                <a:latin typeface="Arial" pitchFamily="34" charset="0"/>
                <a:ea typeface="Arial" pitchFamily="34" charset="-122"/>
                <a:cs typeface="Arial" pitchFamily="34" charset="-120"/>
              </a:rPr>
              <a:t>Text smaller than one patch cannot be resolved. If a poster is downscaled to fit the input size, its small print is lost before the model sees it.</a:t>
            </a:r>
            <a:endParaRPr lang="en-US" sz="1450" dirty="0"/>
          </a:p>
        </p:txBody>
      </p:sp>
      <p:sp>
        <p:nvSpPr>
          <p:cNvPr id="32" name="Shape 29"/>
          <p:cNvSpPr/>
          <p:nvPr/>
        </p:nvSpPr>
        <p:spPr>
          <a:xfrm>
            <a:off x="786384" y="5760720"/>
            <a:ext cx="10618927" cy="11412"/>
          </a:xfrm>
          <a:prstGeom prst="rect">
            <a:avLst/>
          </a:prstGeom>
          <a:solidFill>
            <a:srgbClr val="D5D1CA"/>
          </a:solidFill>
          <a:ln/>
        </p:spPr>
      </p:sp>
      <p:sp>
        <p:nvSpPr>
          <p:cNvPr id="33" name="Text 30"/>
          <p:cNvSpPr/>
          <p:nvPr/>
        </p:nvSpPr>
        <p:spPr>
          <a:xfrm>
            <a:off x="786384" y="5893857"/>
            <a:ext cx="10618927" cy="342351"/>
          </a:xfrm>
          <a:prstGeom prst="rect">
            <a:avLst/>
          </a:prstGeom>
          <a:noFill/>
          <a:ln/>
        </p:spPr>
        <p:txBody>
          <a:bodyPr wrap="square" lIns="0" tIns="0" rIns="0" bIns="0" rtlCol="0" anchor="ctr"/>
          <a:lstStyle/>
          <a:p>
            <a:pPr indent="0" marL="0">
              <a:lnSpc>
                <a:spcPts val="1800"/>
              </a:lnSpc>
              <a:buNone/>
            </a:pPr>
            <a:r>
              <a:rPr lang="en-US" sz="1250" dirty="0">
                <a:solidFill>
                  <a:srgbClr val="827D75"/>
                </a:solidFill>
                <a:latin typeface="Arial" pitchFamily="34" charset="0"/>
                <a:ea typeface="Arial" pitchFamily="34" charset="-122"/>
                <a:cs typeface="Arial" pitchFamily="34" charset="-120"/>
              </a:rPr>
              <a:t>Dosovitskiy et al. (2021), An Image is Worth 16x16 Words: arxiv.org/abs/2010.11929</a:t>
            </a:r>
            <a:endParaRPr lang="en-US" sz="12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AF8F5"/>
        </a:solidFill>
      </p:bgPr>
    </p:bg>
    <p:spTree>
      <p:nvGrpSpPr>
        <p:cNvPr id="1" name=""/>
        <p:cNvGrpSpPr/>
        <p:nvPr/>
      </p:nvGrpSpPr>
      <p:grpSpPr>
        <a:xfrm>
          <a:off x="0" y="0"/>
          <a:ext cx="0" cy="0"/>
          <a:chOff x="0" y="0"/>
          <a:chExt cx="0" cy="0"/>
        </a:xfrm>
      </p:grpSpPr>
      <p:sp>
        <p:nvSpPr>
          <p:cNvPr id="2" name="Text 0"/>
          <p:cNvSpPr/>
          <p:nvPr/>
        </p:nvSpPr>
        <p:spPr>
          <a:xfrm>
            <a:off x="786384" y="402336"/>
            <a:ext cx="3657600" cy="237744"/>
          </a:xfrm>
          <a:prstGeom prst="rect">
            <a:avLst/>
          </a:prstGeom>
          <a:noFill/>
          <a:ln/>
        </p:spPr>
        <p:txBody>
          <a:bodyPr wrap="square" lIns="0" tIns="0" rIns="0" bIns="0" rtlCol="0" anchor="ctr"/>
          <a:lstStyle/>
          <a:p>
            <a:pPr indent="0" marL="0">
              <a:buNone/>
            </a:pPr>
            <a:r>
              <a:rPr lang="en-US" sz="950" b="1" spc="240" kern="0" dirty="0">
                <a:solidFill>
                  <a:srgbClr val="C0402A"/>
                </a:solidFill>
                <a:latin typeface="Arial" pitchFamily="34" charset="0"/>
                <a:ea typeface="Arial" pitchFamily="34" charset="-122"/>
                <a:cs typeface="Arial" pitchFamily="34" charset="-120"/>
              </a:rPr>
              <a:t>TROUBLESHOOTING</a:t>
            </a:r>
            <a:endParaRPr lang="en-US" sz="950" dirty="0"/>
          </a:p>
        </p:txBody>
      </p:sp>
      <p:sp>
        <p:nvSpPr>
          <p:cNvPr id="3" name="Text 1"/>
          <p:cNvSpPr/>
          <p:nvPr/>
        </p:nvSpPr>
        <p:spPr>
          <a:xfrm>
            <a:off x="786384" y="713232"/>
            <a:ext cx="7923047" cy="676656"/>
          </a:xfrm>
          <a:prstGeom prst="rect">
            <a:avLst/>
          </a:prstGeom>
          <a:noFill/>
          <a:ln/>
        </p:spPr>
        <p:txBody>
          <a:bodyPr wrap="square" lIns="0" tIns="0" rIns="0" bIns="0" rtlCol="0" anchor="ctr"/>
          <a:lstStyle/>
          <a:p>
            <a:pPr indent="0" marL="0">
              <a:buNone/>
            </a:pPr>
            <a:r>
              <a:rPr lang="en-US" sz="2900" b="1" dirty="0">
                <a:solidFill>
                  <a:srgbClr val="141414"/>
                </a:solidFill>
                <a:latin typeface="Arial" pitchFamily="34" charset="0"/>
                <a:ea typeface="Arial" pitchFamily="34" charset="-122"/>
                <a:cs typeface="Arial" pitchFamily="34" charset="-120"/>
              </a:rPr>
              <a:t>Why Lv3 Fails</a:t>
            </a:r>
            <a:endParaRPr lang="en-US" sz="2900" dirty="0"/>
          </a:p>
        </p:txBody>
      </p:sp>
      <p:sp>
        <p:nvSpPr>
          <p:cNvPr id="4" name="Shape 2"/>
          <p:cNvSpPr/>
          <p:nvPr/>
        </p:nvSpPr>
        <p:spPr>
          <a:xfrm>
            <a:off x="10801807" y="877824"/>
            <a:ext cx="585216" cy="292608"/>
          </a:xfrm>
          <a:prstGeom prst="rect">
            <a:avLst/>
          </a:prstGeom>
          <a:solidFill>
            <a:srgbClr val="FAF8F5"/>
          </a:solidFill>
          <a:ln w="9525">
            <a:solidFill>
              <a:srgbClr val="D5D1CA"/>
            </a:solidFill>
            <a:prstDash val="solid"/>
          </a:ln>
        </p:spPr>
      </p:sp>
      <p:sp>
        <p:nvSpPr>
          <p:cNvPr id="5" name="Text 3"/>
          <p:cNvSpPr/>
          <p:nvPr/>
        </p:nvSpPr>
        <p:spPr>
          <a:xfrm>
            <a:off x="10801807" y="877824"/>
            <a:ext cx="585216" cy="292608"/>
          </a:xfrm>
          <a:prstGeom prst="rect">
            <a:avLst/>
          </a:prstGeom>
          <a:noFill/>
          <a:ln/>
        </p:spPr>
        <p:txBody>
          <a:bodyPr wrap="square" lIns="0" tIns="0" rIns="0" bIns="0" rtlCol="0" anchor="ctr"/>
          <a:lstStyle/>
          <a:p>
            <a:pPr algn="ctr" indent="0" marL="0">
              <a:buNone/>
            </a:pPr>
            <a:r>
              <a:rPr lang="en-US" sz="1100" b="1" spc="60" kern="0" dirty="0">
                <a:solidFill>
                  <a:srgbClr val="4A4741"/>
                </a:solidFill>
                <a:latin typeface="Arial" pitchFamily="34" charset="0"/>
                <a:ea typeface="Arial" pitchFamily="34" charset="-122"/>
                <a:cs typeface="Arial" pitchFamily="34" charset="-120"/>
              </a:rPr>
              <a:t>LV3</a:t>
            </a:r>
            <a:endParaRPr lang="en-US" sz="1100" dirty="0"/>
          </a:p>
        </p:txBody>
      </p:sp>
      <p:sp>
        <p:nvSpPr>
          <p:cNvPr id="6" name="Shape 4"/>
          <p:cNvSpPr/>
          <p:nvPr/>
        </p:nvSpPr>
        <p:spPr>
          <a:xfrm>
            <a:off x="786384" y="1426464"/>
            <a:ext cx="10618927" cy="10973"/>
          </a:xfrm>
          <a:prstGeom prst="rect">
            <a:avLst/>
          </a:prstGeom>
          <a:solidFill>
            <a:srgbClr val="D5D1CA"/>
          </a:solidFill>
          <a:ln/>
        </p:spPr>
      </p:sp>
      <p:sp>
        <p:nvSpPr>
          <p:cNvPr id="7" name="Text 5"/>
          <p:cNvSpPr/>
          <p:nvPr/>
        </p:nvSpPr>
        <p:spPr>
          <a:xfrm>
            <a:off x="786384" y="1554480"/>
            <a:ext cx="8821674" cy="694944"/>
          </a:xfrm>
          <a:prstGeom prst="rect">
            <a:avLst/>
          </a:prstGeom>
          <a:noFill/>
          <a:ln/>
        </p:spPr>
        <p:txBody>
          <a:bodyPr wrap="square" lIns="0" tIns="0" rIns="0" bIns="0" rtlCol="0" anchor="ctr"/>
          <a:lstStyle/>
          <a:p>
            <a:pPr indent="0" marL="0">
              <a:lnSpc>
                <a:spcPts val="2200"/>
              </a:lnSpc>
              <a:buNone/>
            </a:pPr>
            <a:r>
              <a:rPr lang="en-US" sz="1750" dirty="0">
                <a:solidFill>
                  <a:srgbClr val="6E6A63"/>
                </a:solidFill>
                <a:latin typeface="Arial" pitchFamily="34" charset="0"/>
                <a:ea typeface="Arial" pitchFamily="34" charset="-122"/>
                <a:cs typeface="Arial" pitchFamily="34" charset="-120"/>
              </a:rPr>
              <a:t>When the answer is only inside an image file, no amount of chunking, reranking or prompt tuning finds it. That is why Lv3 scores are zero rather than low.</a:t>
            </a:r>
            <a:endParaRPr lang="en-US" sz="1750" dirty="0"/>
          </a:p>
        </p:txBody>
      </p:sp>
      <p:sp>
        <p:nvSpPr>
          <p:cNvPr id="8" name="Text 6"/>
          <p:cNvSpPr/>
          <p:nvPr/>
        </p:nvSpPr>
        <p:spPr>
          <a:xfrm>
            <a:off x="10490911" y="6309360"/>
            <a:ext cx="914400" cy="274320"/>
          </a:xfrm>
          <a:prstGeom prst="rect">
            <a:avLst/>
          </a:prstGeom>
          <a:noFill/>
          <a:ln/>
        </p:spPr>
        <p:txBody>
          <a:bodyPr wrap="square" lIns="0" tIns="0" rIns="0" bIns="0" rtlCol="0" anchor="ctr"/>
          <a:lstStyle/>
          <a:p>
            <a:pPr algn="r" indent="0" marL="0">
              <a:buNone/>
            </a:pPr>
            <a:r>
              <a:rPr lang="en-US" sz="1200" dirty="0">
                <a:solidFill>
                  <a:srgbClr val="9C978E"/>
                </a:solidFill>
                <a:latin typeface="Arial" pitchFamily="34" charset="0"/>
                <a:ea typeface="Arial" pitchFamily="34" charset="-122"/>
                <a:cs typeface="Arial" pitchFamily="34" charset="-120"/>
              </a:rPr>
              <a:t>07</a:t>
            </a:r>
            <a:endParaRPr lang="en-US" sz="1200" dirty="0"/>
          </a:p>
        </p:txBody>
      </p:sp>
      <p:sp>
        <p:nvSpPr>
          <p:cNvPr id="9" name="Shape 7"/>
          <p:cNvSpPr/>
          <p:nvPr/>
        </p:nvSpPr>
        <p:spPr>
          <a:xfrm>
            <a:off x="786384" y="2377119"/>
            <a:ext cx="3393338" cy="17903"/>
          </a:xfrm>
          <a:prstGeom prst="rect">
            <a:avLst/>
          </a:prstGeom>
          <a:solidFill>
            <a:srgbClr val="D5D1CA"/>
          </a:solidFill>
          <a:ln/>
        </p:spPr>
      </p:sp>
      <p:sp>
        <p:nvSpPr>
          <p:cNvPr id="10" name="Text 8"/>
          <p:cNvSpPr/>
          <p:nvPr/>
        </p:nvSpPr>
        <p:spPr>
          <a:xfrm>
            <a:off x="786384" y="2536257"/>
            <a:ext cx="3393338" cy="374360"/>
          </a:xfrm>
          <a:prstGeom prst="rect">
            <a:avLst/>
          </a:prstGeom>
          <a:noFill/>
          <a:ln/>
        </p:spPr>
        <p:txBody>
          <a:bodyPr wrap="square" lIns="0" tIns="0" rIns="0" bIns="0" rtlCol="0" anchor="ctr"/>
          <a:lstStyle/>
          <a:p>
            <a:pPr indent="0" marL="0">
              <a:lnSpc>
                <a:spcPts val="2350"/>
              </a:lnSpc>
              <a:buNone/>
            </a:pPr>
            <a:r>
              <a:rPr lang="en-US" sz="1950" b="1" dirty="0">
                <a:solidFill>
                  <a:srgbClr val="6E6A63"/>
                </a:solidFill>
                <a:latin typeface="Arial" pitchFamily="34" charset="0"/>
                <a:ea typeface="Arial" pitchFamily="34" charset="-122"/>
                <a:cs typeface="Arial" pitchFamily="34" charset="-120"/>
              </a:rPr>
              <a:t>Never collected</a:t>
            </a:r>
            <a:endParaRPr lang="en-US" sz="1950" dirty="0"/>
          </a:p>
        </p:txBody>
      </p:sp>
      <p:sp>
        <p:nvSpPr>
          <p:cNvPr id="11" name="Text 9"/>
          <p:cNvSpPr/>
          <p:nvPr/>
        </p:nvSpPr>
        <p:spPr>
          <a:xfrm>
            <a:off x="786384" y="2990186"/>
            <a:ext cx="3393338" cy="940736"/>
          </a:xfrm>
          <a:prstGeom prst="rect">
            <a:avLst/>
          </a:prstGeom>
          <a:noFill/>
          <a:ln/>
        </p:spPr>
        <p:txBody>
          <a:bodyPr wrap="square" lIns="0" tIns="0" rIns="0" bIns="0" rtlCol="0" anchor="t"/>
          <a:lstStyle/>
          <a:p>
            <a:pPr indent="0" marL="0">
              <a:lnSpc>
                <a:spcPts val="2150"/>
              </a:lnSpc>
              <a:buNone/>
            </a:pPr>
            <a:r>
              <a:rPr lang="en-US" sz="1450" dirty="0">
                <a:solidFill>
                  <a:srgbClr val="6E6A63"/>
                </a:solidFill>
                <a:latin typeface="Arial" pitchFamily="34" charset="0"/>
                <a:ea typeface="Arial" pitchFamily="34" charset="-122"/>
                <a:cs typeface="Arial" pitchFamily="34" charset="-120"/>
              </a:rPr>
              <a:t>The scraper read the page text and ignored img tags, so the image is not in your data at all.</a:t>
            </a:r>
            <a:endParaRPr lang="en-US" sz="1450" dirty="0"/>
          </a:p>
        </p:txBody>
      </p:sp>
      <p:sp>
        <p:nvSpPr>
          <p:cNvPr id="12" name="Shape 10"/>
          <p:cNvSpPr/>
          <p:nvPr/>
        </p:nvSpPr>
        <p:spPr>
          <a:xfrm>
            <a:off x="4399178" y="2377119"/>
            <a:ext cx="3393338" cy="17903"/>
          </a:xfrm>
          <a:prstGeom prst="rect">
            <a:avLst/>
          </a:prstGeom>
          <a:solidFill>
            <a:srgbClr val="D5D1CA"/>
          </a:solidFill>
          <a:ln/>
        </p:spPr>
      </p:sp>
      <p:sp>
        <p:nvSpPr>
          <p:cNvPr id="13" name="Text 11"/>
          <p:cNvSpPr/>
          <p:nvPr/>
        </p:nvSpPr>
        <p:spPr>
          <a:xfrm>
            <a:off x="4399178" y="2536257"/>
            <a:ext cx="3393338" cy="374360"/>
          </a:xfrm>
          <a:prstGeom prst="rect">
            <a:avLst/>
          </a:prstGeom>
          <a:noFill/>
          <a:ln/>
        </p:spPr>
        <p:txBody>
          <a:bodyPr wrap="square" lIns="0" tIns="0" rIns="0" bIns="0" rtlCol="0" anchor="ctr"/>
          <a:lstStyle/>
          <a:p>
            <a:pPr indent="0" marL="0">
              <a:lnSpc>
                <a:spcPts val="2350"/>
              </a:lnSpc>
              <a:buNone/>
            </a:pPr>
            <a:r>
              <a:rPr lang="en-US" sz="1950" b="1" dirty="0">
                <a:solidFill>
                  <a:srgbClr val="6E6A63"/>
                </a:solidFill>
                <a:latin typeface="Arial" pitchFamily="34" charset="0"/>
                <a:ea typeface="Arial" pitchFamily="34" charset="-122"/>
                <a:cs typeface="Arial" pitchFamily="34" charset="-120"/>
              </a:rPr>
              <a:t>Never described</a:t>
            </a:r>
            <a:endParaRPr lang="en-US" sz="1950" dirty="0"/>
          </a:p>
        </p:txBody>
      </p:sp>
      <p:sp>
        <p:nvSpPr>
          <p:cNvPr id="14" name="Text 12"/>
          <p:cNvSpPr/>
          <p:nvPr/>
        </p:nvSpPr>
        <p:spPr>
          <a:xfrm>
            <a:off x="4399178" y="2990186"/>
            <a:ext cx="3393338" cy="1237738"/>
          </a:xfrm>
          <a:prstGeom prst="rect">
            <a:avLst/>
          </a:prstGeom>
          <a:noFill/>
          <a:ln/>
        </p:spPr>
        <p:txBody>
          <a:bodyPr wrap="square" lIns="0" tIns="0" rIns="0" bIns="0" rtlCol="0" anchor="t"/>
          <a:lstStyle/>
          <a:p>
            <a:pPr indent="0" marL="0">
              <a:lnSpc>
                <a:spcPts val="2150"/>
              </a:lnSpc>
              <a:buNone/>
            </a:pPr>
            <a:r>
              <a:rPr lang="en-US" sz="1450" dirty="0">
                <a:solidFill>
                  <a:srgbClr val="6E6A63"/>
                </a:solidFill>
                <a:latin typeface="Arial" pitchFamily="34" charset="0"/>
                <a:ea typeface="Arial" pitchFamily="34" charset="-122"/>
                <a:cs typeface="Arial" pitchFamily="34" charset="-120"/>
              </a:rPr>
              <a:t>You stored the image URL, but nothing converted the picture into text, so there is nothing to embed and nothing for a query to match.</a:t>
            </a:r>
            <a:endParaRPr lang="en-US" sz="1450" dirty="0"/>
          </a:p>
        </p:txBody>
      </p:sp>
      <p:sp>
        <p:nvSpPr>
          <p:cNvPr id="15" name="Shape 13"/>
          <p:cNvSpPr/>
          <p:nvPr/>
        </p:nvSpPr>
        <p:spPr>
          <a:xfrm>
            <a:off x="8011973" y="2377119"/>
            <a:ext cx="3393338" cy="2525758"/>
          </a:xfrm>
          <a:prstGeom prst="rect">
            <a:avLst/>
          </a:prstGeom>
          <a:solidFill>
            <a:srgbClr val="F7E6E0"/>
          </a:solidFill>
          <a:ln/>
        </p:spPr>
      </p:sp>
      <p:sp>
        <p:nvSpPr>
          <p:cNvPr id="16" name="Shape 14"/>
          <p:cNvSpPr/>
          <p:nvPr/>
        </p:nvSpPr>
        <p:spPr>
          <a:xfrm>
            <a:off x="8249717" y="2615826"/>
            <a:ext cx="2917850" cy="23871"/>
          </a:xfrm>
          <a:prstGeom prst="rect">
            <a:avLst/>
          </a:prstGeom>
          <a:solidFill>
            <a:srgbClr val="C0402A"/>
          </a:solidFill>
          <a:ln/>
        </p:spPr>
      </p:sp>
      <p:sp>
        <p:nvSpPr>
          <p:cNvPr id="17" name="Text 15"/>
          <p:cNvSpPr/>
          <p:nvPr/>
        </p:nvSpPr>
        <p:spPr>
          <a:xfrm>
            <a:off x="8249717" y="2774963"/>
            <a:ext cx="2917850" cy="374360"/>
          </a:xfrm>
          <a:prstGeom prst="rect">
            <a:avLst/>
          </a:prstGeom>
          <a:noFill/>
          <a:ln/>
        </p:spPr>
        <p:txBody>
          <a:bodyPr wrap="square" lIns="0" tIns="0" rIns="0" bIns="0" rtlCol="0" anchor="ctr"/>
          <a:lstStyle/>
          <a:p>
            <a:pPr indent="0" marL="0">
              <a:lnSpc>
                <a:spcPts val="2350"/>
              </a:lnSpc>
              <a:buNone/>
            </a:pPr>
            <a:r>
              <a:rPr lang="en-US" sz="1950" b="1" dirty="0">
                <a:solidFill>
                  <a:srgbClr val="141414"/>
                </a:solidFill>
                <a:latin typeface="Arial" pitchFamily="34" charset="0"/>
                <a:ea typeface="Arial" pitchFamily="34" charset="-122"/>
                <a:cs typeface="Arial" pitchFamily="34" charset="-120"/>
              </a:rPr>
              <a:t>Described badly</a:t>
            </a:r>
            <a:endParaRPr lang="en-US" sz="1950" dirty="0"/>
          </a:p>
        </p:txBody>
      </p:sp>
      <p:sp>
        <p:nvSpPr>
          <p:cNvPr id="18" name="Text 16"/>
          <p:cNvSpPr/>
          <p:nvPr/>
        </p:nvSpPr>
        <p:spPr>
          <a:xfrm>
            <a:off x="8249717" y="3228893"/>
            <a:ext cx="2917850" cy="1534739"/>
          </a:xfrm>
          <a:prstGeom prst="rect">
            <a:avLst/>
          </a:prstGeom>
          <a:noFill/>
          <a:ln/>
        </p:spPr>
        <p:txBody>
          <a:bodyPr wrap="square" lIns="0" tIns="0" rIns="0" bIns="0" rtlCol="0" anchor="t"/>
          <a:lstStyle/>
          <a:p>
            <a:pPr indent="0" marL="0">
              <a:lnSpc>
                <a:spcPts val="2150"/>
              </a:lnSpc>
              <a:buNone/>
            </a:pPr>
            <a:r>
              <a:rPr lang="en-US" sz="1450" dirty="0">
                <a:solidFill>
                  <a:srgbClr val="141414"/>
                </a:solidFill>
                <a:latin typeface="Arial" pitchFamily="34" charset="0"/>
                <a:ea typeface="Arial" pitchFamily="34" charset="-122"/>
                <a:cs typeface="Arial" pitchFamily="34" charset="-120"/>
              </a:rPr>
              <a:t>You have a description, but it reads "a room with modern furniture and students working", which lacks the facts the questions ask for.</a:t>
            </a:r>
            <a:endParaRPr lang="en-US" sz="1450" dirty="0"/>
          </a:p>
        </p:txBody>
      </p:sp>
      <p:sp>
        <p:nvSpPr>
          <p:cNvPr id="19" name="Text 17"/>
          <p:cNvSpPr/>
          <p:nvPr/>
        </p:nvSpPr>
        <p:spPr>
          <a:xfrm>
            <a:off x="786384" y="4923322"/>
            <a:ext cx="9769413" cy="795688"/>
          </a:xfrm>
          <a:prstGeom prst="rect">
            <a:avLst/>
          </a:prstGeom>
          <a:noFill/>
          <a:ln/>
        </p:spPr>
        <p:txBody>
          <a:bodyPr wrap="square" lIns="0" tIns="0" rIns="0" bIns="0" rtlCol="0" anchor="ctr"/>
          <a:lstStyle/>
          <a:p>
            <a:pPr indent="0" marL="0">
              <a:lnSpc>
                <a:spcPts val="2400"/>
              </a:lnSpc>
              <a:buNone/>
            </a:pPr>
            <a:r>
              <a:rPr lang="en-US" sz="1650" dirty="0">
                <a:solidFill>
                  <a:srgbClr val="141414"/>
                </a:solidFill>
                <a:latin typeface="Arial" pitchFamily="34" charset="0"/>
                <a:ea typeface="Arial" pitchFamily="34" charset="-122"/>
                <a:cs typeface="Arial" pitchFamily="34" charset="-120"/>
              </a:rPr>
              <a:t>Lab, 20 minutes: take each Lv3 question your bot gets wrong and decide which of the three columns it belongs in. Each column needs a different fix, and the third is the one block 3 addresses.</a:t>
            </a:r>
            <a:endParaRPr lang="en-US" sz="1650" dirty="0"/>
          </a:p>
        </p:txBody>
      </p:sp>
      <p:sp>
        <p:nvSpPr>
          <p:cNvPr id="20" name="Text 18"/>
          <p:cNvSpPr/>
          <p:nvPr/>
        </p:nvSpPr>
        <p:spPr>
          <a:xfrm>
            <a:off x="786384" y="5798579"/>
            <a:ext cx="10618927" cy="437629"/>
          </a:xfrm>
          <a:prstGeom prst="rect">
            <a:avLst/>
          </a:prstGeom>
          <a:noFill/>
          <a:ln/>
        </p:spPr>
        <p:txBody>
          <a:bodyPr wrap="square" lIns="0" tIns="0" rIns="0" bIns="0" rtlCol="0" anchor="ctr"/>
          <a:lstStyle/>
          <a:p>
            <a:pPr indent="0" marL="0">
              <a:buNone/>
            </a:pPr>
            <a:r>
              <a:rPr lang="en-US" sz="1550" i="1" dirty="0">
                <a:solidFill>
                  <a:srgbClr val="6E6A63"/>
                </a:solidFill>
                <a:latin typeface="Arial" pitchFamily="34" charset="0"/>
                <a:ea typeface="Arial" pitchFamily="34" charset="-122"/>
                <a:cs typeface="Arial" pitchFamily="34" charset="-120"/>
              </a:rPr>
              <a:t>Most teams find they have all three problems at the same time.</a:t>
            </a:r>
            <a:endParaRPr lang="en-US" sz="15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AF8F5"/>
        </a:solidFill>
      </p:bgPr>
    </p:bg>
    <p:spTree>
      <p:nvGrpSpPr>
        <p:cNvPr id="1" name=""/>
        <p:cNvGrpSpPr/>
        <p:nvPr/>
      </p:nvGrpSpPr>
      <p:grpSpPr>
        <a:xfrm>
          <a:off x="0" y="0"/>
          <a:ext cx="0" cy="0"/>
          <a:chOff x="0" y="0"/>
          <a:chExt cx="0" cy="0"/>
        </a:xfrm>
      </p:grpSpPr>
      <p:sp>
        <p:nvSpPr>
          <p:cNvPr id="2" name="Text 0"/>
          <p:cNvSpPr/>
          <p:nvPr/>
        </p:nvSpPr>
        <p:spPr>
          <a:xfrm>
            <a:off x="786384" y="402336"/>
            <a:ext cx="3657600" cy="237744"/>
          </a:xfrm>
          <a:prstGeom prst="rect">
            <a:avLst/>
          </a:prstGeom>
          <a:noFill/>
          <a:ln/>
        </p:spPr>
        <p:txBody>
          <a:bodyPr wrap="square" lIns="0" tIns="0" rIns="0" bIns="0" rtlCol="0" anchor="ctr"/>
          <a:lstStyle/>
          <a:p>
            <a:pPr indent="0" marL="0">
              <a:buNone/>
            </a:pPr>
            <a:r>
              <a:rPr lang="en-US" sz="950" b="1" spc="240" kern="0" dirty="0">
                <a:solidFill>
                  <a:srgbClr val="9C978E"/>
                </a:solidFill>
                <a:latin typeface="Arial" pitchFamily="34" charset="0"/>
                <a:ea typeface="Arial" pitchFamily="34" charset="-122"/>
                <a:cs typeface="Arial" pitchFamily="34" charset="-120"/>
              </a:rPr>
              <a:t>THEORY</a:t>
            </a:r>
            <a:endParaRPr lang="en-US" sz="950" dirty="0"/>
          </a:p>
        </p:txBody>
      </p:sp>
      <p:sp>
        <p:nvSpPr>
          <p:cNvPr id="3" name="Text 1"/>
          <p:cNvSpPr/>
          <p:nvPr/>
        </p:nvSpPr>
        <p:spPr>
          <a:xfrm>
            <a:off x="786384" y="713232"/>
            <a:ext cx="7923047" cy="676656"/>
          </a:xfrm>
          <a:prstGeom prst="rect">
            <a:avLst/>
          </a:prstGeom>
          <a:noFill/>
          <a:ln/>
        </p:spPr>
        <p:txBody>
          <a:bodyPr wrap="square" lIns="0" tIns="0" rIns="0" bIns="0" rtlCol="0" anchor="ctr"/>
          <a:lstStyle/>
          <a:p>
            <a:pPr indent="0" marL="0">
              <a:buNone/>
            </a:pPr>
            <a:r>
              <a:rPr lang="en-US" sz="2900" b="1" dirty="0">
                <a:solidFill>
                  <a:srgbClr val="141414"/>
                </a:solidFill>
                <a:latin typeface="Arial" pitchFamily="34" charset="0"/>
                <a:ea typeface="Arial" pitchFamily="34" charset="-122"/>
                <a:cs typeface="Arial" pitchFamily="34" charset="-120"/>
              </a:rPr>
              <a:t>Collecting Images</a:t>
            </a:r>
            <a:endParaRPr lang="en-US" sz="2900" dirty="0"/>
          </a:p>
        </p:txBody>
      </p:sp>
      <p:sp>
        <p:nvSpPr>
          <p:cNvPr id="4" name="Shape 2"/>
          <p:cNvSpPr/>
          <p:nvPr/>
        </p:nvSpPr>
        <p:spPr>
          <a:xfrm>
            <a:off x="10801807" y="877824"/>
            <a:ext cx="585216" cy="292608"/>
          </a:xfrm>
          <a:prstGeom prst="rect">
            <a:avLst/>
          </a:prstGeom>
          <a:solidFill>
            <a:srgbClr val="FAF8F5"/>
          </a:solidFill>
          <a:ln w="9525">
            <a:solidFill>
              <a:srgbClr val="D5D1CA"/>
            </a:solidFill>
            <a:prstDash val="solid"/>
          </a:ln>
        </p:spPr>
      </p:sp>
      <p:sp>
        <p:nvSpPr>
          <p:cNvPr id="5" name="Text 3"/>
          <p:cNvSpPr/>
          <p:nvPr/>
        </p:nvSpPr>
        <p:spPr>
          <a:xfrm>
            <a:off x="10801807" y="877824"/>
            <a:ext cx="585216" cy="292608"/>
          </a:xfrm>
          <a:prstGeom prst="rect">
            <a:avLst/>
          </a:prstGeom>
          <a:noFill/>
          <a:ln/>
        </p:spPr>
        <p:txBody>
          <a:bodyPr wrap="square" lIns="0" tIns="0" rIns="0" bIns="0" rtlCol="0" anchor="ctr"/>
          <a:lstStyle/>
          <a:p>
            <a:pPr algn="ctr" indent="0" marL="0">
              <a:buNone/>
            </a:pPr>
            <a:r>
              <a:rPr lang="en-US" sz="1100" b="1" spc="60" kern="0" dirty="0">
                <a:solidFill>
                  <a:srgbClr val="4A4741"/>
                </a:solidFill>
                <a:latin typeface="Arial" pitchFamily="34" charset="0"/>
                <a:ea typeface="Arial" pitchFamily="34" charset="-122"/>
                <a:cs typeface="Arial" pitchFamily="34" charset="-120"/>
              </a:rPr>
              <a:t>LV3</a:t>
            </a:r>
            <a:endParaRPr lang="en-US" sz="1100" dirty="0"/>
          </a:p>
        </p:txBody>
      </p:sp>
      <p:sp>
        <p:nvSpPr>
          <p:cNvPr id="6" name="Shape 4"/>
          <p:cNvSpPr/>
          <p:nvPr/>
        </p:nvSpPr>
        <p:spPr>
          <a:xfrm>
            <a:off x="786384" y="1426464"/>
            <a:ext cx="10618927" cy="10973"/>
          </a:xfrm>
          <a:prstGeom prst="rect">
            <a:avLst/>
          </a:prstGeom>
          <a:solidFill>
            <a:srgbClr val="D5D1CA"/>
          </a:solidFill>
          <a:ln/>
        </p:spPr>
      </p:sp>
      <p:sp>
        <p:nvSpPr>
          <p:cNvPr id="7" name="Text 5"/>
          <p:cNvSpPr/>
          <p:nvPr/>
        </p:nvSpPr>
        <p:spPr>
          <a:xfrm>
            <a:off x="10490911" y="6309360"/>
            <a:ext cx="914400" cy="274320"/>
          </a:xfrm>
          <a:prstGeom prst="rect">
            <a:avLst/>
          </a:prstGeom>
          <a:noFill/>
          <a:ln/>
        </p:spPr>
        <p:txBody>
          <a:bodyPr wrap="square" lIns="0" tIns="0" rIns="0" bIns="0" rtlCol="0" anchor="ctr"/>
          <a:lstStyle/>
          <a:p>
            <a:pPr algn="r" indent="0" marL="0">
              <a:buNone/>
            </a:pPr>
            <a:r>
              <a:rPr lang="en-US" sz="1200" dirty="0">
                <a:solidFill>
                  <a:srgbClr val="9C978E"/>
                </a:solidFill>
                <a:latin typeface="Arial" pitchFamily="34" charset="0"/>
                <a:ea typeface="Arial" pitchFamily="34" charset="-122"/>
                <a:cs typeface="Arial" pitchFamily="34" charset="-120"/>
              </a:rPr>
              <a:t>08</a:t>
            </a:r>
            <a:endParaRPr lang="en-US" sz="1200" dirty="0"/>
          </a:p>
        </p:txBody>
      </p:sp>
      <p:sp>
        <p:nvSpPr>
          <p:cNvPr id="8" name="Shape 6"/>
          <p:cNvSpPr/>
          <p:nvPr/>
        </p:nvSpPr>
        <p:spPr>
          <a:xfrm>
            <a:off x="786384" y="1851840"/>
            <a:ext cx="5946599" cy="2963145"/>
          </a:xfrm>
          <a:prstGeom prst="rect">
            <a:avLst/>
          </a:prstGeom>
          <a:solidFill>
            <a:srgbClr val="F2EFEA"/>
          </a:solidFill>
          <a:ln/>
        </p:spPr>
      </p:sp>
      <p:sp>
        <p:nvSpPr>
          <p:cNvPr id="9" name="Shape 7"/>
          <p:cNvSpPr/>
          <p:nvPr/>
        </p:nvSpPr>
        <p:spPr>
          <a:xfrm>
            <a:off x="786384" y="1851840"/>
            <a:ext cx="27432" cy="2963145"/>
          </a:xfrm>
          <a:prstGeom prst="rect">
            <a:avLst/>
          </a:prstGeom>
          <a:solidFill>
            <a:srgbClr val="C0402A"/>
          </a:solidFill>
          <a:ln/>
        </p:spPr>
      </p:sp>
      <p:sp>
        <p:nvSpPr>
          <p:cNvPr id="10" name="Text 8"/>
          <p:cNvSpPr/>
          <p:nvPr/>
        </p:nvSpPr>
        <p:spPr>
          <a:xfrm>
            <a:off x="1042416" y="2044958"/>
            <a:ext cx="5507687" cy="2576910"/>
          </a:xfrm>
          <a:prstGeom prst="rect">
            <a:avLst/>
          </a:prstGeom>
          <a:noFill/>
          <a:ln/>
        </p:spPr>
        <p:txBody>
          <a:bodyPr wrap="square" lIns="0" tIns="0" rIns="0" bIns="0" rtlCol="0" anchor="t"/>
          <a:lstStyle/>
          <a:p>
            <a:pPr indent="0" marL="0">
              <a:lnSpc>
                <a:spcPts val="1900"/>
              </a:lnSpc>
              <a:buNone/>
            </a:pPr>
            <a:r>
              <a:rPr lang="en-US" sz="1300" dirty="0">
                <a:solidFill>
                  <a:srgbClr val="2A2724"/>
                </a:solidFill>
                <a:latin typeface="Courier New" pitchFamily="34" charset="0"/>
                <a:ea typeface="Courier New" pitchFamily="34" charset="-122"/>
                <a:cs typeface="Courier New" pitchFamily="34" charset="-120"/>
              </a:rPr>
              <a:t>for img in soup.select("img"):</a:t>
            </a:r>
            <a:endParaRPr lang="en-US" sz="1300" dirty="0"/>
          </a:p>
          <a:p>
            <a:pPr indent="0" marL="0">
              <a:lnSpc>
                <a:spcPts val="1900"/>
              </a:lnSpc>
              <a:buNone/>
            </a:pPr>
            <a:r>
              <a:rPr lang="en-US" sz="1300" dirty="0">
                <a:solidFill>
                  <a:srgbClr val="2A2724"/>
                </a:solidFill>
                <a:latin typeface="Courier New" pitchFamily="34" charset="0"/>
                <a:ea typeface="Courier New" pitchFamily="34" charset="-122"/>
                <a:cs typeface="Courier New" pitchFamily="34" charset="-120"/>
              </a:rPr>
              <a:t>    records.append({</a:t>
            </a:r>
            <a:endParaRPr lang="en-US" sz="1300" dirty="0"/>
          </a:p>
          <a:p>
            <a:pPr indent="0" marL="0">
              <a:lnSpc>
                <a:spcPts val="1900"/>
              </a:lnSpc>
              <a:buNone/>
            </a:pPr>
            <a:r>
              <a:rPr lang="en-US" sz="1300" dirty="0">
                <a:solidFill>
                  <a:srgbClr val="2A2724"/>
                </a:solidFill>
                <a:latin typeface="Courier New" pitchFamily="34" charset="0"/>
                <a:ea typeface="Courier New" pitchFamily="34" charset="-122"/>
                <a:cs typeface="Courier New" pitchFamily="34" charset="-120"/>
              </a:rPr>
              <a:t>        "src":     urljoin(page_url, img.get("src")),</a:t>
            </a:r>
            <a:endParaRPr lang="en-US" sz="1300" dirty="0"/>
          </a:p>
          <a:p>
            <a:pPr indent="0" marL="0">
              <a:lnSpc>
                <a:spcPts val="1900"/>
              </a:lnSpc>
              <a:buNone/>
            </a:pPr>
            <a:r>
              <a:rPr lang="en-US" sz="1300" dirty="0">
                <a:solidFill>
                  <a:srgbClr val="2A2724"/>
                </a:solidFill>
                <a:latin typeface="Courier New" pitchFamily="34" charset="0"/>
                <a:ea typeface="Courier New" pitchFamily="34" charset="-122"/>
                <a:cs typeface="Courier New" pitchFamily="34" charset="-120"/>
              </a:rPr>
              <a:t>        "alt":     img.get("alt", ""),</a:t>
            </a:r>
            <a:endParaRPr lang="en-US" sz="1300" dirty="0"/>
          </a:p>
          <a:p>
            <a:pPr indent="0" marL="0">
              <a:lnSpc>
                <a:spcPts val="1900"/>
              </a:lnSpc>
              <a:buNone/>
            </a:pPr>
            <a:r>
              <a:rPr lang="en-US" sz="1300" dirty="0">
                <a:solidFill>
                  <a:srgbClr val="2A2724"/>
                </a:solidFill>
                <a:latin typeface="Courier New" pitchFamily="34" charset="0"/>
                <a:ea typeface="Courier New" pitchFamily="34" charset="-122"/>
                <a:cs typeface="Courier New" pitchFamily="34" charset="-120"/>
              </a:rPr>
              <a:t>        "caption": nearest_caption(img),</a:t>
            </a:r>
            <a:endParaRPr lang="en-US" sz="1300" dirty="0"/>
          </a:p>
          <a:p>
            <a:pPr indent="0" marL="0">
              <a:lnSpc>
                <a:spcPts val="1900"/>
              </a:lnSpc>
              <a:buNone/>
            </a:pPr>
            <a:r>
              <a:rPr lang="en-US" sz="1300" dirty="0">
                <a:solidFill>
                  <a:srgbClr val="2A2724"/>
                </a:solidFill>
                <a:latin typeface="Courier New" pitchFamily="34" charset="0"/>
                <a:ea typeface="Courier New" pitchFamily="34" charset="-122"/>
                <a:cs typeface="Courier New" pitchFamily="34" charset="-120"/>
              </a:rPr>
              <a:t>        "page":    page_url,</a:t>
            </a:r>
            <a:endParaRPr lang="en-US" sz="1300" dirty="0"/>
          </a:p>
          <a:p>
            <a:pPr indent="0" marL="0">
              <a:lnSpc>
                <a:spcPts val="1900"/>
              </a:lnSpc>
              <a:buNone/>
            </a:pPr>
            <a:r>
              <a:rPr lang="en-US" sz="1300" dirty="0">
                <a:solidFill>
                  <a:srgbClr val="2A2724"/>
                </a:solidFill>
                <a:latin typeface="Courier New" pitchFamily="34" charset="0"/>
                <a:ea typeface="Courier New" pitchFamily="34" charset="-122"/>
                <a:cs typeface="Courier New" pitchFamily="34" charset="-120"/>
              </a:rPr>
              <a:t>    })</a:t>
            </a:r>
            <a:endParaRPr lang="en-US" sz="1300" dirty="0"/>
          </a:p>
        </p:txBody>
      </p:sp>
      <p:sp>
        <p:nvSpPr>
          <p:cNvPr id="11" name="Shape 9"/>
          <p:cNvSpPr/>
          <p:nvPr/>
        </p:nvSpPr>
        <p:spPr>
          <a:xfrm>
            <a:off x="7157740" y="1851840"/>
            <a:ext cx="4247571" cy="21726"/>
          </a:xfrm>
          <a:prstGeom prst="rect">
            <a:avLst/>
          </a:prstGeom>
          <a:solidFill>
            <a:srgbClr val="141414"/>
          </a:solidFill>
          <a:ln/>
        </p:spPr>
      </p:sp>
      <p:sp>
        <p:nvSpPr>
          <p:cNvPr id="12" name="Text 10"/>
          <p:cNvSpPr/>
          <p:nvPr/>
        </p:nvSpPr>
        <p:spPr>
          <a:xfrm>
            <a:off x="7157740" y="2044958"/>
            <a:ext cx="4247571" cy="454295"/>
          </a:xfrm>
          <a:prstGeom prst="rect">
            <a:avLst/>
          </a:prstGeom>
          <a:noFill/>
          <a:ln/>
        </p:spPr>
        <p:txBody>
          <a:bodyPr wrap="square" lIns="0" tIns="0" rIns="0" bIns="0" rtlCol="0" anchor="ctr"/>
          <a:lstStyle/>
          <a:p>
            <a:pPr indent="0" marL="0">
              <a:lnSpc>
                <a:spcPts val="2350"/>
              </a:lnSpc>
              <a:buNone/>
            </a:pPr>
            <a:r>
              <a:rPr lang="en-US" sz="1950" b="1" dirty="0">
                <a:solidFill>
                  <a:srgbClr val="141414"/>
                </a:solidFill>
                <a:latin typeface="Arial" pitchFamily="34" charset="0"/>
                <a:ea typeface="Arial" pitchFamily="34" charset="-122"/>
                <a:cs typeface="Arial" pitchFamily="34" charset="-120"/>
              </a:rPr>
              <a:t>Index alt text too</a:t>
            </a:r>
            <a:endParaRPr lang="en-US" sz="1950" dirty="0"/>
          </a:p>
        </p:txBody>
      </p:sp>
      <p:sp>
        <p:nvSpPr>
          <p:cNvPr id="13" name="Text 11"/>
          <p:cNvSpPr/>
          <p:nvPr/>
        </p:nvSpPr>
        <p:spPr>
          <a:xfrm>
            <a:off x="7157740" y="2595811"/>
            <a:ext cx="4247571" cy="1502024"/>
          </a:xfrm>
          <a:prstGeom prst="rect">
            <a:avLst/>
          </a:prstGeom>
          <a:noFill/>
          <a:ln/>
        </p:spPr>
        <p:txBody>
          <a:bodyPr wrap="square" lIns="0" tIns="0" rIns="0" bIns="0" rtlCol="0" anchor="t"/>
          <a:lstStyle/>
          <a:p>
            <a:pPr indent="0" marL="0">
              <a:lnSpc>
                <a:spcPts val="2150"/>
              </a:lnSpc>
              <a:buNone/>
            </a:pPr>
            <a:r>
              <a:rPr lang="en-US" sz="1450" dirty="0">
                <a:solidFill>
                  <a:srgbClr val="141414"/>
                </a:solidFill>
                <a:latin typeface="Arial" pitchFamily="34" charset="0"/>
                <a:ea typeface="Arial" pitchFamily="34" charset="-122"/>
                <a:cs typeface="Arial" pitchFamily="34" charset="-120"/>
              </a:rPr>
              <a:t>Alt attributes and captions are already text. They cost nothing to index and sometimes contain the answer without any vision model involved.</a:t>
            </a:r>
            <a:endParaRPr lang="en-US" sz="1450" dirty="0"/>
          </a:p>
        </p:txBody>
      </p:sp>
      <p:sp>
        <p:nvSpPr>
          <p:cNvPr id="14" name="Shape 12"/>
          <p:cNvSpPr/>
          <p:nvPr/>
        </p:nvSpPr>
        <p:spPr>
          <a:xfrm>
            <a:off x="786384" y="4738040"/>
            <a:ext cx="155448" cy="24140"/>
          </a:xfrm>
          <a:prstGeom prst="rect">
            <a:avLst/>
          </a:prstGeom>
          <a:solidFill>
            <a:srgbClr val="C0402A"/>
          </a:solidFill>
          <a:ln/>
        </p:spPr>
      </p:sp>
      <p:sp>
        <p:nvSpPr>
          <p:cNvPr id="15" name="Text 13"/>
          <p:cNvSpPr/>
          <p:nvPr/>
        </p:nvSpPr>
        <p:spPr>
          <a:xfrm>
            <a:off x="1097280" y="4579623"/>
            <a:ext cx="9670896" cy="449601"/>
          </a:xfrm>
          <a:prstGeom prst="rect">
            <a:avLst/>
          </a:prstGeom>
          <a:noFill/>
          <a:ln/>
        </p:spPr>
        <p:txBody>
          <a:bodyPr wrap="square" lIns="0" tIns="0" rIns="0" bIns="0" rtlCol="0" anchor="t"/>
          <a:lstStyle/>
          <a:p>
            <a:pPr indent="0" marL="0">
              <a:lnSpc>
                <a:spcPts val="2250"/>
              </a:lnSpc>
              <a:buNone/>
            </a:pPr>
            <a:r>
              <a:rPr lang="en-US" sz="1550" dirty="0">
                <a:solidFill>
                  <a:srgbClr val="141414"/>
                </a:solidFill>
                <a:latin typeface="Arial" pitchFamily="34" charset="0"/>
                <a:ea typeface="Arial" pitchFamily="34" charset="-122"/>
                <a:cs typeface="Arial" pitchFamily="34" charset="-120"/>
              </a:rPr>
              <a:t>Use urljoin to resolve relative src values against the page URL. Without it many of your image links will not load.</a:t>
            </a:r>
            <a:endParaRPr lang="en-US" sz="1550" dirty="0"/>
          </a:p>
        </p:txBody>
      </p:sp>
      <p:sp>
        <p:nvSpPr>
          <p:cNvPr id="16" name="Shape 14"/>
          <p:cNvSpPr/>
          <p:nvPr/>
        </p:nvSpPr>
        <p:spPr>
          <a:xfrm>
            <a:off x="786384" y="5341531"/>
            <a:ext cx="155448" cy="24140"/>
          </a:xfrm>
          <a:prstGeom prst="rect">
            <a:avLst/>
          </a:prstGeom>
          <a:solidFill>
            <a:srgbClr val="C0402A"/>
          </a:solidFill>
          <a:ln/>
        </p:spPr>
      </p:sp>
      <p:sp>
        <p:nvSpPr>
          <p:cNvPr id="17" name="Text 15"/>
          <p:cNvSpPr/>
          <p:nvPr/>
        </p:nvSpPr>
        <p:spPr>
          <a:xfrm>
            <a:off x="1097280" y="5183115"/>
            <a:ext cx="9670896" cy="449601"/>
          </a:xfrm>
          <a:prstGeom prst="rect">
            <a:avLst/>
          </a:prstGeom>
          <a:noFill/>
          <a:ln/>
        </p:spPr>
        <p:txBody>
          <a:bodyPr wrap="square" lIns="0" tIns="0" rIns="0" bIns="0" rtlCol="0" anchor="t"/>
          <a:lstStyle/>
          <a:p>
            <a:pPr indent="0" marL="0">
              <a:lnSpc>
                <a:spcPts val="2250"/>
              </a:lnSpc>
              <a:buNone/>
            </a:pPr>
            <a:r>
              <a:rPr lang="en-US" sz="1550" dirty="0">
                <a:solidFill>
                  <a:srgbClr val="141414"/>
                </a:solidFill>
                <a:latin typeface="Arial" pitchFamily="34" charset="0"/>
                <a:ea typeface="Arial" pitchFamily="34" charset="-122"/>
                <a:cs typeface="Arial" pitchFamily="34" charset="-120"/>
              </a:rPr>
              <a:t>Store which page each image came from. When an answer is wrong you need to find the image that produced it.</a:t>
            </a:r>
            <a:endParaRPr lang="en-US" sz="1550" dirty="0"/>
          </a:p>
        </p:txBody>
      </p:sp>
      <p:sp>
        <p:nvSpPr>
          <p:cNvPr id="18" name="Shape 16"/>
          <p:cNvSpPr/>
          <p:nvPr/>
        </p:nvSpPr>
        <p:spPr>
          <a:xfrm>
            <a:off x="786384" y="5945023"/>
            <a:ext cx="155448" cy="24140"/>
          </a:xfrm>
          <a:prstGeom prst="rect">
            <a:avLst/>
          </a:prstGeom>
          <a:solidFill>
            <a:srgbClr val="C0402A"/>
          </a:solidFill>
          <a:ln/>
        </p:spPr>
      </p:sp>
      <p:sp>
        <p:nvSpPr>
          <p:cNvPr id="19" name="Text 17"/>
          <p:cNvSpPr/>
          <p:nvPr/>
        </p:nvSpPr>
        <p:spPr>
          <a:xfrm>
            <a:off x="1097280" y="5786607"/>
            <a:ext cx="9670896" cy="449601"/>
          </a:xfrm>
          <a:prstGeom prst="rect">
            <a:avLst/>
          </a:prstGeom>
          <a:noFill/>
          <a:ln/>
        </p:spPr>
        <p:txBody>
          <a:bodyPr wrap="square" lIns="0" tIns="0" rIns="0" bIns="0" rtlCol="0" anchor="t"/>
          <a:lstStyle/>
          <a:p>
            <a:pPr indent="0" marL="0">
              <a:lnSpc>
                <a:spcPts val="2250"/>
              </a:lnSpc>
              <a:buNone/>
            </a:pPr>
            <a:r>
              <a:rPr lang="en-US" sz="1550" dirty="0">
                <a:solidFill>
                  <a:srgbClr val="141414"/>
                </a:solidFill>
                <a:latin typeface="Arial" pitchFamily="34" charset="0"/>
                <a:ea typeface="Arial" pitchFamily="34" charset="-122"/>
                <a:cs typeface="Arial" pitchFamily="34" charset="-120"/>
              </a:rPr>
              <a:t>Collect images in the same pass as the text, or you will have to crawl both sites a second time.</a:t>
            </a:r>
            <a:endParaRPr lang="en-US" sz="15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AF8F5"/>
        </a:solidFill>
      </p:bgPr>
    </p:bg>
    <p:spTree>
      <p:nvGrpSpPr>
        <p:cNvPr id="1" name=""/>
        <p:cNvGrpSpPr/>
        <p:nvPr/>
      </p:nvGrpSpPr>
      <p:grpSpPr>
        <a:xfrm>
          <a:off x="0" y="0"/>
          <a:ext cx="0" cy="0"/>
          <a:chOff x="0" y="0"/>
          <a:chExt cx="0" cy="0"/>
        </a:xfrm>
      </p:grpSpPr>
      <p:sp>
        <p:nvSpPr>
          <p:cNvPr id="2" name="Text 0"/>
          <p:cNvSpPr/>
          <p:nvPr/>
        </p:nvSpPr>
        <p:spPr>
          <a:xfrm>
            <a:off x="786384" y="402336"/>
            <a:ext cx="3657600" cy="237744"/>
          </a:xfrm>
          <a:prstGeom prst="rect">
            <a:avLst/>
          </a:prstGeom>
          <a:noFill/>
          <a:ln/>
        </p:spPr>
        <p:txBody>
          <a:bodyPr wrap="square" lIns="0" tIns="0" rIns="0" bIns="0" rtlCol="0" anchor="ctr"/>
          <a:lstStyle/>
          <a:p>
            <a:pPr indent="0" marL="0">
              <a:buNone/>
            </a:pPr>
            <a:r>
              <a:rPr lang="en-US" sz="950" b="1" spc="240" kern="0" dirty="0">
                <a:solidFill>
                  <a:srgbClr val="9C978E"/>
                </a:solidFill>
                <a:latin typeface="Arial" pitchFamily="34" charset="0"/>
                <a:ea typeface="Arial" pitchFamily="34" charset="-122"/>
                <a:cs typeface="Arial" pitchFamily="34" charset="-120"/>
              </a:rPr>
              <a:t>THEORY</a:t>
            </a:r>
            <a:endParaRPr lang="en-US" sz="950" dirty="0"/>
          </a:p>
        </p:txBody>
      </p:sp>
      <p:sp>
        <p:nvSpPr>
          <p:cNvPr id="3" name="Text 1"/>
          <p:cNvSpPr/>
          <p:nvPr/>
        </p:nvSpPr>
        <p:spPr>
          <a:xfrm>
            <a:off x="786384" y="713232"/>
            <a:ext cx="7923047" cy="676656"/>
          </a:xfrm>
          <a:prstGeom prst="rect">
            <a:avLst/>
          </a:prstGeom>
          <a:noFill/>
          <a:ln/>
        </p:spPr>
        <p:txBody>
          <a:bodyPr wrap="square" lIns="0" tIns="0" rIns="0" bIns="0" rtlCol="0" anchor="ctr"/>
          <a:lstStyle/>
          <a:p>
            <a:pPr indent="0" marL="0">
              <a:buNone/>
            </a:pPr>
            <a:r>
              <a:rPr lang="en-US" sz="2900" b="1" dirty="0">
                <a:solidFill>
                  <a:srgbClr val="141414"/>
                </a:solidFill>
                <a:latin typeface="Arial" pitchFamily="34" charset="0"/>
                <a:ea typeface="Arial" pitchFamily="34" charset="-122"/>
                <a:cs typeface="Arial" pitchFamily="34" charset="-120"/>
              </a:rPr>
              <a:t>Describe, Then Index</a:t>
            </a:r>
            <a:endParaRPr lang="en-US" sz="2900" dirty="0"/>
          </a:p>
        </p:txBody>
      </p:sp>
      <p:sp>
        <p:nvSpPr>
          <p:cNvPr id="4" name="Shape 2"/>
          <p:cNvSpPr/>
          <p:nvPr/>
        </p:nvSpPr>
        <p:spPr>
          <a:xfrm>
            <a:off x="10801807" y="877824"/>
            <a:ext cx="585216" cy="292608"/>
          </a:xfrm>
          <a:prstGeom prst="rect">
            <a:avLst/>
          </a:prstGeom>
          <a:solidFill>
            <a:srgbClr val="FAF8F5"/>
          </a:solidFill>
          <a:ln w="9525">
            <a:solidFill>
              <a:srgbClr val="D5D1CA"/>
            </a:solidFill>
            <a:prstDash val="solid"/>
          </a:ln>
        </p:spPr>
      </p:sp>
      <p:sp>
        <p:nvSpPr>
          <p:cNvPr id="5" name="Text 3"/>
          <p:cNvSpPr/>
          <p:nvPr/>
        </p:nvSpPr>
        <p:spPr>
          <a:xfrm>
            <a:off x="10801807" y="877824"/>
            <a:ext cx="585216" cy="292608"/>
          </a:xfrm>
          <a:prstGeom prst="rect">
            <a:avLst/>
          </a:prstGeom>
          <a:noFill/>
          <a:ln/>
        </p:spPr>
        <p:txBody>
          <a:bodyPr wrap="square" lIns="0" tIns="0" rIns="0" bIns="0" rtlCol="0" anchor="ctr"/>
          <a:lstStyle/>
          <a:p>
            <a:pPr algn="ctr" indent="0" marL="0">
              <a:buNone/>
            </a:pPr>
            <a:r>
              <a:rPr lang="en-US" sz="1100" b="1" spc="60" kern="0" dirty="0">
                <a:solidFill>
                  <a:srgbClr val="4A4741"/>
                </a:solidFill>
                <a:latin typeface="Arial" pitchFamily="34" charset="0"/>
                <a:ea typeface="Arial" pitchFamily="34" charset="-122"/>
                <a:cs typeface="Arial" pitchFamily="34" charset="-120"/>
              </a:rPr>
              <a:t>LV3</a:t>
            </a:r>
            <a:endParaRPr lang="en-US" sz="1100" dirty="0"/>
          </a:p>
        </p:txBody>
      </p:sp>
      <p:sp>
        <p:nvSpPr>
          <p:cNvPr id="6" name="Shape 4"/>
          <p:cNvSpPr/>
          <p:nvPr/>
        </p:nvSpPr>
        <p:spPr>
          <a:xfrm>
            <a:off x="786384" y="1426464"/>
            <a:ext cx="10618927" cy="10973"/>
          </a:xfrm>
          <a:prstGeom prst="rect">
            <a:avLst/>
          </a:prstGeom>
          <a:solidFill>
            <a:srgbClr val="D5D1CA"/>
          </a:solidFill>
          <a:ln/>
        </p:spPr>
      </p:sp>
      <p:sp>
        <p:nvSpPr>
          <p:cNvPr id="7" name="Text 5"/>
          <p:cNvSpPr/>
          <p:nvPr/>
        </p:nvSpPr>
        <p:spPr>
          <a:xfrm>
            <a:off x="10490911" y="6309360"/>
            <a:ext cx="914400" cy="274320"/>
          </a:xfrm>
          <a:prstGeom prst="rect">
            <a:avLst/>
          </a:prstGeom>
          <a:noFill/>
          <a:ln/>
        </p:spPr>
        <p:txBody>
          <a:bodyPr wrap="square" lIns="0" tIns="0" rIns="0" bIns="0" rtlCol="0" anchor="ctr"/>
          <a:lstStyle/>
          <a:p>
            <a:pPr algn="r" indent="0" marL="0">
              <a:buNone/>
            </a:pPr>
            <a:r>
              <a:rPr lang="en-US" sz="1200" dirty="0">
                <a:solidFill>
                  <a:srgbClr val="9C978E"/>
                </a:solidFill>
                <a:latin typeface="Arial" pitchFamily="34" charset="0"/>
                <a:ea typeface="Arial" pitchFamily="34" charset="-122"/>
                <a:cs typeface="Arial" pitchFamily="34" charset="-120"/>
              </a:rPr>
              <a:t>09</a:t>
            </a:r>
            <a:endParaRPr lang="en-US" sz="1200" dirty="0"/>
          </a:p>
        </p:txBody>
      </p:sp>
      <p:sp>
        <p:nvSpPr>
          <p:cNvPr id="8" name="Text 6"/>
          <p:cNvSpPr/>
          <p:nvPr/>
        </p:nvSpPr>
        <p:spPr>
          <a:xfrm>
            <a:off x="786384" y="1788262"/>
            <a:ext cx="10087981" cy="395373"/>
          </a:xfrm>
          <a:prstGeom prst="rect">
            <a:avLst/>
          </a:prstGeom>
          <a:noFill/>
          <a:ln/>
        </p:spPr>
        <p:txBody>
          <a:bodyPr wrap="square" lIns="0" tIns="0" rIns="0" bIns="0" rtlCol="0" anchor="ctr"/>
          <a:lstStyle/>
          <a:p>
            <a:pPr indent="0" marL="0">
              <a:buNone/>
            </a:pPr>
            <a:r>
              <a:rPr lang="en-US" sz="1600" dirty="0">
                <a:solidFill>
                  <a:srgbClr val="141414"/>
                </a:solidFill>
                <a:latin typeface="Arial" pitchFamily="34" charset="0"/>
                <a:ea typeface="Arial" pitchFamily="34" charset="-122"/>
                <a:cs typeface="Arial" pitchFamily="34" charset="-120"/>
              </a:rPr>
              <a:t>One route, and it reuses everything you already built.</a:t>
            </a:r>
            <a:endParaRPr lang="en-US" sz="1600" dirty="0"/>
          </a:p>
        </p:txBody>
      </p:sp>
      <p:sp>
        <p:nvSpPr>
          <p:cNvPr id="9" name="Shape 7"/>
          <p:cNvSpPr/>
          <p:nvPr/>
        </p:nvSpPr>
        <p:spPr>
          <a:xfrm>
            <a:off x="786384" y="2361553"/>
            <a:ext cx="2448992" cy="21746"/>
          </a:xfrm>
          <a:prstGeom prst="rect">
            <a:avLst/>
          </a:prstGeom>
          <a:solidFill>
            <a:srgbClr val="141414"/>
          </a:solidFill>
          <a:ln/>
        </p:spPr>
      </p:sp>
      <p:sp>
        <p:nvSpPr>
          <p:cNvPr id="10" name="Text 8"/>
          <p:cNvSpPr/>
          <p:nvPr/>
        </p:nvSpPr>
        <p:spPr>
          <a:xfrm>
            <a:off x="786384" y="2519702"/>
            <a:ext cx="2448992" cy="474448"/>
          </a:xfrm>
          <a:prstGeom prst="rect">
            <a:avLst/>
          </a:prstGeom>
          <a:noFill/>
          <a:ln/>
        </p:spPr>
        <p:txBody>
          <a:bodyPr wrap="square" lIns="0" tIns="0" rIns="0" bIns="0" rtlCol="0" anchor="ctr"/>
          <a:lstStyle/>
          <a:p>
            <a:pPr indent="0" marL="0">
              <a:lnSpc>
                <a:spcPts val="1900"/>
              </a:lnSpc>
              <a:buNone/>
            </a:pPr>
            <a:r>
              <a:rPr lang="en-US" sz="1750" b="1" dirty="0">
                <a:solidFill>
                  <a:srgbClr val="141414"/>
                </a:solidFill>
                <a:latin typeface="Arial" pitchFamily="34" charset="0"/>
                <a:ea typeface="Arial" pitchFamily="34" charset="-122"/>
                <a:cs typeface="Arial" pitchFamily="34" charset="-120"/>
              </a:rPr>
              <a:t>Collect the image</a:t>
            </a:r>
            <a:endParaRPr lang="en-US" sz="1750" dirty="0"/>
          </a:p>
        </p:txBody>
      </p:sp>
      <p:sp>
        <p:nvSpPr>
          <p:cNvPr id="11" name="Text 9"/>
          <p:cNvSpPr/>
          <p:nvPr/>
        </p:nvSpPr>
        <p:spPr>
          <a:xfrm>
            <a:off x="786384" y="3033687"/>
            <a:ext cx="2448992" cy="474448"/>
          </a:xfrm>
          <a:prstGeom prst="rect">
            <a:avLst/>
          </a:prstGeom>
          <a:noFill/>
          <a:ln/>
        </p:spPr>
        <p:txBody>
          <a:bodyPr wrap="square" lIns="0" tIns="0" rIns="0" bIns="0" rtlCol="0" anchor="ctr"/>
          <a:lstStyle/>
          <a:p>
            <a:pPr indent="0" marL="0">
              <a:lnSpc>
                <a:spcPts val="1800"/>
              </a:lnSpc>
              <a:buNone/>
            </a:pPr>
            <a:r>
              <a:rPr lang="en-US" sz="1350" dirty="0">
                <a:solidFill>
                  <a:srgbClr val="6E6A63"/>
                </a:solidFill>
                <a:latin typeface="Arial" pitchFamily="34" charset="0"/>
                <a:ea typeface="Arial" pitchFamily="34" charset="-122"/>
                <a:cs typeface="Arial" pitchFamily="34" charset="-120"/>
              </a:rPr>
              <a:t>src, alt, caption, page</a:t>
            </a:r>
            <a:endParaRPr lang="en-US" sz="1350" dirty="0"/>
          </a:p>
        </p:txBody>
      </p:sp>
      <p:sp>
        <p:nvSpPr>
          <p:cNvPr id="12" name="Text 10"/>
          <p:cNvSpPr/>
          <p:nvPr/>
        </p:nvSpPr>
        <p:spPr>
          <a:xfrm>
            <a:off x="3235376" y="2440628"/>
            <a:ext cx="274320" cy="415142"/>
          </a:xfrm>
          <a:prstGeom prst="rect">
            <a:avLst/>
          </a:prstGeom>
          <a:noFill/>
          <a:ln/>
        </p:spPr>
        <p:txBody>
          <a:bodyPr wrap="square" lIns="0" tIns="0" rIns="0" bIns="0" rtlCol="0" anchor="ctr"/>
          <a:lstStyle/>
          <a:p>
            <a:pPr algn="ctr" indent="0" marL="0">
              <a:buNone/>
            </a:pPr>
            <a:r>
              <a:rPr lang="en-US" sz="1400" dirty="0">
                <a:solidFill>
                  <a:srgbClr val="9C978E"/>
                </a:solidFill>
                <a:latin typeface="Arial" pitchFamily="34" charset="0"/>
                <a:ea typeface="Arial" pitchFamily="34" charset="-122"/>
                <a:cs typeface="Arial" pitchFamily="34" charset="-120"/>
              </a:rPr>
              <a:t>→</a:t>
            </a:r>
            <a:endParaRPr lang="en-US" sz="1400" dirty="0"/>
          </a:p>
        </p:txBody>
      </p:sp>
      <p:sp>
        <p:nvSpPr>
          <p:cNvPr id="13" name="Shape 11"/>
          <p:cNvSpPr/>
          <p:nvPr/>
        </p:nvSpPr>
        <p:spPr>
          <a:xfrm>
            <a:off x="3509696" y="2361553"/>
            <a:ext cx="2448992" cy="21746"/>
          </a:xfrm>
          <a:prstGeom prst="rect">
            <a:avLst/>
          </a:prstGeom>
          <a:solidFill>
            <a:srgbClr val="141414"/>
          </a:solidFill>
          <a:ln/>
        </p:spPr>
      </p:sp>
      <p:sp>
        <p:nvSpPr>
          <p:cNvPr id="14" name="Text 12"/>
          <p:cNvSpPr/>
          <p:nvPr/>
        </p:nvSpPr>
        <p:spPr>
          <a:xfrm>
            <a:off x="3509696" y="2519702"/>
            <a:ext cx="2448992" cy="474448"/>
          </a:xfrm>
          <a:prstGeom prst="rect">
            <a:avLst/>
          </a:prstGeom>
          <a:noFill/>
          <a:ln/>
        </p:spPr>
        <p:txBody>
          <a:bodyPr wrap="square" lIns="0" tIns="0" rIns="0" bIns="0" rtlCol="0" anchor="ctr"/>
          <a:lstStyle/>
          <a:p>
            <a:pPr indent="0" marL="0">
              <a:lnSpc>
                <a:spcPts val="1900"/>
              </a:lnSpc>
              <a:buNone/>
            </a:pPr>
            <a:r>
              <a:rPr lang="en-US" sz="1750" b="1" dirty="0">
                <a:solidFill>
                  <a:srgbClr val="141414"/>
                </a:solidFill>
                <a:latin typeface="Arial" pitchFamily="34" charset="0"/>
                <a:ea typeface="Arial" pitchFamily="34" charset="-122"/>
                <a:cs typeface="Arial" pitchFamily="34" charset="-120"/>
              </a:rPr>
              <a:t>Send to a vision model</a:t>
            </a:r>
            <a:endParaRPr lang="en-US" sz="1750" dirty="0"/>
          </a:p>
        </p:txBody>
      </p:sp>
      <p:sp>
        <p:nvSpPr>
          <p:cNvPr id="15" name="Text 13"/>
          <p:cNvSpPr/>
          <p:nvPr/>
        </p:nvSpPr>
        <p:spPr>
          <a:xfrm>
            <a:off x="3509696" y="3033687"/>
            <a:ext cx="2448992" cy="474448"/>
          </a:xfrm>
          <a:prstGeom prst="rect">
            <a:avLst/>
          </a:prstGeom>
          <a:noFill/>
          <a:ln/>
        </p:spPr>
        <p:txBody>
          <a:bodyPr wrap="square" lIns="0" tIns="0" rIns="0" bIns="0" rtlCol="0" anchor="ctr"/>
          <a:lstStyle/>
          <a:p>
            <a:pPr indent="0" marL="0">
              <a:lnSpc>
                <a:spcPts val="1800"/>
              </a:lnSpc>
              <a:buNone/>
            </a:pPr>
            <a:r>
              <a:rPr lang="en-US" sz="1350" dirty="0">
                <a:solidFill>
                  <a:srgbClr val="6E6A63"/>
                </a:solidFill>
                <a:latin typeface="Arial" pitchFamily="34" charset="0"/>
                <a:ea typeface="Arial" pitchFamily="34" charset="-122"/>
                <a:cs typeface="Arial" pitchFamily="34" charset="-120"/>
              </a:rPr>
              <a:t>At build time, once</a:t>
            </a:r>
            <a:endParaRPr lang="en-US" sz="1350" dirty="0"/>
          </a:p>
        </p:txBody>
      </p:sp>
      <p:sp>
        <p:nvSpPr>
          <p:cNvPr id="16" name="Text 14"/>
          <p:cNvSpPr/>
          <p:nvPr/>
        </p:nvSpPr>
        <p:spPr>
          <a:xfrm>
            <a:off x="5958688" y="2440628"/>
            <a:ext cx="274320" cy="415142"/>
          </a:xfrm>
          <a:prstGeom prst="rect">
            <a:avLst/>
          </a:prstGeom>
          <a:noFill/>
          <a:ln/>
        </p:spPr>
        <p:txBody>
          <a:bodyPr wrap="square" lIns="0" tIns="0" rIns="0" bIns="0" rtlCol="0" anchor="ctr"/>
          <a:lstStyle/>
          <a:p>
            <a:pPr algn="ctr" indent="0" marL="0">
              <a:buNone/>
            </a:pPr>
            <a:r>
              <a:rPr lang="en-US" sz="1400" dirty="0">
                <a:solidFill>
                  <a:srgbClr val="9C978E"/>
                </a:solidFill>
                <a:latin typeface="Arial" pitchFamily="34" charset="0"/>
                <a:ea typeface="Arial" pitchFamily="34" charset="-122"/>
                <a:cs typeface="Arial" pitchFamily="34" charset="-120"/>
              </a:rPr>
              <a:t>→</a:t>
            </a:r>
            <a:endParaRPr lang="en-US" sz="1400" dirty="0"/>
          </a:p>
        </p:txBody>
      </p:sp>
      <p:sp>
        <p:nvSpPr>
          <p:cNvPr id="17" name="Shape 15"/>
          <p:cNvSpPr/>
          <p:nvPr/>
        </p:nvSpPr>
        <p:spPr>
          <a:xfrm>
            <a:off x="6233008" y="2361553"/>
            <a:ext cx="2448992" cy="21746"/>
          </a:xfrm>
          <a:prstGeom prst="rect">
            <a:avLst/>
          </a:prstGeom>
          <a:solidFill>
            <a:srgbClr val="141414"/>
          </a:solidFill>
          <a:ln/>
        </p:spPr>
      </p:sp>
      <p:sp>
        <p:nvSpPr>
          <p:cNvPr id="18" name="Text 16"/>
          <p:cNvSpPr/>
          <p:nvPr/>
        </p:nvSpPr>
        <p:spPr>
          <a:xfrm>
            <a:off x="6233008" y="2519702"/>
            <a:ext cx="2448992" cy="474448"/>
          </a:xfrm>
          <a:prstGeom prst="rect">
            <a:avLst/>
          </a:prstGeom>
          <a:noFill/>
          <a:ln/>
        </p:spPr>
        <p:txBody>
          <a:bodyPr wrap="square" lIns="0" tIns="0" rIns="0" bIns="0" rtlCol="0" anchor="ctr"/>
          <a:lstStyle/>
          <a:p>
            <a:pPr indent="0" marL="0">
              <a:lnSpc>
                <a:spcPts val="1900"/>
              </a:lnSpc>
              <a:buNone/>
            </a:pPr>
            <a:r>
              <a:rPr lang="en-US" sz="1750" b="1" dirty="0">
                <a:solidFill>
                  <a:srgbClr val="141414"/>
                </a:solidFill>
                <a:latin typeface="Arial" pitchFamily="34" charset="0"/>
                <a:ea typeface="Arial" pitchFamily="34" charset="-122"/>
                <a:cs typeface="Arial" pitchFamily="34" charset="-120"/>
              </a:rPr>
              <a:t>Store the description</a:t>
            </a:r>
            <a:endParaRPr lang="en-US" sz="1750" dirty="0"/>
          </a:p>
        </p:txBody>
      </p:sp>
      <p:sp>
        <p:nvSpPr>
          <p:cNvPr id="19" name="Text 17"/>
          <p:cNvSpPr/>
          <p:nvPr/>
        </p:nvSpPr>
        <p:spPr>
          <a:xfrm>
            <a:off x="6233008" y="3033687"/>
            <a:ext cx="2448992" cy="474448"/>
          </a:xfrm>
          <a:prstGeom prst="rect">
            <a:avLst/>
          </a:prstGeom>
          <a:noFill/>
          <a:ln/>
        </p:spPr>
        <p:txBody>
          <a:bodyPr wrap="square" lIns="0" tIns="0" rIns="0" bIns="0" rtlCol="0" anchor="ctr"/>
          <a:lstStyle/>
          <a:p>
            <a:pPr indent="0" marL="0">
              <a:lnSpc>
                <a:spcPts val="1800"/>
              </a:lnSpc>
              <a:buNone/>
            </a:pPr>
            <a:r>
              <a:rPr lang="en-US" sz="1350" dirty="0">
                <a:solidFill>
                  <a:srgbClr val="6E6A63"/>
                </a:solidFill>
                <a:latin typeface="Arial" pitchFamily="34" charset="0"/>
                <a:ea typeface="Arial" pitchFamily="34" charset="-122"/>
                <a:cs typeface="Arial" pitchFamily="34" charset="-120"/>
              </a:rPr>
              <a:t>An ordinary text chunk</a:t>
            </a:r>
            <a:endParaRPr lang="en-US" sz="1350" dirty="0"/>
          </a:p>
        </p:txBody>
      </p:sp>
      <p:sp>
        <p:nvSpPr>
          <p:cNvPr id="20" name="Text 18"/>
          <p:cNvSpPr/>
          <p:nvPr/>
        </p:nvSpPr>
        <p:spPr>
          <a:xfrm>
            <a:off x="8681999" y="2440628"/>
            <a:ext cx="274320" cy="415142"/>
          </a:xfrm>
          <a:prstGeom prst="rect">
            <a:avLst/>
          </a:prstGeom>
          <a:noFill/>
          <a:ln/>
        </p:spPr>
        <p:txBody>
          <a:bodyPr wrap="square" lIns="0" tIns="0" rIns="0" bIns="0" rtlCol="0" anchor="ctr"/>
          <a:lstStyle/>
          <a:p>
            <a:pPr algn="ctr" indent="0" marL="0">
              <a:buNone/>
            </a:pPr>
            <a:r>
              <a:rPr lang="en-US" sz="1400" dirty="0">
                <a:solidFill>
                  <a:srgbClr val="9C978E"/>
                </a:solidFill>
                <a:latin typeface="Arial" pitchFamily="34" charset="0"/>
                <a:ea typeface="Arial" pitchFamily="34" charset="-122"/>
                <a:cs typeface="Arial" pitchFamily="34" charset="-120"/>
              </a:rPr>
              <a:t>→</a:t>
            </a:r>
            <a:endParaRPr lang="en-US" sz="1400" dirty="0"/>
          </a:p>
        </p:txBody>
      </p:sp>
      <p:sp>
        <p:nvSpPr>
          <p:cNvPr id="21" name="Shape 19"/>
          <p:cNvSpPr/>
          <p:nvPr/>
        </p:nvSpPr>
        <p:spPr>
          <a:xfrm>
            <a:off x="8956319" y="2361553"/>
            <a:ext cx="2448992" cy="21746"/>
          </a:xfrm>
          <a:prstGeom prst="rect">
            <a:avLst/>
          </a:prstGeom>
          <a:solidFill>
            <a:srgbClr val="141414"/>
          </a:solidFill>
          <a:ln/>
        </p:spPr>
      </p:sp>
      <p:sp>
        <p:nvSpPr>
          <p:cNvPr id="22" name="Text 20"/>
          <p:cNvSpPr/>
          <p:nvPr/>
        </p:nvSpPr>
        <p:spPr>
          <a:xfrm>
            <a:off x="8956319" y="2519702"/>
            <a:ext cx="2448992" cy="474448"/>
          </a:xfrm>
          <a:prstGeom prst="rect">
            <a:avLst/>
          </a:prstGeom>
          <a:noFill/>
          <a:ln/>
        </p:spPr>
        <p:txBody>
          <a:bodyPr wrap="square" lIns="0" tIns="0" rIns="0" bIns="0" rtlCol="0" anchor="ctr"/>
          <a:lstStyle/>
          <a:p>
            <a:pPr indent="0" marL="0">
              <a:lnSpc>
                <a:spcPts val="1900"/>
              </a:lnSpc>
              <a:buNone/>
            </a:pPr>
            <a:r>
              <a:rPr lang="en-US" sz="1750" b="1" dirty="0">
                <a:solidFill>
                  <a:srgbClr val="141414"/>
                </a:solidFill>
                <a:latin typeface="Arial" pitchFamily="34" charset="0"/>
                <a:ea typeface="Arial" pitchFamily="34" charset="-122"/>
                <a:cs typeface="Arial" pitchFamily="34" charset="-120"/>
              </a:rPr>
              <a:t>Retrieve as normal</a:t>
            </a:r>
            <a:endParaRPr lang="en-US" sz="1750" dirty="0"/>
          </a:p>
        </p:txBody>
      </p:sp>
      <p:sp>
        <p:nvSpPr>
          <p:cNvPr id="23" name="Text 21"/>
          <p:cNvSpPr/>
          <p:nvPr/>
        </p:nvSpPr>
        <p:spPr>
          <a:xfrm>
            <a:off x="8956319" y="3033687"/>
            <a:ext cx="2448992" cy="474448"/>
          </a:xfrm>
          <a:prstGeom prst="rect">
            <a:avLst/>
          </a:prstGeom>
          <a:noFill/>
          <a:ln/>
        </p:spPr>
        <p:txBody>
          <a:bodyPr wrap="square" lIns="0" tIns="0" rIns="0" bIns="0" rtlCol="0" anchor="ctr"/>
          <a:lstStyle/>
          <a:p>
            <a:pPr indent="0" marL="0">
              <a:lnSpc>
                <a:spcPts val="1800"/>
              </a:lnSpc>
              <a:buNone/>
            </a:pPr>
            <a:r>
              <a:rPr lang="en-US" sz="1350" dirty="0">
                <a:solidFill>
                  <a:srgbClr val="6E6A63"/>
                </a:solidFill>
                <a:latin typeface="Arial" pitchFamily="34" charset="0"/>
                <a:ea typeface="Arial" pitchFamily="34" charset="-122"/>
                <a:cs typeface="Arial" pitchFamily="34" charset="-120"/>
              </a:rPr>
              <a:t>No image path at query time</a:t>
            </a:r>
            <a:endParaRPr lang="en-US" sz="1350" dirty="0"/>
          </a:p>
        </p:txBody>
      </p:sp>
      <p:sp>
        <p:nvSpPr>
          <p:cNvPr id="24" name="Shape 22"/>
          <p:cNvSpPr/>
          <p:nvPr/>
        </p:nvSpPr>
        <p:spPr>
          <a:xfrm>
            <a:off x="786384" y="3943045"/>
            <a:ext cx="5227168" cy="17792"/>
          </a:xfrm>
          <a:prstGeom prst="rect">
            <a:avLst/>
          </a:prstGeom>
          <a:solidFill>
            <a:srgbClr val="141414"/>
          </a:solidFill>
          <a:ln/>
        </p:spPr>
      </p:sp>
      <p:sp>
        <p:nvSpPr>
          <p:cNvPr id="25" name="Text 23"/>
          <p:cNvSpPr/>
          <p:nvPr/>
        </p:nvSpPr>
        <p:spPr>
          <a:xfrm>
            <a:off x="786384" y="4101194"/>
            <a:ext cx="5227168" cy="372035"/>
          </a:xfrm>
          <a:prstGeom prst="rect">
            <a:avLst/>
          </a:prstGeom>
          <a:noFill/>
          <a:ln/>
        </p:spPr>
        <p:txBody>
          <a:bodyPr wrap="square" lIns="0" tIns="0" rIns="0" bIns="0" rtlCol="0" anchor="ctr"/>
          <a:lstStyle/>
          <a:p>
            <a:pPr indent="0" marL="0">
              <a:lnSpc>
                <a:spcPts val="2350"/>
              </a:lnSpc>
              <a:buNone/>
            </a:pPr>
            <a:r>
              <a:rPr lang="en-US" sz="1950" b="1" dirty="0">
                <a:solidFill>
                  <a:srgbClr val="141414"/>
                </a:solidFill>
                <a:latin typeface="Arial" pitchFamily="34" charset="0"/>
                <a:ea typeface="Arial" pitchFamily="34" charset="-122"/>
                <a:cs typeface="Arial" pitchFamily="34" charset="-120"/>
              </a:rPr>
              <a:t>Why this works</a:t>
            </a:r>
            <a:endParaRPr lang="en-US" sz="1950" dirty="0"/>
          </a:p>
        </p:txBody>
      </p:sp>
      <p:sp>
        <p:nvSpPr>
          <p:cNvPr id="26" name="Text 24"/>
          <p:cNvSpPr/>
          <p:nvPr/>
        </p:nvSpPr>
        <p:spPr>
          <a:xfrm>
            <a:off x="786384" y="4552304"/>
            <a:ext cx="5227168" cy="934892"/>
          </a:xfrm>
          <a:prstGeom prst="rect">
            <a:avLst/>
          </a:prstGeom>
          <a:noFill/>
          <a:ln/>
        </p:spPr>
        <p:txBody>
          <a:bodyPr wrap="square" lIns="0" tIns="0" rIns="0" bIns="0" rtlCol="0" anchor="t"/>
          <a:lstStyle/>
          <a:p>
            <a:pPr indent="0" marL="0">
              <a:lnSpc>
                <a:spcPts val="2150"/>
              </a:lnSpc>
              <a:buNone/>
            </a:pPr>
            <a:r>
              <a:rPr lang="en-US" sz="1450" dirty="0">
                <a:solidFill>
                  <a:srgbClr val="141414"/>
                </a:solidFill>
                <a:latin typeface="Arial" pitchFamily="34" charset="0"/>
                <a:ea typeface="Arial" pitchFamily="34" charset="-122"/>
                <a:cs typeface="Arial" pitchFamily="34" charset="-120"/>
              </a:rPr>
              <a:t>The description sits in the same store as your scraped text and is embedded the same way. Your retriever does not need to know an image was involved.</a:t>
            </a:r>
            <a:endParaRPr lang="en-US" sz="1450" dirty="0"/>
          </a:p>
        </p:txBody>
      </p:sp>
      <p:sp>
        <p:nvSpPr>
          <p:cNvPr id="27" name="Shape 25"/>
          <p:cNvSpPr/>
          <p:nvPr/>
        </p:nvSpPr>
        <p:spPr>
          <a:xfrm>
            <a:off x="6178144" y="3943045"/>
            <a:ext cx="5227168" cy="1919755"/>
          </a:xfrm>
          <a:prstGeom prst="rect">
            <a:avLst/>
          </a:prstGeom>
          <a:solidFill>
            <a:srgbClr val="F7E6E0"/>
          </a:solidFill>
          <a:ln/>
        </p:spPr>
      </p:sp>
      <p:sp>
        <p:nvSpPr>
          <p:cNvPr id="28" name="Shape 26"/>
          <p:cNvSpPr/>
          <p:nvPr/>
        </p:nvSpPr>
        <p:spPr>
          <a:xfrm>
            <a:off x="6415888" y="4180269"/>
            <a:ext cx="4751680" cy="23722"/>
          </a:xfrm>
          <a:prstGeom prst="rect">
            <a:avLst/>
          </a:prstGeom>
          <a:solidFill>
            <a:srgbClr val="C0402A"/>
          </a:solidFill>
          <a:ln/>
        </p:spPr>
      </p:sp>
      <p:sp>
        <p:nvSpPr>
          <p:cNvPr id="29" name="Text 27"/>
          <p:cNvSpPr/>
          <p:nvPr/>
        </p:nvSpPr>
        <p:spPr>
          <a:xfrm>
            <a:off x="6415888" y="4338418"/>
            <a:ext cx="4751680" cy="372035"/>
          </a:xfrm>
          <a:prstGeom prst="rect">
            <a:avLst/>
          </a:prstGeom>
          <a:noFill/>
          <a:ln/>
        </p:spPr>
        <p:txBody>
          <a:bodyPr wrap="square" lIns="0" tIns="0" rIns="0" bIns="0" rtlCol="0" anchor="ctr"/>
          <a:lstStyle/>
          <a:p>
            <a:pPr indent="0" marL="0">
              <a:lnSpc>
                <a:spcPts val="2350"/>
              </a:lnSpc>
              <a:buNone/>
            </a:pPr>
            <a:r>
              <a:rPr lang="en-US" sz="1950" b="1" dirty="0">
                <a:solidFill>
                  <a:srgbClr val="141414"/>
                </a:solidFill>
                <a:latin typeface="Arial" pitchFamily="34" charset="0"/>
                <a:ea typeface="Arial" pitchFamily="34" charset="-122"/>
                <a:cs typeface="Arial" pitchFamily="34" charset="-120"/>
              </a:rPr>
              <a:t>Where it happens</a:t>
            </a:r>
            <a:endParaRPr lang="en-US" sz="1950" dirty="0"/>
          </a:p>
        </p:txBody>
      </p:sp>
      <p:sp>
        <p:nvSpPr>
          <p:cNvPr id="30" name="Text 28"/>
          <p:cNvSpPr/>
          <p:nvPr/>
        </p:nvSpPr>
        <p:spPr>
          <a:xfrm>
            <a:off x="6415888" y="4789527"/>
            <a:ext cx="4751680" cy="934892"/>
          </a:xfrm>
          <a:prstGeom prst="rect">
            <a:avLst/>
          </a:prstGeom>
          <a:noFill/>
          <a:ln/>
        </p:spPr>
        <p:txBody>
          <a:bodyPr wrap="square" lIns="0" tIns="0" rIns="0" bIns="0" rtlCol="0" anchor="t"/>
          <a:lstStyle/>
          <a:p>
            <a:pPr indent="0" marL="0">
              <a:lnSpc>
                <a:spcPts val="2150"/>
              </a:lnSpc>
              <a:buNone/>
            </a:pPr>
            <a:r>
              <a:rPr lang="en-US" sz="1450" dirty="0">
                <a:solidFill>
                  <a:srgbClr val="141414"/>
                </a:solidFill>
                <a:latin typeface="Arial" pitchFamily="34" charset="0"/>
                <a:ea typeface="Arial" pitchFamily="34" charset="-122"/>
                <a:cs typeface="Arial" pitchFamily="34" charset="-120"/>
              </a:rPr>
              <a:t>At ingestion, never at query time. Describing several hundred images takes under an hour once. Doing it while answering will blow the 30 second limit.</a:t>
            </a:r>
            <a:endParaRPr lang="en-US" sz="1450" dirty="0"/>
          </a:p>
        </p:txBody>
      </p:sp>
      <p:sp>
        <p:nvSpPr>
          <p:cNvPr id="31" name="Text 29"/>
          <p:cNvSpPr/>
          <p:nvPr/>
        </p:nvSpPr>
        <p:spPr>
          <a:xfrm>
            <a:off x="786384" y="5741992"/>
            <a:ext cx="10087981" cy="494216"/>
          </a:xfrm>
          <a:prstGeom prst="rect">
            <a:avLst/>
          </a:prstGeom>
          <a:noFill/>
          <a:ln/>
        </p:spPr>
        <p:txBody>
          <a:bodyPr wrap="square" lIns="0" tIns="0" rIns="0" bIns="0" rtlCol="0" anchor="ctr"/>
          <a:lstStyle/>
          <a:p>
            <a:pPr indent="0" marL="0">
              <a:buNone/>
            </a:pPr>
            <a:r>
              <a:rPr lang="en-US" sz="1550" dirty="0">
                <a:solidFill>
                  <a:srgbClr val="141414"/>
                </a:solidFill>
                <a:latin typeface="Arial" pitchFamily="34" charset="0"/>
                <a:ea typeface="Arial" pitchFamily="34" charset="-122"/>
                <a:cs typeface="Arial" pitchFamily="34" charset="-120"/>
              </a:rPr>
              <a:t>What the description says is therefore the whole game, and that is what the next block is about.</a:t>
            </a:r>
            <a:endParaRPr lang="en-US" sz="15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121212"/>
        </a:solidFill>
      </p:bgPr>
    </p:bg>
    <p:spTree>
      <p:nvGrpSpPr>
        <p:cNvPr id="1" name=""/>
        <p:cNvGrpSpPr/>
        <p:nvPr/>
      </p:nvGrpSpPr>
      <p:grpSpPr>
        <a:xfrm>
          <a:off x="0" y="0"/>
          <a:ext cx="0" cy="0"/>
          <a:chOff x="0" y="0"/>
          <a:chExt cx="0" cy="0"/>
        </a:xfrm>
      </p:grpSpPr>
      <p:sp>
        <p:nvSpPr>
          <p:cNvPr id="2" name="Text 0"/>
          <p:cNvSpPr/>
          <p:nvPr/>
        </p:nvSpPr>
        <p:spPr>
          <a:xfrm>
            <a:off x="8899855" y="960120"/>
            <a:ext cx="3017520" cy="3200400"/>
          </a:xfrm>
          <a:prstGeom prst="rect">
            <a:avLst/>
          </a:prstGeom>
          <a:noFill/>
          <a:ln/>
        </p:spPr>
        <p:txBody>
          <a:bodyPr wrap="square" lIns="0" tIns="0" rIns="0" bIns="0" rtlCol="0" anchor="ctr"/>
          <a:lstStyle/>
          <a:p>
            <a:pPr algn="r" indent="0" marL="0">
              <a:buNone/>
            </a:pPr>
            <a:r>
              <a:rPr lang="en-US" sz="9600" b="1" dirty="0">
                <a:solidFill>
                  <a:srgbClr val="3D3934"/>
                </a:solidFill>
                <a:latin typeface="Arial" pitchFamily="34" charset="0"/>
                <a:ea typeface="Arial" pitchFamily="34" charset="-122"/>
                <a:cs typeface="Arial" pitchFamily="34" charset="-120"/>
              </a:rPr>
              <a:t>3</a:t>
            </a:r>
            <a:endParaRPr lang="en-US" sz="9600" dirty="0"/>
          </a:p>
        </p:txBody>
      </p:sp>
      <p:sp>
        <p:nvSpPr>
          <p:cNvPr id="3" name="Text 1"/>
          <p:cNvSpPr/>
          <p:nvPr/>
        </p:nvSpPr>
        <p:spPr>
          <a:xfrm>
            <a:off x="786384" y="1975104"/>
            <a:ext cx="10618927" cy="274320"/>
          </a:xfrm>
          <a:prstGeom prst="rect">
            <a:avLst/>
          </a:prstGeom>
          <a:noFill/>
          <a:ln/>
        </p:spPr>
        <p:txBody>
          <a:bodyPr wrap="square" lIns="0" tIns="0" rIns="0" bIns="0" rtlCol="0" anchor="ctr"/>
          <a:lstStyle/>
          <a:p>
            <a:pPr indent="0" marL="0">
              <a:buNone/>
            </a:pPr>
            <a:r>
              <a:rPr lang="en-US" sz="1200" b="1" spc="260" kern="0" dirty="0">
                <a:solidFill>
                  <a:srgbClr val="C0402A"/>
                </a:solidFill>
                <a:latin typeface="Arial" pitchFamily="34" charset="0"/>
                <a:ea typeface="Arial" pitchFamily="34" charset="-122"/>
                <a:cs typeface="Arial" pitchFamily="34" charset="-120"/>
              </a:rPr>
              <a:t>BLOCK 3  ·  LAB</a:t>
            </a:r>
            <a:endParaRPr lang="en-US" sz="1200" dirty="0"/>
          </a:p>
        </p:txBody>
      </p:sp>
      <p:sp>
        <p:nvSpPr>
          <p:cNvPr id="4" name="Shape 2"/>
          <p:cNvSpPr/>
          <p:nvPr/>
        </p:nvSpPr>
        <p:spPr>
          <a:xfrm>
            <a:off x="786384" y="2377440"/>
            <a:ext cx="1371600" cy="20117"/>
          </a:xfrm>
          <a:prstGeom prst="rect">
            <a:avLst/>
          </a:prstGeom>
          <a:solidFill>
            <a:srgbClr val="C0402A"/>
          </a:solidFill>
          <a:ln/>
        </p:spPr>
      </p:sp>
      <p:sp>
        <p:nvSpPr>
          <p:cNvPr id="5" name="Text 3"/>
          <p:cNvSpPr/>
          <p:nvPr/>
        </p:nvSpPr>
        <p:spPr>
          <a:xfrm>
            <a:off x="786384" y="2596896"/>
            <a:ext cx="7024421" cy="1188720"/>
          </a:xfrm>
          <a:prstGeom prst="rect">
            <a:avLst/>
          </a:prstGeom>
          <a:noFill/>
          <a:ln/>
        </p:spPr>
        <p:txBody>
          <a:bodyPr wrap="square" lIns="0" tIns="0" rIns="0" bIns="0" rtlCol="0" anchor="ctr"/>
          <a:lstStyle/>
          <a:p>
            <a:pPr indent="0" marL="0">
              <a:lnSpc>
                <a:spcPts val="4000"/>
              </a:lnSpc>
              <a:buNone/>
            </a:pPr>
            <a:r>
              <a:rPr lang="en-US" sz="3600" b="1" dirty="0">
                <a:solidFill>
                  <a:srgbClr val="FAF8F5"/>
                </a:solidFill>
                <a:latin typeface="Arial" pitchFamily="34" charset="0"/>
                <a:ea typeface="Arial" pitchFamily="34" charset="-122"/>
                <a:cs typeface="Arial" pitchFamily="34" charset="-120"/>
              </a:rPr>
              <a:t>Description Prompting</a:t>
            </a:r>
            <a:endParaRPr lang="en-US" sz="3600" dirty="0"/>
          </a:p>
        </p:txBody>
      </p:sp>
      <p:sp>
        <p:nvSpPr>
          <p:cNvPr id="6" name="Text 4"/>
          <p:cNvSpPr/>
          <p:nvPr/>
        </p:nvSpPr>
        <p:spPr>
          <a:xfrm>
            <a:off x="786384" y="3895344"/>
            <a:ext cx="6125794" cy="822960"/>
          </a:xfrm>
          <a:prstGeom prst="rect">
            <a:avLst/>
          </a:prstGeom>
          <a:noFill/>
          <a:ln/>
        </p:spPr>
        <p:txBody>
          <a:bodyPr wrap="square" lIns="0" tIns="0" rIns="0" bIns="0" rtlCol="0" anchor="ctr"/>
          <a:lstStyle/>
          <a:p>
            <a:pPr indent="0" marL="0">
              <a:lnSpc>
                <a:spcPts val="2300"/>
              </a:lnSpc>
              <a:buNone/>
            </a:pPr>
            <a:r>
              <a:rPr lang="en-US" sz="1750" dirty="0">
                <a:solidFill>
                  <a:srgbClr val="A8A39B"/>
                </a:solidFill>
                <a:latin typeface="Arial" pitchFamily="34" charset="0"/>
                <a:ea typeface="Arial" pitchFamily="34" charset="-122"/>
                <a:cs typeface="Arial" pitchFamily="34" charset="-120"/>
              </a:rPr>
              <a:t>Writing the prompt that converts an image into text your index can search.</a:t>
            </a:r>
            <a:endParaRPr lang="en-US" sz="1750" dirty="0"/>
          </a:p>
        </p:txBody>
      </p:sp>
      <p:sp>
        <p:nvSpPr>
          <p:cNvPr id="7" name="Text 5"/>
          <p:cNvSpPr/>
          <p:nvPr/>
        </p:nvSpPr>
        <p:spPr>
          <a:xfrm>
            <a:off x="9210751" y="5358384"/>
            <a:ext cx="2194560" cy="310896"/>
          </a:xfrm>
          <a:prstGeom prst="rect">
            <a:avLst/>
          </a:prstGeom>
          <a:noFill/>
          <a:ln/>
        </p:spPr>
        <p:txBody>
          <a:bodyPr wrap="square" lIns="0" tIns="0" rIns="0" bIns="0" rtlCol="0" anchor="ctr"/>
          <a:lstStyle/>
          <a:p>
            <a:pPr algn="r" indent="0" marL="0">
              <a:buNone/>
            </a:pPr>
            <a:r>
              <a:rPr lang="en-US" sz="1450" b="1" spc="180" kern="0" dirty="0">
                <a:solidFill>
                  <a:srgbClr val="C0402A"/>
                </a:solidFill>
                <a:latin typeface="Arial" pitchFamily="34" charset="0"/>
                <a:ea typeface="Arial" pitchFamily="34" charset="-122"/>
                <a:cs typeface="Arial" pitchFamily="34" charset="-120"/>
              </a:rPr>
              <a:t>20 MIN</a:t>
            </a:r>
            <a:endParaRPr lang="en-US" sz="1450" dirty="0"/>
          </a:p>
        </p:txBody>
      </p:sp>
      <p:sp>
        <p:nvSpPr>
          <p:cNvPr id="8" name="Shape 6"/>
          <p:cNvSpPr/>
          <p:nvPr/>
        </p:nvSpPr>
        <p:spPr>
          <a:xfrm>
            <a:off x="786384" y="5358384"/>
            <a:ext cx="585216" cy="292608"/>
          </a:xfrm>
          <a:prstGeom prst="rect">
            <a:avLst/>
          </a:prstGeom>
          <a:solidFill>
            <a:srgbClr val="121212"/>
          </a:solidFill>
          <a:ln w="9525">
            <a:solidFill>
              <a:srgbClr val="45423E"/>
            </a:solidFill>
            <a:prstDash val="solid"/>
          </a:ln>
        </p:spPr>
      </p:sp>
      <p:sp>
        <p:nvSpPr>
          <p:cNvPr id="9" name="Text 7"/>
          <p:cNvSpPr/>
          <p:nvPr/>
        </p:nvSpPr>
        <p:spPr>
          <a:xfrm>
            <a:off x="786384" y="5358384"/>
            <a:ext cx="585216" cy="292608"/>
          </a:xfrm>
          <a:prstGeom prst="rect">
            <a:avLst/>
          </a:prstGeom>
          <a:noFill/>
          <a:ln/>
        </p:spPr>
        <p:txBody>
          <a:bodyPr wrap="square" lIns="0" tIns="0" rIns="0" bIns="0" rtlCol="0" anchor="ctr"/>
          <a:lstStyle/>
          <a:p>
            <a:pPr algn="ctr" indent="0" marL="0">
              <a:buNone/>
            </a:pPr>
            <a:r>
              <a:rPr lang="en-US" sz="1100" b="1" spc="60" kern="0" dirty="0">
                <a:solidFill>
                  <a:srgbClr val="B5B0A8"/>
                </a:solidFill>
                <a:latin typeface="Arial" pitchFamily="34" charset="0"/>
                <a:ea typeface="Arial" pitchFamily="34" charset="-122"/>
                <a:cs typeface="Arial" pitchFamily="34" charset="-120"/>
              </a:rPr>
              <a:t>LV3</a:t>
            </a:r>
            <a:endParaRPr lang="en-US" sz="1100" dirty="0"/>
          </a:p>
        </p:txBody>
      </p:sp>
      <p:sp>
        <p:nvSpPr>
          <p:cNvPr id="10" name="Shape 8"/>
          <p:cNvSpPr/>
          <p:nvPr/>
        </p:nvSpPr>
        <p:spPr>
          <a:xfrm>
            <a:off x="1463040" y="5358384"/>
            <a:ext cx="585216" cy="292608"/>
          </a:xfrm>
          <a:prstGeom prst="rect">
            <a:avLst/>
          </a:prstGeom>
          <a:solidFill>
            <a:srgbClr val="121212"/>
          </a:solidFill>
          <a:ln w="9525">
            <a:solidFill>
              <a:srgbClr val="45423E"/>
            </a:solidFill>
            <a:prstDash val="solid"/>
          </a:ln>
        </p:spPr>
      </p:sp>
      <p:sp>
        <p:nvSpPr>
          <p:cNvPr id="11" name="Text 9"/>
          <p:cNvSpPr/>
          <p:nvPr/>
        </p:nvSpPr>
        <p:spPr>
          <a:xfrm>
            <a:off x="1463040" y="5358384"/>
            <a:ext cx="585216" cy="292608"/>
          </a:xfrm>
          <a:prstGeom prst="rect">
            <a:avLst/>
          </a:prstGeom>
          <a:noFill/>
          <a:ln/>
        </p:spPr>
        <p:txBody>
          <a:bodyPr wrap="square" lIns="0" tIns="0" rIns="0" bIns="0" rtlCol="0" anchor="ctr"/>
          <a:lstStyle/>
          <a:p>
            <a:pPr algn="ctr" indent="0" marL="0">
              <a:buNone/>
            </a:pPr>
            <a:r>
              <a:rPr lang="en-US" sz="1100" b="1" spc="60" kern="0" dirty="0">
                <a:solidFill>
                  <a:srgbClr val="B5B0A8"/>
                </a:solidFill>
                <a:latin typeface="Arial" pitchFamily="34" charset="0"/>
                <a:ea typeface="Arial" pitchFamily="34" charset="-122"/>
                <a:cs typeface="Arial" pitchFamily="34" charset="-120"/>
              </a:rPr>
              <a:t>LV5</a:t>
            </a:r>
            <a:endParaRPr lang="en-US" sz="1100" dirty="0"/>
          </a:p>
        </p:txBody>
      </p:sp>
      <p:sp>
        <p:nvSpPr>
          <p:cNvPr id="12" name="Text 10"/>
          <p:cNvSpPr/>
          <p:nvPr/>
        </p:nvSpPr>
        <p:spPr>
          <a:xfrm>
            <a:off x="10490911" y="6309360"/>
            <a:ext cx="914400" cy="274320"/>
          </a:xfrm>
          <a:prstGeom prst="rect">
            <a:avLst/>
          </a:prstGeom>
          <a:noFill/>
          <a:ln/>
        </p:spPr>
        <p:txBody>
          <a:bodyPr wrap="square" lIns="0" tIns="0" rIns="0" bIns="0" rtlCol="0" anchor="ctr"/>
          <a:lstStyle/>
          <a:p>
            <a:pPr algn="r" indent="0" marL="0">
              <a:buNone/>
            </a:pPr>
            <a:r>
              <a:rPr lang="en-US" sz="1200" dirty="0">
                <a:solidFill>
                  <a:srgbClr val="56534E"/>
                </a:solidFill>
                <a:latin typeface="Arial" pitchFamily="34" charset="0"/>
                <a:ea typeface="Arial" pitchFamily="34" charset="-122"/>
                <a:cs typeface="Arial" pitchFamily="34" charset="-120"/>
              </a:rPr>
              <a:t>10</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AF8F5"/>
        </a:solidFill>
      </p:bgPr>
    </p:bg>
    <p:spTree>
      <p:nvGrpSpPr>
        <p:cNvPr id="1" name=""/>
        <p:cNvGrpSpPr/>
        <p:nvPr/>
      </p:nvGrpSpPr>
      <p:grpSpPr>
        <a:xfrm>
          <a:off x="0" y="0"/>
          <a:ext cx="0" cy="0"/>
          <a:chOff x="0" y="0"/>
          <a:chExt cx="0" cy="0"/>
        </a:xfrm>
      </p:grpSpPr>
      <p:sp>
        <p:nvSpPr>
          <p:cNvPr id="2" name="Text 0"/>
          <p:cNvSpPr/>
          <p:nvPr/>
        </p:nvSpPr>
        <p:spPr>
          <a:xfrm>
            <a:off x="786384" y="402336"/>
            <a:ext cx="3657600" cy="237744"/>
          </a:xfrm>
          <a:prstGeom prst="rect">
            <a:avLst/>
          </a:prstGeom>
          <a:noFill/>
          <a:ln/>
        </p:spPr>
        <p:txBody>
          <a:bodyPr wrap="square" lIns="0" tIns="0" rIns="0" bIns="0" rtlCol="0" anchor="ctr"/>
          <a:lstStyle/>
          <a:p>
            <a:pPr indent="0" marL="0">
              <a:buNone/>
            </a:pPr>
            <a:r>
              <a:rPr lang="en-US" sz="950" b="1" spc="240" kern="0" dirty="0">
                <a:solidFill>
                  <a:srgbClr val="9C978E"/>
                </a:solidFill>
                <a:latin typeface="Arial" pitchFamily="34" charset="0"/>
                <a:ea typeface="Arial" pitchFamily="34" charset="-122"/>
                <a:cs typeface="Arial" pitchFamily="34" charset="-120"/>
              </a:rPr>
              <a:t>THEORY</a:t>
            </a:r>
            <a:endParaRPr lang="en-US" sz="950" dirty="0"/>
          </a:p>
        </p:txBody>
      </p:sp>
      <p:sp>
        <p:nvSpPr>
          <p:cNvPr id="3" name="Text 1"/>
          <p:cNvSpPr/>
          <p:nvPr/>
        </p:nvSpPr>
        <p:spPr>
          <a:xfrm>
            <a:off x="786384" y="713232"/>
            <a:ext cx="7923047" cy="676656"/>
          </a:xfrm>
          <a:prstGeom prst="rect">
            <a:avLst/>
          </a:prstGeom>
          <a:noFill/>
          <a:ln/>
        </p:spPr>
        <p:txBody>
          <a:bodyPr wrap="square" lIns="0" tIns="0" rIns="0" bIns="0" rtlCol="0" anchor="ctr"/>
          <a:lstStyle/>
          <a:p>
            <a:pPr indent="0" marL="0">
              <a:buNone/>
            </a:pPr>
            <a:r>
              <a:rPr lang="en-US" sz="2900" b="1" dirty="0">
                <a:solidFill>
                  <a:srgbClr val="141414"/>
                </a:solidFill>
                <a:latin typeface="Arial" pitchFamily="34" charset="0"/>
                <a:ea typeface="Arial" pitchFamily="34" charset="-122"/>
                <a:cs typeface="Arial" pitchFamily="34" charset="-120"/>
              </a:rPr>
              <a:t>Captions vs Extractions</a:t>
            </a:r>
            <a:endParaRPr lang="en-US" sz="2900" dirty="0"/>
          </a:p>
        </p:txBody>
      </p:sp>
      <p:sp>
        <p:nvSpPr>
          <p:cNvPr id="4" name="Shape 2"/>
          <p:cNvSpPr/>
          <p:nvPr/>
        </p:nvSpPr>
        <p:spPr>
          <a:xfrm>
            <a:off x="10801807" y="877824"/>
            <a:ext cx="585216" cy="292608"/>
          </a:xfrm>
          <a:prstGeom prst="rect">
            <a:avLst/>
          </a:prstGeom>
          <a:solidFill>
            <a:srgbClr val="FAF8F5"/>
          </a:solidFill>
          <a:ln w="9525">
            <a:solidFill>
              <a:srgbClr val="D5D1CA"/>
            </a:solidFill>
            <a:prstDash val="solid"/>
          </a:ln>
        </p:spPr>
      </p:sp>
      <p:sp>
        <p:nvSpPr>
          <p:cNvPr id="5" name="Text 3"/>
          <p:cNvSpPr/>
          <p:nvPr/>
        </p:nvSpPr>
        <p:spPr>
          <a:xfrm>
            <a:off x="10801807" y="877824"/>
            <a:ext cx="585216" cy="292608"/>
          </a:xfrm>
          <a:prstGeom prst="rect">
            <a:avLst/>
          </a:prstGeom>
          <a:noFill/>
          <a:ln/>
        </p:spPr>
        <p:txBody>
          <a:bodyPr wrap="square" lIns="0" tIns="0" rIns="0" bIns="0" rtlCol="0" anchor="ctr"/>
          <a:lstStyle/>
          <a:p>
            <a:pPr algn="ctr" indent="0" marL="0">
              <a:buNone/>
            </a:pPr>
            <a:r>
              <a:rPr lang="en-US" sz="1100" b="1" spc="60" kern="0" dirty="0">
                <a:solidFill>
                  <a:srgbClr val="4A4741"/>
                </a:solidFill>
                <a:latin typeface="Arial" pitchFamily="34" charset="0"/>
                <a:ea typeface="Arial" pitchFamily="34" charset="-122"/>
                <a:cs typeface="Arial" pitchFamily="34" charset="-120"/>
              </a:rPr>
              <a:t>LV3</a:t>
            </a:r>
            <a:endParaRPr lang="en-US" sz="1100" dirty="0"/>
          </a:p>
        </p:txBody>
      </p:sp>
      <p:sp>
        <p:nvSpPr>
          <p:cNvPr id="6" name="Shape 4"/>
          <p:cNvSpPr/>
          <p:nvPr/>
        </p:nvSpPr>
        <p:spPr>
          <a:xfrm>
            <a:off x="786384" y="1426464"/>
            <a:ext cx="10618927" cy="10973"/>
          </a:xfrm>
          <a:prstGeom prst="rect">
            <a:avLst/>
          </a:prstGeom>
          <a:solidFill>
            <a:srgbClr val="D5D1CA"/>
          </a:solidFill>
          <a:ln/>
        </p:spPr>
      </p:sp>
      <p:sp>
        <p:nvSpPr>
          <p:cNvPr id="7" name="Text 5"/>
          <p:cNvSpPr/>
          <p:nvPr/>
        </p:nvSpPr>
        <p:spPr>
          <a:xfrm>
            <a:off x="786384" y="1554480"/>
            <a:ext cx="8821674" cy="694944"/>
          </a:xfrm>
          <a:prstGeom prst="rect">
            <a:avLst/>
          </a:prstGeom>
          <a:noFill/>
          <a:ln/>
        </p:spPr>
        <p:txBody>
          <a:bodyPr wrap="square" lIns="0" tIns="0" rIns="0" bIns="0" rtlCol="0" anchor="ctr"/>
          <a:lstStyle/>
          <a:p>
            <a:pPr indent="0" marL="0">
              <a:lnSpc>
                <a:spcPts val="2200"/>
              </a:lnSpc>
              <a:buNone/>
            </a:pPr>
            <a:r>
              <a:rPr lang="en-US" sz="1750" dirty="0">
                <a:solidFill>
                  <a:srgbClr val="6E6A63"/>
                </a:solidFill>
                <a:latin typeface="Arial" pitchFamily="34" charset="0"/>
                <a:ea typeface="Arial" pitchFamily="34" charset="-122"/>
                <a:cs typeface="Arial" pitchFamily="34" charset="-120"/>
              </a:rPr>
              <a:t>Whatever the description does not mention is unavailable to retrieval. The prompt you write here sets the upper limit on your Level 3 and Level 5 scores.</a:t>
            </a:r>
            <a:endParaRPr lang="en-US" sz="1750" dirty="0"/>
          </a:p>
        </p:txBody>
      </p:sp>
      <p:sp>
        <p:nvSpPr>
          <p:cNvPr id="8" name="Text 6"/>
          <p:cNvSpPr/>
          <p:nvPr/>
        </p:nvSpPr>
        <p:spPr>
          <a:xfrm>
            <a:off x="10490911" y="6309360"/>
            <a:ext cx="914400" cy="274320"/>
          </a:xfrm>
          <a:prstGeom prst="rect">
            <a:avLst/>
          </a:prstGeom>
          <a:noFill/>
          <a:ln/>
        </p:spPr>
        <p:txBody>
          <a:bodyPr wrap="square" lIns="0" tIns="0" rIns="0" bIns="0" rtlCol="0" anchor="ctr"/>
          <a:lstStyle/>
          <a:p>
            <a:pPr algn="r" indent="0" marL="0">
              <a:buNone/>
            </a:pPr>
            <a:r>
              <a:rPr lang="en-US" sz="1200" dirty="0">
                <a:solidFill>
                  <a:srgbClr val="9C978E"/>
                </a:solidFill>
                <a:latin typeface="Arial" pitchFamily="34" charset="0"/>
                <a:ea typeface="Arial" pitchFamily="34" charset="-122"/>
                <a:cs typeface="Arial" pitchFamily="34" charset="-120"/>
              </a:rPr>
              <a:t>11</a:t>
            </a:r>
            <a:endParaRPr lang="en-US" sz="1200" dirty="0"/>
          </a:p>
        </p:txBody>
      </p:sp>
      <p:sp>
        <p:nvSpPr>
          <p:cNvPr id="9" name="Shape 7"/>
          <p:cNvSpPr/>
          <p:nvPr/>
        </p:nvSpPr>
        <p:spPr>
          <a:xfrm>
            <a:off x="786384" y="2376343"/>
            <a:ext cx="5227168" cy="21726"/>
          </a:xfrm>
          <a:prstGeom prst="rect">
            <a:avLst/>
          </a:prstGeom>
          <a:solidFill>
            <a:srgbClr val="D5D1CA"/>
          </a:solidFill>
          <a:ln/>
        </p:spPr>
      </p:sp>
      <p:sp>
        <p:nvSpPr>
          <p:cNvPr id="10" name="Text 8"/>
          <p:cNvSpPr/>
          <p:nvPr/>
        </p:nvSpPr>
        <p:spPr>
          <a:xfrm>
            <a:off x="786384" y="2569464"/>
            <a:ext cx="5227168" cy="454304"/>
          </a:xfrm>
          <a:prstGeom prst="rect">
            <a:avLst/>
          </a:prstGeom>
          <a:noFill/>
          <a:ln/>
        </p:spPr>
        <p:txBody>
          <a:bodyPr wrap="square" lIns="0" tIns="0" rIns="0" bIns="0" rtlCol="0" anchor="ctr"/>
          <a:lstStyle/>
          <a:p>
            <a:pPr indent="0" marL="0">
              <a:lnSpc>
                <a:spcPts val="2350"/>
              </a:lnSpc>
              <a:buNone/>
            </a:pPr>
            <a:r>
              <a:rPr lang="en-US" sz="1950" b="1" dirty="0">
                <a:solidFill>
                  <a:srgbClr val="6E6A63"/>
                </a:solidFill>
                <a:latin typeface="Arial" pitchFamily="34" charset="0"/>
                <a:ea typeface="Arial" pitchFamily="34" charset="-122"/>
                <a:cs typeface="Arial" pitchFamily="34" charset="-120"/>
              </a:rPr>
              <a:t>Asking for a description</a:t>
            </a:r>
            <a:endParaRPr lang="en-US" sz="1950" dirty="0"/>
          </a:p>
        </p:txBody>
      </p:sp>
      <p:sp>
        <p:nvSpPr>
          <p:cNvPr id="11" name="Text 9"/>
          <p:cNvSpPr/>
          <p:nvPr/>
        </p:nvSpPr>
        <p:spPr>
          <a:xfrm>
            <a:off x="786384" y="3120329"/>
            <a:ext cx="5227168" cy="2222906"/>
          </a:xfrm>
          <a:prstGeom prst="rect">
            <a:avLst/>
          </a:prstGeom>
          <a:noFill/>
          <a:ln/>
        </p:spPr>
        <p:txBody>
          <a:bodyPr wrap="square" lIns="0" tIns="0" rIns="0" bIns="0" rtlCol="0" anchor="t"/>
          <a:lstStyle/>
          <a:p>
            <a:pPr indent="0" marL="0">
              <a:lnSpc>
                <a:spcPts val="2150"/>
              </a:lnSpc>
              <a:buNone/>
            </a:pPr>
            <a:r>
              <a:rPr lang="en-US" sz="1450" dirty="0">
                <a:solidFill>
                  <a:srgbClr val="6E6A63"/>
                </a:solidFill>
                <a:latin typeface="Arial" pitchFamily="34" charset="0"/>
                <a:ea typeface="Arial" pitchFamily="34" charset="-122"/>
                <a:cs typeface="Arial" pitchFamily="34" charset="-120"/>
              </a:rPr>
              <a:t>"A bright modern makerspace with students working at wooden tables, with equipment along the far wall."</a:t>
            </a:r>
            <a:endParaRPr lang="en-US" sz="1450" dirty="0"/>
          </a:p>
          <a:p>
            <a:pPr indent="0" marL="0">
              <a:lnSpc>
                <a:spcPts val="2150"/>
              </a:lnSpc>
              <a:buNone/>
            </a:pPr>
            <a:endParaRPr lang="en-US" sz="1450" dirty="0"/>
          </a:p>
          <a:p>
            <a:pPr indent="0" marL="0">
              <a:lnSpc>
                <a:spcPts val="2150"/>
              </a:lnSpc>
              <a:buNone/>
            </a:pPr>
            <a:r>
              <a:rPr lang="en-US" sz="1450" dirty="0">
                <a:solidFill>
                  <a:srgbClr val="6E6A63"/>
                </a:solidFill>
                <a:latin typeface="Arial" pitchFamily="34" charset="0"/>
                <a:ea typeface="Arial" pitchFamily="34" charset="-122"/>
                <a:cs typeface="Arial" pitchFamily="34" charset="-120"/>
              </a:rPr>
              <a:t>Cannot answer how many tables are in Makerspace A. Cannot answer which three words are on the wall behind the brainstorming area.</a:t>
            </a:r>
            <a:endParaRPr lang="en-US" sz="1450" dirty="0"/>
          </a:p>
        </p:txBody>
      </p:sp>
      <p:sp>
        <p:nvSpPr>
          <p:cNvPr id="12" name="Shape 10"/>
          <p:cNvSpPr/>
          <p:nvPr/>
        </p:nvSpPr>
        <p:spPr>
          <a:xfrm>
            <a:off x="6178144" y="2376343"/>
            <a:ext cx="5227168" cy="3065130"/>
          </a:xfrm>
          <a:prstGeom prst="rect">
            <a:avLst/>
          </a:prstGeom>
          <a:solidFill>
            <a:srgbClr val="F7E6E0"/>
          </a:solidFill>
          <a:ln/>
        </p:spPr>
      </p:sp>
      <p:sp>
        <p:nvSpPr>
          <p:cNvPr id="13" name="Shape 11"/>
          <p:cNvSpPr/>
          <p:nvPr/>
        </p:nvSpPr>
        <p:spPr>
          <a:xfrm>
            <a:off x="6415888" y="2666025"/>
            <a:ext cx="4751680" cy="28968"/>
          </a:xfrm>
          <a:prstGeom prst="rect">
            <a:avLst/>
          </a:prstGeom>
          <a:solidFill>
            <a:srgbClr val="C0402A"/>
          </a:solidFill>
          <a:ln/>
        </p:spPr>
      </p:sp>
      <p:sp>
        <p:nvSpPr>
          <p:cNvPr id="14" name="Text 12"/>
          <p:cNvSpPr/>
          <p:nvPr/>
        </p:nvSpPr>
        <p:spPr>
          <a:xfrm>
            <a:off x="6415888" y="2859146"/>
            <a:ext cx="4751680" cy="454304"/>
          </a:xfrm>
          <a:prstGeom prst="rect">
            <a:avLst/>
          </a:prstGeom>
          <a:noFill/>
          <a:ln/>
        </p:spPr>
        <p:txBody>
          <a:bodyPr wrap="square" lIns="0" tIns="0" rIns="0" bIns="0" rtlCol="0" anchor="ctr"/>
          <a:lstStyle/>
          <a:p>
            <a:pPr indent="0" marL="0">
              <a:lnSpc>
                <a:spcPts val="2350"/>
              </a:lnSpc>
              <a:buNone/>
            </a:pPr>
            <a:r>
              <a:rPr lang="en-US" sz="1950" b="1" dirty="0">
                <a:solidFill>
                  <a:srgbClr val="141414"/>
                </a:solidFill>
                <a:latin typeface="Arial" pitchFamily="34" charset="0"/>
                <a:ea typeface="Arial" pitchFamily="34" charset="-122"/>
                <a:cs typeface="Arial" pitchFamily="34" charset="-120"/>
              </a:rPr>
              <a:t>Asking for specific fields</a:t>
            </a:r>
            <a:endParaRPr lang="en-US" sz="1950" dirty="0"/>
          </a:p>
        </p:txBody>
      </p:sp>
      <p:sp>
        <p:nvSpPr>
          <p:cNvPr id="15" name="Text 13"/>
          <p:cNvSpPr/>
          <p:nvPr/>
        </p:nvSpPr>
        <p:spPr>
          <a:xfrm>
            <a:off x="6415888" y="3410011"/>
            <a:ext cx="4751680" cy="1862480"/>
          </a:xfrm>
          <a:prstGeom prst="rect">
            <a:avLst/>
          </a:prstGeom>
          <a:noFill/>
          <a:ln/>
        </p:spPr>
        <p:txBody>
          <a:bodyPr wrap="square" lIns="0" tIns="0" rIns="0" bIns="0" rtlCol="0" anchor="t"/>
          <a:lstStyle/>
          <a:p>
            <a:pPr indent="0" marL="0">
              <a:lnSpc>
                <a:spcPts val="2150"/>
              </a:lnSpc>
              <a:buNone/>
            </a:pPr>
            <a:r>
              <a:rPr lang="en-US" sz="1450" dirty="0">
                <a:solidFill>
                  <a:srgbClr val="141414"/>
                </a:solidFill>
                <a:latin typeface="Arial" pitchFamily="34" charset="0"/>
                <a:ea typeface="Arial" pitchFamily="34" charset="-122"/>
                <a:cs typeface="Arial" pitchFamily="34" charset="-120"/>
              </a:rPr>
              <a:t>"Makerspace A. Eleven wooden tables, four 3D printers along the north wall. Wall text: HKU ENGINEERING INNOVATION. Whiteboard reads Booking via portal."</a:t>
            </a:r>
            <a:endParaRPr lang="en-US" sz="1450" dirty="0"/>
          </a:p>
          <a:p>
            <a:pPr indent="0" marL="0">
              <a:lnSpc>
                <a:spcPts val="2150"/>
              </a:lnSpc>
              <a:buNone/>
            </a:pPr>
            <a:endParaRPr lang="en-US" sz="1450" dirty="0"/>
          </a:p>
          <a:p>
            <a:pPr indent="0" marL="0">
              <a:lnSpc>
                <a:spcPts val="2150"/>
              </a:lnSpc>
              <a:buNone/>
            </a:pPr>
            <a:r>
              <a:rPr lang="en-US" sz="1450" dirty="0">
                <a:solidFill>
                  <a:srgbClr val="141414"/>
                </a:solidFill>
                <a:latin typeface="Arial" pitchFamily="34" charset="0"/>
                <a:ea typeface="Arial" pitchFamily="34" charset="-122"/>
                <a:cs typeface="Arial" pitchFamily="34" charset="-120"/>
              </a:rPr>
              <a:t>Answers both, with no change to your retriever.</a:t>
            </a:r>
            <a:endParaRPr lang="en-US" sz="1450" dirty="0"/>
          </a:p>
        </p:txBody>
      </p:sp>
      <p:sp>
        <p:nvSpPr>
          <p:cNvPr id="16" name="Text 14"/>
          <p:cNvSpPr/>
          <p:nvPr/>
        </p:nvSpPr>
        <p:spPr>
          <a:xfrm>
            <a:off x="786384" y="5297302"/>
            <a:ext cx="10087981" cy="603504"/>
          </a:xfrm>
          <a:prstGeom prst="rect">
            <a:avLst/>
          </a:prstGeom>
          <a:noFill/>
          <a:ln/>
        </p:spPr>
        <p:txBody>
          <a:bodyPr wrap="square" lIns="0" tIns="0" rIns="0" bIns="0" rtlCol="0" anchor="ctr"/>
          <a:lstStyle/>
          <a:p>
            <a:pPr indent="0" marL="0">
              <a:buNone/>
            </a:pPr>
            <a:r>
              <a:rPr lang="en-US" sz="1500" dirty="0">
                <a:solidFill>
                  <a:srgbClr val="6E6A63"/>
                </a:solidFill>
                <a:latin typeface="Arial" pitchFamily="34" charset="0"/>
                <a:ea typeface="Arial" pitchFamily="34" charset="-122"/>
                <a:cs typeface="Arial" pitchFamily="34" charset="-120"/>
              </a:rPr>
              <a:t>Both example questions are taken from the published competition specification.</a:t>
            </a:r>
            <a:endParaRPr lang="en-US" sz="15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AF8F5"/>
        </a:solidFill>
      </p:bgPr>
    </p:bg>
    <p:spTree>
      <p:nvGrpSpPr>
        <p:cNvPr id="1" name=""/>
        <p:cNvGrpSpPr/>
        <p:nvPr/>
      </p:nvGrpSpPr>
      <p:grpSpPr>
        <a:xfrm>
          <a:off x="0" y="0"/>
          <a:ext cx="0" cy="0"/>
          <a:chOff x="0" y="0"/>
          <a:chExt cx="0" cy="0"/>
        </a:xfrm>
      </p:grpSpPr>
      <p:sp>
        <p:nvSpPr>
          <p:cNvPr id="2" name="Text 0"/>
          <p:cNvSpPr/>
          <p:nvPr/>
        </p:nvSpPr>
        <p:spPr>
          <a:xfrm>
            <a:off x="786384" y="402336"/>
            <a:ext cx="3657600" cy="237744"/>
          </a:xfrm>
          <a:prstGeom prst="rect">
            <a:avLst/>
          </a:prstGeom>
          <a:noFill/>
          <a:ln/>
        </p:spPr>
        <p:txBody>
          <a:bodyPr wrap="square" lIns="0" tIns="0" rIns="0" bIns="0" rtlCol="0" anchor="ctr"/>
          <a:lstStyle/>
          <a:p>
            <a:pPr indent="0" marL="0">
              <a:buNone/>
            </a:pPr>
            <a:r>
              <a:rPr lang="en-US" sz="950" b="1" spc="240" kern="0" dirty="0">
                <a:solidFill>
                  <a:srgbClr val="9C978E"/>
                </a:solidFill>
                <a:latin typeface="Arial" pitchFamily="34" charset="0"/>
                <a:ea typeface="Arial" pitchFamily="34" charset="-122"/>
                <a:cs typeface="Arial" pitchFamily="34" charset="-120"/>
              </a:rPr>
              <a:t>THEORY</a:t>
            </a:r>
            <a:endParaRPr lang="en-US" sz="950" dirty="0"/>
          </a:p>
        </p:txBody>
      </p:sp>
      <p:sp>
        <p:nvSpPr>
          <p:cNvPr id="3" name="Text 1"/>
          <p:cNvSpPr/>
          <p:nvPr/>
        </p:nvSpPr>
        <p:spPr>
          <a:xfrm>
            <a:off x="786384" y="713232"/>
            <a:ext cx="7923047" cy="676656"/>
          </a:xfrm>
          <a:prstGeom prst="rect">
            <a:avLst/>
          </a:prstGeom>
          <a:noFill/>
          <a:ln/>
        </p:spPr>
        <p:txBody>
          <a:bodyPr wrap="square" lIns="0" tIns="0" rIns="0" bIns="0" rtlCol="0" anchor="ctr"/>
          <a:lstStyle/>
          <a:p>
            <a:pPr indent="0" marL="0">
              <a:buNone/>
            </a:pPr>
            <a:r>
              <a:rPr lang="en-US" sz="2900" b="1" dirty="0">
                <a:solidFill>
                  <a:srgbClr val="141414"/>
                </a:solidFill>
                <a:latin typeface="Arial" pitchFamily="34" charset="0"/>
                <a:ea typeface="Arial" pitchFamily="34" charset="-122"/>
                <a:cs typeface="Arial" pitchFamily="34" charset="-120"/>
              </a:rPr>
              <a:t>The Description Schema</a:t>
            </a:r>
            <a:endParaRPr lang="en-US" sz="2900" dirty="0"/>
          </a:p>
        </p:txBody>
      </p:sp>
      <p:sp>
        <p:nvSpPr>
          <p:cNvPr id="4" name="Shape 2"/>
          <p:cNvSpPr/>
          <p:nvPr/>
        </p:nvSpPr>
        <p:spPr>
          <a:xfrm>
            <a:off x="10198303" y="877824"/>
            <a:ext cx="585216" cy="292608"/>
          </a:xfrm>
          <a:prstGeom prst="rect">
            <a:avLst/>
          </a:prstGeom>
          <a:solidFill>
            <a:srgbClr val="FAF8F5"/>
          </a:solidFill>
          <a:ln w="9525">
            <a:solidFill>
              <a:srgbClr val="D5D1CA"/>
            </a:solidFill>
            <a:prstDash val="solid"/>
          </a:ln>
        </p:spPr>
      </p:sp>
      <p:sp>
        <p:nvSpPr>
          <p:cNvPr id="5" name="Text 3"/>
          <p:cNvSpPr/>
          <p:nvPr/>
        </p:nvSpPr>
        <p:spPr>
          <a:xfrm>
            <a:off x="10198303" y="877824"/>
            <a:ext cx="585216" cy="292608"/>
          </a:xfrm>
          <a:prstGeom prst="rect">
            <a:avLst/>
          </a:prstGeom>
          <a:noFill/>
          <a:ln/>
        </p:spPr>
        <p:txBody>
          <a:bodyPr wrap="square" lIns="0" tIns="0" rIns="0" bIns="0" rtlCol="0" anchor="ctr"/>
          <a:lstStyle/>
          <a:p>
            <a:pPr algn="ctr" indent="0" marL="0">
              <a:buNone/>
            </a:pPr>
            <a:r>
              <a:rPr lang="en-US" sz="1100" b="1" spc="60" kern="0" dirty="0">
                <a:solidFill>
                  <a:srgbClr val="4A4741"/>
                </a:solidFill>
                <a:latin typeface="Arial" pitchFamily="34" charset="0"/>
                <a:ea typeface="Arial" pitchFamily="34" charset="-122"/>
                <a:cs typeface="Arial" pitchFamily="34" charset="-120"/>
              </a:rPr>
              <a:t>LV3</a:t>
            </a:r>
            <a:endParaRPr lang="en-US" sz="1100" dirty="0"/>
          </a:p>
        </p:txBody>
      </p:sp>
      <p:sp>
        <p:nvSpPr>
          <p:cNvPr id="6" name="Shape 4"/>
          <p:cNvSpPr/>
          <p:nvPr/>
        </p:nvSpPr>
        <p:spPr>
          <a:xfrm>
            <a:off x="10874959" y="877824"/>
            <a:ext cx="585216" cy="292608"/>
          </a:xfrm>
          <a:prstGeom prst="rect">
            <a:avLst/>
          </a:prstGeom>
          <a:solidFill>
            <a:srgbClr val="FAF8F5"/>
          </a:solidFill>
          <a:ln w="9525">
            <a:solidFill>
              <a:srgbClr val="D5D1CA"/>
            </a:solidFill>
            <a:prstDash val="solid"/>
          </a:ln>
        </p:spPr>
      </p:sp>
      <p:sp>
        <p:nvSpPr>
          <p:cNvPr id="7" name="Text 5"/>
          <p:cNvSpPr/>
          <p:nvPr/>
        </p:nvSpPr>
        <p:spPr>
          <a:xfrm>
            <a:off x="10874959" y="877824"/>
            <a:ext cx="585216" cy="292608"/>
          </a:xfrm>
          <a:prstGeom prst="rect">
            <a:avLst/>
          </a:prstGeom>
          <a:noFill/>
          <a:ln/>
        </p:spPr>
        <p:txBody>
          <a:bodyPr wrap="square" lIns="0" tIns="0" rIns="0" bIns="0" rtlCol="0" anchor="ctr"/>
          <a:lstStyle/>
          <a:p>
            <a:pPr algn="ctr" indent="0" marL="0">
              <a:buNone/>
            </a:pPr>
            <a:r>
              <a:rPr lang="en-US" sz="1100" b="1" spc="60" kern="0" dirty="0">
                <a:solidFill>
                  <a:srgbClr val="141414"/>
                </a:solidFill>
                <a:latin typeface="Arial" pitchFamily="34" charset="0"/>
                <a:ea typeface="Arial" pitchFamily="34" charset="-122"/>
                <a:cs typeface="Arial" pitchFamily="34" charset="-120"/>
              </a:rPr>
              <a:t>LV5</a:t>
            </a:r>
            <a:endParaRPr lang="en-US" sz="1100" dirty="0"/>
          </a:p>
        </p:txBody>
      </p:sp>
      <p:sp>
        <p:nvSpPr>
          <p:cNvPr id="8" name="Shape 6"/>
          <p:cNvSpPr/>
          <p:nvPr/>
        </p:nvSpPr>
        <p:spPr>
          <a:xfrm>
            <a:off x="786384" y="1426464"/>
            <a:ext cx="10618927" cy="10973"/>
          </a:xfrm>
          <a:prstGeom prst="rect">
            <a:avLst/>
          </a:prstGeom>
          <a:solidFill>
            <a:srgbClr val="D5D1CA"/>
          </a:solidFill>
          <a:ln/>
        </p:spPr>
      </p:sp>
      <p:sp>
        <p:nvSpPr>
          <p:cNvPr id="9" name="Text 7"/>
          <p:cNvSpPr/>
          <p:nvPr/>
        </p:nvSpPr>
        <p:spPr>
          <a:xfrm>
            <a:off x="786384" y="1554480"/>
            <a:ext cx="8821674" cy="694944"/>
          </a:xfrm>
          <a:prstGeom prst="rect">
            <a:avLst/>
          </a:prstGeom>
          <a:noFill/>
          <a:ln/>
        </p:spPr>
        <p:txBody>
          <a:bodyPr wrap="square" lIns="0" tIns="0" rIns="0" bIns="0" rtlCol="0" anchor="ctr"/>
          <a:lstStyle/>
          <a:p>
            <a:pPr indent="0" marL="0">
              <a:lnSpc>
                <a:spcPts val="2200"/>
              </a:lnSpc>
              <a:buNone/>
            </a:pPr>
            <a:r>
              <a:rPr lang="en-US" sz="1750" dirty="0">
                <a:solidFill>
                  <a:srgbClr val="6E6A63"/>
                </a:solidFill>
                <a:latin typeface="Arial" pitchFamily="34" charset="0"/>
                <a:ea typeface="Arial" pitchFamily="34" charset="-122"/>
                <a:cs typeface="Arial" pitchFamily="34" charset="-120"/>
              </a:rPr>
              <a:t>Ask for these five things by name. Anything you do not ask for will not be in the description, and anything not in the description cannot be retrieved.</a:t>
            </a:r>
            <a:endParaRPr lang="en-US" sz="1750" dirty="0"/>
          </a:p>
        </p:txBody>
      </p:sp>
      <p:sp>
        <p:nvSpPr>
          <p:cNvPr id="10" name="Text 8"/>
          <p:cNvSpPr/>
          <p:nvPr/>
        </p:nvSpPr>
        <p:spPr>
          <a:xfrm>
            <a:off x="10490911" y="6309360"/>
            <a:ext cx="914400" cy="274320"/>
          </a:xfrm>
          <a:prstGeom prst="rect">
            <a:avLst/>
          </a:prstGeom>
          <a:noFill/>
          <a:ln/>
        </p:spPr>
        <p:txBody>
          <a:bodyPr wrap="square" lIns="0" tIns="0" rIns="0" bIns="0" rtlCol="0" anchor="ctr"/>
          <a:lstStyle/>
          <a:p>
            <a:pPr algn="r" indent="0" marL="0">
              <a:buNone/>
            </a:pPr>
            <a:r>
              <a:rPr lang="en-US" sz="1200" dirty="0">
                <a:solidFill>
                  <a:srgbClr val="9C978E"/>
                </a:solidFill>
                <a:latin typeface="Arial" pitchFamily="34" charset="0"/>
                <a:ea typeface="Arial" pitchFamily="34" charset="-122"/>
                <a:cs typeface="Arial" pitchFamily="34" charset="-120"/>
              </a:rPr>
              <a:t>12</a:t>
            </a:r>
            <a:endParaRPr lang="en-US" sz="1200" dirty="0"/>
          </a:p>
        </p:txBody>
      </p:sp>
      <p:sp>
        <p:nvSpPr>
          <p:cNvPr id="11" name="Shape 9"/>
          <p:cNvSpPr/>
          <p:nvPr/>
        </p:nvSpPr>
        <p:spPr>
          <a:xfrm>
            <a:off x="786384" y="2407777"/>
            <a:ext cx="6125794" cy="18675"/>
          </a:xfrm>
          <a:prstGeom prst="rect">
            <a:avLst/>
          </a:prstGeom>
          <a:solidFill>
            <a:srgbClr val="D5D1CA"/>
          </a:solidFill>
          <a:ln/>
        </p:spPr>
      </p:sp>
      <p:sp>
        <p:nvSpPr>
          <p:cNvPr id="12" name="Text 10"/>
          <p:cNvSpPr/>
          <p:nvPr/>
        </p:nvSpPr>
        <p:spPr>
          <a:xfrm>
            <a:off x="786384" y="2501153"/>
            <a:ext cx="365760" cy="336155"/>
          </a:xfrm>
          <a:prstGeom prst="rect">
            <a:avLst/>
          </a:prstGeom>
          <a:noFill/>
          <a:ln/>
        </p:spPr>
        <p:txBody>
          <a:bodyPr wrap="square" lIns="0" tIns="0" rIns="0" bIns="0" rtlCol="0" anchor="ctr"/>
          <a:lstStyle/>
          <a:p>
            <a:pPr indent="0" marL="0">
              <a:buNone/>
            </a:pPr>
            <a:r>
              <a:rPr lang="en-US" sz="1500" b="1" dirty="0">
                <a:solidFill>
                  <a:srgbClr val="9C978E"/>
                </a:solidFill>
                <a:latin typeface="Arial" pitchFamily="34" charset="0"/>
                <a:ea typeface="Arial" pitchFamily="34" charset="-122"/>
                <a:cs typeface="Arial" pitchFamily="34" charset="-120"/>
              </a:rPr>
              <a:t>1</a:t>
            </a:r>
            <a:endParaRPr lang="en-US" sz="1500" dirty="0"/>
          </a:p>
        </p:txBody>
      </p:sp>
      <p:sp>
        <p:nvSpPr>
          <p:cNvPr id="13" name="Text 11"/>
          <p:cNvSpPr/>
          <p:nvPr/>
        </p:nvSpPr>
        <p:spPr>
          <a:xfrm>
            <a:off x="1225296" y="2482478"/>
            <a:ext cx="2743200" cy="336155"/>
          </a:xfrm>
          <a:prstGeom prst="rect">
            <a:avLst/>
          </a:prstGeom>
          <a:noFill/>
          <a:ln/>
        </p:spPr>
        <p:txBody>
          <a:bodyPr wrap="square" lIns="0" tIns="0" rIns="0" bIns="0" rtlCol="0" anchor="ctr"/>
          <a:lstStyle/>
          <a:p>
            <a:pPr indent="0" marL="0">
              <a:buNone/>
            </a:pPr>
            <a:r>
              <a:rPr lang="en-US" sz="1600" b="1" dirty="0">
                <a:solidFill>
                  <a:srgbClr val="141414"/>
                </a:solidFill>
                <a:latin typeface="Arial" pitchFamily="34" charset="0"/>
                <a:ea typeface="Arial" pitchFamily="34" charset="-122"/>
                <a:cs typeface="Arial" pitchFamily="34" charset="-120"/>
              </a:rPr>
              <a:t>Location</a:t>
            </a:r>
            <a:endParaRPr lang="en-US" sz="1600" dirty="0"/>
          </a:p>
        </p:txBody>
      </p:sp>
      <p:sp>
        <p:nvSpPr>
          <p:cNvPr id="14" name="Text 12"/>
          <p:cNvSpPr/>
          <p:nvPr/>
        </p:nvSpPr>
        <p:spPr>
          <a:xfrm>
            <a:off x="4078224" y="2501153"/>
            <a:ext cx="2833954" cy="336155"/>
          </a:xfrm>
          <a:prstGeom prst="rect">
            <a:avLst/>
          </a:prstGeom>
          <a:noFill/>
          <a:ln/>
        </p:spPr>
        <p:txBody>
          <a:bodyPr wrap="square" lIns="0" tIns="0" rIns="0" bIns="0" rtlCol="0" anchor="ctr"/>
          <a:lstStyle/>
          <a:p>
            <a:pPr indent="0" marL="0">
              <a:buNone/>
            </a:pPr>
            <a:r>
              <a:rPr lang="en-US" sz="1400" dirty="0">
                <a:solidFill>
                  <a:srgbClr val="6E6A63"/>
                </a:solidFill>
                <a:latin typeface="Arial" pitchFamily="34" charset="0"/>
                <a:ea typeface="Arial" pitchFamily="34" charset="-122"/>
                <a:cs typeface="Arial" pitchFamily="34" charset="-120"/>
              </a:rPr>
              <a:t>The room or area, as the signage names it</a:t>
            </a:r>
            <a:endParaRPr lang="en-US" sz="1400" dirty="0"/>
          </a:p>
        </p:txBody>
      </p:sp>
      <p:sp>
        <p:nvSpPr>
          <p:cNvPr id="15" name="Shape 13"/>
          <p:cNvSpPr/>
          <p:nvPr/>
        </p:nvSpPr>
        <p:spPr>
          <a:xfrm>
            <a:off x="786384" y="3024061"/>
            <a:ext cx="6125794" cy="18675"/>
          </a:xfrm>
          <a:prstGeom prst="rect">
            <a:avLst/>
          </a:prstGeom>
          <a:solidFill>
            <a:srgbClr val="D5D1CA"/>
          </a:solidFill>
          <a:ln/>
        </p:spPr>
      </p:sp>
      <p:sp>
        <p:nvSpPr>
          <p:cNvPr id="16" name="Text 14"/>
          <p:cNvSpPr/>
          <p:nvPr/>
        </p:nvSpPr>
        <p:spPr>
          <a:xfrm>
            <a:off x="786384" y="3117437"/>
            <a:ext cx="365760" cy="336155"/>
          </a:xfrm>
          <a:prstGeom prst="rect">
            <a:avLst/>
          </a:prstGeom>
          <a:noFill/>
          <a:ln/>
        </p:spPr>
        <p:txBody>
          <a:bodyPr wrap="square" lIns="0" tIns="0" rIns="0" bIns="0" rtlCol="0" anchor="ctr"/>
          <a:lstStyle/>
          <a:p>
            <a:pPr indent="0" marL="0">
              <a:buNone/>
            </a:pPr>
            <a:r>
              <a:rPr lang="en-US" sz="1500" b="1" dirty="0">
                <a:solidFill>
                  <a:srgbClr val="9C978E"/>
                </a:solidFill>
                <a:latin typeface="Arial" pitchFamily="34" charset="0"/>
                <a:ea typeface="Arial" pitchFamily="34" charset="-122"/>
                <a:cs typeface="Arial" pitchFamily="34" charset="-120"/>
              </a:rPr>
              <a:t>2</a:t>
            </a:r>
            <a:endParaRPr lang="en-US" sz="1500" dirty="0"/>
          </a:p>
        </p:txBody>
      </p:sp>
      <p:sp>
        <p:nvSpPr>
          <p:cNvPr id="17" name="Text 15"/>
          <p:cNvSpPr/>
          <p:nvPr/>
        </p:nvSpPr>
        <p:spPr>
          <a:xfrm>
            <a:off x="1225296" y="3098762"/>
            <a:ext cx="2743200" cy="336155"/>
          </a:xfrm>
          <a:prstGeom prst="rect">
            <a:avLst/>
          </a:prstGeom>
          <a:noFill/>
          <a:ln/>
        </p:spPr>
        <p:txBody>
          <a:bodyPr wrap="square" lIns="0" tIns="0" rIns="0" bIns="0" rtlCol="0" anchor="ctr"/>
          <a:lstStyle/>
          <a:p>
            <a:pPr indent="0" marL="0">
              <a:buNone/>
            </a:pPr>
            <a:r>
              <a:rPr lang="en-US" sz="1600" b="1" dirty="0">
                <a:solidFill>
                  <a:srgbClr val="141414"/>
                </a:solidFill>
                <a:latin typeface="Arial" pitchFamily="34" charset="0"/>
                <a:ea typeface="Arial" pitchFamily="34" charset="-122"/>
                <a:cs typeface="Arial" pitchFamily="34" charset="-120"/>
              </a:rPr>
              <a:t>Objects, with counts</a:t>
            </a:r>
            <a:endParaRPr lang="en-US" sz="1600" dirty="0"/>
          </a:p>
        </p:txBody>
      </p:sp>
      <p:sp>
        <p:nvSpPr>
          <p:cNvPr id="18" name="Text 16"/>
          <p:cNvSpPr/>
          <p:nvPr/>
        </p:nvSpPr>
        <p:spPr>
          <a:xfrm>
            <a:off x="4078224" y="3117437"/>
            <a:ext cx="2833954" cy="336155"/>
          </a:xfrm>
          <a:prstGeom prst="rect">
            <a:avLst/>
          </a:prstGeom>
          <a:noFill/>
          <a:ln/>
        </p:spPr>
        <p:txBody>
          <a:bodyPr wrap="square" lIns="0" tIns="0" rIns="0" bIns="0" rtlCol="0" anchor="ctr"/>
          <a:lstStyle/>
          <a:p>
            <a:pPr indent="0" marL="0">
              <a:buNone/>
            </a:pPr>
            <a:r>
              <a:rPr lang="en-US" sz="1400" dirty="0">
                <a:solidFill>
                  <a:srgbClr val="6E6A63"/>
                </a:solidFill>
                <a:latin typeface="Arial" pitchFamily="34" charset="0"/>
                <a:ea typeface="Arial" pitchFamily="34" charset="-122"/>
                <a:cs typeface="Arial" pitchFamily="34" charset="-120"/>
              </a:rPr>
              <a:t>"Eleven chairs", never "some chairs"</a:t>
            </a:r>
            <a:endParaRPr lang="en-US" sz="1400" dirty="0"/>
          </a:p>
        </p:txBody>
      </p:sp>
      <p:sp>
        <p:nvSpPr>
          <p:cNvPr id="19" name="Shape 17"/>
          <p:cNvSpPr/>
          <p:nvPr/>
        </p:nvSpPr>
        <p:spPr>
          <a:xfrm>
            <a:off x="786384" y="3640345"/>
            <a:ext cx="6125794" cy="18675"/>
          </a:xfrm>
          <a:prstGeom prst="rect">
            <a:avLst/>
          </a:prstGeom>
          <a:solidFill>
            <a:srgbClr val="C0402A"/>
          </a:solidFill>
          <a:ln/>
        </p:spPr>
      </p:sp>
      <p:sp>
        <p:nvSpPr>
          <p:cNvPr id="20" name="Text 18"/>
          <p:cNvSpPr/>
          <p:nvPr/>
        </p:nvSpPr>
        <p:spPr>
          <a:xfrm>
            <a:off x="786384" y="3733721"/>
            <a:ext cx="365760" cy="336155"/>
          </a:xfrm>
          <a:prstGeom prst="rect">
            <a:avLst/>
          </a:prstGeom>
          <a:noFill/>
          <a:ln/>
        </p:spPr>
        <p:txBody>
          <a:bodyPr wrap="square" lIns="0" tIns="0" rIns="0" bIns="0" rtlCol="0" anchor="ctr"/>
          <a:lstStyle/>
          <a:p>
            <a:pPr indent="0" marL="0">
              <a:buNone/>
            </a:pPr>
            <a:r>
              <a:rPr lang="en-US" sz="1500" b="1" dirty="0">
                <a:solidFill>
                  <a:srgbClr val="C0402A"/>
                </a:solidFill>
                <a:latin typeface="Arial" pitchFamily="34" charset="0"/>
                <a:ea typeface="Arial" pitchFamily="34" charset="-122"/>
                <a:cs typeface="Arial" pitchFamily="34" charset="-120"/>
              </a:rPr>
              <a:t>3</a:t>
            </a:r>
            <a:endParaRPr lang="en-US" sz="1500" dirty="0"/>
          </a:p>
        </p:txBody>
      </p:sp>
      <p:sp>
        <p:nvSpPr>
          <p:cNvPr id="21" name="Text 19"/>
          <p:cNvSpPr/>
          <p:nvPr/>
        </p:nvSpPr>
        <p:spPr>
          <a:xfrm>
            <a:off x="1225296" y="3715046"/>
            <a:ext cx="2743200" cy="336155"/>
          </a:xfrm>
          <a:prstGeom prst="rect">
            <a:avLst/>
          </a:prstGeom>
          <a:noFill/>
          <a:ln/>
        </p:spPr>
        <p:txBody>
          <a:bodyPr wrap="square" lIns="0" tIns="0" rIns="0" bIns="0" rtlCol="0" anchor="ctr"/>
          <a:lstStyle/>
          <a:p>
            <a:pPr indent="0" marL="0">
              <a:buNone/>
            </a:pPr>
            <a:r>
              <a:rPr lang="en-US" sz="1600" b="1" dirty="0">
                <a:solidFill>
                  <a:srgbClr val="C0402A"/>
                </a:solidFill>
                <a:latin typeface="Arial" pitchFamily="34" charset="0"/>
                <a:ea typeface="Arial" pitchFamily="34" charset="-122"/>
                <a:cs typeface="Arial" pitchFamily="34" charset="-120"/>
              </a:rPr>
              <a:t>Visible text, word for word</a:t>
            </a:r>
            <a:endParaRPr lang="en-US" sz="1600" dirty="0"/>
          </a:p>
        </p:txBody>
      </p:sp>
      <p:sp>
        <p:nvSpPr>
          <p:cNvPr id="22" name="Text 20"/>
          <p:cNvSpPr/>
          <p:nvPr/>
        </p:nvSpPr>
        <p:spPr>
          <a:xfrm>
            <a:off x="4078224" y="3733721"/>
            <a:ext cx="2833954" cy="336155"/>
          </a:xfrm>
          <a:prstGeom prst="rect">
            <a:avLst/>
          </a:prstGeom>
          <a:noFill/>
          <a:ln/>
        </p:spPr>
        <p:txBody>
          <a:bodyPr wrap="square" lIns="0" tIns="0" rIns="0" bIns="0" rtlCol="0" anchor="ctr"/>
          <a:lstStyle/>
          <a:p>
            <a:pPr indent="0" marL="0">
              <a:buNone/>
            </a:pPr>
            <a:r>
              <a:rPr lang="en-US" sz="1400" dirty="0">
                <a:solidFill>
                  <a:srgbClr val="6E6A63"/>
                </a:solidFill>
                <a:latin typeface="Arial" pitchFamily="34" charset="0"/>
                <a:ea typeface="Arial" pitchFamily="34" charset="-122"/>
                <a:cs typeface="Arial" pitchFamily="34" charset="-120"/>
              </a:rPr>
              <a:t>Every sign, poster and label, copied exactly</a:t>
            </a:r>
            <a:endParaRPr lang="en-US" sz="1400" dirty="0"/>
          </a:p>
        </p:txBody>
      </p:sp>
      <p:sp>
        <p:nvSpPr>
          <p:cNvPr id="23" name="Shape 21"/>
          <p:cNvSpPr/>
          <p:nvPr/>
        </p:nvSpPr>
        <p:spPr>
          <a:xfrm>
            <a:off x="786384" y="4256629"/>
            <a:ext cx="6125794" cy="18675"/>
          </a:xfrm>
          <a:prstGeom prst="rect">
            <a:avLst/>
          </a:prstGeom>
          <a:solidFill>
            <a:srgbClr val="D5D1CA"/>
          </a:solidFill>
          <a:ln/>
        </p:spPr>
      </p:sp>
      <p:sp>
        <p:nvSpPr>
          <p:cNvPr id="24" name="Text 22"/>
          <p:cNvSpPr/>
          <p:nvPr/>
        </p:nvSpPr>
        <p:spPr>
          <a:xfrm>
            <a:off x="786384" y="4350005"/>
            <a:ext cx="365760" cy="336155"/>
          </a:xfrm>
          <a:prstGeom prst="rect">
            <a:avLst/>
          </a:prstGeom>
          <a:noFill/>
          <a:ln/>
        </p:spPr>
        <p:txBody>
          <a:bodyPr wrap="square" lIns="0" tIns="0" rIns="0" bIns="0" rtlCol="0" anchor="ctr"/>
          <a:lstStyle/>
          <a:p>
            <a:pPr indent="0" marL="0">
              <a:buNone/>
            </a:pPr>
            <a:r>
              <a:rPr lang="en-US" sz="1500" b="1" dirty="0">
                <a:solidFill>
                  <a:srgbClr val="9C978E"/>
                </a:solidFill>
                <a:latin typeface="Arial" pitchFamily="34" charset="0"/>
                <a:ea typeface="Arial" pitchFamily="34" charset="-122"/>
                <a:cs typeface="Arial" pitchFamily="34" charset="-120"/>
              </a:rPr>
              <a:t>4</a:t>
            </a:r>
            <a:endParaRPr lang="en-US" sz="1500" dirty="0"/>
          </a:p>
        </p:txBody>
      </p:sp>
      <p:sp>
        <p:nvSpPr>
          <p:cNvPr id="25" name="Text 23"/>
          <p:cNvSpPr/>
          <p:nvPr/>
        </p:nvSpPr>
        <p:spPr>
          <a:xfrm>
            <a:off x="1225296" y="4331330"/>
            <a:ext cx="2743200" cy="336155"/>
          </a:xfrm>
          <a:prstGeom prst="rect">
            <a:avLst/>
          </a:prstGeom>
          <a:noFill/>
          <a:ln/>
        </p:spPr>
        <p:txBody>
          <a:bodyPr wrap="square" lIns="0" tIns="0" rIns="0" bIns="0" rtlCol="0" anchor="ctr"/>
          <a:lstStyle/>
          <a:p>
            <a:pPr indent="0" marL="0">
              <a:buNone/>
            </a:pPr>
            <a:r>
              <a:rPr lang="en-US" sz="1600" b="1" dirty="0">
                <a:solidFill>
                  <a:srgbClr val="141414"/>
                </a:solidFill>
                <a:latin typeface="Arial" pitchFamily="34" charset="0"/>
                <a:ea typeface="Arial" pitchFamily="34" charset="-122"/>
                <a:cs typeface="Arial" pitchFamily="34" charset="-120"/>
              </a:rPr>
              <a:t>Spatial relations</a:t>
            </a:r>
            <a:endParaRPr lang="en-US" sz="1600" dirty="0"/>
          </a:p>
        </p:txBody>
      </p:sp>
      <p:sp>
        <p:nvSpPr>
          <p:cNvPr id="26" name="Text 24"/>
          <p:cNvSpPr/>
          <p:nvPr/>
        </p:nvSpPr>
        <p:spPr>
          <a:xfrm>
            <a:off x="4078224" y="4350005"/>
            <a:ext cx="2833954" cy="336155"/>
          </a:xfrm>
          <a:prstGeom prst="rect">
            <a:avLst/>
          </a:prstGeom>
          <a:noFill/>
          <a:ln/>
        </p:spPr>
        <p:txBody>
          <a:bodyPr wrap="square" lIns="0" tIns="0" rIns="0" bIns="0" rtlCol="0" anchor="ctr"/>
          <a:lstStyle/>
          <a:p>
            <a:pPr indent="0" marL="0">
              <a:buNone/>
            </a:pPr>
            <a:r>
              <a:rPr lang="en-US" sz="1400" dirty="0">
                <a:solidFill>
                  <a:srgbClr val="6E6A63"/>
                </a:solidFill>
                <a:latin typeface="Arial" pitchFamily="34" charset="0"/>
                <a:ea typeface="Arial" pitchFamily="34" charset="-122"/>
                <a:cs typeface="Arial" pitchFamily="34" charset="-120"/>
              </a:rPr>
              <a:t>What faces what, and what is next to what</a:t>
            </a:r>
            <a:endParaRPr lang="en-US" sz="1400" dirty="0"/>
          </a:p>
        </p:txBody>
      </p:sp>
      <p:sp>
        <p:nvSpPr>
          <p:cNvPr id="27" name="Shape 25"/>
          <p:cNvSpPr/>
          <p:nvPr/>
        </p:nvSpPr>
        <p:spPr>
          <a:xfrm>
            <a:off x="786384" y="4872913"/>
            <a:ext cx="6125794" cy="18675"/>
          </a:xfrm>
          <a:prstGeom prst="rect">
            <a:avLst/>
          </a:prstGeom>
          <a:solidFill>
            <a:srgbClr val="D5D1CA"/>
          </a:solidFill>
          <a:ln/>
        </p:spPr>
      </p:sp>
      <p:sp>
        <p:nvSpPr>
          <p:cNvPr id="28" name="Text 26"/>
          <p:cNvSpPr/>
          <p:nvPr/>
        </p:nvSpPr>
        <p:spPr>
          <a:xfrm>
            <a:off x="786384" y="4966289"/>
            <a:ext cx="365760" cy="336155"/>
          </a:xfrm>
          <a:prstGeom prst="rect">
            <a:avLst/>
          </a:prstGeom>
          <a:noFill/>
          <a:ln/>
        </p:spPr>
        <p:txBody>
          <a:bodyPr wrap="square" lIns="0" tIns="0" rIns="0" bIns="0" rtlCol="0" anchor="ctr"/>
          <a:lstStyle/>
          <a:p>
            <a:pPr indent="0" marL="0">
              <a:buNone/>
            </a:pPr>
            <a:r>
              <a:rPr lang="en-US" sz="1500" b="1" dirty="0">
                <a:solidFill>
                  <a:srgbClr val="9C978E"/>
                </a:solidFill>
                <a:latin typeface="Arial" pitchFamily="34" charset="0"/>
                <a:ea typeface="Arial" pitchFamily="34" charset="-122"/>
                <a:cs typeface="Arial" pitchFamily="34" charset="-120"/>
              </a:rPr>
              <a:t>5</a:t>
            </a:r>
            <a:endParaRPr lang="en-US" sz="1500" dirty="0"/>
          </a:p>
        </p:txBody>
      </p:sp>
      <p:sp>
        <p:nvSpPr>
          <p:cNvPr id="29" name="Text 27"/>
          <p:cNvSpPr/>
          <p:nvPr/>
        </p:nvSpPr>
        <p:spPr>
          <a:xfrm>
            <a:off x="1225296" y="4947614"/>
            <a:ext cx="2743200" cy="336155"/>
          </a:xfrm>
          <a:prstGeom prst="rect">
            <a:avLst/>
          </a:prstGeom>
          <a:noFill/>
          <a:ln/>
        </p:spPr>
        <p:txBody>
          <a:bodyPr wrap="square" lIns="0" tIns="0" rIns="0" bIns="0" rtlCol="0" anchor="ctr"/>
          <a:lstStyle/>
          <a:p>
            <a:pPr indent="0" marL="0">
              <a:buNone/>
            </a:pPr>
            <a:r>
              <a:rPr lang="en-US" sz="1600" b="1" dirty="0">
                <a:solidFill>
                  <a:srgbClr val="141414"/>
                </a:solidFill>
                <a:latin typeface="Arial" pitchFamily="34" charset="0"/>
                <a:ea typeface="Arial" pitchFamily="34" charset="-122"/>
                <a:cs typeface="Arial" pitchFamily="34" charset="-120"/>
              </a:rPr>
              <a:t>Colours and materials</a:t>
            </a:r>
            <a:endParaRPr lang="en-US" sz="1600" dirty="0"/>
          </a:p>
        </p:txBody>
      </p:sp>
      <p:sp>
        <p:nvSpPr>
          <p:cNvPr id="30" name="Text 28"/>
          <p:cNvSpPr/>
          <p:nvPr/>
        </p:nvSpPr>
        <p:spPr>
          <a:xfrm>
            <a:off x="4078224" y="4966289"/>
            <a:ext cx="2833954" cy="336155"/>
          </a:xfrm>
          <a:prstGeom prst="rect">
            <a:avLst/>
          </a:prstGeom>
          <a:noFill/>
          <a:ln/>
        </p:spPr>
        <p:txBody>
          <a:bodyPr wrap="square" lIns="0" tIns="0" rIns="0" bIns="0" rtlCol="0" anchor="ctr"/>
          <a:lstStyle/>
          <a:p>
            <a:pPr indent="0" marL="0">
              <a:buNone/>
            </a:pPr>
            <a:r>
              <a:rPr lang="en-US" sz="1400" dirty="0">
                <a:solidFill>
                  <a:srgbClr val="6E6A63"/>
                </a:solidFill>
                <a:latin typeface="Arial" pitchFamily="34" charset="0"/>
                <a:ea typeface="Arial" pitchFamily="34" charset="-122"/>
                <a:cs typeface="Arial" pitchFamily="34" charset="-120"/>
              </a:rPr>
              <a:t>Only where they identify something specific</a:t>
            </a:r>
            <a:endParaRPr lang="en-US" sz="1400" dirty="0"/>
          </a:p>
        </p:txBody>
      </p:sp>
      <p:sp>
        <p:nvSpPr>
          <p:cNvPr id="31" name="Shape 29"/>
          <p:cNvSpPr/>
          <p:nvPr/>
        </p:nvSpPr>
        <p:spPr>
          <a:xfrm>
            <a:off x="7076770" y="2407777"/>
            <a:ext cx="4328541" cy="2092409"/>
          </a:xfrm>
          <a:prstGeom prst="rect">
            <a:avLst/>
          </a:prstGeom>
          <a:solidFill>
            <a:srgbClr val="F7E6E0"/>
          </a:solidFill>
          <a:ln/>
        </p:spPr>
      </p:sp>
      <p:sp>
        <p:nvSpPr>
          <p:cNvPr id="32" name="Shape 30"/>
          <p:cNvSpPr/>
          <p:nvPr/>
        </p:nvSpPr>
        <p:spPr>
          <a:xfrm>
            <a:off x="7314514" y="2631880"/>
            <a:ext cx="3853053" cy="22410"/>
          </a:xfrm>
          <a:prstGeom prst="rect">
            <a:avLst/>
          </a:prstGeom>
          <a:solidFill>
            <a:srgbClr val="C0402A"/>
          </a:solidFill>
          <a:ln/>
        </p:spPr>
      </p:sp>
      <p:sp>
        <p:nvSpPr>
          <p:cNvPr id="33" name="Text 31"/>
          <p:cNvSpPr/>
          <p:nvPr/>
        </p:nvSpPr>
        <p:spPr>
          <a:xfrm>
            <a:off x="7314514" y="2781282"/>
            <a:ext cx="3853053" cy="351458"/>
          </a:xfrm>
          <a:prstGeom prst="rect">
            <a:avLst/>
          </a:prstGeom>
          <a:noFill/>
          <a:ln/>
        </p:spPr>
        <p:txBody>
          <a:bodyPr wrap="square" lIns="0" tIns="0" rIns="0" bIns="0" rtlCol="0" anchor="ctr"/>
          <a:lstStyle/>
          <a:p>
            <a:pPr indent="0" marL="0">
              <a:lnSpc>
                <a:spcPts val="2350"/>
              </a:lnSpc>
              <a:buNone/>
            </a:pPr>
            <a:r>
              <a:rPr lang="en-US" sz="1950" b="1" dirty="0">
                <a:solidFill>
                  <a:srgbClr val="141414"/>
                </a:solidFill>
                <a:latin typeface="Arial" pitchFamily="34" charset="0"/>
                <a:ea typeface="Arial" pitchFamily="34" charset="-122"/>
                <a:cs typeface="Arial" pitchFamily="34" charset="-120"/>
              </a:rPr>
              <a:t>The questions it has to answer</a:t>
            </a:r>
            <a:endParaRPr lang="en-US" sz="1950" dirty="0"/>
          </a:p>
        </p:txBody>
      </p:sp>
      <p:sp>
        <p:nvSpPr>
          <p:cNvPr id="34" name="Text 32"/>
          <p:cNvSpPr/>
          <p:nvPr/>
        </p:nvSpPr>
        <p:spPr>
          <a:xfrm>
            <a:off x="7314514" y="3207441"/>
            <a:ext cx="3853053" cy="1162017"/>
          </a:xfrm>
          <a:prstGeom prst="rect">
            <a:avLst/>
          </a:prstGeom>
          <a:noFill/>
          <a:ln/>
        </p:spPr>
        <p:txBody>
          <a:bodyPr wrap="square" lIns="0" tIns="0" rIns="0" bIns="0" rtlCol="0" anchor="t"/>
          <a:lstStyle/>
          <a:p>
            <a:pPr indent="0" marL="0">
              <a:lnSpc>
                <a:spcPts val="2150"/>
              </a:lnSpc>
              <a:buNone/>
            </a:pPr>
            <a:r>
              <a:rPr lang="en-US" sz="1450" dirty="0">
                <a:solidFill>
                  <a:srgbClr val="141414"/>
                </a:solidFill>
                <a:latin typeface="Arial" pitchFamily="34" charset="0"/>
                <a:ea typeface="Arial" pitchFamily="34" charset="-122"/>
                <a:cs typeface="Arial" pitchFamily="34" charset="-120"/>
              </a:rPr>
              <a:t>How many tables are in Makerspace A?</a:t>
            </a:r>
            <a:endParaRPr lang="en-US" sz="1450" dirty="0"/>
          </a:p>
          <a:p>
            <a:pPr indent="0" marL="0">
              <a:lnSpc>
                <a:spcPts val="2150"/>
              </a:lnSpc>
              <a:buNone/>
            </a:pPr>
            <a:endParaRPr lang="en-US" sz="1450" dirty="0"/>
          </a:p>
          <a:p>
            <a:pPr indent="0" marL="0">
              <a:lnSpc>
                <a:spcPts val="2150"/>
              </a:lnSpc>
              <a:buNone/>
            </a:pPr>
            <a:r>
              <a:rPr lang="en-US" sz="1450" dirty="0">
                <a:solidFill>
                  <a:srgbClr val="141414"/>
                </a:solidFill>
                <a:latin typeface="Arial" pitchFamily="34" charset="0"/>
                <a:ea typeface="Arial" pitchFamily="34" charset="-122"/>
                <a:cs typeface="Arial" pitchFamily="34" charset="-120"/>
              </a:rPr>
              <a:t>What three words are on the wall behind the brainstorming area?</a:t>
            </a:r>
            <a:endParaRPr lang="en-US" sz="1450" dirty="0"/>
          </a:p>
        </p:txBody>
      </p:sp>
      <p:sp>
        <p:nvSpPr>
          <p:cNvPr id="35" name="Shape 33"/>
          <p:cNvSpPr/>
          <p:nvPr/>
        </p:nvSpPr>
        <p:spPr>
          <a:xfrm>
            <a:off x="7076770" y="4200603"/>
            <a:ext cx="4328541" cy="16808"/>
          </a:xfrm>
          <a:prstGeom prst="rect">
            <a:avLst/>
          </a:prstGeom>
          <a:solidFill>
            <a:srgbClr val="141414"/>
          </a:solidFill>
          <a:ln/>
        </p:spPr>
      </p:sp>
      <p:sp>
        <p:nvSpPr>
          <p:cNvPr id="36" name="Text 34"/>
          <p:cNvSpPr/>
          <p:nvPr/>
        </p:nvSpPr>
        <p:spPr>
          <a:xfrm>
            <a:off x="7076770" y="4350005"/>
            <a:ext cx="4328541" cy="351458"/>
          </a:xfrm>
          <a:prstGeom prst="rect">
            <a:avLst/>
          </a:prstGeom>
          <a:noFill/>
          <a:ln/>
        </p:spPr>
        <p:txBody>
          <a:bodyPr wrap="square" lIns="0" tIns="0" rIns="0" bIns="0" rtlCol="0" anchor="ctr"/>
          <a:lstStyle/>
          <a:p>
            <a:pPr indent="0" marL="0">
              <a:lnSpc>
                <a:spcPts val="2350"/>
              </a:lnSpc>
              <a:buNone/>
            </a:pPr>
            <a:r>
              <a:rPr lang="en-US" sz="1950" b="1" dirty="0">
                <a:solidFill>
                  <a:srgbClr val="141414"/>
                </a:solidFill>
                <a:latin typeface="Arial" pitchFamily="34" charset="0"/>
                <a:ea typeface="Arial" pitchFamily="34" charset="-122"/>
                <a:cs typeface="Arial" pitchFamily="34" charset="-120"/>
              </a:rPr>
              <a:t>Field 3 answers the second one</a:t>
            </a:r>
            <a:endParaRPr lang="en-US" sz="1950" dirty="0"/>
          </a:p>
        </p:txBody>
      </p:sp>
      <p:sp>
        <p:nvSpPr>
          <p:cNvPr id="37" name="Text 35"/>
          <p:cNvSpPr/>
          <p:nvPr/>
        </p:nvSpPr>
        <p:spPr>
          <a:xfrm>
            <a:off x="7076770" y="4776165"/>
            <a:ext cx="4328541" cy="1136079"/>
          </a:xfrm>
          <a:prstGeom prst="rect">
            <a:avLst/>
          </a:prstGeom>
          <a:noFill/>
          <a:ln/>
        </p:spPr>
        <p:txBody>
          <a:bodyPr wrap="square" lIns="0" tIns="0" rIns="0" bIns="0" rtlCol="0" anchor="t"/>
          <a:lstStyle/>
          <a:p>
            <a:pPr indent="0" marL="0">
              <a:lnSpc>
                <a:spcPts val="2100"/>
              </a:lnSpc>
              <a:buNone/>
            </a:pPr>
            <a:r>
              <a:rPr lang="en-US" sz="1400" dirty="0">
                <a:solidFill>
                  <a:srgbClr val="141414"/>
                </a:solidFill>
                <a:latin typeface="Arial" pitchFamily="34" charset="0"/>
                <a:ea typeface="Arial" pitchFamily="34" charset="-122"/>
                <a:cs typeface="Arial" pitchFamily="34" charset="-120"/>
              </a:rPr>
              <a:t>Tell the model to copy text exactly rather than summarise, and to write [unreadable] rather than guess. A paraphrased sign scores zero when the question wants exact words.</a:t>
            </a:r>
            <a:endParaRPr lang="en-US" sz="1400" dirty="0"/>
          </a:p>
        </p:txBody>
      </p:sp>
      <p:sp>
        <p:nvSpPr>
          <p:cNvPr id="38" name="Text 36"/>
          <p:cNvSpPr/>
          <p:nvPr/>
        </p:nvSpPr>
        <p:spPr>
          <a:xfrm>
            <a:off x="786384" y="5675950"/>
            <a:ext cx="6125794" cy="560258"/>
          </a:xfrm>
          <a:prstGeom prst="rect">
            <a:avLst/>
          </a:prstGeom>
          <a:noFill/>
          <a:ln/>
        </p:spPr>
        <p:txBody>
          <a:bodyPr wrap="square" lIns="0" tIns="0" rIns="0" bIns="0" rtlCol="0" anchor="ctr"/>
          <a:lstStyle/>
          <a:p>
            <a:pPr indent="0" marL="0">
              <a:lnSpc>
                <a:spcPts val="2100"/>
              </a:lnSpc>
              <a:buNone/>
            </a:pPr>
            <a:r>
              <a:rPr lang="en-US" sz="1450" dirty="0">
                <a:solidFill>
                  <a:srgbClr val="141414"/>
                </a:solidFill>
                <a:latin typeface="Arial" pitchFamily="34" charset="0"/>
                <a:ea typeface="Arial" pitchFamily="34" charset="-122"/>
                <a:cs typeface="Arial" pitchFamily="34" charset="-120"/>
              </a:rPr>
              <a:t>Both questions are taken from the published competition specification, so they show the kind of detail the real ones will need.</a:t>
            </a:r>
            <a:endParaRPr lang="en-US" sz="14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AF8F5"/>
        </a:solidFill>
      </p:bgPr>
    </p:bg>
    <p:spTree>
      <p:nvGrpSpPr>
        <p:cNvPr id="1" name=""/>
        <p:cNvGrpSpPr/>
        <p:nvPr/>
      </p:nvGrpSpPr>
      <p:grpSpPr>
        <a:xfrm>
          <a:off x="0" y="0"/>
          <a:ext cx="0" cy="0"/>
          <a:chOff x="0" y="0"/>
          <a:chExt cx="0" cy="0"/>
        </a:xfrm>
      </p:grpSpPr>
      <p:sp>
        <p:nvSpPr>
          <p:cNvPr id="2" name="Text 0"/>
          <p:cNvSpPr/>
          <p:nvPr/>
        </p:nvSpPr>
        <p:spPr>
          <a:xfrm>
            <a:off x="786384" y="402336"/>
            <a:ext cx="3657600" cy="237744"/>
          </a:xfrm>
          <a:prstGeom prst="rect">
            <a:avLst/>
          </a:prstGeom>
          <a:noFill/>
          <a:ln/>
        </p:spPr>
        <p:txBody>
          <a:bodyPr wrap="square" lIns="0" tIns="0" rIns="0" bIns="0" rtlCol="0" anchor="ctr"/>
          <a:lstStyle/>
          <a:p>
            <a:pPr indent="0" marL="0">
              <a:buNone/>
            </a:pPr>
            <a:r>
              <a:rPr lang="en-US" sz="950" b="1" spc="240" kern="0" dirty="0">
                <a:solidFill>
                  <a:srgbClr val="C0402A"/>
                </a:solidFill>
                <a:latin typeface="Arial" pitchFamily="34" charset="0"/>
                <a:ea typeface="Arial" pitchFamily="34" charset="-122"/>
                <a:cs typeface="Arial" pitchFamily="34" charset="-120"/>
              </a:rPr>
              <a:t>LAB</a:t>
            </a:r>
            <a:endParaRPr lang="en-US" sz="950" dirty="0"/>
          </a:p>
        </p:txBody>
      </p:sp>
      <p:sp>
        <p:nvSpPr>
          <p:cNvPr id="3" name="Text 1"/>
          <p:cNvSpPr/>
          <p:nvPr/>
        </p:nvSpPr>
        <p:spPr>
          <a:xfrm>
            <a:off x="786384" y="713232"/>
            <a:ext cx="7923047" cy="676656"/>
          </a:xfrm>
          <a:prstGeom prst="rect">
            <a:avLst/>
          </a:prstGeom>
          <a:noFill/>
          <a:ln/>
        </p:spPr>
        <p:txBody>
          <a:bodyPr wrap="square" lIns="0" tIns="0" rIns="0" bIns="0" rtlCol="0" anchor="ctr"/>
          <a:lstStyle/>
          <a:p>
            <a:pPr indent="0" marL="0">
              <a:buNone/>
            </a:pPr>
            <a:r>
              <a:rPr lang="en-US" sz="2900" b="1" dirty="0">
                <a:solidFill>
                  <a:srgbClr val="141414"/>
                </a:solidFill>
                <a:latin typeface="Arial" pitchFamily="34" charset="0"/>
                <a:ea typeface="Arial" pitchFamily="34" charset="-122"/>
                <a:cs typeface="Arial" pitchFamily="34" charset="-120"/>
              </a:rPr>
              <a:t>Lab: Writing the Prompt</a:t>
            </a:r>
            <a:endParaRPr lang="en-US" sz="2900" dirty="0"/>
          </a:p>
        </p:txBody>
      </p:sp>
      <p:sp>
        <p:nvSpPr>
          <p:cNvPr id="4" name="Shape 2"/>
          <p:cNvSpPr/>
          <p:nvPr/>
        </p:nvSpPr>
        <p:spPr>
          <a:xfrm>
            <a:off x="10801807" y="877824"/>
            <a:ext cx="585216" cy="292608"/>
          </a:xfrm>
          <a:prstGeom prst="rect">
            <a:avLst/>
          </a:prstGeom>
          <a:solidFill>
            <a:srgbClr val="FAF8F5"/>
          </a:solidFill>
          <a:ln w="9525">
            <a:solidFill>
              <a:srgbClr val="D5D1CA"/>
            </a:solidFill>
            <a:prstDash val="solid"/>
          </a:ln>
        </p:spPr>
      </p:sp>
      <p:sp>
        <p:nvSpPr>
          <p:cNvPr id="5" name="Text 3"/>
          <p:cNvSpPr/>
          <p:nvPr/>
        </p:nvSpPr>
        <p:spPr>
          <a:xfrm>
            <a:off x="10801807" y="877824"/>
            <a:ext cx="585216" cy="292608"/>
          </a:xfrm>
          <a:prstGeom prst="rect">
            <a:avLst/>
          </a:prstGeom>
          <a:noFill/>
          <a:ln/>
        </p:spPr>
        <p:txBody>
          <a:bodyPr wrap="square" lIns="0" tIns="0" rIns="0" bIns="0" rtlCol="0" anchor="ctr"/>
          <a:lstStyle/>
          <a:p>
            <a:pPr algn="ctr" indent="0" marL="0">
              <a:buNone/>
            </a:pPr>
            <a:r>
              <a:rPr lang="en-US" sz="1100" b="1" spc="60" kern="0" dirty="0">
                <a:solidFill>
                  <a:srgbClr val="4A4741"/>
                </a:solidFill>
                <a:latin typeface="Arial" pitchFamily="34" charset="0"/>
                <a:ea typeface="Arial" pitchFamily="34" charset="-122"/>
                <a:cs typeface="Arial" pitchFamily="34" charset="-120"/>
              </a:rPr>
              <a:t>LV3</a:t>
            </a:r>
            <a:endParaRPr lang="en-US" sz="1100" dirty="0"/>
          </a:p>
        </p:txBody>
      </p:sp>
      <p:sp>
        <p:nvSpPr>
          <p:cNvPr id="6" name="Text 4"/>
          <p:cNvSpPr/>
          <p:nvPr/>
        </p:nvSpPr>
        <p:spPr>
          <a:xfrm>
            <a:off x="8662111" y="420624"/>
            <a:ext cx="2743200" cy="237744"/>
          </a:xfrm>
          <a:prstGeom prst="rect">
            <a:avLst/>
          </a:prstGeom>
          <a:noFill/>
          <a:ln/>
        </p:spPr>
        <p:txBody>
          <a:bodyPr wrap="square" lIns="0" tIns="0" rIns="0" bIns="0" rtlCol="0" anchor="ctr"/>
          <a:lstStyle/>
          <a:p>
            <a:pPr algn="r" indent="0" marL="0">
              <a:buNone/>
            </a:pPr>
            <a:r>
              <a:rPr lang="en-US" sz="950" b="1" spc="180" kern="0" dirty="0">
                <a:solidFill>
                  <a:srgbClr val="9C978E"/>
                </a:solidFill>
                <a:latin typeface="Arial" pitchFamily="34" charset="0"/>
                <a:ea typeface="Arial" pitchFamily="34" charset="-122"/>
                <a:cs typeface="Arial" pitchFamily="34" charset="-120"/>
              </a:rPr>
              <a:t>20 MINUTES</a:t>
            </a:r>
            <a:endParaRPr lang="en-US" sz="950" dirty="0"/>
          </a:p>
        </p:txBody>
      </p:sp>
      <p:sp>
        <p:nvSpPr>
          <p:cNvPr id="7" name="Shape 5"/>
          <p:cNvSpPr/>
          <p:nvPr/>
        </p:nvSpPr>
        <p:spPr>
          <a:xfrm>
            <a:off x="786384" y="1426464"/>
            <a:ext cx="10618927" cy="10973"/>
          </a:xfrm>
          <a:prstGeom prst="rect">
            <a:avLst/>
          </a:prstGeom>
          <a:solidFill>
            <a:srgbClr val="D5D1CA"/>
          </a:solidFill>
          <a:ln/>
        </p:spPr>
      </p:sp>
      <p:sp>
        <p:nvSpPr>
          <p:cNvPr id="8" name="Text 6"/>
          <p:cNvSpPr/>
          <p:nvPr/>
        </p:nvSpPr>
        <p:spPr>
          <a:xfrm>
            <a:off x="10490911" y="6309360"/>
            <a:ext cx="914400" cy="274320"/>
          </a:xfrm>
          <a:prstGeom prst="rect">
            <a:avLst/>
          </a:prstGeom>
          <a:noFill/>
          <a:ln/>
        </p:spPr>
        <p:txBody>
          <a:bodyPr wrap="square" lIns="0" tIns="0" rIns="0" bIns="0" rtlCol="0" anchor="ctr"/>
          <a:lstStyle/>
          <a:p>
            <a:pPr algn="r" indent="0" marL="0">
              <a:buNone/>
            </a:pPr>
            <a:r>
              <a:rPr lang="en-US" sz="1200" dirty="0">
                <a:solidFill>
                  <a:srgbClr val="9C978E"/>
                </a:solidFill>
                <a:latin typeface="Arial" pitchFamily="34" charset="0"/>
                <a:ea typeface="Arial" pitchFamily="34" charset="-122"/>
                <a:cs typeface="Arial" pitchFamily="34" charset="-120"/>
              </a:rPr>
              <a:t>13</a:t>
            </a:r>
            <a:endParaRPr lang="en-US" sz="1200" dirty="0"/>
          </a:p>
        </p:txBody>
      </p:sp>
      <p:sp>
        <p:nvSpPr>
          <p:cNvPr id="10" name="Text 7"/>
          <p:cNvSpPr/>
          <p:nvPr/>
        </p:nvSpPr>
        <p:spPr>
          <a:xfrm>
            <a:off x="786384" y="1765592"/>
            <a:ext cx="10087981" cy="334947"/>
          </a:xfrm>
          <a:prstGeom prst="rect">
            <a:avLst/>
          </a:prstGeom>
          <a:noFill/>
          <a:ln/>
        </p:spPr>
        <p:txBody>
          <a:bodyPr wrap="square" lIns="0" tIns="0" rIns="0" bIns="0" rtlCol="0" anchor="ctr"/>
          <a:lstStyle/>
          <a:p>
            <a:pPr indent="0" marL="0">
              <a:buNone/>
            </a:pPr>
            <a:r>
              <a:rPr lang="en-US" sz="1500" dirty="0">
                <a:solidFill>
                  <a:srgbClr val="6E6A63"/>
                </a:solidFill>
                <a:latin typeface="Arial" pitchFamily="34" charset="0"/>
                <a:ea typeface="Arial" pitchFamily="34" charset="-122"/>
                <a:cs typeface="Arial" pitchFamily="34" charset="-120"/>
              </a:rPr>
              <a:t>20 minutes. Five Inno Wing photographs and three questions about them are in the workshop folder.</a:t>
            </a:r>
            <a:endParaRPr lang="en-US" sz="1500" dirty="0"/>
          </a:p>
        </p:txBody>
      </p:sp>
      <p:sp>
        <p:nvSpPr>
          <p:cNvPr id="11" name="Text 8"/>
          <p:cNvSpPr/>
          <p:nvPr/>
        </p:nvSpPr>
        <p:spPr>
          <a:xfrm>
            <a:off x="786384" y="2193581"/>
            <a:ext cx="457200" cy="316339"/>
          </a:xfrm>
          <a:prstGeom prst="rect">
            <a:avLst/>
          </a:prstGeom>
          <a:noFill/>
          <a:ln/>
        </p:spPr>
        <p:txBody>
          <a:bodyPr wrap="square" lIns="0" tIns="0" rIns="0" bIns="0" rtlCol="0" anchor="ctr"/>
          <a:lstStyle/>
          <a:p>
            <a:pPr indent="0" marL="0">
              <a:buNone/>
            </a:pPr>
            <a:r>
              <a:rPr lang="en-US" sz="1750" b="1" dirty="0">
                <a:solidFill>
                  <a:srgbClr val="C0402A"/>
                </a:solidFill>
                <a:latin typeface="Arial" pitchFamily="34" charset="0"/>
                <a:ea typeface="Arial" pitchFamily="34" charset="-122"/>
                <a:cs typeface="Arial" pitchFamily="34" charset="-120"/>
              </a:rPr>
              <a:t>01</a:t>
            </a:r>
            <a:endParaRPr lang="en-US" sz="1750" dirty="0"/>
          </a:p>
        </p:txBody>
      </p:sp>
      <p:sp>
        <p:nvSpPr>
          <p:cNvPr id="12" name="Text 9"/>
          <p:cNvSpPr/>
          <p:nvPr/>
        </p:nvSpPr>
        <p:spPr>
          <a:xfrm>
            <a:off x="1353312" y="2193581"/>
            <a:ext cx="9521053" cy="350196"/>
          </a:xfrm>
          <a:prstGeom prst="rect">
            <a:avLst/>
          </a:prstGeom>
          <a:noFill/>
          <a:ln/>
        </p:spPr>
        <p:txBody>
          <a:bodyPr wrap="square" lIns="0" tIns="0" rIns="0" bIns="0" rtlCol="0" anchor="ctr"/>
          <a:lstStyle/>
          <a:p>
            <a:pPr indent="0" marL="0">
              <a:lnSpc>
                <a:spcPts val="2350"/>
              </a:lnSpc>
              <a:buNone/>
            </a:pPr>
            <a:r>
              <a:rPr lang="en-US" sz="1950" b="1" dirty="0">
                <a:solidFill>
                  <a:srgbClr val="141414"/>
                </a:solidFill>
                <a:latin typeface="Arial" pitchFamily="34" charset="0"/>
                <a:ea typeface="Arial" pitchFamily="34" charset="-122"/>
                <a:cs typeface="Arial" pitchFamily="34" charset="-120"/>
              </a:rPr>
              <a:t>Write your prompt into DESCRIPTION_PROMPT</a:t>
            </a:r>
            <a:endParaRPr lang="en-US" sz="1950" dirty="0"/>
          </a:p>
        </p:txBody>
      </p:sp>
      <p:sp>
        <p:nvSpPr>
          <p:cNvPr id="13" name="Text 10"/>
          <p:cNvSpPr/>
          <p:nvPr/>
        </p:nvSpPr>
        <p:spPr>
          <a:xfrm>
            <a:off x="1353312" y="2580993"/>
            <a:ext cx="9521053" cy="324351"/>
          </a:xfrm>
          <a:prstGeom prst="rect">
            <a:avLst/>
          </a:prstGeom>
          <a:noFill/>
          <a:ln/>
        </p:spPr>
        <p:txBody>
          <a:bodyPr wrap="square" lIns="0" tIns="0" rIns="0" bIns="0" rtlCol="0" anchor="ctr"/>
          <a:lstStyle/>
          <a:p>
            <a:pPr indent="0" marL="0">
              <a:lnSpc>
                <a:spcPts val="2150"/>
              </a:lnSpc>
              <a:buNone/>
            </a:pPr>
            <a:r>
              <a:rPr lang="en-US" sz="1650" dirty="0">
                <a:solidFill>
                  <a:srgbClr val="6E6A63"/>
                </a:solidFill>
                <a:latin typeface="Arial" pitchFamily="34" charset="0"/>
                <a:ea typeface="Arial" pitchFamily="34" charset="-122"/>
                <a:cs typeface="Arial" pitchFamily="34" charset="-120"/>
              </a:rPr>
              <a:t>Use the five fields as a checklist. Instructions, not a request.</a:t>
            </a:r>
            <a:endParaRPr lang="en-US" sz="1650" dirty="0"/>
          </a:p>
        </p:txBody>
      </p:sp>
      <p:sp>
        <p:nvSpPr>
          <p:cNvPr id="14" name="Text 11"/>
          <p:cNvSpPr/>
          <p:nvPr/>
        </p:nvSpPr>
        <p:spPr>
          <a:xfrm>
            <a:off x="786384" y="3026297"/>
            <a:ext cx="457200" cy="316339"/>
          </a:xfrm>
          <a:prstGeom prst="rect">
            <a:avLst/>
          </a:prstGeom>
          <a:noFill/>
          <a:ln/>
        </p:spPr>
        <p:txBody>
          <a:bodyPr wrap="square" lIns="0" tIns="0" rIns="0" bIns="0" rtlCol="0" anchor="ctr"/>
          <a:lstStyle/>
          <a:p>
            <a:pPr indent="0" marL="0">
              <a:buNone/>
            </a:pPr>
            <a:r>
              <a:rPr lang="en-US" sz="1750" b="1" dirty="0">
                <a:solidFill>
                  <a:srgbClr val="C0402A"/>
                </a:solidFill>
                <a:latin typeface="Arial" pitchFamily="34" charset="0"/>
                <a:ea typeface="Arial" pitchFamily="34" charset="-122"/>
                <a:cs typeface="Arial" pitchFamily="34" charset="-120"/>
              </a:rPr>
              <a:t>02</a:t>
            </a:r>
            <a:endParaRPr lang="en-US" sz="1750" dirty="0"/>
          </a:p>
        </p:txBody>
      </p:sp>
      <p:sp>
        <p:nvSpPr>
          <p:cNvPr id="15" name="Text 12"/>
          <p:cNvSpPr/>
          <p:nvPr/>
        </p:nvSpPr>
        <p:spPr>
          <a:xfrm>
            <a:off x="1353312" y="3026297"/>
            <a:ext cx="9521053" cy="350196"/>
          </a:xfrm>
          <a:prstGeom prst="rect">
            <a:avLst/>
          </a:prstGeom>
          <a:noFill/>
          <a:ln/>
        </p:spPr>
        <p:txBody>
          <a:bodyPr wrap="square" lIns="0" tIns="0" rIns="0" bIns="0" rtlCol="0" anchor="ctr"/>
          <a:lstStyle/>
          <a:p>
            <a:pPr indent="0" marL="0">
              <a:lnSpc>
                <a:spcPts val="2350"/>
              </a:lnSpc>
              <a:buNone/>
            </a:pPr>
            <a:r>
              <a:rPr lang="en-US" sz="1950" b="1" dirty="0">
                <a:solidFill>
                  <a:srgbClr val="141414"/>
                </a:solidFill>
                <a:latin typeface="Arial" pitchFamily="34" charset="0"/>
                <a:ea typeface="Arial" pitchFamily="34" charset="-122"/>
                <a:cs typeface="Arial" pitchFamily="34" charset="-120"/>
              </a:rPr>
              <a:t>Run it over the five images and read the output</a:t>
            </a:r>
            <a:endParaRPr lang="en-US" sz="1950" dirty="0"/>
          </a:p>
        </p:txBody>
      </p:sp>
      <p:sp>
        <p:nvSpPr>
          <p:cNvPr id="16" name="Text 13"/>
          <p:cNvSpPr/>
          <p:nvPr/>
        </p:nvSpPr>
        <p:spPr>
          <a:xfrm>
            <a:off x="1353312" y="3413709"/>
            <a:ext cx="9521053" cy="324351"/>
          </a:xfrm>
          <a:prstGeom prst="rect">
            <a:avLst/>
          </a:prstGeom>
          <a:noFill/>
          <a:ln/>
        </p:spPr>
        <p:txBody>
          <a:bodyPr wrap="square" lIns="0" tIns="0" rIns="0" bIns="0" rtlCol="0" anchor="ctr"/>
          <a:lstStyle/>
          <a:p>
            <a:pPr indent="0" marL="0">
              <a:lnSpc>
                <a:spcPts val="2150"/>
              </a:lnSpc>
              <a:buNone/>
            </a:pPr>
            <a:r>
              <a:rPr lang="en-US" sz="1650" dirty="0">
                <a:solidFill>
                  <a:srgbClr val="6E6A63"/>
                </a:solidFill>
                <a:latin typeface="Arial" pitchFamily="34" charset="0"/>
                <a:ea typeface="Arial" pitchFamily="34" charset="-122"/>
                <a:cs typeface="Arial" pitchFamily="34" charset="-120"/>
              </a:rPr>
              <a:t>Before indexing: can you answer the three questions from these alone?</a:t>
            </a:r>
            <a:endParaRPr lang="en-US" sz="1650" dirty="0"/>
          </a:p>
        </p:txBody>
      </p:sp>
      <p:sp>
        <p:nvSpPr>
          <p:cNvPr id="17" name="Text 14"/>
          <p:cNvSpPr/>
          <p:nvPr/>
        </p:nvSpPr>
        <p:spPr>
          <a:xfrm>
            <a:off x="786384" y="3859013"/>
            <a:ext cx="457200" cy="316339"/>
          </a:xfrm>
          <a:prstGeom prst="rect">
            <a:avLst/>
          </a:prstGeom>
          <a:noFill/>
          <a:ln/>
        </p:spPr>
        <p:txBody>
          <a:bodyPr wrap="square" lIns="0" tIns="0" rIns="0" bIns="0" rtlCol="0" anchor="ctr"/>
          <a:lstStyle/>
          <a:p>
            <a:pPr indent="0" marL="0">
              <a:buNone/>
            </a:pPr>
            <a:r>
              <a:rPr lang="en-US" sz="1750" b="1" dirty="0">
                <a:solidFill>
                  <a:srgbClr val="C0402A"/>
                </a:solidFill>
                <a:latin typeface="Arial" pitchFamily="34" charset="0"/>
                <a:ea typeface="Arial" pitchFamily="34" charset="-122"/>
                <a:cs typeface="Arial" pitchFamily="34" charset="-120"/>
              </a:rPr>
              <a:t>03</a:t>
            </a:r>
            <a:endParaRPr lang="en-US" sz="1750" dirty="0"/>
          </a:p>
        </p:txBody>
      </p:sp>
      <p:sp>
        <p:nvSpPr>
          <p:cNvPr id="18" name="Text 15"/>
          <p:cNvSpPr/>
          <p:nvPr/>
        </p:nvSpPr>
        <p:spPr>
          <a:xfrm>
            <a:off x="1353312" y="3859013"/>
            <a:ext cx="9521053" cy="350196"/>
          </a:xfrm>
          <a:prstGeom prst="rect">
            <a:avLst/>
          </a:prstGeom>
          <a:noFill/>
          <a:ln/>
        </p:spPr>
        <p:txBody>
          <a:bodyPr wrap="square" lIns="0" tIns="0" rIns="0" bIns="0" rtlCol="0" anchor="ctr"/>
          <a:lstStyle/>
          <a:p>
            <a:pPr indent="0" marL="0">
              <a:lnSpc>
                <a:spcPts val="2350"/>
              </a:lnSpc>
              <a:buNone/>
            </a:pPr>
            <a:r>
              <a:rPr lang="en-US" sz="1950" b="1" dirty="0">
                <a:solidFill>
                  <a:srgbClr val="141414"/>
                </a:solidFill>
                <a:latin typeface="Arial" pitchFamily="34" charset="0"/>
                <a:ea typeface="Arial" pitchFamily="34" charset="-122"/>
                <a:cs typeface="Arial" pitchFamily="34" charset="-120"/>
              </a:rPr>
              <a:t>Revise and run again</a:t>
            </a:r>
            <a:endParaRPr lang="en-US" sz="1950" dirty="0"/>
          </a:p>
        </p:txBody>
      </p:sp>
      <p:sp>
        <p:nvSpPr>
          <p:cNvPr id="19" name="Text 16"/>
          <p:cNvSpPr/>
          <p:nvPr/>
        </p:nvSpPr>
        <p:spPr>
          <a:xfrm>
            <a:off x="1353312" y="4246425"/>
            <a:ext cx="9521053" cy="324351"/>
          </a:xfrm>
          <a:prstGeom prst="rect">
            <a:avLst/>
          </a:prstGeom>
          <a:noFill/>
          <a:ln/>
        </p:spPr>
        <p:txBody>
          <a:bodyPr wrap="square" lIns="0" tIns="0" rIns="0" bIns="0" rtlCol="0" anchor="ctr"/>
          <a:lstStyle/>
          <a:p>
            <a:pPr indent="0" marL="0">
              <a:lnSpc>
                <a:spcPts val="2150"/>
              </a:lnSpc>
              <a:buNone/>
            </a:pPr>
            <a:r>
              <a:rPr lang="en-US" sz="1650" dirty="0">
                <a:solidFill>
                  <a:srgbClr val="6E6A63"/>
                </a:solidFill>
                <a:latin typeface="Arial" pitchFamily="34" charset="0"/>
                <a:ea typeface="Arial" pitchFamily="34" charset="-122"/>
                <a:cs typeface="Arial" pitchFamily="34" charset="-120"/>
              </a:rPr>
              <a:t>Most teams need two or three attempts. The first is almost always too general.</a:t>
            </a:r>
            <a:endParaRPr lang="en-US" sz="1650" dirty="0"/>
          </a:p>
        </p:txBody>
      </p:sp>
      <p:sp>
        <p:nvSpPr>
          <p:cNvPr id="20" name="Text 17"/>
          <p:cNvSpPr/>
          <p:nvPr/>
        </p:nvSpPr>
        <p:spPr>
          <a:xfrm>
            <a:off x="786384" y="4691729"/>
            <a:ext cx="457200" cy="316339"/>
          </a:xfrm>
          <a:prstGeom prst="rect">
            <a:avLst/>
          </a:prstGeom>
          <a:noFill/>
          <a:ln/>
        </p:spPr>
        <p:txBody>
          <a:bodyPr wrap="square" lIns="0" tIns="0" rIns="0" bIns="0" rtlCol="0" anchor="ctr"/>
          <a:lstStyle/>
          <a:p>
            <a:pPr indent="0" marL="0">
              <a:buNone/>
            </a:pPr>
            <a:r>
              <a:rPr lang="en-US" sz="1750" b="1" dirty="0">
                <a:solidFill>
                  <a:srgbClr val="C0402A"/>
                </a:solidFill>
                <a:latin typeface="Arial" pitchFamily="34" charset="0"/>
                <a:ea typeface="Arial" pitchFamily="34" charset="-122"/>
                <a:cs typeface="Arial" pitchFamily="34" charset="-120"/>
              </a:rPr>
              <a:t>04</a:t>
            </a:r>
            <a:endParaRPr lang="en-US" sz="1750" dirty="0"/>
          </a:p>
        </p:txBody>
      </p:sp>
      <p:sp>
        <p:nvSpPr>
          <p:cNvPr id="21" name="Text 18"/>
          <p:cNvSpPr/>
          <p:nvPr/>
        </p:nvSpPr>
        <p:spPr>
          <a:xfrm>
            <a:off x="1353312" y="4691729"/>
            <a:ext cx="9521053" cy="350196"/>
          </a:xfrm>
          <a:prstGeom prst="rect">
            <a:avLst/>
          </a:prstGeom>
          <a:noFill/>
          <a:ln/>
        </p:spPr>
        <p:txBody>
          <a:bodyPr wrap="square" lIns="0" tIns="0" rIns="0" bIns="0" rtlCol="0" anchor="ctr"/>
          <a:lstStyle/>
          <a:p>
            <a:pPr indent="0" marL="0">
              <a:lnSpc>
                <a:spcPts val="2350"/>
              </a:lnSpc>
              <a:buNone/>
            </a:pPr>
            <a:r>
              <a:rPr lang="en-US" sz="1950" b="1" dirty="0">
                <a:solidFill>
                  <a:srgbClr val="141414"/>
                </a:solidFill>
                <a:latin typeface="Arial" pitchFamily="34" charset="0"/>
                <a:ea typeface="Arial" pitchFamily="34" charset="-122"/>
                <a:cs typeface="Arial" pitchFamily="34" charset="-120"/>
              </a:rPr>
              <a:t>Index the descriptions, re-score Lv3</a:t>
            </a:r>
            <a:endParaRPr lang="en-US" sz="1950" dirty="0"/>
          </a:p>
        </p:txBody>
      </p:sp>
      <p:sp>
        <p:nvSpPr>
          <p:cNvPr id="22" name="Text 19"/>
          <p:cNvSpPr/>
          <p:nvPr/>
        </p:nvSpPr>
        <p:spPr>
          <a:xfrm>
            <a:off x="1353312" y="5079141"/>
            <a:ext cx="9521053" cy="324351"/>
          </a:xfrm>
          <a:prstGeom prst="rect">
            <a:avLst/>
          </a:prstGeom>
          <a:noFill/>
          <a:ln/>
        </p:spPr>
        <p:txBody>
          <a:bodyPr wrap="square" lIns="0" tIns="0" rIns="0" bIns="0" rtlCol="0" anchor="ctr"/>
          <a:lstStyle/>
          <a:p>
            <a:pPr indent="0" marL="0">
              <a:lnSpc>
                <a:spcPts val="2150"/>
              </a:lnSpc>
              <a:buNone/>
            </a:pPr>
            <a:r>
              <a:rPr lang="en-US" sz="1650" dirty="0">
                <a:solidFill>
                  <a:srgbClr val="6E6A63"/>
                </a:solidFill>
                <a:latin typeface="Arial" pitchFamily="34" charset="0"/>
                <a:ea typeface="Arial" pitchFamily="34" charset="-122"/>
                <a:cs typeface="Arial" pitchFamily="34" charset="-120"/>
              </a:rPr>
              <a:t>Ordinary text chunks in your existing store. No new pipeline.</a:t>
            </a:r>
            <a:endParaRPr lang="en-US" sz="1650" dirty="0"/>
          </a:p>
        </p:txBody>
      </p:sp>
      <p:sp>
        <p:nvSpPr>
          <p:cNvPr id="23" name="Text 20"/>
          <p:cNvSpPr/>
          <p:nvPr/>
        </p:nvSpPr>
        <p:spPr>
          <a:xfrm>
            <a:off x="786384" y="5524445"/>
            <a:ext cx="457200" cy="316339"/>
          </a:xfrm>
          <a:prstGeom prst="rect">
            <a:avLst/>
          </a:prstGeom>
          <a:noFill/>
          <a:ln/>
        </p:spPr>
        <p:txBody>
          <a:bodyPr wrap="square" lIns="0" tIns="0" rIns="0" bIns="0" rtlCol="0" anchor="ctr"/>
          <a:lstStyle/>
          <a:p>
            <a:pPr indent="0" marL="0">
              <a:buNone/>
            </a:pPr>
            <a:r>
              <a:rPr lang="en-US" sz="1750" b="1" dirty="0">
                <a:solidFill>
                  <a:srgbClr val="C0402A"/>
                </a:solidFill>
                <a:latin typeface="Arial" pitchFamily="34" charset="0"/>
                <a:ea typeface="Arial" pitchFamily="34" charset="-122"/>
                <a:cs typeface="Arial" pitchFamily="34" charset="-120"/>
              </a:rPr>
              <a:t>05</a:t>
            </a:r>
            <a:endParaRPr lang="en-US" sz="1750" dirty="0"/>
          </a:p>
        </p:txBody>
      </p:sp>
      <p:sp>
        <p:nvSpPr>
          <p:cNvPr id="24" name="Text 21"/>
          <p:cNvSpPr/>
          <p:nvPr/>
        </p:nvSpPr>
        <p:spPr>
          <a:xfrm>
            <a:off x="1353312" y="5524445"/>
            <a:ext cx="9521053" cy="350196"/>
          </a:xfrm>
          <a:prstGeom prst="rect">
            <a:avLst/>
          </a:prstGeom>
          <a:noFill/>
          <a:ln/>
        </p:spPr>
        <p:txBody>
          <a:bodyPr wrap="square" lIns="0" tIns="0" rIns="0" bIns="0" rtlCol="0" anchor="ctr"/>
          <a:lstStyle/>
          <a:p>
            <a:pPr indent="0" marL="0">
              <a:lnSpc>
                <a:spcPts val="2350"/>
              </a:lnSpc>
              <a:buNone/>
            </a:pPr>
            <a:r>
              <a:rPr lang="en-US" sz="1950" b="1" dirty="0">
                <a:solidFill>
                  <a:srgbClr val="141414"/>
                </a:solidFill>
                <a:latin typeface="Arial" pitchFamily="34" charset="0"/>
                <a:ea typeface="Arial" pitchFamily="34" charset="-122"/>
                <a:cs typeface="Arial" pitchFamily="34" charset="-120"/>
              </a:rPr>
              <a:t>Swap prompts with the team next to you</a:t>
            </a:r>
            <a:endParaRPr lang="en-US" sz="1950" dirty="0"/>
          </a:p>
        </p:txBody>
      </p:sp>
      <p:sp>
        <p:nvSpPr>
          <p:cNvPr id="25" name="Text 22"/>
          <p:cNvSpPr/>
          <p:nvPr/>
        </p:nvSpPr>
        <p:spPr>
          <a:xfrm>
            <a:off x="1353312" y="5911857"/>
            <a:ext cx="9521053" cy="324351"/>
          </a:xfrm>
          <a:prstGeom prst="rect">
            <a:avLst/>
          </a:prstGeom>
          <a:noFill/>
          <a:ln/>
        </p:spPr>
        <p:txBody>
          <a:bodyPr wrap="square" lIns="0" tIns="0" rIns="0" bIns="0" rtlCol="0" anchor="ctr"/>
          <a:lstStyle/>
          <a:p>
            <a:pPr indent="0" marL="0">
              <a:lnSpc>
                <a:spcPts val="2150"/>
              </a:lnSpc>
              <a:buNone/>
            </a:pPr>
            <a:r>
              <a:rPr lang="en-US" sz="1650" dirty="0">
                <a:solidFill>
                  <a:srgbClr val="6E6A63"/>
                </a:solidFill>
                <a:latin typeface="Arial" pitchFamily="34" charset="0"/>
                <a:ea typeface="Arial" pitchFamily="34" charset="-122"/>
                <a:cs typeface="Arial" pitchFamily="34" charset="-120"/>
              </a:rPr>
              <a:t>Which questions does each prompt answer that the other misses?</a:t>
            </a:r>
            <a:endParaRPr lang="en-US" sz="16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4F0EA"/>
        </a:solidFill>
      </p:bgPr>
    </p:bg>
    <p:spTree>
      <p:nvGrpSpPr>
        <p:cNvPr id="1" name=""/>
        <p:cNvGrpSpPr/>
        <p:nvPr/>
      </p:nvGrpSpPr>
      <p:grpSpPr>
        <a:xfrm>
          <a:off x="0" y="0"/>
          <a:ext cx="0" cy="0"/>
          <a:chOff x="0" y="0"/>
          <a:chExt cx="0" cy="0"/>
        </a:xfrm>
      </p:grpSpPr>
      <p:sp>
        <p:nvSpPr>
          <p:cNvPr id="2" name="Text 0"/>
          <p:cNvSpPr/>
          <p:nvPr/>
        </p:nvSpPr>
        <p:spPr>
          <a:xfrm>
            <a:off x="786384" y="402336"/>
            <a:ext cx="3657600" cy="237744"/>
          </a:xfrm>
          <a:prstGeom prst="rect">
            <a:avLst/>
          </a:prstGeom>
          <a:noFill/>
          <a:ln/>
        </p:spPr>
        <p:txBody>
          <a:bodyPr wrap="square" lIns="0" tIns="0" rIns="0" bIns="0" rtlCol="0" anchor="ctr"/>
          <a:lstStyle/>
          <a:p>
            <a:pPr indent="0" marL="0">
              <a:buNone/>
            </a:pPr>
            <a:r>
              <a:rPr lang="en-US" sz="950" b="1" spc="240" kern="0" dirty="0">
                <a:solidFill>
                  <a:srgbClr val="C0402A"/>
                </a:solidFill>
                <a:latin typeface="Arial" pitchFamily="34" charset="0"/>
                <a:ea typeface="Arial" pitchFamily="34" charset="-122"/>
                <a:cs typeface="Arial" pitchFamily="34" charset="-120"/>
              </a:rPr>
              <a:t>FROM EXPERIENCE</a:t>
            </a:r>
            <a:endParaRPr lang="en-US" sz="950" dirty="0"/>
          </a:p>
        </p:txBody>
      </p:sp>
      <p:sp>
        <p:nvSpPr>
          <p:cNvPr id="3" name="Shape 1"/>
          <p:cNvSpPr/>
          <p:nvPr/>
        </p:nvSpPr>
        <p:spPr>
          <a:xfrm>
            <a:off x="0" y="0"/>
            <a:ext cx="128016" cy="6858000"/>
          </a:xfrm>
          <a:prstGeom prst="rect">
            <a:avLst/>
          </a:prstGeom>
          <a:solidFill>
            <a:srgbClr val="C0402A"/>
          </a:solidFill>
          <a:ln/>
        </p:spPr>
      </p:sp>
      <p:sp>
        <p:nvSpPr>
          <p:cNvPr id="4" name="Text 2"/>
          <p:cNvSpPr/>
          <p:nvPr/>
        </p:nvSpPr>
        <p:spPr>
          <a:xfrm>
            <a:off x="786384" y="713232"/>
            <a:ext cx="7923047" cy="676656"/>
          </a:xfrm>
          <a:prstGeom prst="rect">
            <a:avLst/>
          </a:prstGeom>
          <a:noFill/>
          <a:ln/>
        </p:spPr>
        <p:txBody>
          <a:bodyPr wrap="square" lIns="0" tIns="0" rIns="0" bIns="0" rtlCol="0" anchor="ctr"/>
          <a:lstStyle/>
          <a:p>
            <a:pPr indent="0" marL="0">
              <a:buNone/>
            </a:pPr>
            <a:r>
              <a:rPr lang="en-US" sz="2900" b="1" dirty="0">
                <a:solidFill>
                  <a:srgbClr val="141414"/>
                </a:solidFill>
                <a:latin typeface="Arial" pitchFamily="34" charset="0"/>
                <a:ea typeface="Arial" pitchFamily="34" charset="-122"/>
                <a:cs typeface="Arial" pitchFamily="34" charset="-120"/>
              </a:rPr>
              <a:t>Two Prompts, One Image</a:t>
            </a:r>
            <a:endParaRPr lang="en-US" sz="2900" dirty="0"/>
          </a:p>
        </p:txBody>
      </p:sp>
      <p:sp>
        <p:nvSpPr>
          <p:cNvPr id="5" name="Shape 3"/>
          <p:cNvSpPr/>
          <p:nvPr/>
        </p:nvSpPr>
        <p:spPr>
          <a:xfrm>
            <a:off x="10801807" y="877824"/>
            <a:ext cx="585216" cy="292608"/>
          </a:xfrm>
          <a:prstGeom prst="rect">
            <a:avLst/>
          </a:prstGeom>
          <a:solidFill>
            <a:srgbClr val="FAF8F5"/>
          </a:solidFill>
          <a:ln w="9525">
            <a:solidFill>
              <a:srgbClr val="D5D1CA"/>
            </a:solidFill>
            <a:prstDash val="solid"/>
          </a:ln>
        </p:spPr>
      </p:sp>
      <p:sp>
        <p:nvSpPr>
          <p:cNvPr id="6" name="Text 4"/>
          <p:cNvSpPr/>
          <p:nvPr/>
        </p:nvSpPr>
        <p:spPr>
          <a:xfrm>
            <a:off x="10801807" y="877824"/>
            <a:ext cx="585216" cy="292608"/>
          </a:xfrm>
          <a:prstGeom prst="rect">
            <a:avLst/>
          </a:prstGeom>
          <a:noFill/>
          <a:ln/>
        </p:spPr>
        <p:txBody>
          <a:bodyPr wrap="square" lIns="0" tIns="0" rIns="0" bIns="0" rtlCol="0" anchor="ctr"/>
          <a:lstStyle/>
          <a:p>
            <a:pPr algn="ctr" indent="0" marL="0">
              <a:buNone/>
            </a:pPr>
            <a:r>
              <a:rPr lang="en-US" sz="1100" b="1" spc="60" kern="0" dirty="0">
                <a:solidFill>
                  <a:srgbClr val="4A4741"/>
                </a:solidFill>
                <a:latin typeface="Arial" pitchFamily="34" charset="0"/>
                <a:ea typeface="Arial" pitchFamily="34" charset="-122"/>
                <a:cs typeface="Arial" pitchFamily="34" charset="-120"/>
              </a:rPr>
              <a:t>LV3</a:t>
            </a:r>
            <a:endParaRPr lang="en-US" sz="1100" dirty="0"/>
          </a:p>
        </p:txBody>
      </p:sp>
      <p:sp>
        <p:nvSpPr>
          <p:cNvPr id="7" name="Shape 5"/>
          <p:cNvSpPr/>
          <p:nvPr/>
        </p:nvSpPr>
        <p:spPr>
          <a:xfrm>
            <a:off x="786384" y="1426464"/>
            <a:ext cx="10618927" cy="10973"/>
          </a:xfrm>
          <a:prstGeom prst="rect">
            <a:avLst/>
          </a:prstGeom>
          <a:solidFill>
            <a:srgbClr val="D5D1CA"/>
          </a:solidFill>
          <a:ln/>
        </p:spPr>
      </p:sp>
      <p:sp>
        <p:nvSpPr>
          <p:cNvPr id="8" name="Text 6"/>
          <p:cNvSpPr/>
          <p:nvPr/>
        </p:nvSpPr>
        <p:spPr>
          <a:xfrm>
            <a:off x="786384" y="1554480"/>
            <a:ext cx="8821674" cy="694944"/>
          </a:xfrm>
          <a:prstGeom prst="rect">
            <a:avLst/>
          </a:prstGeom>
          <a:noFill/>
          <a:ln/>
        </p:spPr>
        <p:txBody>
          <a:bodyPr wrap="square" lIns="0" tIns="0" rIns="0" bIns="0" rtlCol="0" anchor="ctr"/>
          <a:lstStyle/>
          <a:p>
            <a:pPr indent="0" marL="0">
              <a:lnSpc>
                <a:spcPts val="2200"/>
              </a:lnSpc>
              <a:buNone/>
            </a:pPr>
            <a:r>
              <a:rPr lang="en-US" sz="1750" dirty="0">
                <a:solidFill>
                  <a:srgbClr val="6E6A63"/>
                </a:solidFill>
                <a:latin typeface="Arial" pitchFamily="34" charset="0"/>
                <a:ea typeface="Arial" pitchFamily="34" charset="-122"/>
                <a:cs typeface="Arial" pitchFamily="34" charset="-120"/>
              </a:rPr>
              <a:t>One pair of prompts run over one photograph. Not a benchmark, just what we saw when we tried it.</a:t>
            </a:r>
            <a:endParaRPr lang="en-US" sz="1750" dirty="0"/>
          </a:p>
        </p:txBody>
      </p:sp>
      <p:sp>
        <p:nvSpPr>
          <p:cNvPr id="9" name="Text 7"/>
          <p:cNvSpPr/>
          <p:nvPr/>
        </p:nvSpPr>
        <p:spPr>
          <a:xfrm>
            <a:off x="10490911" y="6309360"/>
            <a:ext cx="914400" cy="274320"/>
          </a:xfrm>
          <a:prstGeom prst="rect">
            <a:avLst/>
          </a:prstGeom>
          <a:noFill/>
          <a:ln/>
        </p:spPr>
        <p:txBody>
          <a:bodyPr wrap="square" lIns="0" tIns="0" rIns="0" bIns="0" rtlCol="0" anchor="ctr"/>
          <a:lstStyle/>
          <a:p>
            <a:pPr algn="r" indent="0" marL="0">
              <a:buNone/>
            </a:pPr>
            <a:r>
              <a:rPr lang="en-US" sz="1200" dirty="0">
                <a:solidFill>
                  <a:srgbClr val="9C978E"/>
                </a:solidFill>
                <a:latin typeface="Arial" pitchFamily="34" charset="0"/>
                <a:ea typeface="Arial" pitchFamily="34" charset="-122"/>
                <a:cs typeface="Arial" pitchFamily="34" charset="-120"/>
              </a:rPr>
              <a:t>14</a:t>
            </a:r>
            <a:endParaRPr lang="en-US" sz="1200" dirty="0"/>
          </a:p>
        </p:txBody>
      </p:sp>
      <p:sp>
        <p:nvSpPr>
          <p:cNvPr id="10" name="Shape 8"/>
          <p:cNvSpPr/>
          <p:nvPr/>
        </p:nvSpPr>
        <p:spPr>
          <a:xfrm>
            <a:off x="786384" y="2338487"/>
            <a:ext cx="10618927" cy="1765432"/>
          </a:xfrm>
          <a:prstGeom prst="rect">
            <a:avLst/>
          </a:prstGeom>
          <a:solidFill>
            <a:srgbClr val="F2EFEA"/>
          </a:solidFill>
          <a:ln/>
        </p:spPr>
      </p:sp>
      <p:sp>
        <p:nvSpPr>
          <p:cNvPr id="11" name="Shape 9"/>
          <p:cNvSpPr/>
          <p:nvPr/>
        </p:nvSpPr>
        <p:spPr>
          <a:xfrm>
            <a:off x="786384" y="2338487"/>
            <a:ext cx="27432" cy="1765432"/>
          </a:xfrm>
          <a:prstGeom prst="rect">
            <a:avLst/>
          </a:prstGeom>
          <a:solidFill>
            <a:srgbClr val="C0402A"/>
          </a:solidFill>
          <a:ln/>
        </p:spPr>
      </p:sp>
      <p:sp>
        <p:nvSpPr>
          <p:cNvPr id="12" name="Text 10"/>
          <p:cNvSpPr/>
          <p:nvPr/>
        </p:nvSpPr>
        <p:spPr>
          <a:xfrm>
            <a:off x="1042416" y="2464308"/>
            <a:ext cx="10180015" cy="1513789"/>
          </a:xfrm>
          <a:prstGeom prst="rect">
            <a:avLst/>
          </a:prstGeom>
          <a:noFill/>
          <a:ln/>
        </p:spPr>
        <p:txBody>
          <a:bodyPr wrap="square" lIns="0" tIns="0" rIns="0" bIns="0" rtlCol="0" anchor="t"/>
          <a:lstStyle/>
          <a:p>
            <a:pPr indent="0" marL="0">
              <a:lnSpc>
                <a:spcPts val="1462"/>
              </a:lnSpc>
              <a:buNone/>
            </a:pPr>
            <a:r>
              <a:rPr lang="en-US" sz="946" dirty="0">
                <a:solidFill>
                  <a:srgbClr val="2A2724"/>
                </a:solidFill>
                <a:latin typeface="Courier New" pitchFamily="34" charset="0"/>
                <a:ea typeface="Courier New" pitchFamily="34" charset="-122"/>
                <a:cs typeface="Courier New" pitchFamily="34" charset="-120"/>
              </a:rPr>
              <a:t>PROMPT A                     PROMPT B</a:t>
            </a:r>
            <a:endParaRPr lang="en-US" sz="946" dirty="0"/>
          </a:p>
          <a:p>
            <a:pPr indent="0" marL="0">
              <a:lnSpc>
                <a:spcPts val="1462"/>
              </a:lnSpc>
              <a:buNone/>
            </a:pPr>
            <a:endParaRPr lang="en-US" sz="946" dirty="0"/>
          </a:p>
          <a:p>
            <a:pPr indent="0" marL="0">
              <a:lnSpc>
                <a:spcPts val="1462"/>
              </a:lnSpc>
              <a:buNone/>
            </a:pPr>
            <a:r>
              <a:rPr lang="en-US" sz="946" dirty="0">
                <a:solidFill>
                  <a:srgbClr val="2A2724"/>
                </a:solidFill>
                <a:latin typeface="Courier New" pitchFamily="34" charset="0"/>
                <a:ea typeface="Courier New" pitchFamily="34" charset="-122"/>
                <a:cs typeface="Courier New" pitchFamily="34" charset="-120"/>
              </a:rPr>
              <a:t>"Describe this image."       "List: the room name on any sign,</a:t>
            </a:r>
            <a:endParaRPr lang="en-US" sz="946" dirty="0"/>
          </a:p>
          <a:p>
            <a:pPr indent="0" marL="0">
              <a:lnSpc>
                <a:spcPts val="1462"/>
              </a:lnSpc>
              <a:buNone/>
            </a:pPr>
            <a:r>
              <a:rPr lang="en-US" sz="946" dirty="0">
                <a:solidFill>
                  <a:srgbClr val="2A2724"/>
                </a:solidFill>
                <a:latin typeface="Courier New" pitchFamily="34" charset="0"/>
                <a:ea typeface="Courier New" pitchFamily="34" charset="-122"/>
                <a:cs typeface="Courier New" pitchFamily="34" charset="-120"/>
              </a:rPr>
              <a:t>                              every object with a count, all visible</a:t>
            </a:r>
            <a:endParaRPr lang="en-US" sz="946" dirty="0"/>
          </a:p>
          <a:p>
            <a:pPr indent="0" marL="0">
              <a:lnSpc>
                <a:spcPts val="1462"/>
              </a:lnSpc>
              <a:buNone/>
            </a:pPr>
            <a:r>
              <a:rPr lang="en-US" sz="946" dirty="0">
                <a:solidFill>
                  <a:srgbClr val="2A2724"/>
                </a:solidFill>
                <a:latin typeface="Courier New" pitchFamily="34" charset="0"/>
                <a:ea typeface="Courier New" pitchFamily="34" charset="-122"/>
                <a:cs typeface="Courier New" pitchFamily="34" charset="-120"/>
              </a:rPr>
              <a:t>                              text copied exactly, what faces what.</a:t>
            </a:r>
            <a:endParaRPr lang="en-US" sz="946" dirty="0"/>
          </a:p>
          <a:p>
            <a:pPr indent="0" marL="0">
              <a:lnSpc>
                <a:spcPts val="1462"/>
              </a:lnSpc>
              <a:buNone/>
            </a:pPr>
            <a:r>
              <a:rPr lang="en-US" sz="946" dirty="0">
                <a:solidFill>
                  <a:srgbClr val="2A2724"/>
                </a:solidFill>
                <a:latin typeface="Courier New" pitchFamily="34" charset="0"/>
                <a:ea typeface="Courier New" pitchFamily="34" charset="-122"/>
                <a:cs typeface="Courier New" pitchFamily="34" charset="-120"/>
              </a:rPr>
              <a:t>                              Write [unreadable] for text you cannot</a:t>
            </a:r>
            <a:endParaRPr lang="en-US" sz="946" dirty="0"/>
          </a:p>
          <a:p>
            <a:pPr indent="0" marL="0">
              <a:lnSpc>
                <a:spcPts val="1462"/>
              </a:lnSpc>
              <a:buNone/>
            </a:pPr>
            <a:r>
              <a:rPr lang="en-US" sz="946" dirty="0">
                <a:solidFill>
                  <a:srgbClr val="2A2724"/>
                </a:solidFill>
                <a:latin typeface="Courier New" pitchFamily="34" charset="0"/>
                <a:ea typeface="Courier New" pitchFamily="34" charset="-122"/>
                <a:cs typeface="Courier New" pitchFamily="34" charset="-120"/>
              </a:rPr>
              <a:t>                              make out. Do not summarise."</a:t>
            </a:r>
            <a:endParaRPr lang="en-US" sz="946" dirty="0"/>
          </a:p>
        </p:txBody>
      </p:sp>
      <p:sp>
        <p:nvSpPr>
          <p:cNvPr id="13" name="Shape 11"/>
          <p:cNvSpPr/>
          <p:nvPr/>
        </p:nvSpPr>
        <p:spPr>
          <a:xfrm>
            <a:off x="786384" y="4261195"/>
            <a:ext cx="5227168" cy="14155"/>
          </a:xfrm>
          <a:prstGeom prst="rect">
            <a:avLst/>
          </a:prstGeom>
          <a:solidFill>
            <a:srgbClr val="D5D1CA"/>
          </a:solidFill>
          <a:ln/>
        </p:spPr>
      </p:sp>
      <p:sp>
        <p:nvSpPr>
          <p:cNvPr id="14" name="Text 12"/>
          <p:cNvSpPr/>
          <p:nvPr/>
        </p:nvSpPr>
        <p:spPr>
          <a:xfrm>
            <a:off x="786384" y="4387017"/>
            <a:ext cx="5227168" cy="295986"/>
          </a:xfrm>
          <a:prstGeom prst="rect">
            <a:avLst/>
          </a:prstGeom>
          <a:noFill/>
          <a:ln/>
        </p:spPr>
        <p:txBody>
          <a:bodyPr wrap="square" lIns="0" tIns="0" rIns="0" bIns="0" rtlCol="0" anchor="ctr"/>
          <a:lstStyle/>
          <a:p>
            <a:pPr indent="0" marL="0">
              <a:lnSpc>
                <a:spcPts val="2021"/>
              </a:lnSpc>
              <a:buNone/>
            </a:pPr>
            <a:r>
              <a:rPr lang="en-US" sz="1677" b="1" dirty="0">
                <a:solidFill>
                  <a:srgbClr val="6E6A63"/>
                </a:solidFill>
                <a:latin typeface="Arial" pitchFamily="34" charset="0"/>
                <a:ea typeface="Arial" pitchFamily="34" charset="-122"/>
                <a:cs typeface="Arial" pitchFamily="34" charset="-120"/>
              </a:rPr>
              <a:t>Output A</a:t>
            </a:r>
            <a:endParaRPr lang="en-US" sz="1677" dirty="0"/>
          </a:p>
        </p:txBody>
      </p:sp>
      <p:sp>
        <p:nvSpPr>
          <p:cNvPr id="15" name="Text 13"/>
          <p:cNvSpPr/>
          <p:nvPr/>
        </p:nvSpPr>
        <p:spPr>
          <a:xfrm>
            <a:off x="786384" y="4745914"/>
            <a:ext cx="5227168" cy="1186129"/>
          </a:xfrm>
          <a:prstGeom prst="rect">
            <a:avLst/>
          </a:prstGeom>
          <a:noFill/>
          <a:ln/>
        </p:spPr>
        <p:txBody>
          <a:bodyPr wrap="square" lIns="0" tIns="0" rIns="0" bIns="0" rtlCol="0" anchor="t"/>
          <a:lstStyle/>
          <a:p>
            <a:pPr indent="0" marL="0">
              <a:lnSpc>
                <a:spcPts val="1806"/>
              </a:lnSpc>
              <a:buNone/>
            </a:pPr>
            <a:r>
              <a:rPr lang="en-US" sz="1204" dirty="0">
                <a:solidFill>
                  <a:srgbClr val="6E6A63"/>
                </a:solidFill>
                <a:latin typeface="Arial" pitchFamily="34" charset="0"/>
                <a:ea typeface="Arial" pitchFamily="34" charset="-122"/>
                <a:cs typeface="Arial" pitchFamily="34" charset="-120"/>
              </a:rPr>
              <a:t>"A modern workshop space with several 3D printers and students collaborating at a large table."</a:t>
            </a:r>
            <a:endParaRPr lang="en-US" sz="1204" dirty="0"/>
          </a:p>
          <a:p>
            <a:pPr indent="0" marL="0">
              <a:lnSpc>
                <a:spcPts val="1806"/>
              </a:lnSpc>
              <a:buNone/>
            </a:pPr>
            <a:endParaRPr lang="en-US" sz="1204" dirty="0"/>
          </a:p>
          <a:p>
            <a:pPr indent="0" marL="0">
              <a:lnSpc>
                <a:spcPts val="1806"/>
              </a:lnSpc>
              <a:buNone/>
            </a:pPr>
            <a:r>
              <a:rPr lang="en-US" sz="1204" dirty="0">
                <a:solidFill>
                  <a:srgbClr val="6E6A63"/>
                </a:solidFill>
                <a:latin typeface="Arial" pitchFamily="34" charset="0"/>
                <a:ea typeface="Arial" pitchFamily="34" charset="-122"/>
                <a:cs typeface="Arial" pitchFamily="34" charset="-120"/>
              </a:rPr>
              <a:t>None of our three test questions could be answered from this.</a:t>
            </a:r>
            <a:endParaRPr lang="en-US" sz="1204" dirty="0"/>
          </a:p>
        </p:txBody>
      </p:sp>
      <p:sp>
        <p:nvSpPr>
          <p:cNvPr id="16" name="Shape 14"/>
          <p:cNvSpPr/>
          <p:nvPr/>
        </p:nvSpPr>
        <p:spPr>
          <a:xfrm>
            <a:off x="6178144" y="4261195"/>
            <a:ext cx="5227168" cy="1969673"/>
          </a:xfrm>
          <a:prstGeom prst="rect">
            <a:avLst/>
          </a:prstGeom>
          <a:solidFill>
            <a:srgbClr val="F7E6E0"/>
          </a:solidFill>
          <a:ln/>
        </p:spPr>
      </p:sp>
      <p:sp>
        <p:nvSpPr>
          <p:cNvPr id="17" name="Shape 15"/>
          <p:cNvSpPr/>
          <p:nvPr/>
        </p:nvSpPr>
        <p:spPr>
          <a:xfrm>
            <a:off x="6415888" y="4449928"/>
            <a:ext cx="4751680" cy="18873"/>
          </a:xfrm>
          <a:prstGeom prst="rect">
            <a:avLst/>
          </a:prstGeom>
          <a:solidFill>
            <a:srgbClr val="C0402A"/>
          </a:solidFill>
          <a:ln/>
        </p:spPr>
      </p:sp>
      <p:sp>
        <p:nvSpPr>
          <p:cNvPr id="18" name="Text 16"/>
          <p:cNvSpPr/>
          <p:nvPr/>
        </p:nvSpPr>
        <p:spPr>
          <a:xfrm>
            <a:off x="6415888" y="4575749"/>
            <a:ext cx="4751680" cy="295986"/>
          </a:xfrm>
          <a:prstGeom prst="rect">
            <a:avLst/>
          </a:prstGeom>
          <a:noFill/>
          <a:ln/>
        </p:spPr>
        <p:txBody>
          <a:bodyPr wrap="square" lIns="0" tIns="0" rIns="0" bIns="0" rtlCol="0" anchor="ctr"/>
          <a:lstStyle/>
          <a:p>
            <a:pPr indent="0" marL="0">
              <a:lnSpc>
                <a:spcPts val="2021"/>
              </a:lnSpc>
              <a:buNone/>
            </a:pPr>
            <a:r>
              <a:rPr lang="en-US" sz="1677" b="1" dirty="0">
                <a:solidFill>
                  <a:srgbClr val="141414"/>
                </a:solidFill>
                <a:latin typeface="Arial" pitchFamily="34" charset="0"/>
                <a:ea typeface="Arial" pitchFamily="34" charset="-122"/>
                <a:cs typeface="Arial" pitchFamily="34" charset="-120"/>
              </a:rPr>
              <a:t>Output B</a:t>
            </a:r>
            <a:endParaRPr lang="en-US" sz="1677" dirty="0"/>
          </a:p>
        </p:txBody>
      </p:sp>
      <p:sp>
        <p:nvSpPr>
          <p:cNvPr id="19" name="Text 17"/>
          <p:cNvSpPr/>
          <p:nvPr/>
        </p:nvSpPr>
        <p:spPr>
          <a:xfrm>
            <a:off x="6415888" y="4934646"/>
            <a:ext cx="4751680" cy="1186129"/>
          </a:xfrm>
          <a:prstGeom prst="rect">
            <a:avLst/>
          </a:prstGeom>
          <a:noFill/>
          <a:ln/>
        </p:spPr>
        <p:txBody>
          <a:bodyPr wrap="square" lIns="0" tIns="0" rIns="0" bIns="0" rtlCol="0" anchor="t"/>
          <a:lstStyle/>
          <a:p>
            <a:pPr indent="0" marL="0">
              <a:lnSpc>
                <a:spcPts val="1806"/>
              </a:lnSpc>
              <a:buNone/>
            </a:pPr>
            <a:r>
              <a:rPr lang="en-US" sz="1204" dirty="0">
                <a:solidFill>
                  <a:srgbClr val="141414"/>
                </a:solidFill>
                <a:latin typeface="Arial" pitchFamily="34" charset="0"/>
                <a:ea typeface="Arial" pitchFamily="34" charset="-122"/>
                <a:cs typeface="Arial" pitchFamily="34" charset="-120"/>
              </a:rPr>
              <a:t>"Makerspace A. Four 3D printers, eleven chairs, two workbenches. Sign above door: MAKERSPACE A. Wall text: HKU ENGINEERING INNOVATION."</a:t>
            </a:r>
            <a:endParaRPr lang="en-US" sz="1204" dirty="0"/>
          </a:p>
          <a:p>
            <a:pPr indent="0" marL="0">
              <a:lnSpc>
                <a:spcPts val="1806"/>
              </a:lnSpc>
              <a:buNone/>
            </a:pPr>
            <a:endParaRPr lang="en-US" sz="1204" dirty="0"/>
          </a:p>
          <a:p>
            <a:pPr indent="0" marL="0">
              <a:lnSpc>
                <a:spcPts val="1806"/>
              </a:lnSpc>
              <a:buNone/>
            </a:pPr>
            <a:r>
              <a:rPr lang="en-US" sz="1204" dirty="0">
                <a:solidFill>
                  <a:srgbClr val="141414"/>
                </a:solidFill>
                <a:latin typeface="Arial" pitchFamily="34" charset="0"/>
                <a:ea typeface="Arial" pitchFamily="34" charset="-122"/>
                <a:cs typeface="Arial" pitchFamily="34" charset="-120"/>
              </a:rPr>
              <a:t>All three became answerable.</a:t>
            </a:r>
            <a:endParaRPr lang="en-US" sz="1204" dirty="0"/>
          </a:p>
        </p:txBody>
      </p:sp>
      <p:sp>
        <p:nvSpPr>
          <p:cNvPr id="20" name="Text 18"/>
          <p:cNvSpPr/>
          <p:nvPr/>
        </p:nvSpPr>
        <p:spPr>
          <a:xfrm>
            <a:off x="786384" y="6069879"/>
            <a:ext cx="8821674" cy="613380"/>
          </a:xfrm>
          <a:prstGeom prst="rect">
            <a:avLst/>
          </a:prstGeom>
          <a:noFill/>
          <a:ln/>
        </p:spPr>
        <p:txBody>
          <a:bodyPr wrap="square" lIns="0" tIns="0" rIns="0" bIns="0" rtlCol="0" anchor="ctr"/>
          <a:lstStyle/>
          <a:p>
            <a:pPr indent="0" marL="0">
              <a:lnSpc>
                <a:spcPts val="1892"/>
              </a:lnSpc>
              <a:buNone/>
            </a:pPr>
            <a:r>
              <a:rPr lang="en-US" sz="1290" dirty="0">
                <a:solidFill>
                  <a:srgbClr val="141414"/>
                </a:solidFill>
                <a:latin typeface="Arial" pitchFamily="34" charset="0"/>
                <a:ea typeface="Arial" pitchFamily="34" charset="-122"/>
                <a:cs typeface="Arial" pitchFamily="34" charset="-120"/>
              </a:rPr>
              <a:t>Same model, same image, same cost. The only thing that changed was the instruction. Your images and questions will differ, so treat this as a starting point rather than a target.</a:t>
            </a:r>
            <a:endParaRPr lang="en-US" sz="129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4F0EA"/>
        </a:solidFill>
      </p:bgPr>
    </p:bg>
    <p:spTree>
      <p:nvGrpSpPr>
        <p:cNvPr id="1" name=""/>
        <p:cNvGrpSpPr/>
        <p:nvPr/>
      </p:nvGrpSpPr>
      <p:grpSpPr>
        <a:xfrm>
          <a:off x="0" y="0"/>
          <a:ext cx="0" cy="0"/>
          <a:chOff x="0" y="0"/>
          <a:chExt cx="0" cy="0"/>
        </a:xfrm>
      </p:grpSpPr>
      <p:sp>
        <p:nvSpPr>
          <p:cNvPr id="2" name="Text 0"/>
          <p:cNvSpPr/>
          <p:nvPr/>
        </p:nvSpPr>
        <p:spPr>
          <a:xfrm>
            <a:off x="786384" y="402336"/>
            <a:ext cx="3657600" cy="237744"/>
          </a:xfrm>
          <a:prstGeom prst="rect">
            <a:avLst/>
          </a:prstGeom>
          <a:noFill/>
          <a:ln/>
        </p:spPr>
        <p:txBody>
          <a:bodyPr wrap="square" lIns="0" tIns="0" rIns="0" bIns="0" rtlCol="0" anchor="ctr"/>
          <a:lstStyle/>
          <a:p>
            <a:pPr indent="0" marL="0">
              <a:buNone/>
            </a:pPr>
            <a:r>
              <a:rPr lang="en-US" sz="950" b="1" spc="240" kern="0" dirty="0">
                <a:solidFill>
                  <a:srgbClr val="C0402A"/>
                </a:solidFill>
                <a:latin typeface="Arial" pitchFamily="34" charset="0"/>
                <a:ea typeface="Arial" pitchFamily="34" charset="-122"/>
                <a:cs typeface="Arial" pitchFamily="34" charset="-120"/>
              </a:rPr>
              <a:t>FROM EXPERIENCE</a:t>
            </a:r>
            <a:endParaRPr lang="en-US" sz="950" dirty="0"/>
          </a:p>
        </p:txBody>
      </p:sp>
      <p:sp>
        <p:nvSpPr>
          <p:cNvPr id="3" name="Shape 1"/>
          <p:cNvSpPr/>
          <p:nvPr/>
        </p:nvSpPr>
        <p:spPr>
          <a:xfrm>
            <a:off x="0" y="0"/>
            <a:ext cx="128016" cy="6858000"/>
          </a:xfrm>
          <a:prstGeom prst="rect">
            <a:avLst/>
          </a:prstGeom>
          <a:solidFill>
            <a:srgbClr val="C0402A"/>
          </a:solidFill>
          <a:ln/>
        </p:spPr>
      </p:sp>
      <p:sp>
        <p:nvSpPr>
          <p:cNvPr id="4" name="Text 2"/>
          <p:cNvSpPr/>
          <p:nvPr/>
        </p:nvSpPr>
        <p:spPr>
          <a:xfrm>
            <a:off x="786384" y="713232"/>
            <a:ext cx="7923047" cy="676656"/>
          </a:xfrm>
          <a:prstGeom prst="rect">
            <a:avLst/>
          </a:prstGeom>
          <a:noFill/>
          <a:ln/>
        </p:spPr>
        <p:txBody>
          <a:bodyPr wrap="square" lIns="0" tIns="0" rIns="0" bIns="0" rtlCol="0" anchor="ctr"/>
          <a:lstStyle/>
          <a:p>
            <a:pPr indent="0" marL="0">
              <a:buNone/>
            </a:pPr>
            <a:r>
              <a:rPr lang="en-US" sz="2900" b="1" dirty="0">
                <a:solidFill>
                  <a:srgbClr val="141414"/>
                </a:solidFill>
                <a:latin typeface="Arial" pitchFamily="34" charset="0"/>
                <a:ea typeface="Arial" pitchFamily="34" charset="-122"/>
                <a:cs typeface="Arial" pitchFamily="34" charset="-120"/>
              </a:rPr>
              <a:t>Tips From Last Year</a:t>
            </a:r>
            <a:endParaRPr lang="en-US" sz="2900" dirty="0"/>
          </a:p>
        </p:txBody>
      </p:sp>
      <p:sp>
        <p:nvSpPr>
          <p:cNvPr id="5" name="Shape 3"/>
          <p:cNvSpPr/>
          <p:nvPr/>
        </p:nvSpPr>
        <p:spPr>
          <a:xfrm>
            <a:off x="10801807" y="877824"/>
            <a:ext cx="585216" cy="292608"/>
          </a:xfrm>
          <a:prstGeom prst="rect">
            <a:avLst/>
          </a:prstGeom>
          <a:solidFill>
            <a:srgbClr val="FAF8F5"/>
          </a:solidFill>
          <a:ln w="9525">
            <a:solidFill>
              <a:srgbClr val="D5D1CA"/>
            </a:solidFill>
            <a:prstDash val="solid"/>
          </a:ln>
        </p:spPr>
      </p:sp>
      <p:sp>
        <p:nvSpPr>
          <p:cNvPr id="6" name="Text 4"/>
          <p:cNvSpPr/>
          <p:nvPr/>
        </p:nvSpPr>
        <p:spPr>
          <a:xfrm>
            <a:off x="10801807" y="877824"/>
            <a:ext cx="585216" cy="292608"/>
          </a:xfrm>
          <a:prstGeom prst="rect">
            <a:avLst/>
          </a:prstGeom>
          <a:noFill/>
          <a:ln/>
        </p:spPr>
        <p:txBody>
          <a:bodyPr wrap="square" lIns="0" tIns="0" rIns="0" bIns="0" rtlCol="0" anchor="ctr"/>
          <a:lstStyle/>
          <a:p>
            <a:pPr algn="ctr" indent="0" marL="0">
              <a:buNone/>
            </a:pPr>
            <a:r>
              <a:rPr lang="en-US" sz="1100" b="1" spc="60" kern="0" dirty="0">
                <a:solidFill>
                  <a:srgbClr val="4A4741"/>
                </a:solidFill>
                <a:latin typeface="Arial" pitchFamily="34" charset="0"/>
                <a:ea typeface="Arial" pitchFamily="34" charset="-122"/>
                <a:cs typeface="Arial" pitchFamily="34" charset="-120"/>
              </a:rPr>
              <a:t>LV3</a:t>
            </a:r>
            <a:endParaRPr lang="en-US" sz="1100" dirty="0"/>
          </a:p>
        </p:txBody>
      </p:sp>
      <p:sp>
        <p:nvSpPr>
          <p:cNvPr id="7" name="Shape 5"/>
          <p:cNvSpPr/>
          <p:nvPr/>
        </p:nvSpPr>
        <p:spPr>
          <a:xfrm>
            <a:off x="786384" y="1426464"/>
            <a:ext cx="10618927" cy="10973"/>
          </a:xfrm>
          <a:prstGeom prst="rect">
            <a:avLst/>
          </a:prstGeom>
          <a:solidFill>
            <a:srgbClr val="D5D1CA"/>
          </a:solidFill>
          <a:ln/>
        </p:spPr>
      </p:sp>
      <p:sp>
        <p:nvSpPr>
          <p:cNvPr id="8" name="Text 6"/>
          <p:cNvSpPr/>
          <p:nvPr/>
        </p:nvSpPr>
        <p:spPr>
          <a:xfrm>
            <a:off x="786384" y="1554480"/>
            <a:ext cx="8821674" cy="694944"/>
          </a:xfrm>
          <a:prstGeom prst="rect">
            <a:avLst/>
          </a:prstGeom>
          <a:noFill/>
          <a:ln/>
        </p:spPr>
        <p:txBody>
          <a:bodyPr wrap="square" lIns="0" tIns="0" rIns="0" bIns="0" rtlCol="0" anchor="ctr"/>
          <a:lstStyle/>
          <a:p>
            <a:pPr indent="0" marL="0">
              <a:lnSpc>
                <a:spcPts val="2200"/>
              </a:lnSpc>
              <a:buNone/>
            </a:pPr>
            <a:r>
              <a:rPr lang="en-US" sz="1750" dirty="0">
                <a:solidFill>
                  <a:srgbClr val="6E6A63"/>
                </a:solidFill>
                <a:latin typeface="Arial" pitchFamily="34" charset="0"/>
                <a:ea typeface="Arial" pitchFamily="34" charset="-122"/>
                <a:cs typeface="Arial" pitchFamily="34" charset="-120"/>
              </a:rPr>
              <a:t>Patterns we noticed, not rules. Your corpus may reward something different, which is why you compare prompts with the team next to you.</a:t>
            </a:r>
            <a:endParaRPr lang="en-US" sz="1750" dirty="0"/>
          </a:p>
        </p:txBody>
      </p:sp>
      <p:sp>
        <p:nvSpPr>
          <p:cNvPr id="9" name="Text 7"/>
          <p:cNvSpPr/>
          <p:nvPr/>
        </p:nvSpPr>
        <p:spPr>
          <a:xfrm>
            <a:off x="10490911" y="6309360"/>
            <a:ext cx="914400" cy="274320"/>
          </a:xfrm>
          <a:prstGeom prst="rect">
            <a:avLst/>
          </a:prstGeom>
          <a:noFill/>
          <a:ln/>
        </p:spPr>
        <p:txBody>
          <a:bodyPr wrap="square" lIns="0" tIns="0" rIns="0" bIns="0" rtlCol="0" anchor="ctr"/>
          <a:lstStyle/>
          <a:p>
            <a:pPr algn="r" indent="0" marL="0">
              <a:buNone/>
            </a:pPr>
            <a:r>
              <a:rPr lang="en-US" sz="1200" dirty="0">
                <a:solidFill>
                  <a:srgbClr val="9C978E"/>
                </a:solidFill>
                <a:latin typeface="Arial" pitchFamily="34" charset="0"/>
                <a:ea typeface="Arial" pitchFamily="34" charset="-122"/>
                <a:cs typeface="Arial" pitchFamily="34" charset="-120"/>
              </a:rPr>
              <a:t>15</a:t>
            </a:r>
            <a:endParaRPr lang="en-US" sz="1200" dirty="0"/>
          </a:p>
        </p:txBody>
      </p:sp>
      <p:sp>
        <p:nvSpPr>
          <p:cNvPr id="10" name="Shape 8"/>
          <p:cNvSpPr/>
          <p:nvPr/>
        </p:nvSpPr>
        <p:spPr>
          <a:xfrm>
            <a:off x="786384" y="2422329"/>
            <a:ext cx="5227168" cy="2309802"/>
          </a:xfrm>
          <a:prstGeom prst="rect">
            <a:avLst/>
          </a:prstGeom>
          <a:solidFill>
            <a:srgbClr val="F7E6E0"/>
          </a:solidFill>
          <a:ln/>
        </p:spPr>
      </p:sp>
      <p:sp>
        <p:nvSpPr>
          <p:cNvPr id="11" name="Shape 9"/>
          <p:cNvSpPr/>
          <p:nvPr/>
        </p:nvSpPr>
        <p:spPr>
          <a:xfrm>
            <a:off x="1024128" y="2669715"/>
            <a:ext cx="4751680" cy="24739"/>
          </a:xfrm>
          <a:prstGeom prst="rect">
            <a:avLst/>
          </a:prstGeom>
          <a:solidFill>
            <a:srgbClr val="C0402A"/>
          </a:solidFill>
          <a:ln/>
        </p:spPr>
      </p:sp>
      <p:sp>
        <p:nvSpPr>
          <p:cNvPr id="12" name="Text 10"/>
          <p:cNvSpPr/>
          <p:nvPr/>
        </p:nvSpPr>
        <p:spPr>
          <a:xfrm>
            <a:off x="1024128" y="2834640"/>
            <a:ext cx="4751680" cy="387973"/>
          </a:xfrm>
          <a:prstGeom prst="rect">
            <a:avLst/>
          </a:prstGeom>
          <a:noFill/>
          <a:ln/>
        </p:spPr>
        <p:txBody>
          <a:bodyPr wrap="square" lIns="0" tIns="0" rIns="0" bIns="0" rtlCol="0" anchor="ctr"/>
          <a:lstStyle/>
          <a:p>
            <a:pPr indent="0" marL="0">
              <a:lnSpc>
                <a:spcPts val="2350"/>
              </a:lnSpc>
              <a:buNone/>
            </a:pPr>
            <a:r>
              <a:rPr lang="en-US" sz="1950" b="1" dirty="0">
                <a:solidFill>
                  <a:srgbClr val="141414"/>
                </a:solidFill>
                <a:latin typeface="Arial" pitchFamily="34" charset="0"/>
                <a:ea typeface="Arial" pitchFamily="34" charset="-122"/>
                <a:cs typeface="Arial" pitchFamily="34" charset="-120"/>
              </a:rPr>
              <a:t>Tended to help</a:t>
            </a:r>
            <a:endParaRPr lang="en-US" sz="1950" dirty="0"/>
          </a:p>
        </p:txBody>
      </p:sp>
      <p:sp>
        <p:nvSpPr>
          <p:cNvPr id="13" name="Text 11"/>
          <p:cNvSpPr/>
          <p:nvPr/>
        </p:nvSpPr>
        <p:spPr>
          <a:xfrm>
            <a:off x="1024128" y="3305076"/>
            <a:ext cx="4751680" cy="1282746"/>
          </a:xfrm>
          <a:prstGeom prst="rect">
            <a:avLst/>
          </a:prstGeom>
          <a:noFill/>
          <a:ln/>
        </p:spPr>
        <p:txBody>
          <a:bodyPr wrap="square" lIns="0" tIns="0" rIns="0" bIns="0" rtlCol="0" anchor="t"/>
          <a:lstStyle/>
          <a:p>
            <a:pPr indent="0" marL="0">
              <a:lnSpc>
                <a:spcPts val="2150"/>
              </a:lnSpc>
              <a:buNone/>
            </a:pPr>
            <a:r>
              <a:rPr lang="en-US" sz="1450" dirty="0">
                <a:solidFill>
                  <a:srgbClr val="141414"/>
                </a:solidFill>
                <a:latin typeface="Arial" pitchFamily="34" charset="0"/>
                <a:ea typeface="Arial" pitchFamily="34" charset="-122"/>
                <a:cs typeface="Arial" pitchFamily="34" charset="-120"/>
              </a:rPr>
              <a:t>Asking for counts in so many words.</a:t>
            </a:r>
            <a:endParaRPr lang="en-US" sz="1450" dirty="0"/>
          </a:p>
          <a:p>
            <a:pPr indent="0" marL="0">
              <a:lnSpc>
                <a:spcPts val="2150"/>
              </a:lnSpc>
              <a:buNone/>
            </a:pPr>
            <a:r>
              <a:rPr lang="en-US" sz="1450" dirty="0">
                <a:solidFill>
                  <a:srgbClr val="141414"/>
                </a:solidFill>
                <a:latin typeface="Arial" pitchFamily="34" charset="0"/>
                <a:ea typeface="Arial" pitchFamily="34" charset="-122"/>
                <a:cs typeface="Arial" pitchFamily="34" charset="-120"/>
              </a:rPr>
              <a:t>Saying "copy the text exactly".</a:t>
            </a:r>
            <a:endParaRPr lang="en-US" sz="1450" dirty="0"/>
          </a:p>
          <a:p>
            <a:pPr indent="0" marL="0">
              <a:lnSpc>
                <a:spcPts val="2150"/>
              </a:lnSpc>
              <a:buNone/>
            </a:pPr>
            <a:r>
              <a:rPr lang="en-US" sz="1450" dirty="0">
                <a:solidFill>
                  <a:srgbClr val="141414"/>
                </a:solidFill>
                <a:latin typeface="Arial" pitchFamily="34" charset="0"/>
                <a:ea typeface="Arial" pitchFamily="34" charset="-122"/>
                <a:cs typeface="Arial" pitchFamily="34" charset="-120"/>
              </a:rPr>
              <a:t>Naming the room or area.</a:t>
            </a:r>
            <a:endParaRPr lang="en-US" sz="1450" dirty="0"/>
          </a:p>
          <a:p>
            <a:pPr indent="0" marL="0">
              <a:lnSpc>
                <a:spcPts val="2150"/>
              </a:lnSpc>
              <a:buNone/>
            </a:pPr>
            <a:r>
              <a:rPr lang="en-US" sz="1450" dirty="0">
                <a:solidFill>
                  <a:srgbClr val="141414"/>
                </a:solidFill>
                <a:latin typeface="Arial" pitchFamily="34" charset="0"/>
                <a:ea typeface="Arial" pitchFamily="34" charset="-122"/>
                <a:cs typeface="Arial" pitchFamily="34" charset="-120"/>
              </a:rPr>
              <a:t>Saying what to do when something is unreadable.</a:t>
            </a:r>
            <a:endParaRPr lang="en-US" sz="1450" dirty="0"/>
          </a:p>
        </p:txBody>
      </p:sp>
      <p:sp>
        <p:nvSpPr>
          <p:cNvPr id="14" name="Shape 12"/>
          <p:cNvSpPr/>
          <p:nvPr/>
        </p:nvSpPr>
        <p:spPr>
          <a:xfrm>
            <a:off x="6178144" y="2422329"/>
            <a:ext cx="5227168" cy="18554"/>
          </a:xfrm>
          <a:prstGeom prst="rect">
            <a:avLst/>
          </a:prstGeom>
          <a:solidFill>
            <a:srgbClr val="141414"/>
          </a:solidFill>
          <a:ln/>
        </p:spPr>
      </p:sp>
      <p:sp>
        <p:nvSpPr>
          <p:cNvPr id="15" name="Text 13"/>
          <p:cNvSpPr/>
          <p:nvPr/>
        </p:nvSpPr>
        <p:spPr>
          <a:xfrm>
            <a:off x="6178144" y="2587253"/>
            <a:ext cx="5227168" cy="387973"/>
          </a:xfrm>
          <a:prstGeom prst="rect">
            <a:avLst/>
          </a:prstGeom>
          <a:noFill/>
          <a:ln/>
        </p:spPr>
        <p:txBody>
          <a:bodyPr wrap="square" lIns="0" tIns="0" rIns="0" bIns="0" rtlCol="0" anchor="ctr"/>
          <a:lstStyle/>
          <a:p>
            <a:pPr indent="0" marL="0">
              <a:lnSpc>
                <a:spcPts val="2350"/>
              </a:lnSpc>
              <a:buNone/>
            </a:pPr>
            <a:r>
              <a:rPr lang="en-US" sz="1950" b="1" dirty="0">
                <a:solidFill>
                  <a:srgbClr val="141414"/>
                </a:solidFill>
                <a:latin typeface="Arial" pitchFamily="34" charset="0"/>
                <a:ea typeface="Arial" pitchFamily="34" charset="-122"/>
                <a:cs typeface="Arial" pitchFamily="34" charset="-120"/>
              </a:rPr>
              <a:t>Tended not to</a:t>
            </a:r>
            <a:endParaRPr lang="en-US" sz="1950" dirty="0"/>
          </a:p>
        </p:txBody>
      </p:sp>
      <p:sp>
        <p:nvSpPr>
          <p:cNvPr id="16" name="Text 14"/>
          <p:cNvSpPr/>
          <p:nvPr/>
        </p:nvSpPr>
        <p:spPr>
          <a:xfrm>
            <a:off x="6178144" y="3057689"/>
            <a:ext cx="5227168" cy="1282746"/>
          </a:xfrm>
          <a:prstGeom prst="rect">
            <a:avLst/>
          </a:prstGeom>
          <a:noFill/>
          <a:ln/>
        </p:spPr>
        <p:txBody>
          <a:bodyPr wrap="square" lIns="0" tIns="0" rIns="0" bIns="0" rtlCol="0" anchor="t"/>
          <a:lstStyle/>
          <a:p>
            <a:pPr indent="0" marL="0">
              <a:lnSpc>
                <a:spcPts val="2150"/>
              </a:lnSpc>
              <a:buNone/>
            </a:pPr>
            <a:r>
              <a:rPr lang="en-US" sz="1450" dirty="0">
                <a:solidFill>
                  <a:srgbClr val="141414"/>
                </a:solidFill>
                <a:latin typeface="Arial" pitchFamily="34" charset="0"/>
                <a:ea typeface="Arial" pitchFamily="34" charset="-122"/>
                <a:cs typeface="Arial" pitchFamily="34" charset="-120"/>
              </a:rPr>
              <a:t>"Describe this image."</a:t>
            </a:r>
            <a:endParaRPr lang="en-US" sz="1450" dirty="0"/>
          </a:p>
          <a:p>
            <a:pPr indent="0" marL="0">
              <a:lnSpc>
                <a:spcPts val="2150"/>
              </a:lnSpc>
              <a:buNone/>
            </a:pPr>
            <a:r>
              <a:rPr lang="en-US" sz="1450" dirty="0">
                <a:solidFill>
                  <a:srgbClr val="141414"/>
                </a:solidFill>
                <a:latin typeface="Arial" pitchFamily="34" charset="0"/>
                <a:ea typeface="Arial" pitchFamily="34" charset="-122"/>
                <a:cs typeface="Arial" pitchFamily="34" charset="-120"/>
              </a:rPr>
              <a:t>Asking for a summary or a caption.</a:t>
            </a:r>
            <a:endParaRPr lang="en-US" sz="1450" dirty="0"/>
          </a:p>
          <a:p>
            <a:pPr indent="0" marL="0">
              <a:lnSpc>
                <a:spcPts val="2150"/>
              </a:lnSpc>
              <a:buNone/>
            </a:pPr>
            <a:r>
              <a:rPr lang="en-US" sz="1450" dirty="0">
                <a:solidFill>
                  <a:srgbClr val="141414"/>
                </a:solidFill>
                <a:latin typeface="Arial" pitchFamily="34" charset="0"/>
                <a:ea typeface="Arial" pitchFamily="34" charset="-122"/>
                <a:cs typeface="Arial" pitchFamily="34" charset="-120"/>
              </a:rPr>
              <a:t>Not mentioning text at all.</a:t>
            </a:r>
            <a:endParaRPr lang="en-US" sz="1450" dirty="0"/>
          </a:p>
          <a:p>
            <a:pPr indent="0" marL="0">
              <a:lnSpc>
                <a:spcPts val="2150"/>
              </a:lnSpc>
              <a:buNone/>
            </a:pPr>
            <a:r>
              <a:rPr lang="en-US" sz="1450" dirty="0">
                <a:solidFill>
                  <a:srgbClr val="141414"/>
                </a:solidFill>
                <a:latin typeface="Arial" pitchFamily="34" charset="0"/>
                <a:ea typeface="Arial" pitchFamily="34" charset="-122"/>
                <a:cs typeface="Arial" pitchFamily="34" charset="-120"/>
              </a:rPr>
              <a:t>Leaving the model to decide what mattered.</a:t>
            </a:r>
            <a:endParaRPr lang="en-US" sz="1450" dirty="0"/>
          </a:p>
        </p:txBody>
      </p:sp>
      <p:sp>
        <p:nvSpPr>
          <p:cNvPr id="17" name="Text 15"/>
          <p:cNvSpPr/>
          <p:nvPr/>
        </p:nvSpPr>
        <p:spPr>
          <a:xfrm>
            <a:off x="786384" y="4813734"/>
            <a:ext cx="10087981" cy="721545"/>
          </a:xfrm>
          <a:prstGeom prst="rect">
            <a:avLst/>
          </a:prstGeom>
          <a:noFill/>
          <a:ln/>
        </p:spPr>
        <p:txBody>
          <a:bodyPr wrap="square" lIns="0" tIns="0" rIns="0" bIns="0" rtlCol="0" anchor="ctr"/>
          <a:lstStyle/>
          <a:p>
            <a:pPr indent="0" marL="0">
              <a:lnSpc>
                <a:spcPts val="2300"/>
              </a:lnSpc>
              <a:buNone/>
            </a:pPr>
            <a:r>
              <a:rPr lang="en-US" sz="1550" dirty="0">
                <a:solidFill>
                  <a:srgbClr val="141414"/>
                </a:solidFill>
                <a:latin typeface="Arial" pitchFamily="34" charset="0"/>
                <a:ea typeface="Arial" pitchFamily="34" charset="-122"/>
                <a:cs typeface="Arial" pitchFamily="34" charset="-120"/>
              </a:rPr>
              <a:t>The pattern underneath: the model writes about whatever you name, and skips whatever you do not. That much has held every time. The specific wording is yours to find.</a:t>
            </a:r>
            <a:endParaRPr lang="en-US" sz="1550" dirty="0"/>
          </a:p>
        </p:txBody>
      </p:sp>
      <p:sp>
        <p:nvSpPr>
          <p:cNvPr id="18" name="Text 16"/>
          <p:cNvSpPr/>
          <p:nvPr/>
        </p:nvSpPr>
        <p:spPr>
          <a:xfrm>
            <a:off x="786384" y="5617741"/>
            <a:ext cx="10087981" cy="618467"/>
          </a:xfrm>
          <a:prstGeom prst="rect">
            <a:avLst/>
          </a:prstGeom>
          <a:noFill/>
          <a:ln/>
        </p:spPr>
        <p:txBody>
          <a:bodyPr wrap="square" lIns="0" tIns="0" rIns="0" bIns="0" rtlCol="0" anchor="ctr"/>
          <a:lstStyle/>
          <a:p>
            <a:pPr indent="0" marL="0">
              <a:lnSpc>
                <a:spcPts val="2200"/>
              </a:lnSpc>
              <a:buNone/>
            </a:pPr>
            <a:r>
              <a:rPr lang="en-US" sz="1500" dirty="0">
                <a:solidFill>
                  <a:srgbClr val="6E6A63"/>
                </a:solidFill>
                <a:latin typeface="Arial" pitchFamily="34" charset="0"/>
                <a:ea typeface="Arial" pitchFamily="34" charset="-122"/>
                <a:cs typeface="Arial" pitchFamily="34" charset="-120"/>
              </a:rPr>
              <a:t>Swap prompts with the team next to you and run theirs on your five images. Which questions does each one answer that the other misses?</a:t>
            </a:r>
            <a:endParaRPr lang="en-US" sz="15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AF8F5"/>
        </a:solidFill>
      </p:bgPr>
    </p:bg>
    <p:spTree>
      <p:nvGrpSpPr>
        <p:cNvPr id="1" name=""/>
        <p:cNvGrpSpPr/>
        <p:nvPr/>
      </p:nvGrpSpPr>
      <p:grpSpPr>
        <a:xfrm>
          <a:off x="0" y="0"/>
          <a:ext cx="0" cy="0"/>
          <a:chOff x="0" y="0"/>
          <a:chExt cx="0" cy="0"/>
        </a:xfrm>
      </p:grpSpPr>
      <p:sp>
        <p:nvSpPr>
          <p:cNvPr id="2" name="Text 0"/>
          <p:cNvSpPr/>
          <p:nvPr/>
        </p:nvSpPr>
        <p:spPr>
          <a:xfrm>
            <a:off x="786384" y="402336"/>
            <a:ext cx="3657600" cy="237744"/>
          </a:xfrm>
          <a:prstGeom prst="rect">
            <a:avLst/>
          </a:prstGeom>
          <a:noFill/>
          <a:ln/>
        </p:spPr>
        <p:txBody>
          <a:bodyPr wrap="square" lIns="0" tIns="0" rIns="0" bIns="0" rtlCol="0" anchor="ctr"/>
          <a:lstStyle/>
          <a:p>
            <a:pPr indent="0" marL="0">
              <a:buNone/>
            </a:pPr>
            <a:r>
              <a:rPr lang="en-US" sz="950" b="1" spc="240" kern="0" dirty="0">
                <a:solidFill>
                  <a:srgbClr val="9C978E"/>
                </a:solidFill>
                <a:latin typeface="Arial" pitchFamily="34" charset="0"/>
                <a:ea typeface="Arial" pitchFamily="34" charset="-122"/>
                <a:cs typeface="Arial" pitchFamily="34" charset="-120"/>
              </a:rPr>
              <a:t>THEORY</a:t>
            </a:r>
            <a:endParaRPr lang="en-US" sz="950" dirty="0"/>
          </a:p>
        </p:txBody>
      </p:sp>
      <p:sp>
        <p:nvSpPr>
          <p:cNvPr id="3" name="Text 1"/>
          <p:cNvSpPr/>
          <p:nvPr/>
        </p:nvSpPr>
        <p:spPr>
          <a:xfrm>
            <a:off x="786384" y="713232"/>
            <a:ext cx="7923047" cy="676656"/>
          </a:xfrm>
          <a:prstGeom prst="rect">
            <a:avLst/>
          </a:prstGeom>
          <a:noFill/>
          <a:ln/>
        </p:spPr>
        <p:txBody>
          <a:bodyPr wrap="square" lIns="0" tIns="0" rIns="0" bIns="0" rtlCol="0" anchor="ctr"/>
          <a:lstStyle/>
          <a:p>
            <a:pPr indent="0" marL="0">
              <a:buNone/>
            </a:pPr>
            <a:r>
              <a:rPr lang="en-US" sz="2900" b="1" dirty="0">
                <a:solidFill>
                  <a:srgbClr val="141414"/>
                </a:solidFill>
                <a:latin typeface="Arial" pitchFamily="34" charset="0"/>
                <a:ea typeface="Arial" pitchFamily="34" charset="-122"/>
                <a:cs typeface="Arial" pitchFamily="34" charset="-120"/>
              </a:rPr>
              <a:t>Advanced Description Techniques</a:t>
            </a:r>
            <a:endParaRPr lang="en-US" sz="2900" dirty="0"/>
          </a:p>
        </p:txBody>
      </p:sp>
      <p:sp>
        <p:nvSpPr>
          <p:cNvPr id="4" name="Shape 2"/>
          <p:cNvSpPr/>
          <p:nvPr/>
        </p:nvSpPr>
        <p:spPr>
          <a:xfrm>
            <a:off x="10801807" y="877824"/>
            <a:ext cx="585216" cy="292608"/>
          </a:xfrm>
          <a:prstGeom prst="rect">
            <a:avLst/>
          </a:prstGeom>
          <a:solidFill>
            <a:srgbClr val="FAF8F5"/>
          </a:solidFill>
          <a:ln w="9525">
            <a:solidFill>
              <a:srgbClr val="D5D1CA"/>
            </a:solidFill>
            <a:prstDash val="solid"/>
          </a:ln>
        </p:spPr>
      </p:sp>
      <p:sp>
        <p:nvSpPr>
          <p:cNvPr id="5" name="Text 3"/>
          <p:cNvSpPr/>
          <p:nvPr/>
        </p:nvSpPr>
        <p:spPr>
          <a:xfrm>
            <a:off x="10801807" y="877824"/>
            <a:ext cx="585216" cy="292608"/>
          </a:xfrm>
          <a:prstGeom prst="rect">
            <a:avLst/>
          </a:prstGeom>
          <a:noFill/>
          <a:ln/>
        </p:spPr>
        <p:txBody>
          <a:bodyPr wrap="square" lIns="0" tIns="0" rIns="0" bIns="0" rtlCol="0" anchor="ctr"/>
          <a:lstStyle/>
          <a:p>
            <a:pPr algn="ctr" indent="0" marL="0">
              <a:buNone/>
            </a:pPr>
            <a:r>
              <a:rPr lang="en-US" sz="1100" b="1" spc="60" kern="0" dirty="0">
                <a:solidFill>
                  <a:srgbClr val="4A4741"/>
                </a:solidFill>
                <a:latin typeface="Arial" pitchFamily="34" charset="0"/>
                <a:ea typeface="Arial" pitchFamily="34" charset="-122"/>
                <a:cs typeface="Arial" pitchFamily="34" charset="-120"/>
              </a:rPr>
              <a:t>LV3</a:t>
            </a:r>
            <a:endParaRPr lang="en-US" sz="1100" dirty="0"/>
          </a:p>
        </p:txBody>
      </p:sp>
      <p:sp>
        <p:nvSpPr>
          <p:cNvPr id="6" name="Shape 4"/>
          <p:cNvSpPr/>
          <p:nvPr/>
        </p:nvSpPr>
        <p:spPr>
          <a:xfrm>
            <a:off x="786384" y="1426464"/>
            <a:ext cx="10618927" cy="10973"/>
          </a:xfrm>
          <a:prstGeom prst="rect">
            <a:avLst/>
          </a:prstGeom>
          <a:solidFill>
            <a:srgbClr val="D5D1CA"/>
          </a:solidFill>
          <a:ln/>
        </p:spPr>
      </p:sp>
      <p:sp>
        <p:nvSpPr>
          <p:cNvPr id="7" name="Text 5"/>
          <p:cNvSpPr/>
          <p:nvPr/>
        </p:nvSpPr>
        <p:spPr>
          <a:xfrm>
            <a:off x="786384" y="1554480"/>
            <a:ext cx="8821674" cy="694944"/>
          </a:xfrm>
          <a:prstGeom prst="rect">
            <a:avLst/>
          </a:prstGeom>
          <a:noFill/>
          <a:ln/>
        </p:spPr>
        <p:txBody>
          <a:bodyPr wrap="square" lIns="0" tIns="0" rIns="0" bIns="0" rtlCol="0" anchor="ctr"/>
          <a:lstStyle/>
          <a:p>
            <a:pPr indent="0" marL="0">
              <a:lnSpc>
                <a:spcPts val="2200"/>
              </a:lnSpc>
              <a:buNone/>
            </a:pPr>
            <a:r>
              <a:rPr lang="en-US" sz="1750" dirty="0">
                <a:solidFill>
                  <a:srgbClr val="6E6A63"/>
                </a:solidFill>
                <a:latin typeface="Arial" pitchFamily="34" charset="0"/>
                <a:ea typeface="Arial" pitchFamily="34" charset="-122"/>
                <a:cs typeface="Arial" pitchFamily="34" charset="-120"/>
              </a:rPr>
              <a:t>Not needed to score on Lv3. Worth trying once your basic prompt works.</a:t>
            </a:r>
            <a:endParaRPr lang="en-US" sz="1750" dirty="0"/>
          </a:p>
        </p:txBody>
      </p:sp>
      <p:sp>
        <p:nvSpPr>
          <p:cNvPr id="8" name="Text 6"/>
          <p:cNvSpPr/>
          <p:nvPr/>
        </p:nvSpPr>
        <p:spPr>
          <a:xfrm>
            <a:off x="10490911" y="6309360"/>
            <a:ext cx="914400" cy="274320"/>
          </a:xfrm>
          <a:prstGeom prst="rect">
            <a:avLst/>
          </a:prstGeom>
          <a:noFill/>
          <a:ln/>
        </p:spPr>
        <p:txBody>
          <a:bodyPr wrap="square" lIns="0" tIns="0" rIns="0" bIns="0" rtlCol="0" anchor="ctr"/>
          <a:lstStyle/>
          <a:p>
            <a:pPr algn="r" indent="0" marL="0">
              <a:buNone/>
            </a:pPr>
            <a:r>
              <a:rPr lang="en-US" sz="1200" dirty="0">
                <a:solidFill>
                  <a:srgbClr val="9C978E"/>
                </a:solidFill>
                <a:latin typeface="Arial" pitchFamily="34" charset="0"/>
                <a:ea typeface="Arial" pitchFamily="34" charset="-122"/>
                <a:cs typeface="Arial" pitchFamily="34" charset="-120"/>
              </a:rPr>
              <a:t>16</a:t>
            </a:r>
            <a:endParaRPr lang="en-US" sz="1200" dirty="0"/>
          </a:p>
        </p:txBody>
      </p:sp>
      <p:sp>
        <p:nvSpPr>
          <p:cNvPr id="9" name="Shape 7"/>
          <p:cNvSpPr/>
          <p:nvPr/>
        </p:nvSpPr>
        <p:spPr>
          <a:xfrm>
            <a:off x="786384" y="2396483"/>
            <a:ext cx="3411626" cy="21072"/>
          </a:xfrm>
          <a:prstGeom prst="rect">
            <a:avLst/>
          </a:prstGeom>
          <a:solidFill>
            <a:srgbClr val="141414"/>
          </a:solidFill>
          <a:ln/>
        </p:spPr>
      </p:sp>
      <p:sp>
        <p:nvSpPr>
          <p:cNvPr id="10" name="Text 8"/>
          <p:cNvSpPr/>
          <p:nvPr/>
        </p:nvSpPr>
        <p:spPr>
          <a:xfrm>
            <a:off x="786384" y="2583787"/>
            <a:ext cx="3411626" cy="440619"/>
          </a:xfrm>
          <a:prstGeom prst="rect">
            <a:avLst/>
          </a:prstGeom>
          <a:noFill/>
          <a:ln/>
        </p:spPr>
        <p:txBody>
          <a:bodyPr wrap="square" lIns="0" tIns="0" rIns="0" bIns="0" rtlCol="0" anchor="ctr"/>
          <a:lstStyle/>
          <a:p>
            <a:pPr indent="0" marL="0">
              <a:lnSpc>
                <a:spcPts val="2350"/>
              </a:lnSpc>
              <a:buNone/>
            </a:pPr>
            <a:r>
              <a:rPr lang="en-US" sz="1950" b="1" dirty="0">
                <a:solidFill>
                  <a:srgbClr val="141414"/>
                </a:solidFill>
                <a:latin typeface="Arial" pitchFamily="34" charset="0"/>
                <a:ea typeface="Arial" pitchFamily="34" charset="-122"/>
                <a:cs typeface="Arial" pitchFamily="34" charset="-120"/>
              </a:rPr>
              <a:t>Two prompts per image</a:t>
            </a:r>
            <a:endParaRPr lang="en-US" sz="1950" dirty="0"/>
          </a:p>
        </p:txBody>
      </p:sp>
      <p:sp>
        <p:nvSpPr>
          <p:cNvPr id="11" name="Text 9"/>
          <p:cNvSpPr/>
          <p:nvPr/>
        </p:nvSpPr>
        <p:spPr>
          <a:xfrm>
            <a:off x="786384" y="3118058"/>
            <a:ext cx="3411626" cy="2107166"/>
          </a:xfrm>
          <a:prstGeom prst="rect">
            <a:avLst/>
          </a:prstGeom>
          <a:noFill/>
          <a:ln/>
        </p:spPr>
        <p:txBody>
          <a:bodyPr wrap="square" lIns="0" tIns="0" rIns="0" bIns="0" rtlCol="0" anchor="t"/>
          <a:lstStyle/>
          <a:p>
            <a:pPr indent="0" marL="0">
              <a:lnSpc>
                <a:spcPts val="2100"/>
              </a:lnSpc>
              <a:buNone/>
            </a:pPr>
            <a:r>
              <a:rPr lang="en-US" sz="1400" dirty="0">
                <a:solidFill>
                  <a:srgbClr val="141414"/>
                </a:solidFill>
                <a:latin typeface="Arial" pitchFamily="34" charset="0"/>
                <a:ea typeface="Arial" pitchFamily="34" charset="-122"/>
                <a:cs typeface="Arial" pitchFamily="34" charset="-120"/>
              </a:rPr>
              <a:t>Run each image twice, once asking for objects and layout, once asking only for text. The model gives more attention to whatever the prompt emphasises, so two focused passes usually beat one that asks for everything.</a:t>
            </a:r>
            <a:endParaRPr lang="en-US" sz="1400" dirty="0"/>
          </a:p>
        </p:txBody>
      </p:sp>
      <p:sp>
        <p:nvSpPr>
          <p:cNvPr id="12" name="Shape 10"/>
          <p:cNvSpPr/>
          <p:nvPr/>
        </p:nvSpPr>
        <p:spPr>
          <a:xfrm>
            <a:off x="4390034" y="2396483"/>
            <a:ext cx="3411626" cy="21072"/>
          </a:xfrm>
          <a:prstGeom prst="rect">
            <a:avLst/>
          </a:prstGeom>
          <a:solidFill>
            <a:srgbClr val="141414"/>
          </a:solidFill>
          <a:ln/>
        </p:spPr>
      </p:sp>
      <p:sp>
        <p:nvSpPr>
          <p:cNvPr id="13" name="Text 11"/>
          <p:cNvSpPr/>
          <p:nvPr/>
        </p:nvSpPr>
        <p:spPr>
          <a:xfrm>
            <a:off x="4390034" y="2583787"/>
            <a:ext cx="3411626" cy="440619"/>
          </a:xfrm>
          <a:prstGeom prst="rect">
            <a:avLst/>
          </a:prstGeom>
          <a:noFill/>
          <a:ln/>
        </p:spPr>
        <p:txBody>
          <a:bodyPr wrap="square" lIns="0" tIns="0" rIns="0" bIns="0" rtlCol="0" anchor="ctr"/>
          <a:lstStyle/>
          <a:p>
            <a:pPr indent="0" marL="0">
              <a:lnSpc>
                <a:spcPts val="2350"/>
              </a:lnSpc>
              <a:buNone/>
            </a:pPr>
            <a:r>
              <a:rPr lang="en-US" sz="1950" b="1" dirty="0">
                <a:solidFill>
                  <a:srgbClr val="141414"/>
                </a:solidFill>
                <a:latin typeface="Arial" pitchFamily="34" charset="0"/>
                <a:ea typeface="Arial" pitchFamily="34" charset="-122"/>
                <a:cs typeface="Arial" pitchFamily="34" charset="-120"/>
              </a:rPr>
              <a:t>Split large images</a:t>
            </a:r>
            <a:endParaRPr lang="en-US" sz="1950" dirty="0"/>
          </a:p>
        </p:txBody>
      </p:sp>
      <p:sp>
        <p:nvSpPr>
          <p:cNvPr id="14" name="Text 12"/>
          <p:cNvSpPr/>
          <p:nvPr/>
        </p:nvSpPr>
        <p:spPr>
          <a:xfrm>
            <a:off x="4390034" y="3118058"/>
            <a:ext cx="3411626" cy="1424288"/>
          </a:xfrm>
          <a:prstGeom prst="rect">
            <a:avLst/>
          </a:prstGeom>
          <a:noFill/>
          <a:ln/>
        </p:spPr>
        <p:txBody>
          <a:bodyPr wrap="square" lIns="0" tIns="0" rIns="0" bIns="0" rtlCol="0" anchor="t"/>
          <a:lstStyle/>
          <a:p>
            <a:pPr indent="0" marL="0">
              <a:lnSpc>
                <a:spcPts val="2100"/>
              </a:lnSpc>
              <a:buNone/>
            </a:pPr>
            <a:r>
              <a:rPr lang="en-US" sz="1400" dirty="0">
                <a:solidFill>
                  <a:srgbClr val="141414"/>
                </a:solidFill>
                <a:latin typeface="Arial" pitchFamily="34" charset="0"/>
                <a:ea typeface="Arial" pitchFamily="34" charset="-122"/>
                <a:cs typeface="Arial" pitchFamily="34" charset="-120"/>
              </a:rPr>
              <a:t>A large poster downscaled to fit the input loses its small text. Cut it into overlapping tiles and describe each tile separately.</a:t>
            </a:r>
            <a:endParaRPr lang="en-US" sz="1400" dirty="0"/>
          </a:p>
        </p:txBody>
      </p:sp>
      <p:sp>
        <p:nvSpPr>
          <p:cNvPr id="15" name="Shape 13"/>
          <p:cNvSpPr/>
          <p:nvPr/>
        </p:nvSpPr>
        <p:spPr>
          <a:xfrm>
            <a:off x="7993685" y="2396483"/>
            <a:ext cx="3411626" cy="21072"/>
          </a:xfrm>
          <a:prstGeom prst="rect">
            <a:avLst/>
          </a:prstGeom>
          <a:solidFill>
            <a:srgbClr val="141414"/>
          </a:solidFill>
          <a:ln/>
        </p:spPr>
      </p:sp>
      <p:sp>
        <p:nvSpPr>
          <p:cNvPr id="16" name="Text 14"/>
          <p:cNvSpPr/>
          <p:nvPr/>
        </p:nvSpPr>
        <p:spPr>
          <a:xfrm>
            <a:off x="7993685" y="2583787"/>
            <a:ext cx="3411626" cy="440619"/>
          </a:xfrm>
          <a:prstGeom prst="rect">
            <a:avLst/>
          </a:prstGeom>
          <a:noFill/>
          <a:ln/>
        </p:spPr>
        <p:txBody>
          <a:bodyPr wrap="square" lIns="0" tIns="0" rIns="0" bIns="0" rtlCol="0" anchor="ctr"/>
          <a:lstStyle/>
          <a:p>
            <a:pPr indent="0" marL="0">
              <a:lnSpc>
                <a:spcPts val="2350"/>
              </a:lnSpc>
              <a:buNone/>
            </a:pPr>
            <a:r>
              <a:rPr lang="en-US" sz="1950" b="1" dirty="0">
                <a:solidFill>
                  <a:srgbClr val="141414"/>
                </a:solidFill>
                <a:latin typeface="Arial" pitchFamily="34" charset="0"/>
                <a:ea typeface="Arial" pitchFamily="34" charset="-122"/>
                <a:cs typeface="Arial" pitchFamily="34" charset="-120"/>
              </a:rPr>
              <a:t>Cache the results</a:t>
            </a:r>
            <a:endParaRPr lang="en-US" sz="1950" dirty="0"/>
          </a:p>
        </p:txBody>
      </p:sp>
      <p:sp>
        <p:nvSpPr>
          <p:cNvPr id="17" name="Text 15"/>
          <p:cNvSpPr/>
          <p:nvPr/>
        </p:nvSpPr>
        <p:spPr>
          <a:xfrm>
            <a:off x="7993685" y="3118058"/>
            <a:ext cx="3411626" cy="1765727"/>
          </a:xfrm>
          <a:prstGeom prst="rect">
            <a:avLst/>
          </a:prstGeom>
          <a:noFill/>
          <a:ln/>
        </p:spPr>
        <p:txBody>
          <a:bodyPr wrap="square" lIns="0" tIns="0" rIns="0" bIns="0" rtlCol="0" anchor="t"/>
          <a:lstStyle/>
          <a:p>
            <a:pPr indent="0" marL="0">
              <a:lnSpc>
                <a:spcPts val="2100"/>
              </a:lnSpc>
              <a:buNone/>
            </a:pPr>
            <a:r>
              <a:rPr lang="en-US" sz="1400" dirty="0">
                <a:solidFill>
                  <a:srgbClr val="141414"/>
                </a:solidFill>
                <a:latin typeface="Arial" pitchFamily="34" charset="0"/>
                <a:ea typeface="Arial" pitchFamily="34" charset="-122"/>
                <a:cs typeface="Arial" pitchFamily="34" charset="-120"/>
              </a:rPr>
              <a:t>Several hundred images at a few seconds each takes under an hour with gpt-4o-mini. Write descriptions to a JSON file keyed by image URL, and regenerate only when the prompt changes.</a:t>
            </a:r>
            <a:endParaRPr lang="en-US" sz="1400" dirty="0"/>
          </a:p>
        </p:txBody>
      </p:sp>
      <p:sp>
        <p:nvSpPr>
          <p:cNvPr id="18" name="Text 16"/>
          <p:cNvSpPr/>
          <p:nvPr/>
        </p:nvSpPr>
        <p:spPr>
          <a:xfrm>
            <a:off x="786384" y="5323103"/>
            <a:ext cx="9769413" cy="913105"/>
          </a:xfrm>
          <a:prstGeom prst="rect">
            <a:avLst/>
          </a:prstGeom>
          <a:noFill/>
          <a:ln/>
        </p:spPr>
        <p:txBody>
          <a:bodyPr wrap="square" lIns="0" tIns="0" rIns="0" bIns="0" rtlCol="0" anchor="ctr"/>
          <a:lstStyle/>
          <a:p>
            <a:pPr indent="0" marL="0">
              <a:lnSpc>
                <a:spcPts val="2400"/>
              </a:lnSpc>
              <a:buNone/>
            </a:pPr>
            <a:r>
              <a:rPr lang="en-US" sz="1600" dirty="0">
                <a:solidFill>
                  <a:srgbClr val="141414"/>
                </a:solidFill>
                <a:latin typeface="Arial" pitchFamily="34" charset="0"/>
                <a:ea typeface="Arial" pitchFamily="34" charset="-122"/>
                <a:cs typeface="Arial" pitchFamily="34" charset="-120"/>
              </a:rPr>
              <a:t>Without caching you will re-describe every image each time you change something further down the pipeline, which makes experimenting slow enough that you stop doing it.</a:t>
            </a:r>
            <a:endParaRPr lang="en-US" sz="16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4F0EA"/>
        </a:solidFill>
      </p:bgPr>
    </p:bg>
    <p:spTree>
      <p:nvGrpSpPr>
        <p:cNvPr id="1" name=""/>
        <p:cNvGrpSpPr/>
        <p:nvPr/>
      </p:nvGrpSpPr>
      <p:grpSpPr>
        <a:xfrm>
          <a:off x="0" y="0"/>
          <a:ext cx="0" cy="0"/>
          <a:chOff x="0" y="0"/>
          <a:chExt cx="0" cy="0"/>
        </a:xfrm>
      </p:grpSpPr>
      <p:sp>
        <p:nvSpPr>
          <p:cNvPr id="2" name="Text 0"/>
          <p:cNvSpPr/>
          <p:nvPr/>
        </p:nvSpPr>
        <p:spPr>
          <a:xfrm>
            <a:off x="786384" y="402336"/>
            <a:ext cx="3657600" cy="237744"/>
          </a:xfrm>
          <a:prstGeom prst="rect">
            <a:avLst/>
          </a:prstGeom>
          <a:noFill/>
          <a:ln/>
        </p:spPr>
        <p:txBody>
          <a:bodyPr wrap="square" lIns="0" tIns="0" rIns="0" bIns="0" rtlCol="0" anchor="ctr"/>
          <a:lstStyle/>
          <a:p>
            <a:pPr indent="0" marL="0">
              <a:buNone/>
            </a:pPr>
            <a:r>
              <a:rPr lang="en-US" sz="950" b="1" spc="240" kern="0" dirty="0">
                <a:solidFill>
                  <a:srgbClr val="C0402A"/>
                </a:solidFill>
                <a:latin typeface="Arial" pitchFamily="34" charset="0"/>
                <a:ea typeface="Arial" pitchFamily="34" charset="-122"/>
                <a:cs typeface="Arial" pitchFamily="34" charset="-120"/>
              </a:rPr>
              <a:t>FROM EXPERIENCE</a:t>
            </a:r>
            <a:endParaRPr lang="en-US" sz="950" dirty="0"/>
          </a:p>
        </p:txBody>
      </p:sp>
      <p:sp>
        <p:nvSpPr>
          <p:cNvPr id="3" name="Shape 1"/>
          <p:cNvSpPr/>
          <p:nvPr/>
        </p:nvSpPr>
        <p:spPr>
          <a:xfrm>
            <a:off x="0" y="0"/>
            <a:ext cx="128016" cy="6858000"/>
          </a:xfrm>
          <a:prstGeom prst="rect">
            <a:avLst/>
          </a:prstGeom>
          <a:solidFill>
            <a:srgbClr val="C0402A"/>
          </a:solidFill>
          <a:ln/>
        </p:spPr>
      </p:sp>
      <p:sp>
        <p:nvSpPr>
          <p:cNvPr id="4" name="Text 2"/>
          <p:cNvSpPr/>
          <p:nvPr/>
        </p:nvSpPr>
        <p:spPr>
          <a:xfrm>
            <a:off x="786384" y="713232"/>
            <a:ext cx="7923047" cy="676656"/>
          </a:xfrm>
          <a:prstGeom prst="rect">
            <a:avLst/>
          </a:prstGeom>
          <a:noFill/>
          <a:ln/>
        </p:spPr>
        <p:txBody>
          <a:bodyPr wrap="square" lIns="0" tIns="0" rIns="0" bIns="0" rtlCol="0" anchor="ctr"/>
          <a:lstStyle/>
          <a:p>
            <a:pPr indent="0" marL="0">
              <a:buNone/>
            </a:pPr>
            <a:r>
              <a:rPr lang="en-US" sz="2900" b="1" dirty="0">
                <a:solidFill>
                  <a:srgbClr val="141414"/>
                </a:solidFill>
                <a:latin typeface="Arial" pitchFamily="34" charset="0"/>
                <a:ea typeface="Arial" pitchFamily="34" charset="-122"/>
                <a:cs typeface="Arial" pitchFamily="34" charset="-120"/>
              </a:rPr>
              <a:t>Notes on Image Data</a:t>
            </a:r>
            <a:endParaRPr lang="en-US" sz="2900" dirty="0"/>
          </a:p>
        </p:txBody>
      </p:sp>
      <p:sp>
        <p:nvSpPr>
          <p:cNvPr id="5" name="Shape 3"/>
          <p:cNvSpPr/>
          <p:nvPr/>
        </p:nvSpPr>
        <p:spPr>
          <a:xfrm>
            <a:off x="10801807" y="877824"/>
            <a:ext cx="585216" cy="292608"/>
          </a:xfrm>
          <a:prstGeom prst="rect">
            <a:avLst/>
          </a:prstGeom>
          <a:solidFill>
            <a:srgbClr val="FAF8F5"/>
          </a:solidFill>
          <a:ln w="9525">
            <a:solidFill>
              <a:srgbClr val="D5D1CA"/>
            </a:solidFill>
            <a:prstDash val="solid"/>
          </a:ln>
        </p:spPr>
      </p:sp>
      <p:sp>
        <p:nvSpPr>
          <p:cNvPr id="6" name="Text 4"/>
          <p:cNvSpPr/>
          <p:nvPr/>
        </p:nvSpPr>
        <p:spPr>
          <a:xfrm>
            <a:off x="10801807" y="877824"/>
            <a:ext cx="585216" cy="292608"/>
          </a:xfrm>
          <a:prstGeom prst="rect">
            <a:avLst/>
          </a:prstGeom>
          <a:noFill/>
          <a:ln/>
        </p:spPr>
        <p:txBody>
          <a:bodyPr wrap="square" lIns="0" tIns="0" rIns="0" bIns="0" rtlCol="0" anchor="ctr"/>
          <a:lstStyle/>
          <a:p>
            <a:pPr algn="ctr" indent="0" marL="0">
              <a:buNone/>
            </a:pPr>
            <a:r>
              <a:rPr lang="en-US" sz="1100" b="1" spc="60" kern="0" dirty="0">
                <a:solidFill>
                  <a:srgbClr val="4A4741"/>
                </a:solidFill>
                <a:latin typeface="Arial" pitchFamily="34" charset="0"/>
                <a:ea typeface="Arial" pitchFamily="34" charset="-122"/>
                <a:cs typeface="Arial" pitchFamily="34" charset="-120"/>
              </a:rPr>
              <a:t>LV3</a:t>
            </a:r>
            <a:endParaRPr lang="en-US" sz="1100" dirty="0"/>
          </a:p>
        </p:txBody>
      </p:sp>
      <p:sp>
        <p:nvSpPr>
          <p:cNvPr id="7" name="Shape 5"/>
          <p:cNvSpPr/>
          <p:nvPr/>
        </p:nvSpPr>
        <p:spPr>
          <a:xfrm>
            <a:off x="786384" y="1426464"/>
            <a:ext cx="10618927" cy="10973"/>
          </a:xfrm>
          <a:prstGeom prst="rect">
            <a:avLst/>
          </a:prstGeom>
          <a:solidFill>
            <a:srgbClr val="D5D1CA"/>
          </a:solidFill>
          <a:ln/>
        </p:spPr>
      </p:sp>
      <p:sp>
        <p:nvSpPr>
          <p:cNvPr id="8" name="Text 6"/>
          <p:cNvSpPr/>
          <p:nvPr/>
        </p:nvSpPr>
        <p:spPr>
          <a:xfrm>
            <a:off x="10490911" y="6309360"/>
            <a:ext cx="914400" cy="274320"/>
          </a:xfrm>
          <a:prstGeom prst="rect">
            <a:avLst/>
          </a:prstGeom>
          <a:noFill/>
          <a:ln/>
        </p:spPr>
        <p:txBody>
          <a:bodyPr wrap="square" lIns="0" tIns="0" rIns="0" bIns="0" rtlCol="0" anchor="ctr"/>
          <a:lstStyle/>
          <a:p>
            <a:pPr algn="r" indent="0" marL="0">
              <a:buNone/>
            </a:pPr>
            <a:r>
              <a:rPr lang="en-US" sz="1200" dirty="0">
                <a:solidFill>
                  <a:srgbClr val="9C978E"/>
                </a:solidFill>
                <a:latin typeface="Arial" pitchFamily="34" charset="0"/>
                <a:ea typeface="Arial" pitchFamily="34" charset="-122"/>
                <a:cs typeface="Arial" pitchFamily="34" charset="-120"/>
              </a:rPr>
              <a:t>17</a:t>
            </a:r>
            <a:endParaRPr lang="en-US" sz="1200" dirty="0"/>
          </a:p>
        </p:txBody>
      </p:sp>
      <p:sp>
        <p:nvSpPr>
          <p:cNvPr id="9" name="Shape 7"/>
          <p:cNvSpPr/>
          <p:nvPr/>
        </p:nvSpPr>
        <p:spPr>
          <a:xfrm>
            <a:off x="786384" y="1827703"/>
            <a:ext cx="5227168" cy="21726"/>
          </a:xfrm>
          <a:prstGeom prst="rect">
            <a:avLst/>
          </a:prstGeom>
          <a:solidFill>
            <a:srgbClr val="141414"/>
          </a:solidFill>
          <a:ln/>
        </p:spPr>
      </p:sp>
      <p:sp>
        <p:nvSpPr>
          <p:cNvPr id="10" name="Text 8"/>
          <p:cNvSpPr/>
          <p:nvPr/>
        </p:nvSpPr>
        <p:spPr>
          <a:xfrm>
            <a:off x="786384" y="2020824"/>
            <a:ext cx="5227168" cy="454304"/>
          </a:xfrm>
          <a:prstGeom prst="rect">
            <a:avLst/>
          </a:prstGeom>
          <a:noFill/>
          <a:ln/>
        </p:spPr>
        <p:txBody>
          <a:bodyPr wrap="square" lIns="0" tIns="0" rIns="0" bIns="0" rtlCol="0" anchor="ctr"/>
          <a:lstStyle/>
          <a:p>
            <a:pPr indent="0" marL="0">
              <a:lnSpc>
                <a:spcPts val="2350"/>
              </a:lnSpc>
              <a:buNone/>
            </a:pPr>
            <a:r>
              <a:rPr lang="en-US" sz="1950" b="1" dirty="0">
                <a:solidFill>
                  <a:srgbClr val="141414"/>
                </a:solidFill>
                <a:latin typeface="Arial" pitchFamily="34" charset="0"/>
                <a:ea typeface="Arial" pitchFamily="34" charset="-122"/>
                <a:cs typeface="Arial" pitchFamily="34" charset="-120"/>
              </a:rPr>
              <a:t>Describe the same image twice</a:t>
            </a:r>
            <a:endParaRPr lang="en-US" sz="1950" dirty="0"/>
          </a:p>
        </p:txBody>
      </p:sp>
      <p:sp>
        <p:nvSpPr>
          <p:cNvPr id="11" name="Text 9"/>
          <p:cNvSpPr/>
          <p:nvPr/>
        </p:nvSpPr>
        <p:spPr>
          <a:xfrm>
            <a:off x="786384" y="2571689"/>
            <a:ext cx="5227168" cy="1468526"/>
          </a:xfrm>
          <a:prstGeom prst="rect">
            <a:avLst/>
          </a:prstGeom>
          <a:noFill/>
          <a:ln/>
        </p:spPr>
        <p:txBody>
          <a:bodyPr wrap="square" lIns="0" tIns="0" rIns="0" bIns="0" rtlCol="0" anchor="t"/>
          <a:lstStyle/>
          <a:p>
            <a:pPr indent="0" marL="0">
              <a:lnSpc>
                <a:spcPts val="2100"/>
              </a:lnSpc>
              <a:buNone/>
            </a:pPr>
            <a:r>
              <a:rPr lang="en-US" sz="1400" dirty="0">
                <a:solidFill>
                  <a:srgbClr val="141414"/>
                </a:solidFill>
                <a:latin typeface="Arial" pitchFamily="34" charset="0"/>
                <a:ea typeface="Arial" pitchFamily="34" charset="-122"/>
                <a:cs typeface="Arial" pitchFamily="34" charset="-120"/>
              </a:rPr>
              <a:t>Once asking for objects and layout, once asking only for text. The model gives more attention to whatever the prompt emphasises, so two focused passes usually beat one that asks for everything.</a:t>
            </a:r>
            <a:endParaRPr lang="en-US" sz="1400" dirty="0"/>
          </a:p>
        </p:txBody>
      </p:sp>
      <p:sp>
        <p:nvSpPr>
          <p:cNvPr id="12" name="Shape 10"/>
          <p:cNvSpPr/>
          <p:nvPr/>
        </p:nvSpPr>
        <p:spPr>
          <a:xfrm>
            <a:off x="6178144" y="1827703"/>
            <a:ext cx="5227168" cy="2671176"/>
          </a:xfrm>
          <a:prstGeom prst="rect">
            <a:avLst/>
          </a:prstGeom>
          <a:solidFill>
            <a:srgbClr val="F7E6E0"/>
          </a:solidFill>
          <a:ln/>
        </p:spPr>
      </p:sp>
      <p:sp>
        <p:nvSpPr>
          <p:cNvPr id="13" name="Shape 11"/>
          <p:cNvSpPr/>
          <p:nvPr/>
        </p:nvSpPr>
        <p:spPr>
          <a:xfrm>
            <a:off x="6415888" y="2117385"/>
            <a:ext cx="4751680" cy="28968"/>
          </a:xfrm>
          <a:prstGeom prst="rect">
            <a:avLst/>
          </a:prstGeom>
          <a:solidFill>
            <a:srgbClr val="C0402A"/>
          </a:solidFill>
          <a:ln/>
        </p:spPr>
      </p:sp>
      <p:sp>
        <p:nvSpPr>
          <p:cNvPr id="14" name="Text 12"/>
          <p:cNvSpPr/>
          <p:nvPr/>
        </p:nvSpPr>
        <p:spPr>
          <a:xfrm>
            <a:off x="6415888" y="2310506"/>
            <a:ext cx="4751680" cy="454304"/>
          </a:xfrm>
          <a:prstGeom prst="rect">
            <a:avLst/>
          </a:prstGeom>
          <a:noFill/>
          <a:ln/>
        </p:spPr>
        <p:txBody>
          <a:bodyPr wrap="square" lIns="0" tIns="0" rIns="0" bIns="0" rtlCol="0" anchor="ctr"/>
          <a:lstStyle/>
          <a:p>
            <a:pPr indent="0" marL="0">
              <a:lnSpc>
                <a:spcPts val="2350"/>
              </a:lnSpc>
              <a:buNone/>
            </a:pPr>
            <a:r>
              <a:rPr lang="en-US" sz="1950" b="1" dirty="0">
                <a:solidFill>
                  <a:srgbClr val="141414"/>
                </a:solidFill>
                <a:latin typeface="Arial" pitchFamily="34" charset="0"/>
                <a:ea typeface="Arial" pitchFamily="34" charset="-122"/>
                <a:cs typeface="Arial" pitchFamily="34" charset="-120"/>
              </a:rPr>
              <a:t>Run OCR alongside</a:t>
            </a:r>
            <a:endParaRPr lang="en-US" sz="1950" dirty="0"/>
          </a:p>
        </p:txBody>
      </p:sp>
      <p:sp>
        <p:nvSpPr>
          <p:cNvPr id="15" name="Text 13"/>
          <p:cNvSpPr/>
          <p:nvPr/>
        </p:nvSpPr>
        <p:spPr>
          <a:xfrm>
            <a:off x="6415888" y="2861371"/>
            <a:ext cx="4751680" cy="1468526"/>
          </a:xfrm>
          <a:prstGeom prst="rect">
            <a:avLst/>
          </a:prstGeom>
          <a:noFill/>
          <a:ln/>
        </p:spPr>
        <p:txBody>
          <a:bodyPr wrap="square" lIns="0" tIns="0" rIns="0" bIns="0" rtlCol="0" anchor="t"/>
          <a:lstStyle/>
          <a:p>
            <a:pPr indent="0" marL="0">
              <a:lnSpc>
                <a:spcPts val="2100"/>
              </a:lnSpc>
              <a:buNone/>
            </a:pPr>
            <a:r>
              <a:rPr lang="en-US" sz="1400" dirty="0">
                <a:solidFill>
                  <a:srgbClr val="141414"/>
                </a:solidFill>
                <a:latin typeface="Arial" pitchFamily="34" charset="0"/>
                <a:ea typeface="Arial" pitchFamily="34" charset="-122"/>
                <a:cs typeface="Arial" pitchFamily="34" charset="-120"/>
              </a:rPr>
              <a:t>A vision model paraphrases text; an OCR engine transcribes it character by character. For dense signage that difference is the answer. Tesseract or PaddleOCR, both local, both permitted.</a:t>
            </a:r>
            <a:endParaRPr lang="en-US" sz="1400" dirty="0"/>
          </a:p>
        </p:txBody>
      </p:sp>
      <p:sp>
        <p:nvSpPr>
          <p:cNvPr id="16" name="Shape 14"/>
          <p:cNvSpPr/>
          <p:nvPr/>
        </p:nvSpPr>
        <p:spPr>
          <a:xfrm>
            <a:off x="786384" y="4121018"/>
            <a:ext cx="5227168" cy="21726"/>
          </a:xfrm>
          <a:prstGeom prst="rect">
            <a:avLst/>
          </a:prstGeom>
          <a:solidFill>
            <a:srgbClr val="141414"/>
          </a:solidFill>
          <a:ln/>
        </p:spPr>
      </p:sp>
      <p:sp>
        <p:nvSpPr>
          <p:cNvPr id="17" name="Text 15"/>
          <p:cNvSpPr/>
          <p:nvPr/>
        </p:nvSpPr>
        <p:spPr>
          <a:xfrm>
            <a:off x="786384" y="4314139"/>
            <a:ext cx="5227168" cy="454304"/>
          </a:xfrm>
          <a:prstGeom prst="rect">
            <a:avLst/>
          </a:prstGeom>
          <a:noFill/>
          <a:ln/>
        </p:spPr>
        <p:txBody>
          <a:bodyPr wrap="square" lIns="0" tIns="0" rIns="0" bIns="0" rtlCol="0" anchor="ctr"/>
          <a:lstStyle/>
          <a:p>
            <a:pPr indent="0" marL="0">
              <a:lnSpc>
                <a:spcPts val="2350"/>
              </a:lnSpc>
              <a:buNone/>
            </a:pPr>
            <a:r>
              <a:rPr lang="en-US" sz="1950" b="1" dirty="0">
                <a:solidFill>
                  <a:srgbClr val="141414"/>
                </a:solidFill>
                <a:latin typeface="Arial" pitchFamily="34" charset="0"/>
                <a:ea typeface="Arial" pitchFamily="34" charset="-122"/>
                <a:cs typeface="Arial" pitchFamily="34" charset="-120"/>
              </a:rPr>
              <a:t>Index alt text regardless</a:t>
            </a:r>
            <a:endParaRPr lang="en-US" sz="1950" dirty="0"/>
          </a:p>
        </p:txBody>
      </p:sp>
      <p:sp>
        <p:nvSpPr>
          <p:cNvPr id="18" name="Text 16"/>
          <p:cNvSpPr/>
          <p:nvPr/>
        </p:nvSpPr>
        <p:spPr>
          <a:xfrm>
            <a:off x="786384" y="4865004"/>
            <a:ext cx="5227168" cy="1116482"/>
          </a:xfrm>
          <a:prstGeom prst="rect">
            <a:avLst/>
          </a:prstGeom>
          <a:noFill/>
          <a:ln/>
        </p:spPr>
        <p:txBody>
          <a:bodyPr wrap="square" lIns="0" tIns="0" rIns="0" bIns="0" rtlCol="0" anchor="t"/>
          <a:lstStyle/>
          <a:p>
            <a:pPr indent="0" marL="0">
              <a:lnSpc>
                <a:spcPts val="2100"/>
              </a:lnSpc>
              <a:buNone/>
            </a:pPr>
            <a:r>
              <a:rPr lang="en-US" sz="1400" dirty="0">
                <a:solidFill>
                  <a:srgbClr val="141414"/>
                </a:solidFill>
                <a:latin typeface="Arial" pitchFamily="34" charset="0"/>
                <a:ea typeface="Arial" pitchFamily="34" charset="-122"/>
                <a:cs typeface="Arial" pitchFamily="34" charset="-120"/>
              </a:rPr>
              <a:t>Alt attributes and captions are already text and cost nothing to index. Occasionally they contain the answer with no vision model involved at all.</a:t>
            </a:r>
            <a:endParaRPr lang="en-US" sz="1400" dirty="0"/>
          </a:p>
        </p:txBody>
      </p:sp>
      <p:sp>
        <p:nvSpPr>
          <p:cNvPr id="19" name="Shape 17"/>
          <p:cNvSpPr/>
          <p:nvPr/>
        </p:nvSpPr>
        <p:spPr>
          <a:xfrm>
            <a:off x="6178144" y="4121018"/>
            <a:ext cx="5227168" cy="21726"/>
          </a:xfrm>
          <a:prstGeom prst="rect">
            <a:avLst/>
          </a:prstGeom>
          <a:solidFill>
            <a:srgbClr val="141414"/>
          </a:solidFill>
          <a:ln/>
        </p:spPr>
      </p:sp>
      <p:sp>
        <p:nvSpPr>
          <p:cNvPr id="20" name="Text 18"/>
          <p:cNvSpPr/>
          <p:nvPr/>
        </p:nvSpPr>
        <p:spPr>
          <a:xfrm>
            <a:off x="6178144" y="4314139"/>
            <a:ext cx="5227168" cy="454304"/>
          </a:xfrm>
          <a:prstGeom prst="rect">
            <a:avLst/>
          </a:prstGeom>
          <a:noFill/>
          <a:ln/>
        </p:spPr>
        <p:txBody>
          <a:bodyPr wrap="square" lIns="0" tIns="0" rIns="0" bIns="0" rtlCol="0" anchor="ctr"/>
          <a:lstStyle/>
          <a:p>
            <a:pPr indent="0" marL="0">
              <a:lnSpc>
                <a:spcPts val="2350"/>
              </a:lnSpc>
              <a:buNone/>
            </a:pPr>
            <a:r>
              <a:rPr lang="en-US" sz="1950" b="1" dirty="0">
                <a:solidFill>
                  <a:srgbClr val="141414"/>
                </a:solidFill>
                <a:latin typeface="Arial" pitchFamily="34" charset="0"/>
                <a:ea typeface="Arial" pitchFamily="34" charset="-122"/>
                <a:cs typeface="Arial" pitchFamily="34" charset="-120"/>
              </a:rPr>
              <a:t>Describe once, cache forever</a:t>
            </a:r>
            <a:endParaRPr lang="en-US" sz="1950" dirty="0"/>
          </a:p>
        </p:txBody>
      </p:sp>
      <p:sp>
        <p:nvSpPr>
          <p:cNvPr id="21" name="Text 19"/>
          <p:cNvSpPr/>
          <p:nvPr/>
        </p:nvSpPr>
        <p:spPr>
          <a:xfrm>
            <a:off x="6178144" y="4865004"/>
            <a:ext cx="5227168" cy="1116482"/>
          </a:xfrm>
          <a:prstGeom prst="rect">
            <a:avLst/>
          </a:prstGeom>
          <a:noFill/>
          <a:ln/>
        </p:spPr>
        <p:txBody>
          <a:bodyPr wrap="square" lIns="0" tIns="0" rIns="0" bIns="0" rtlCol="0" anchor="t"/>
          <a:lstStyle/>
          <a:p>
            <a:pPr indent="0" marL="0">
              <a:lnSpc>
                <a:spcPts val="2100"/>
              </a:lnSpc>
              <a:buNone/>
            </a:pPr>
            <a:r>
              <a:rPr lang="en-US" sz="1400" dirty="0">
                <a:solidFill>
                  <a:srgbClr val="141414"/>
                </a:solidFill>
                <a:latin typeface="Arial" pitchFamily="34" charset="0"/>
                <a:ea typeface="Arial" pitchFamily="34" charset="-122"/>
                <a:cs typeface="Arial" pitchFamily="34" charset="-120"/>
              </a:rPr>
              <a:t>Key the cache by image URL. Without it you re-describe every image each time you change something downstream, and experimenting becomes slow enough that you stop.</a:t>
            </a:r>
            <a:endParaRPr lang="en-US" sz="14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121212"/>
        </a:solidFill>
      </p:bgPr>
    </p:bg>
    <p:spTree>
      <p:nvGrpSpPr>
        <p:cNvPr id="1" name=""/>
        <p:cNvGrpSpPr/>
        <p:nvPr/>
      </p:nvGrpSpPr>
      <p:grpSpPr>
        <a:xfrm>
          <a:off x="0" y="0"/>
          <a:ext cx="0" cy="0"/>
          <a:chOff x="0" y="0"/>
          <a:chExt cx="0" cy="0"/>
        </a:xfrm>
      </p:grpSpPr>
      <p:sp>
        <p:nvSpPr>
          <p:cNvPr id="2" name="Text 0"/>
          <p:cNvSpPr/>
          <p:nvPr/>
        </p:nvSpPr>
        <p:spPr>
          <a:xfrm>
            <a:off x="8899855" y="960120"/>
            <a:ext cx="3017520" cy="3200400"/>
          </a:xfrm>
          <a:prstGeom prst="rect">
            <a:avLst/>
          </a:prstGeom>
          <a:noFill/>
          <a:ln/>
        </p:spPr>
        <p:txBody>
          <a:bodyPr wrap="square" lIns="0" tIns="0" rIns="0" bIns="0" rtlCol="0" anchor="ctr"/>
          <a:lstStyle/>
          <a:p>
            <a:pPr algn="r" indent="0" marL="0">
              <a:buNone/>
            </a:pPr>
            <a:r>
              <a:rPr lang="en-US" sz="9600" b="1" dirty="0">
                <a:solidFill>
                  <a:srgbClr val="3D3934"/>
                </a:solidFill>
                <a:latin typeface="Arial" pitchFamily="34" charset="0"/>
                <a:ea typeface="Arial" pitchFamily="34" charset="-122"/>
                <a:cs typeface="Arial" pitchFamily="34" charset="-120"/>
              </a:rPr>
              <a:t>4</a:t>
            </a:r>
            <a:endParaRPr lang="en-US" sz="9600" dirty="0"/>
          </a:p>
        </p:txBody>
      </p:sp>
      <p:sp>
        <p:nvSpPr>
          <p:cNvPr id="3" name="Text 1"/>
          <p:cNvSpPr/>
          <p:nvPr/>
        </p:nvSpPr>
        <p:spPr>
          <a:xfrm>
            <a:off x="786384" y="1975104"/>
            <a:ext cx="10618927" cy="274320"/>
          </a:xfrm>
          <a:prstGeom prst="rect">
            <a:avLst/>
          </a:prstGeom>
          <a:noFill/>
          <a:ln/>
        </p:spPr>
        <p:txBody>
          <a:bodyPr wrap="square" lIns="0" tIns="0" rIns="0" bIns="0" rtlCol="0" anchor="ctr"/>
          <a:lstStyle/>
          <a:p>
            <a:pPr indent="0" marL="0">
              <a:buNone/>
            </a:pPr>
            <a:r>
              <a:rPr lang="en-US" sz="1200" b="1" spc="260" kern="0" dirty="0">
                <a:solidFill>
                  <a:srgbClr val="C0402A"/>
                </a:solidFill>
                <a:latin typeface="Arial" pitchFamily="34" charset="0"/>
                <a:ea typeface="Arial" pitchFamily="34" charset="-122"/>
                <a:cs typeface="Arial" pitchFamily="34" charset="-120"/>
              </a:rPr>
              <a:t>BLOCK 4  ·  LAB</a:t>
            </a:r>
            <a:endParaRPr lang="en-US" sz="1200" dirty="0"/>
          </a:p>
        </p:txBody>
      </p:sp>
      <p:sp>
        <p:nvSpPr>
          <p:cNvPr id="4" name="Shape 2"/>
          <p:cNvSpPr/>
          <p:nvPr/>
        </p:nvSpPr>
        <p:spPr>
          <a:xfrm>
            <a:off x="786384" y="2377440"/>
            <a:ext cx="1371600" cy="20117"/>
          </a:xfrm>
          <a:prstGeom prst="rect">
            <a:avLst/>
          </a:prstGeom>
          <a:solidFill>
            <a:srgbClr val="C0402A"/>
          </a:solidFill>
          <a:ln/>
        </p:spPr>
      </p:sp>
      <p:sp>
        <p:nvSpPr>
          <p:cNvPr id="5" name="Text 3"/>
          <p:cNvSpPr/>
          <p:nvPr/>
        </p:nvSpPr>
        <p:spPr>
          <a:xfrm>
            <a:off x="786384" y="2596896"/>
            <a:ext cx="7024421" cy="1188720"/>
          </a:xfrm>
          <a:prstGeom prst="rect">
            <a:avLst/>
          </a:prstGeom>
          <a:noFill/>
          <a:ln/>
        </p:spPr>
        <p:txBody>
          <a:bodyPr wrap="square" lIns="0" tIns="0" rIns="0" bIns="0" rtlCol="0" anchor="ctr"/>
          <a:lstStyle/>
          <a:p>
            <a:pPr indent="0" marL="0">
              <a:lnSpc>
                <a:spcPts val="4000"/>
              </a:lnSpc>
              <a:buNone/>
            </a:pPr>
            <a:r>
              <a:rPr lang="en-US" sz="3600" b="1" dirty="0">
                <a:solidFill>
                  <a:srgbClr val="FAF8F5"/>
                </a:solidFill>
                <a:latin typeface="Arial" pitchFamily="34" charset="0"/>
                <a:ea typeface="Arial" pitchFamily="34" charset="-122"/>
                <a:cs typeface="Arial" pitchFamily="34" charset="-120"/>
              </a:rPr>
              <a:t>Reasoning &amp; Synthesis</a:t>
            </a:r>
            <a:endParaRPr lang="en-US" sz="3600" dirty="0"/>
          </a:p>
        </p:txBody>
      </p:sp>
      <p:sp>
        <p:nvSpPr>
          <p:cNvPr id="6" name="Text 4"/>
          <p:cNvSpPr/>
          <p:nvPr/>
        </p:nvSpPr>
        <p:spPr>
          <a:xfrm>
            <a:off x="786384" y="3895344"/>
            <a:ext cx="6125794" cy="822960"/>
          </a:xfrm>
          <a:prstGeom prst="rect">
            <a:avLst/>
          </a:prstGeom>
          <a:noFill/>
          <a:ln/>
        </p:spPr>
        <p:txBody>
          <a:bodyPr wrap="square" lIns="0" tIns="0" rIns="0" bIns="0" rtlCol="0" anchor="ctr"/>
          <a:lstStyle/>
          <a:p>
            <a:pPr indent="0" marL="0">
              <a:lnSpc>
                <a:spcPts val="2300"/>
              </a:lnSpc>
              <a:buNone/>
            </a:pPr>
            <a:r>
              <a:rPr lang="en-US" sz="1750" dirty="0">
                <a:solidFill>
                  <a:srgbClr val="A8A39B"/>
                </a:solidFill>
                <a:latin typeface="Arial" pitchFamily="34" charset="0"/>
                <a:ea typeface="Arial" pitchFamily="34" charset="-122"/>
                <a:cs typeface="Arial" pitchFamily="34" charset="-120"/>
              </a:rPr>
              <a:t>Questions whose answer is not written down anywhere and has to be assembled from several pieces.</a:t>
            </a:r>
            <a:endParaRPr lang="en-US" sz="1750" dirty="0"/>
          </a:p>
        </p:txBody>
      </p:sp>
      <p:sp>
        <p:nvSpPr>
          <p:cNvPr id="7" name="Text 5"/>
          <p:cNvSpPr/>
          <p:nvPr/>
        </p:nvSpPr>
        <p:spPr>
          <a:xfrm>
            <a:off x="9210751" y="5358384"/>
            <a:ext cx="2194560" cy="310896"/>
          </a:xfrm>
          <a:prstGeom prst="rect">
            <a:avLst/>
          </a:prstGeom>
          <a:noFill/>
          <a:ln/>
        </p:spPr>
        <p:txBody>
          <a:bodyPr wrap="square" lIns="0" tIns="0" rIns="0" bIns="0" rtlCol="0" anchor="ctr"/>
          <a:lstStyle/>
          <a:p>
            <a:pPr algn="r" indent="0" marL="0">
              <a:buNone/>
            </a:pPr>
            <a:r>
              <a:rPr lang="en-US" sz="1450" b="1" spc="180" kern="0" dirty="0">
                <a:solidFill>
                  <a:srgbClr val="C0402A"/>
                </a:solidFill>
                <a:latin typeface="Arial" pitchFamily="34" charset="0"/>
                <a:ea typeface="Arial" pitchFamily="34" charset="-122"/>
                <a:cs typeface="Arial" pitchFamily="34" charset="-120"/>
              </a:rPr>
              <a:t>25 MIN</a:t>
            </a:r>
            <a:endParaRPr lang="en-US" sz="1450" dirty="0"/>
          </a:p>
        </p:txBody>
      </p:sp>
      <p:sp>
        <p:nvSpPr>
          <p:cNvPr id="8" name="Shape 6"/>
          <p:cNvSpPr/>
          <p:nvPr/>
        </p:nvSpPr>
        <p:spPr>
          <a:xfrm>
            <a:off x="786384" y="5358384"/>
            <a:ext cx="585216" cy="292608"/>
          </a:xfrm>
          <a:prstGeom prst="rect">
            <a:avLst/>
          </a:prstGeom>
          <a:solidFill>
            <a:srgbClr val="121212"/>
          </a:solidFill>
          <a:ln w="9525">
            <a:solidFill>
              <a:srgbClr val="45423E"/>
            </a:solidFill>
            <a:prstDash val="solid"/>
          </a:ln>
        </p:spPr>
      </p:sp>
      <p:sp>
        <p:nvSpPr>
          <p:cNvPr id="9" name="Text 7"/>
          <p:cNvSpPr/>
          <p:nvPr/>
        </p:nvSpPr>
        <p:spPr>
          <a:xfrm>
            <a:off x="786384" y="5358384"/>
            <a:ext cx="585216" cy="292608"/>
          </a:xfrm>
          <a:prstGeom prst="rect">
            <a:avLst/>
          </a:prstGeom>
          <a:noFill/>
          <a:ln/>
        </p:spPr>
        <p:txBody>
          <a:bodyPr wrap="square" lIns="0" tIns="0" rIns="0" bIns="0" rtlCol="0" anchor="ctr"/>
          <a:lstStyle/>
          <a:p>
            <a:pPr algn="ctr" indent="0" marL="0">
              <a:buNone/>
            </a:pPr>
            <a:r>
              <a:rPr lang="en-US" sz="1100" b="1" spc="60" kern="0" dirty="0">
                <a:solidFill>
                  <a:srgbClr val="B5B0A8"/>
                </a:solidFill>
                <a:latin typeface="Arial" pitchFamily="34" charset="0"/>
                <a:ea typeface="Arial" pitchFamily="34" charset="-122"/>
                <a:cs typeface="Arial" pitchFamily="34" charset="-120"/>
              </a:rPr>
              <a:t>LV4</a:t>
            </a:r>
            <a:endParaRPr lang="en-US" sz="1100" dirty="0"/>
          </a:p>
        </p:txBody>
      </p:sp>
      <p:sp>
        <p:nvSpPr>
          <p:cNvPr id="10" name="Text 8"/>
          <p:cNvSpPr/>
          <p:nvPr/>
        </p:nvSpPr>
        <p:spPr>
          <a:xfrm>
            <a:off x="10490911" y="6309360"/>
            <a:ext cx="914400" cy="274320"/>
          </a:xfrm>
          <a:prstGeom prst="rect">
            <a:avLst/>
          </a:prstGeom>
          <a:noFill/>
          <a:ln/>
        </p:spPr>
        <p:txBody>
          <a:bodyPr wrap="square" lIns="0" tIns="0" rIns="0" bIns="0" rtlCol="0" anchor="ctr"/>
          <a:lstStyle/>
          <a:p>
            <a:pPr algn="r" indent="0" marL="0">
              <a:buNone/>
            </a:pPr>
            <a:r>
              <a:rPr lang="en-US" sz="1200" dirty="0">
                <a:solidFill>
                  <a:srgbClr val="56534E"/>
                </a:solidFill>
                <a:latin typeface="Arial" pitchFamily="34" charset="0"/>
                <a:ea typeface="Arial" pitchFamily="34" charset="-122"/>
                <a:cs typeface="Arial" pitchFamily="34" charset="-120"/>
              </a:rPr>
              <a:t>18</a:t>
            </a:r>
            <a:endParaRPr lang="en-US" sz="12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AF8F5"/>
        </a:solidFill>
      </p:bgPr>
    </p:bg>
    <p:spTree>
      <p:nvGrpSpPr>
        <p:cNvPr id="1" name=""/>
        <p:cNvGrpSpPr/>
        <p:nvPr/>
      </p:nvGrpSpPr>
      <p:grpSpPr>
        <a:xfrm>
          <a:off x="0" y="0"/>
          <a:ext cx="0" cy="0"/>
          <a:chOff x="0" y="0"/>
          <a:chExt cx="0" cy="0"/>
        </a:xfrm>
      </p:grpSpPr>
      <p:sp>
        <p:nvSpPr>
          <p:cNvPr id="2" name="Text 0"/>
          <p:cNvSpPr/>
          <p:nvPr/>
        </p:nvSpPr>
        <p:spPr>
          <a:xfrm>
            <a:off x="786384" y="402336"/>
            <a:ext cx="3657600" cy="237744"/>
          </a:xfrm>
          <a:prstGeom prst="rect">
            <a:avLst/>
          </a:prstGeom>
          <a:noFill/>
          <a:ln/>
        </p:spPr>
        <p:txBody>
          <a:bodyPr wrap="square" lIns="0" tIns="0" rIns="0" bIns="0" rtlCol="0" anchor="ctr"/>
          <a:lstStyle/>
          <a:p>
            <a:pPr indent="0" marL="0">
              <a:buNone/>
            </a:pPr>
            <a:r>
              <a:rPr lang="en-US" sz="950" b="1" spc="240" kern="0" dirty="0">
                <a:solidFill>
                  <a:srgbClr val="9C978E"/>
                </a:solidFill>
                <a:latin typeface="Arial" pitchFamily="34" charset="0"/>
                <a:ea typeface="Arial" pitchFamily="34" charset="-122"/>
                <a:cs typeface="Arial" pitchFamily="34" charset="-120"/>
              </a:rPr>
              <a:t>THEORY</a:t>
            </a:r>
            <a:endParaRPr lang="en-US" sz="950" dirty="0"/>
          </a:p>
        </p:txBody>
      </p:sp>
      <p:sp>
        <p:nvSpPr>
          <p:cNvPr id="3" name="Text 1"/>
          <p:cNvSpPr/>
          <p:nvPr/>
        </p:nvSpPr>
        <p:spPr>
          <a:xfrm>
            <a:off x="786384" y="713232"/>
            <a:ext cx="7923047" cy="676656"/>
          </a:xfrm>
          <a:prstGeom prst="rect">
            <a:avLst/>
          </a:prstGeom>
          <a:noFill/>
          <a:ln/>
        </p:spPr>
        <p:txBody>
          <a:bodyPr wrap="square" lIns="0" tIns="0" rIns="0" bIns="0" rtlCol="0" anchor="ctr"/>
          <a:lstStyle/>
          <a:p>
            <a:pPr indent="0" marL="0">
              <a:buNone/>
            </a:pPr>
            <a:r>
              <a:rPr lang="en-US" sz="2900" b="1" dirty="0">
                <a:solidFill>
                  <a:srgbClr val="141414"/>
                </a:solidFill>
                <a:latin typeface="Arial" pitchFamily="34" charset="0"/>
                <a:ea typeface="Arial" pitchFamily="34" charset="-122"/>
                <a:cs typeface="Arial" pitchFamily="34" charset="-120"/>
              </a:rPr>
              <a:t>Why Compound Questions Fail</a:t>
            </a:r>
            <a:endParaRPr lang="en-US" sz="2900" dirty="0"/>
          </a:p>
        </p:txBody>
      </p:sp>
      <p:sp>
        <p:nvSpPr>
          <p:cNvPr id="4" name="Shape 2"/>
          <p:cNvSpPr/>
          <p:nvPr/>
        </p:nvSpPr>
        <p:spPr>
          <a:xfrm>
            <a:off x="10801807" y="877824"/>
            <a:ext cx="585216" cy="292608"/>
          </a:xfrm>
          <a:prstGeom prst="rect">
            <a:avLst/>
          </a:prstGeom>
          <a:solidFill>
            <a:srgbClr val="FAF8F5"/>
          </a:solidFill>
          <a:ln w="9525">
            <a:solidFill>
              <a:srgbClr val="D5D1CA"/>
            </a:solidFill>
            <a:prstDash val="solid"/>
          </a:ln>
        </p:spPr>
      </p:sp>
      <p:sp>
        <p:nvSpPr>
          <p:cNvPr id="5" name="Text 3"/>
          <p:cNvSpPr/>
          <p:nvPr/>
        </p:nvSpPr>
        <p:spPr>
          <a:xfrm>
            <a:off x="10801807" y="877824"/>
            <a:ext cx="585216" cy="292608"/>
          </a:xfrm>
          <a:prstGeom prst="rect">
            <a:avLst/>
          </a:prstGeom>
          <a:noFill/>
          <a:ln/>
        </p:spPr>
        <p:txBody>
          <a:bodyPr wrap="square" lIns="0" tIns="0" rIns="0" bIns="0" rtlCol="0" anchor="ctr"/>
          <a:lstStyle/>
          <a:p>
            <a:pPr algn="ctr" indent="0" marL="0">
              <a:buNone/>
            </a:pPr>
            <a:r>
              <a:rPr lang="en-US" sz="1100" b="1" spc="60" kern="0" dirty="0">
                <a:solidFill>
                  <a:srgbClr val="2E2C28"/>
                </a:solidFill>
                <a:latin typeface="Arial" pitchFamily="34" charset="0"/>
                <a:ea typeface="Arial" pitchFamily="34" charset="-122"/>
                <a:cs typeface="Arial" pitchFamily="34" charset="-120"/>
              </a:rPr>
              <a:t>LV4</a:t>
            </a:r>
            <a:endParaRPr lang="en-US" sz="1100" dirty="0"/>
          </a:p>
        </p:txBody>
      </p:sp>
      <p:sp>
        <p:nvSpPr>
          <p:cNvPr id="6" name="Shape 4"/>
          <p:cNvSpPr/>
          <p:nvPr/>
        </p:nvSpPr>
        <p:spPr>
          <a:xfrm>
            <a:off x="786384" y="1426464"/>
            <a:ext cx="10618927" cy="10973"/>
          </a:xfrm>
          <a:prstGeom prst="rect">
            <a:avLst/>
          </a:prstGeom>
          <a:solidFill>
            <a:srgbClr val="D5D1CA"/>
          </a:solidFill>
          <a:ln/>
        </p:spPr>
      </p:sp>
      <p:sp>
        <p:nvSpPr>
          <p:cNvPr id="7" name="Text 5"/>
          <p:cNvSpPr/>
          <p:nvPr/>
        </p:nvSpPr>
        <p:spPr>
          <a:xfrm>
            <a:off x="10490911" y="6309360"/>
            <a:ext cx="914400" cy="274320"/>
          </a:xfrm>
          <a:prstGeom prst="rect">
            <a:avLst/>
          </a:prstGeom>
          <a:noFill/>
          <a:ln/>
        </p:spPr>
        <p:txBody>
          <a:bodyPr wrap="square" lIns="0" tIns="0" rIns="0" bIns="0" rtlCol="0" anchor="ctr"/>
          <a:lstStyle/>
          <a:p>
            <a:pPr algn="r" indent="0" marL="0">
              <a:buNone/>
            </a:pPr>
            <a:r>
              <a:rPr lang="en-US" sz="1200" dirty="0">
                <a:solidFill>
                  <a:srgbClr val="9C978E"/>
                </a:solidFill>
                <a:latin typeface="Arial" pitchFamily="34" charset="0"/>
                <a:ea typeface="Arial" pitchFamily="34" charset="-122"/>
                <a:cs typeface="Arial" pitchFamily="34" charset="-120"/>
              </a:rPr>
              <a:t>19</a:t>
            </a:r>
            <a:endParaRPr lang="en-US" sz="1200" dirty="0"/>
          </a:p>
        </p:txBody>
      </p:sp>
      <p:sp>
        <p:nvSpPr>
          <p:cNvPr id="8" name="Text 6"/>
          <p:cNvSpPr/>
          <p:nvPr/>
        </p:nvSpPr>
        <p:spPr>
          <a:xfrm>
            <a:off x="786384" y="1827703"/>
            <a:ext cx="9769413" cy="965606"/>
          </a:xfrm>
          <a:prstGeom prst="rect">
            <a:avLst/>
          </a:prstGeom>
          <a:noFill/>
          <a:ln/>
        </p:spPr>
        <p:txBody>
          <a:bodyPr wrap="square" lIns="0" tIns="0" rIns="0" bIns="0" rtlCol="0" anchor="ctr"/>
          <a:lstStyle/>
          <a:p>
            <a:pPr indent="0" marL="0">
              <a:lnSpc>
                <a:spcPts val="2400"/>
              </a:lnSpc>
              <a:buNone/>
            </a:pPr>
            <a:r>
              <a:rPr lang="en-US" sz="1650" dirty="0">
                <a:solidFill>
                  <a:srgbClr val="141414"/>
                </a:solidFill>
                <a:latin typeface="Arial" pitchFamily="34" charset="0"/>
                <a:ea typeface="Arial" pitchFamily="34" charset="-122"/>
                <a:cs typeface="Arial" pitchFamily="34" charset="-120"/>
              </a:rPr>
              <a:t>A question with two parts still produces one embedding, and that single point sits between the two topics. It can end up closer to neither of them than a question about just one would be.</a:t>
            </a:r>
            <a:endParaRPr lang="en-US" sz="1650" dirty="0"/>
          </a:p>
        </p:txBody>
      </p:sp>
      <p:sp>
        <p:nvSpPr>
          <p:cNvPr id="9" name="Shape 7"/>
          <p:cNvSpPr/>
          <p:nvPr/>
        </p:nvSpPr>
        <p:spPr>
          <a:xfrm>
            <a:off x="786384" y="2938150"/>
            <a:ext cx="5840410" cy="2275210"/>
          </a:xfrm>
          <a:prstGeom prst="rect">
            <a:avLst/>
          </a:prstGeom>
          <a:solidFill>
            <a:srgbClr val="F2EFEA"/>
          </a:solidFill>
          <a:ln/>
        </p:spPr>
      </p:sp>
      <p:sp>
        <p:nvSpPr>
          <p:cNvPr id="10" name="Shape 8"/>
          <p:cNvSpPr/>
          <p:nvPr/>
        </p:nvSpPr>
        <p:spPr>
          <a:xfrm>
            <a:off x="786384" y="2938150"/>
            <a:ext cx="27432" cy="2275210"/>
          </a:xfrm>
          <a:prstGeom prst="rect">
            <a:avLst/>
          </a:prstGeom>
          <a:solidFill>
            <a:srgbClr val="C0402A"/>
          </a:solidFill>
          <a:ln/>
        </p:spPr>
      </p:sp>
      <p:sp>
        <p:nvSpPr>
          <p:cNvPr id="11" name="Text 9"/>
          <p:cNvSpPr/>
          <p:nvPr/>
        </p:nvSpPr>
        <p:spPr>
          <a:xfrm>
            <a:off x="1042416" y="3131271"/>
            <a:ext cx="5401498" cy="1888968"/>
          </a:xfrm>
          <a:prstGeom prst="rect">
            <a:avLst/>
          </a:prstGeom>
          <a:noFill/>
          <a:ln/>
        </p:spPr>
        <p:txBody>
          <a:bodyPr wrap="square" lIns="0" tIns="0" rIns="0" bIns="0" rtlCol="0" anchor="t"/>
          <a:lstStyle/>
          <a:p>
            <a:pPr indent="0" marL="0">
              <a:lnSpc>
                <a:spcPts val="1900"/>
              </a:lnSpc>
              <a:buNone/>
            </a:pPr>
            <a:r>
              <a:rPr lang="en-US" sz="1300" dirty="0">
                <a:solidFill>
                  <a:srgbClr val="2A2724"/>
                </a:solidFill>
                <a:latin typeface="Courier New" pitchFamily="34" charset="0"/>
                <a:ea typeface="Courier New" pitchFamily="34" charset="-122"/>
                <a:cs typeface="Courier New" pitchFamily="34" charset="-120"/>
              </a:rPr>
              <a:t>embed("Which faculty runs the Innovation Wing</a:t>
            </a:r>
            <a:endParaRPr lang="en-US" sz="1300" dirty="0"/>
          </a:p>
          <a:p>
            <a:pPr indent="0" marL="0">
              <a:lnSpc>
                <a:spcPts val="1900"/>
              </a:lnSpc>
              <a:buNone/>
            </a:pPr>
            <a:r>
              <a:rPr lang="en-US" sz="1300" dirty="0">
                <a:solidFill>
                  <a:srgbClr val="2A2724"/>
                </a:solidFill>
                <a:latin typeface="Courier New" pitchFamily="34" charset="0"/>
                <a:ea typeface="Courier New" pitchFamily="34" charset="-122"/>
                <a:cs typeface="Courier New" pitchFamily="34" charset="-120"/>
              </a:rPr>
              <a:t>       and who is its director?")</a:t>
            </a:r>
            <a:endParaRPr lang="en-US" sz="1300" dirty="0"/>
          </a:p>
          <a:p>
            <a:pPr indent="0" marL="0">
              <a:lnSpc>
                <a:spcPts val="1900"/>
              </a:lnSpc>
              <a:buNone/>
            </a:pPr>
            <a:endParaRPr lang="en-US" sz="1300" dirty="0"/>
          </a:p>
          <a:p>
            <a:pPr indent="0" marL="0">
              <a:lnSpc>
                <a:spcPts val="1900"/>
              </a:lnSpc>
              <a:buNone/>
            </a:pPr>
            <a:r>
              <a:rPr lang="en-US" sz="1300" dirty="0">
                <a:solidFill>
                  <a:srgbClr val="2A2724"/>
                </a:solidFill>
                <a:latin typeface="Courier New" pitchFamily="34" charset="0"/>
                <a:ea typeface="Courier New" pitchFamily="34" charset="-122"/>
                <a:cs typeface="Courier New" pitchFamily="34" charset="-120"/>
              </a:rPr>
              <a:t>  -&gt; one point, halfway between</a:t>
            </a:r>
            <a:endParaRPr lang="en-US" sz="1300" dirty="0"/>
          </a:p>
          <a:p>
            <a:pPr indent="0" marL="0">
              <a:lnSpc>
                <a:spcPts val="1900"/>
              </a:lnSpc>
              <a:buNone/>
            </a:pPr>
            <a:r>
              <a:rPr lang="en-US" sz="1300" dirty="0">
                <a:solidFill>
                  <a:srgbClr val="2A2724"/>
                </a:solidFill>
                <a:latin typeface="Courier New" pitchFamily="34" charset="0"/>
                <a:ea typeface="Courier New" pitchFamily="34" charset="-122"/>
                <a:cs typeface="Courier New" pitchFamily="34" charset="-120"/>
              </a:rPr>
              <a:t>     faculty pages and staff pages</a:t>
            </a:r>
            <a:endParaRPr lang="en-US" sz="1300" dirty="0"/>
          </a:p>
        </p:txBody>
      </p:sp>
      <p:sp>
        <p:nvSpPr>
          <p:cNvPr id="12" name="Shape 10"/>
          <p:cNvSpPr/>
          <p:nvPr/>
        </p:nvSpPr>
        <p:spPr>
          <a:xfrm>
            <a:off x="7051551" y="2938150"/>
            <a:ext cx="4353760" cy="28968"/>
          </a:xfrm>
          <a:prstGeom prst="rect">
            <a:avLst/>
          </a:prstGeom>
          <a:solidFill>
            <a:srgbClr val="C0402A"/>
          </a:solidFill>
          <a:ln/>
        </p:spPr>
      </p:sp>
      <p:sp>
        <p:nvSpPr>
          <p:cNvPr id="13" name="Text 11"/>
          <p:cNvSpPr/>
          <p:nvPr/>
        </p:nvSpPr>
        <p:spPr>
          <a:xfrm>
            <a:off x="7051551" y="3131271"/>
            <a:ext cx="4353760" cy="454304"/>
          </a:xfrm>
          <a:prstGeom prst="rect">
            <a:avLst/>
          </a:prstGeom>
          <a:noFill/>
          <a:ln/>
        </p:spPr>
        <p:txBody>
          <a:bodyPr wrap="square" lIns="0" tIns="0" rIns="0" bIns="0" rtlCol="0" anchor="ctr"/>
          <a:lstStyle/>
          <a:p>
            <a:pPr indent="0" marL="0">
              <a:lnSpc>
                <a:spcPts val="2350"/>
              </a:lnSpc>
              <a:buNone/>
            </a:pPr>
            <a:r>
              <a:rPr lang="en-US" sz="1950" b="1" dirty="0">
                <a:solidFill>
                  <a:srgbClr val="141414"/>
                </a:solidFill>
                <a:latin typeface="Arial" pitchFamily="34" charset="0"/>
                <a:ea typeface="Arial" pitchFamily="34" charset="-122"/>
                <a:cs typeface="Arial" pitchFamily="34" charset="-120"/>
              </a:rPr>
              <a:t>Split the question</a:t>
            </a:r>
            <a:endParaRPr lang="en-US" sz="1950" dirty="0"/>
          </a:p>
        </p:txBody>
      </p:sp>
      <p:sp>
        <p:nvSpPr>
          <p:cNvPr id="14" name="Text 12"/>
          <p:cNvSpPr/>
          <p:nvPr/>
        </p:nvSpPr>
        <p:spPr>
          <a:xfrm>
            <a:off x="7051551" y="3682136"/>
            <a:ext cx="4353760" cy="1141628"/>
          </a:xfrm>
          <a:prstGeom prst="rect">
            <a:avLst/>
          </a:prstGeom>
          <a:noFill/>
          <a:ln/>
        </p:spPr>
        <p:txBody>
          <a:bodyPr wrap="square" lIns="0" tIns="0" rIns="0" bIns="0" rtlCol="0" anchor="t"/>
          <a:lstStyle/>
          <a:p>
            <a:pPr indent="0" marL="0">
              <a:lnSpc>
                <a:spcPts val="2150"/>
              </a:lnSpc>
              <a:buNone/>
            </a:pPr>
            <a:r>
              <a:rPr lang="en-US" sz="1450" dirty="0">
                <a:solidFill>
                  <a:srgbClr val="141414"/>
                </a:solidFill>
                <a:latin typeface="Arial" pitchFamily="34" charset="0"/>
                <a:ea typeface="Arial" pitchFamily="34" charset="-122"/>
                <a:cs typeface="Arial" pitchFamily="34" charset="-120"/>
              </a:rPr>
              <a:t>Two sub-questions, two embeddings, two searches. Each one matches its own topic, and you combine the retrieved text before asking the model.</a:t>
            </a:r>
            <a:endParaRPr lang="en-US" sz="1450" dirty="0"/>
          </a:p>
        </p:txBody>
      </p:sp>
      <p:sp>
        <p:nvSpPr>
          <p:cNvPr id="15" name="Text 13"/>
          <p:cNvSpPr/>
          <p:nvPr/>
        </p:nvSpPr>
        <p:spPr>
          <a:xfrm>
            <a:off x="786384" y="4990064"/>
            <a:ext cx="9981792" cy="844906"/>
          </a:xfrm>
          <a:prstGeom prst="rect">
            <a:avLst/>
          </a:prstGeom>
          <a:noFill/>
          <a:ln/>
        </p:spPr>
        <p:txBody>
          <a:bodyPr wrap="square" lIns="0" tIns="0" rIns="0" bIns="0" rtlCol="0" anchor="ctr"/>
          <a:lstStyle/>
          <a:p>
            <a:pPr indent="0" marL="0">
              <a:lnSpc>
                <a:spcPts val="2400"/>
              </a:lnSpc>
              <a:buNone/>
            </a:pPr>
            <a:r>
              <a:rPr lang="en-US" sz="1600" dirty="0">
                <a:solidFill>
                  <a:srgbClr val="141414"/>
                </a:solidFill>
                <a:latin typeface="Arial" pitchFamily="34" charset="0"/>
                <a:ea typeface="Arial" pitchFamily="34" charset="-122"/>
                <a:cs typeface="Arial" pitchFamily="34" charset="-120"/>
              </a:rPr>
              <a:t>This is why decomposition works. It is also the same reason a chunk covering several topics retrieves poorly: averaging several meanings into one vector weakens all of them.</a:t>
            </a:r>
            <a:endParaRPr lang="en-US" sz="16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AF8F5"/>
        </a:solidFill>
      </p:bgPr>
    </p:bg>
    <p:spTree>
      <p:nvGrpSpPr>
        <p:cNvPr id="1" name=""/>
        <p:cNvGrpSpPr/>
        <p:nvPr/>
      </p:nvGrpSpPr>
      <p:grpSpPr>
        <a:xfrm>
          <a:off x="0" y="0"/>
          <a:ext cx="0" cy="0"/>
          <a:chOff x="0" y="0"/>
          <a:chExt cx="0" cy="0"/>
        </a:xfrm>
      </p:grpSpPr>
      <p:sp>
        <p:nvSpPr>
          <p:cNvPr id="2" name="Text 0"/>
          <p:cNvSpPr/>
          <p:nvPr/>
        </p:nvSpPr>
        <p:spPr>
          <a:xfrm>
            <a:off x="786384" y="402336"/>
            <a:ext cx="3657600" cy="237744"/>
          </a:xfrm>
          <a:prstGeom prst="rect">
            <a:avLst/>
          </a:prstGeom>
          <a:noFill/>
          <a:ln/>
        </p:spPr>
        <p:txBody>
          <a:bodyPr wrap="square" lIns="0" tIns="0" rIns="0" bIns="0" rtlCol="0" anchor="ctr"/>
          <a:lstStyle/>
          <a:p>
            <a:pPr indent="0" marL="0">
              <a:buNone/>
            </a:pPr>
            <a:r>
              <a:rPr lang="en-US" sz="950" b="1" spc="240" kern="0" dirty="0">
                <a:solidFill>
                  <a:srgbClr val="9C978E"/>
                </a:solidFill>
                <a:latin typeface="Arial" pitchFamily="34" charset="0"/>
                <a:ea typeface="Arial" pitchFamily="34" charset="-122"/>
                <a:cs typeface="Arial" pitchFamily="34" charset="-120"/>
              </a:rPr>
              <a:t>THEORY</a:t>
            </a:r>
            <a:endParaRPr lang="en-US" sz="950" dirty="0"/>
          </a:p>
        </p:txBody>
      </p:sp>
      <p:sp>
        <p:nvSpPr>
          <p:cNvPr id="3" name="Text 1"/>
          <p:cNvSpPr/>
          <p:nvPr/>
        </p:nvSpPr>
        <p:spPr>
          <a:xfrm>
            <a:off x="786384" y="713232"/>
            <a:ext cx="7923047" cy="676656"/>
          </a:xfrm>
          <a:prstGeom prst="rect">
            <a:avLst/>
          </a:prstGeom>
          <a:noFill/>
          <a:ln/>
        </p:spPr>
        <p:txBody>
          <a:bodyPr wrap="square" lIns="0" tIns="0" rIns="0" bIns="0" rtlCol="0" anchor="ctr"/>
          <a:lstStyle/>
          <a:p>
            <a:pPr indent="0" marL="0">
              <a:buNone/>
            </a:pPr>
            <a:r>
              <a:rPr lang="en-US" sz="2900" b="1" dirty="0">
                <a:solidFill>
                  <a:srgbClr val="141414"/>
                </a:solidFill>
                <a:latin typeface="Arial" pitchFamily="34" charset="0"/>
                <a:ea typeface="Arial" pitchFamily="34" charset="-122"/>
                <a:cs typeface="Arial" pitchFamily="34" charset="-120"/>
              </a:rPr>
              <a:t>Counting Questions</a:t>
            </a:r>
            <a:endParaRPr lang="en-US" sz="2900" dirty="0"/>
          </a:p>
        </p:txBody>
      </p:sp>
      <p:sp>
        <p:nvSpPr>
          <p:cNvPr id="4" name="Shape 2"/>
          <p:cNvSpPr/>
          <p:nvPr/>
        </p:nvSpPr>
        <p:spPr>
          <a:xfrm>
            <a:off x="10801807" y="877824"/>
            <a:ext cx="585216" cy="292608"/>
          </a:xfrm>
          <a:prstGeom prst="rect">
            <a:avLst/>
          </a:prstGeom>
          <a:solidFill>
            <a:srgbClr val="FAF8F5"/>
          </a:solidFill>
          <a:ln w="9525">
            <a:solidFill>
              <a:srgbClr val="D5D1CA"/>
            </a:solidFill>
            <a:prstDash val="solid"/>
          </a:ln>
        </p:spPr>
      </p:sp>
      <p:sp>
        <p:nvSpPr>
          <p:cNvPr id="5" name="Text 3"/>
          <p:cNvSpPr/>
          <p:nvPr/>
        </p:nvSpPr>
        <p:spPr>
          <a:xfrm>
            <a:off x="10801807" y="877824"/>
            <a:ext cx="585216" cy="292608"/>
          </a:xfrm>
          <a:prstGeom prst="rect">
            <a:avLst/>
          </a:prstGeom>
          <a:noFill/>
          <a:ln/>
        </p:spPr>
        <p:txBody>
          <a:bodyPr wrap="square" lIns="0" tIns="0" rIns="0" bIns="0" rtlCol="0" anchor="ctr"/>
          <a:lstStyle/>
          <a:p>
            <a:pPr algn="ctr" indent="0" marL="0">
              <a:buNone/>
            </a:pPr>
            <a:r>
              <a:rPr lang="en-US" sz="1100" b="1" spc="60" kern="0" dirty="0">
                <a:solidFill>
                  <a:srgbClr val="2E2C28"/>
                </a:solidFill>
                <a:latin typeface="Arial" pitchFamily="34" charset="0"/>
                <a:ea typeface="Arial" pitchFamily="34" charset="-122"/>
                <a:cs typeface="Arial" pitchFamily="34" charset="-120"/>
              </a:rPr>
              <a:t>LV4</a:t>
            </a:r>
            <a:endParaRPr lang="en-US" sz="1100" dirty="0"/>
          </a:p>
        </p:txBody>
      </p:sp>
      <p:sp>
        <p:nvSpPr>
          <p:cNvPr id="6" name="Shape 4"/>
          <p:cNvSpPr/>
          <p:nvPr/>
        </p:nvSpPr>
        <p:spPr>
          <a:xfrm>
            <a:off x="786384" y="1426464"/>
            <a:ext cx="10618927" cy="10973"/>
          </a:xfrm>
          <a:prstGeom prst="rect">
            <a:avLst/>
          </a:prstGeom>
          <a:solidFill>
            <a:srgbClr val="D5D1CA"/>
          </a:solidFill>
          <a:ln/>
        </p:spPr>
      </p:sp>
      <p:sp>
        <p:nvSpPr>
          <p:cNvPr id="7" name="Text 5"/>
          <p:cNvSpPr/>
          <p:nvPr/>
        </p:nvSpPr>
        <p:spPr>
          <a:xfrm>
            <a:off x="10490911" y="6309360"/>
            <a:ext cx="914400" cy="274320"/>
          </a:xfrm>
          <a:prstGeom prst="rect">
            <a:avLst/>
          </a:prstGeom>
          <a:noFill/>
          <a:ln/>
        </p:spPr>
        <p:txBody>
          <a:bodyPr wrap="square" lIns="0" tIns="0" rIns="0" bIns="0" rtlCol="0" anchor="ctr"/>
          <a:lstStyle/>
          <a:p>
            <a:pPr algn="r" indent="0" marL="0">
              <a:buNone/>
            </a:pPr>
            <a:r>
              <a:rPr lang="en-US" sz="1200" dirty="0">
                <a:solidFill>
                  <a:srgbClr val="9C978E"/>
                </a:solidFill>
                <a:latin typeface="Arial" pitchFamily="34" charset="0"/>
                <a:ea typeface="Arial" pitchFamily="34" charset="-122"/>
                <a:cs typeface="Arial" pitchFamily="34" charset="-120"/>
              </a:rPr>
              <a:t>20</a:t>
            </a:r>
            <a:endParaRPr lang="en-US" sz="1200" dirty="0"/>
          </a:p>
        </p:txBody>
      </p:sp>
      <p:sp>
        <p:nvSpPr>
          <p:cNvPr id="9" name="Shape 6"/>
          <p:cNvSpPr/>
          <p:nvPr/>
        </p:nvSpPr>
        <p:spPr>
          <a:xfrm>
            <a:off x="786384" y="1827703"/>
            <a:ext cx="10618927" cy="1207008"/>
          </a:xfrm>
          <a:prstGeom prst="roundRect">
            <a:avLst>
              <a:gd name="adj" fmla="val 3788"/>
            </a:avLst>
          </a:prstGeom>
          <a:solidFill>
            <a:srgbClr val="F0EDE8"/>
          </a:solidFill>
          <a:ln/>
        </p:spPr>
      </p:sp>
      <p:sp>
        <p:nvSpPr>
          <p:cNvPr id="10" name="Text 7"/>
          <p:cNvSpPr/>
          <p:nvPr/>
        </p:nvSpPr>
        <p:spPr>
          <a:xfrm>
            <a:off x="1060704" y="2020824"/>
            <a:ext cx="10070287" cy="482803"/>
          </a:xfrm>
          <a:prstGeom prst="rect">
            <a:avLst/>
          </a:prstGeom>
          <a:noFill/>
          <a:ln/>
        </p:spPr>
        <p:txBody>
          <a:bodyPr wrap="square" lIns="0" tIns="0" rIns="0" bIns="0" rtlCol="0" anchor="ctr"/>
          <a:lstStyle/>
          <a:p>
            <a:pPr indent="0" marL="0">
              <a:buNone/>
            </a:pPr>
            <a:r>
              <a:rPr lang="en-US" sz="2100" b="1" dirty="0">
                <a:solidFill>
                  <a:srgbClr val="141414"/>
                </a:solidFill>
                <a:latin typeface="Arial" pitchFamily="34" charset="0"/>
                <a:ea typeface="Arial" pitchFamily="34" charset="-122"/>
                <a:cs typeface="Arial" pitchFamily="34" charset="-120"/>
              </a:rPr>
              <a:t>How many workshop posters are on the Innovation Academy website for 2025?</a:t>
            </a:r>
            <a:endParaRPr lang="en-US" sz="2100" dirty="0"/>
          </a:p>
        </p:txBody>
      </p:sp>
      <p:sp>
        <p:nvSpPr>
          <p:cNvPr id="11" name="Text 8"/>
          <p:cNvSpPr/>
          <p:nvPr/>
        </p:nvSpPr>
        <p:spPr>
          <a:xfrm>
            <a:off x="1060704" y="2551908"/>
            <a:ext cx="10070287" cy="386243"/>
          </a:xfrm>
          <a:prstGeom prst="rect">
            <a:avLst/>
          </a:prstGeom>
          <a:noFill/>
          <a:ln/>
        </p:spPr>
        <p:txBody>
          <a:bodyPr wrap="square" lIns="0" tIns="0" rIns="0" bIns="0" rtlCol="0" anchor="ctr"/>
          <a:lstStyle/>
          <a:p>
            <a:pPr indent="0" marL="0">
              <a:buNone/>
            </a:pPr>
            <a:r>
              <a:rPr lang="en-US" sz="1600" dirty="0">
                <a:solidFill>
                  <a:srgbClr val="C0402A"/>
                </a:solidFill>
                <a:latin typeface="Arial" pitchFamily="34" charset="0"/>
                <a:ea typeface="Arial" pitchFamily="34" charset="-122"/>
                <a:cs typeface="Arial" pitchFamily="34" charset="-120"/>
              </a:rPr>
              <a:t>Answer: 31</a:t>
            </a:r>
            <a:endParaRPr lang="en-US" sz="1600" dirty="0"/>
          </a:p>
        </p:txBody>
      </p:sp>
      <p:sp>
        <p:nvSpPr>
          <p:cNvPr id="12" name="Shape 9"/>
          <p:cNvSpPr/>
          <p:nvPr/>
        </p:nvSpPr>
        <p:spPr>
          <a:xfrm>
            <a:off x="786384" y="3513993"/>
            <a:ext cx="155448" cy="24140"/>
          </a:xfrm>
          <a:prstGeom prst="rect">
            <a:avLst/>
          </a:prstGeom>
          <a:solidFill>
            <a:srgbClr val="C0402A"/>
          </a:solidFill>
          <a:ln/>
        </p:spPr>
      </p:sp>
      <p:sp>
        <p:nvSpPr>
          <p:cNvPr id="13" name="Text 10"/>
          <p:cNvSpPr/>
          <p:nvPr/>
        </p:nvSpPr>
        <p:spPr>
          <a:xfrm>
            <a:off x="1097280" y="3348533"/>
            <a:ext cx="9670896" cy="466374"/>
          </a:xfrm>
          <a:prstGeom prst="rect">
            <a:avLst/>
          </a:prstGeom>
          <a:noFill/>
          <a:ln/>
        </p:spPr>
        <p:txBody>
          <a:bodyPr wrap="square" lIns="0" tIns="0" rIns="0" bIns="0" rtlCol="0" anchor="t"/>
          <a:lstStyle/>
          <a:p>
            <a:pPr indent="0" marL="0">
              <a:lnSpc>
                <a:spcPts val="2350"/>
              </a:lnSpc>
              <a:buNone/>
            </a:pPr>
            <a:r>
              <a:rPr lang="en-US" sz="1650" dirty="0">
                <a:solidFill>
                  <a:srgbClr val="141414"/>
                </a:solidFill>
                <a:latin typeface="Arial" pitchFamily="34" charset="0"/>
                <a:ea typeface="Arial" pitchFamily="34" charset="-122"/>
                <a:cs typeface="Arial" pitchFamily="34" charset="-120"/>
              </a:rPr>
              <a:t>No chunk anywhere on that website contains the number 31. It is not written down.</a:t>
            </a:r>
            <a:endParaRPr lang="en-US" sz="1650" dirty="0"/>
          </a:p>
        </p:txBody>
      </p:sp>
      <p:sp>
        <p:nvSpPr>
          <p:cNvPr id="14" name="Shape 11"/>
          <p:cNvSpPr/>
          <p:nvPr/>
        </p:nvSpPr>
        <p:spPr>
          <a:xfrm>
            <a:off x="786384" y="4157731"/>
            <a:ext cx="155448" cy="24140"/>
          </a:xfrm>
          <a:prstGeom prst="rect">
            <a:avLst/>
          </a:prstGeom>
          <a:solidFill>
            <a:srgbClr val="C0402A"/>
          </a:solidFill>
          <a:ln/>
        </p:spPr>
      </p:sp>
      <p:sp>
        <p:nvSpPr>
          <p:cNvPr id="15" name="Text 12"/>
          <p:cNvSpPr/>
          <p:nvPr/>
        </p:nvSpPr>
        <p:spPr>
          <a:xfrm>
            <a:off x="1097280" y="3992270"/>
            <a:ext cx="9670896" cy="466374"/>
          </a:xfrm>
          <a:prstGeom prst="rect">
            <a:avLst/>
          </a:prstGeom>
          <a:noFill/>
          <a:ln/>
        </p:spPr>
        <p:txBody>
          <a:bodyPr wrap="square" lIns="0" tIns="0" rIns="0" bIns="0" rtlCol="0" anchor="t"/>
          <a:lstStyle/>
          <a:p>
            <a:pPr indent="0" marL="0">
              <a:lnSpc>
                <a:spcPts val="2350"/>
              </a:lnSpc>
              <a:buNone/>
            </a:pPr>
            <a:r>
              <a:rPr lang="en-US" sz="1650" dirty="0">
                <a:solidFill>
                  <a:srgbClr val="141414"/>
                </a:solidFill>
                <a:latin typeface="Arial" pitchFamily="34" charset="0"/>
                <a:ea typeface="Arial" pitchFamily="34" charset="-122"/>
                <a:cs typeface="Arial" pitchFamily="34" charset="-120"/>
              </a:rPr>
              <a:t>To answer it you have to find every matching poster and count them.</a:t>
            </a:r>
            <a:endParaRPr lang="en-US" sz="1650" dirty="0"/>
          </a:p>
        </p:txBody>
      </p:sp>
      <p:sp>
        <p:nvSpPr>
          <p:cNvPr id="16" name="Shape 13"/>
          <p:cNvSpPr/>
          <p:nvPr/>
        </p:nvSpPr>
        <p:spPr>
          <a:xfrm>
            <a:off x="786384" y="4801469"/>
            <a:ext cx="155448" cy="24140"/>
          </a:xfrm>
          <a:prstGeom prst="rect">
            <a:avLst/>
          </a:prstGeom>
          <a:solidFill>
            <a:srgbClr val="C0402A"/>
          </a:solidFill>
          <a:ln/>
        </p:spPr>
      </p:sp>
      <p:sp>
        <p:nvSpPr>
          <p:cNvPr id="17" name="Text 14"/>
          <p:cNvSpPr/>
          <p:nvPr/>
        </p:nvSpPr>
        <p:spPr>
          <a:xfrm>
            <a:off x="1097280" y="4636008"/>
            <a:ext cx="9670896" cy="466374"/>
          </a:xfrm>
          <a:prstGeom prst="rect">
            <a:avLst/>
          </a:prstGeom>
          <a:noFill/>
          <a:ln/>
        </p:spPr>
        <p:txBody>
          <a:bodyPr wrap="square" lIns="0" tIns="0" rIns="0" bIns="0" rtlCol="0" anchor="t"/>
          <a:lstStyle/>
          <a:p>
            <a:pPr indent="0" marL="0">
              <a:lnSpc>
                <a:spcPts val="2350"/>
              </a:lnSpc>
              <a:buNone/>
            </a:pPr>
            <a:r>
              <a:rPr lang="en-US" sz="1650" dirty="0">
                <a:solidFill>
                  <a:srgbClr val="141414"/>
                </a:solidFill>
                <a:latin typeface="Arial" pitchFamily="34" charset="0"/>
                <a:ea typeface="Arial" pitchFamily="34" charset="-122"/>
                <a:cs typeface="Arial" pitchFamily="34" charset="-120"/>
              </a:rPr>
              <a:t>Vector search returns the k nearest chunks. If k is 5, your bot has seen at most 5 posters and cannot report 31.</a:t>
            </a:r>
            <a:endParaRPr lang="en-US" sz="1650" dirty="0"/>
          </a:p>
        </p:txBody>
      </p:sp>
      <p:sp>
        <p:nvSpPr>
          <p:cNvPr id="18" name="Text 15"/>
          <p:cNvSpPr/>
          <p:nvPr/>
        </p:nvSpPr>
        <p:spPr>
          <a:xfrm>
            <a:off x="786384" y="5424587"/>
            <a:ext cx="10087981" cy="603504"/>
          </a:xfrm>
          <a:prstGeom prst="rect">
            <a:avLst/>
          </a:prstGeom>
          <a:noFill/>
          <a:ln/>
        </p:spPr>
        <p:txBody>
          <a:bodyPr wrap="square" lIns="0" tIns="0" rIns="0" bIns="0" rtlCol="0" anchor="ctr"/>
          <a:lstStyle/>
          <a:p>
            <a:pPr indent="0" marL="0">
              <a:buNone/>
            </a:pPr>
            <a:r>
              <a:rPr lang="en-US" sz="2000" b="1" dirty="0">
                <a:solidFill>
                  <a:srgbClr val="7A3B52"/>
                </a:solidFill>
                <a:latin typeface="Arial" pitchFamily="34" charset="0"/>
                <a:ea typeface="Arial" pitchFamily="34" charset="-122"/>
                <a:cs typeface="Arial" pitchFamily="34" charset="-120"/>
              </a:rPr>
              <a:t>Your choice of k sets a ceiling on the answer. A better embedding model does not change this.</a:t>
            </a:r>
            <a:endParaRPr lang="en-US" sz="20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AF8F5"/>
        </a:solidFill>
      </p:bgPr>
    </p:bg>
    <p:spTree>
      <p:nvGrpSpPr>
        <p:cNvPr id="1" name=""/>
        <p:cNvGrpSpPr/>
        <p:nvPr/>
      </p:nvGrpSpPr>
      <p:grpSpPr>
        <a:xfrm>
          <a:off x="0" y="0"/>
          <a:ext cx="0" cy="0"/>
          <a:chOff x="0" y="0"/>
          <a:chExt cx="0" cy="0"/>
        </a:xfrm>
      </p:grpSpPr>
      <p:sp>
        <p:nvSpPr>
          <p:cNvPr id="2" name="Text 0"/>
          <p:cNvSpPr/>
          <p:nvPr/>
        </p:nvSpPr>
        <p:spPr>
          <a:xfrm>
            <a:off x="786384" y="402336"/>
            <a:ext cx="3657600" cy="237744"/>
          </a:xfrm>
          <a:prstGeom prst="rect">
            <a:avLst/>
          </a:prstGeom>
          <a:noFill/>
          <a:ln/>
        </p:spPr>
        <p:txBody>
          <a:bodyPr wrap="square" lIns="0" tIns="0" rIns="0" bIns="0" rtlCol="0" anchor="ctr"/>
          <a:lstStyle/>
          <a:p>
            <a:pPr indent="0" marL="0">
              <a:buNone/>
            </a:pPr>
            <a:r>
              <a:rPr lang="en-US" sz="950" b="1" spc="240" kern="0" dirty="0">
                <a:solidFill>
                  <a:srgbClr val="9C978E"/>
                </a:solidFill>
                <a:latin typeface="Arial" pitchFamily="34" charset="0"/>
                <a:ea typeface="Arial" pitchFamily="34" charset="-122"/>
                <a:cs typeface="Arial" pitchFamily="34" charset="-120"/>
              </a:rPr>
              <a:t>THEORY</a:t>
            </a:r>
            <a:endParaRPr lang="en-US" sz="950" dirty="0"/>
          </a:p>
        </p:txBody>
      </p:sp>
      <p:sp>
        <p:nvSpPr>
          <p:cNvPr id="3" name="Text 1"/>
          <p:cNvSpPr/>
          <p:nvPr/>
        </p:nvSpPr>
        <p:spPr>
          <a:xfrm>
            <a:off x="786384" y="713232"/>
            <a:ext cx="7923047" cy="676656"/>
          </a:xfrm>
          <a:prstGeom prst="rect">
            <a:avLst/>
          </a:prstGeom>
          <a:noFill/>
          <a:ln/>
        </p:spPr>
        <p:txBody>
          <a:bodyPr wrap="square" lIns="0" tIns="0" rIns="0" bIns="0" rtlCol="0" anchor="ctr"/>
          <a:lstStyle/>
          <a:p>
            <a:pPr indent="0" marL="0">
              <a:buNone/>
            </a:pPr>
            <a:r>
              <a:rPr lang="en-US" sz="2900" b="1" dirty="0">
                <a:solidFill>
                  <a:srgbClr val="141414"/>
                </a:solidFill>
                <a:latin typeface="Arial" pitchFamily="34" charset="0"/>
                <a:ea typeface="Arial" pitchFamily="34" charset="-122"/>
                <a:cs typeface="Arial" pitchFamily="34" charset="-120"/>
              </a:rPr>
              <a:t>Search vs Filter</a:t>
            </a:r>
            <a:endParaRPr lang="en-US" sz="2900" dirty="0"/>
          </a:p>
        </p:txBody>
      </p:sp>
      <p:sp>
        <p:nvSpPr>
          <p:cNvPr id="4" name="Shape 2"/>
          <p:cNvSpPr/>
          <p:nvPr/>
        </p:nvSpPr>
        <p:spPr>
          <a:xfrm>
            <a:off x="10801807" y="877824"/>
            <a:ext cx="585216" cy="292608"/>
          </a:xfrm>
          <a:prstGeom prst="rect">
            <a:avLst/>
          </a:prstGeom>
          <a:solidFill>
            <a:srgbClr val="FAF8F5"/>
          </a:solidFill>
          <a:ln w="9525">
            <a:solidFill>
              <a:srgbClr val="D5D1CA"/>
            </a:solidFill>
            <a:prstDash val="solid"/>
          </a:ln>
        </p:spPr>
      </p:sp>
      <p:sp>
        <p:nvSpPr>
          <p:cNvPr id="5" name="Text 3"/>
          <p:cNvSpPr/>
          <p:nvPr/>
        </p:nvSpPr>
        <p:spPr>
          <a:xfrm>
            <a:off x="10801807" y="877824"/>
            <a:ext cx="585216" cy="292608"/>
          </a:xfrm>
          <a:prstGeom prst="rect">
            <a:avLst/>
          </a:prstGeom>
          <a:noFill/>
          <a:ln/>
        </p:spPr>
        <p:txBody>
          <a:bodyPr wrap="square" lIns="0" tIns="0" rIns="0" bIns="0" rtlCol="0" anchor="ctr"/>
          <a:lstStyle/>
          <a:p>
            <a:pPr algn="ctr" indent="0" marL="0">
              <a:buNone/>
            </a:pPr>
            <a:r>
              <a:rPr lang="en-US" sz="1100" b="1" spc="60" kern="0" dirty="0">
                <a:solidFill>
                  <a:srgbClr val="2E2C28"/>
                </a:solidFill>
                <a:latin typeface="Arial" pitchFamily="34" charset="0"/>
                <a:ea typeface="Arial" pitchFamily="34" charset="-122"/>
                <a:cs typeface="Arial" pitchFamily="34" charset="-120"/>
              </a:rPr>
              <a:t>LV4</a:t>
            </a:r>
            <a:endParaRPr lang="en-US" sz="1100" dirty="0"/>
          </a:p>
        </p:txBody>
      </p:sp>
      <p:sp>
        <p:nvSpPr>
          <p:cNvPr id="6" name="Shape 4"/>
          <p:cNvSpPr/>
          <p:nvPr/>
        </p:nvSpPr>
        <p:spPr>
          <a:xfrm>
            <a:off x="786384" y="1426464"/>
            <a:ext cx="10618927" cy="10973"/>
          </a:xfrm>
          <a:prstGeom prst="rect">
            <a:avLst/>
          </a:prstGeom>
          <a:solidFill>
            <a:srgbClr val="D5D1CA"/>
          </a:solidFill>
          <a:ln/>
        </p:spPr>
      </p:sp>
      <p:sp>
        <p:nvSpPr>
          <p:cNvPr id="7" name="Text 5"/>
          <p:cNvSpPr/>
          <p:nvPr/>
        </p:nvSpPr>
        <p:spPr>
          <a:xfrm>
            <a:off x="10490911" y="6309360"/>
            <a:ext cx="914400" cy="274320"/>
          </a:xfrm>
          <a:prstGeom prst="rect">
            <a:avLst/>
          </a:prstGeom>
          <a:noFill/>
          <a:ln/>
        </p:spPr>
        <p:txBody>
          <a:bodyPr wrap="square" lIns="0" tIns="0" rIns="0" bIns="0" rtlCol="0" anchor="ctr"/>
          <a:lstStyle/>
          <a:p>
            <a:pPr algn="r" indent="0" marL="0">
              <a:buNone/>
            </a:pPr>
            <a:r>
              <a:rPr lang="en-US" sz="1200" dirty="0">
                <a:solidFill>
                  <a:srgbClr val="9C978E"/>
                </a:solidFill>
                <a:latin typeface="Arial" pitchFamily="34" charset="0"/>
                <a:ea typeface="Arial" pitchFamily="34" charset="-122"/>
                <a:cs typeface="Arial" pitchFamily="34" charset="-120"/>
              </a:rPr>
              <a:t>21</a:t>
            </a:r>
            <a:endParaRPr lang="en-US" sz="1200" dirty="0"/>
          </a:p>
        </p:txBody>
      </p:sp>
      <p:sp>
        <p:nvSpPr>
          <p:cNvPr id="8" name="Shape 6"/>
          <p:cNvSpPr/>
          <p:nvPr/>
        </p:nvSpPr>
        <p:spPr>
          <a:xfrm>
            <a:off x="786384" y="1793462"/>
            <a:ext cx="5227168" cy="14878"/>
          </a:xfrm>
          <a:prstGeom prst="rect">
            <a:avLst/>
          </a:prstGeom>
          <a:solidFill>
            <a:srgbClr val="D5D1CA"/>
          </a:solidFill>
          <a:ln/>
        </p:spPr>
      </p:sp>
      <p:sp>
        <p:nvSpPr>
          <p:cNvPr id="9" name="Text 7"/>
          <p:cNvSpPr/>
          <p:nvPr/>
        </p:nvSpPr>
        <p:spPr>
          <a:xfrm>
            <a:off x="786384" y="1925711"/>
            <a:ext cx="5227168" cy="311107"/>
          </a:xfrm>
          <a:prstGeom prst="rect">
            <a:avLst/>
          </a:prstGeom>
          <a:noFill/>
          <a:ln/>
        </p:spPr>
        <p:txBody>
          <a:bodyPr wrap="square" lIns="0" tIns="0" rIns="0" bIns="0" rtlCol="0" anchor="ctr"/>
          <a:lstStyle/>
          <a:p>
            <a:pPr indent="0" marL="0">
              <a:lnSpc>
                <a:spcPts val="2124"/>
              </a:lnSpc>
              <a:buNone/>
            </a:pPr>
            <a:r>
              <a:rPr lang="en-US" sz="1763" b="1" dirty="0">
                <a:solidFill>
                  <a:srgbClr val="6E6A63"/>
                </a:solidFill>
                <a:latin typeface="Arial" pitchFamily="34" charset="0"/>
                <a:ea typeface="Arial" pitchFamily="34" charset="-122"/>
                <a:cs typeface="Arial" pitchFamily="34" charset="-120"/>
              </a:rPr>
              <a:t>Semantic search</a:t>
            </a:r>
            <a:endParaRPr lang="en-US" sz="1763" dirty="0"/>
          </a:p>
        </p:txBody>
      </p:sp>
      <p:sp>
        <p:nvSpPr>
          <p:cNvPr id="10" name="Text 8"/>
          <p:cNvSpPr/>
          <p:nvPr/>
        </p:nvSpPr>
        <p:spPr>
          <a:xfrm>
            <a:off x="786384" y="2302943"/>
            <a:ext cx="5227168" cy="1522243"/>
          </a:xfrm>
          <a:prstGeom prst="rect">
            <a:avLst/>
          </a:prstGeom>
          <a:noFill/>
          <a:ln/>
        </p:spPr>
        <p:txBody>
          <a:bodyPr wrap="square" lIns="0" tIns="0" rIns="0" bIns="0" rtlCol="0" anchor="t"/>
          <a:lstStyle/>
          <a:p>
            <a:pPr indent="0" marL="0">
              <a:lnSpc>
                <a:spcPts val="1943"/>
              </a:lnSpc>
              <a:buNone/>
            </a:pPr>
            <a:r>
              <a:rPr lang="en-US" sz="1311" dirty="0">
                <a:solidFill>
                  <a:srgbClr val="6E6A63"/>
                </a:solidFill>
                <a:latin typeface="Arial" pitchFamily="34" charset="0"/>
                <a:ea typeface="Arial" pitchFamily="34" charset="-122"/>
                <a:cs typeface="Arial" pitchFamily="34" charset="-120"/>
              </a:rPr>
              <a:t>Asks: which stored text is most similar to this query?</a:t>
            </a:r>
            <a:endParaRPr lang="en-US" sz="1311" dirty="0"/>
          </a:p>
          <a:p>
            <a:pPr indent="0" marL="0">
              <a:lnSpc>
                <a:spcPts val="1943"/>
              </a:lnSpc>
              <a:buNone/>
            </a:pPr>
            <a:r>
              <a:rPr lang="en-US" sz="1311" dirty="0">
                <a:solidFill>
                  <a:srgbClr val="6E6A63"/>
                </a:solidFill>
                <a:latin typeface="Arial" pitchFamily="34" charset="0"/>
                <a:ea typeface="Arial" pitchFamily="34" charset="-122"/>
                <a:cs typeface="Arial" pitchFamily="34" charset="-120"/>
              </a:rPr>
              <a:t>Returns: the k closest items, ranked.</a:t>
            </a:r>
            <a:endParaRPr lang="en-US" sz="1311" dirty="0"/>
          </a:p>
          <a:p>
            <a:pPr indent="0" marL="0">
              <a:lnSpc>
                <a:spcPts val="1943"/>
              </a:lnSpc>
              <a:buNone/>
            </a:pPr>
            <a:endParaRPr lang="en-US" sz="1311" dirty="0"/>
          </a:p>
          <a:p>
            <a:pPr indent="0" marL="0">
              <a:lnSpc>
                <a:spcPts val="1943"/>
              </a:lnSpc>
              <a:buNone/>
            </a:pPr>
            <a:r>
              <a:rPr lang="en-US" sz="1311" dirty="0">
                <a:solidFill>
                  <a:srgbClr val="6E6A63"/>
                </a:solidFill>
                <a:latin typeface="Arial" pitchFamily="34" charset="0"/>
                <a:ea typeface="Arial" pitchFamily="34" charset="-122"/>
                <a:cs typeface="Arial" pitchFamily="34" charset="-120"/>
              </a:rPr>
              <a:t>Always returns something, never guarantees it found everything. Good for locating a passage, useless for a count.</a:t>
            </a:r>
            <a:endParaRPr lang="en-US" sz="1311" dirty="0"/>
          </a:p>
        </p:txBody>
      </p:sp>
      <p:sp>
        <p:nvSpPr>
          <p:cNvPr id="11" name="Shape 9"/>
          <p:cNvSpPr/>
          <p:nvPr/>
        </p:nvSpPr>
        <p:spPr>
          <a:xfrm>
            <a:off x="6178144" y="1793462"/>
            <a:ext cx="5227168" cy="2345816"/>
          </a:xfrm>
          <a:prstGeom prst="rect">
            <a:avLst/>
          </a:prstGeom>
          <a:solidFill>
            <a:srgbClr val="F7E6E0"/>
          </a:solidFill>
          <a:ln/>
        </p:spPr>
      </p:sp>
      <p:sp>
        <p:nvSpPr>
          <p:cNvPr id="12" name="Shape 10"/>
          <p:cNvSpPr/>
          <p:nvPr/>
        </p:nvSpPr>
        <p:spPr>
          <a:xfrm>
            <a:off x="6415888" y="1991836"/>
            <a:ext cx="4751680" cy="19837"/>
          </a:xfrm>
          <a:prstGeom prst="rect">
            <a:avLst/>
          </a:prstGeom>
          <a:solidFill>
            <a:srgbClr val="C0402A"/>
          </a:solidFill>
          <a:ln/>
        </p:spPr>
      </p:sp>
      <p:sp>
        <p:nvSpPr>
          <p:cNvPr id="13" name="Text 11"/>
          <p:cNvSpPr/>
          <p:nvPr/>
        </p:nvSpPr>
        <p:spPr>
          <a:xfrm>
            <a:off x="6415888" y="2124085"/>
            <a:ext cx="4751680" cy="311107"/>
          </a:xfrm>
          <a:prstGeom prst="rect">
            <a:avLst/>
          </a:prstGeom>
          <a:noFill/>
          <a:ln/>
        </p:spPr>
        <p:txBody>
          <a:bodyPr wrap="square" lIns="0" tIns="0" rIns="0" bIns="0" rtlCol="0" anchor="ctr"/>
          <a:lstStyle/>
          <a:p>
            <a:pPr indent="0" marL="0">
              <a:lnSpc>
                <a:spcPts val="2124"/>
              </a:lnSpc>
              <a:buNone/>
            </a:pPr>
            <a:r>
              <a:rPr lang="en-US" sz="1763" b="1" dirty="0">
                <a:solidFill>
                  <a:srgbClr val="141414"/>
                </a:solidFill>
                <a:latin typeface="Arial" pitchFamily="34" charset="0"/>
                <a:ea typeface="Arial" pitchFamily="34" charset="-122"/>
                <a:cs typeface="Arial" pitchFamily="34" charset="-120"/>
              </a:rPr>
              <a:t>Metadata filtering</a:t>
            </a:r>
            <a:endParaRPr lang="en-US" sz="1763" dirty="0"/>
          </a:p>
        </p:txBody>
      </p:sp>
      <p:sp>
        <p:nvSpPr>
          <p:cNvPr id="14" name="Text 12"/>
          <p:cNvSpPr/>
          <p:nvPr/>
        </p:nvSpPr>
        <p:spPr>
          <a:xfrm>
            <a:off x="6415888" y="2501317"/>
            <a:ext cx="4751680" cy="1522243"/>
          </a:xfrm>
          <a:prstGeom prst="rect">
            <a:avLst/>
          </a:prstGeom>
          <a:noFill/>
          <a:ln/>
        </p:spPr>
        <p:txBody>
          <a:bodyPr wrap="square" lIns="0" tIns="0" rIns="0" bIns="0" rtlCol="0" anchor="t"/>
          <a:lstStyle/>
          <a:p>
            <a:pPr indent="0" marL="0">
              <a:lnSpc>
                <a:spcPts val="1943"/>
              </a:lnSpc>
              <a:buNone/>
            </a:pPr>
            <a:r>
              <a:rPr lang="en-US" sz="1311" dirty="0">
                <a:solidFill>
                  <a:srgbClr val="141414"/>
                </a:solidFill>
                <a:latin typeface="Arial" pitchFamily="34" charset="0"/>
                <a:ea typeface="Arial" pitchFamily="34" charset="-122"/>
                <a:cs typeface="Arial" pitchFamily="34" charset="-120"/>
              </a:rPr>
              <a:t>Asks: which stored items have year = 2025 and type = poster?</a:t>
            </a:r>
            <a:endParaRPr lang="en-US" sz="1311" dirty="0"/>
          </a:p>
          <a:p>
            <a:pPr indent="0" marL="0">
              <a:lnSpc>
                <a:spcPts val="1943"/>
              </a:lnSpc>
              <a:buNone/>
            </a:pPr>
            <a:r>
              <a:rPr lang="en-US" sz="1311" dirty="0">
                <a:solidFill>
                  <a:srgbClr val="141414"/>
                </a:solidFill>
                <a:latin typeface="Arial" pitchFamily="34" charset="0"/>
                <a:ea typeface="Arial" pitchFamily="34" charset="-122"/>
                <a:cs typeface="Arial" pitchFamily="34" charset="-120"/>
              </a:rPr>
              <a:t>Returns: all of them, exactly.</a:t>
            </a:r>
            <a:endParaRPr lang="en-US" sz="1311" dirty="0"/>
          </a:p>
          <a:p>
            <a:pPr indent="0" marL="0">
              <a:lnSpc>
                <a:spcPts val="1943"/>
              </a:lnSpc>
              <a:buNone/>
            </a:pPr>
            <a:endParaRPr lang="en-US" sz="1311" dirty="0"/>
          </a:p>
          <a:p>
            <a:pPr indent="0" marL="0">
              <a:lnSpc>
                <a:spcPts val="1943"/>
              </a:lnSpc>
              <a:buNone/>
            </a:pPr>
            <a:r>
              <a:rPr lang="en-US" sz="1311" dirty="0">
                <a:solidFill>
                  <a:srgbClr val="141414"/>
                </a:solidFill>
                <a:latin typeface="Arial" pitchFamily="34" charset="0"/>
                <a:ea typeface="Arial" pitchFamily="34" charset="-122"/>
                <a:cs typeface="Arial" pitchFamily="34" charset="-120"/>
              </a:rPr>
              <a:t>Not ranked and not approximate, so the count can be trusted. This is what counting questions need.</a:t>
            </a:r>
            <a:endParaRPr lang="en-US" sz="1311" dirty="0"/>
          </a:p>
        </p:txBody>
      </p:sp>
      <p:sp>
        <p:nvSpPr>
          <p:cNvPr id="15" name="Shape 13"/>
          <p:cNvSpPr/>
          <p:nvPr/>
        </p:nvSpPr>
        <p:spPr>
          <a:xfrm>
            <a:off x="786384" y="3876387"/>
            <a:ext cx="10618927" cy="838956"/>
          </a:xfrm>
          <a:prstGeom prst="rect">
            <a:avLst/>
          </a:prstGeom>
          <a:solidFill>
            <a:srgbClr val="F2EFEA"/>
          </a:solidFill>
          <a:ln/>
        </p:spPr>
      </p:sp>
      <p:sp>
        <p:nvSpPr>
          <p:cNvPr id="16" name="Shape 14"/>
          <p:cNvSpPr/>
          <p:nvPr/>
        </p:nvSpPr>
        <p:spPr>
          <a:xfrm>
            <a:off x="786384" y="3876387"/>
            <a:ext cx="27432" cy="838956"/>
          </a:xfrm>
          <a:prstGeom prst="rect">
            <a:avLst/>
          </a:prstGeom>
          <a:solidFill>
            <a:srgbClr val="C0402A"/>
          </a:solidFill>
          <a:ln/>
        </p:spPr>
      </p:sp>
      <p:sp>
        <p:nvSpPr>
          <p:cNvPr id="17" name="Text 15"/>
          <p:cNvSpPr/>
          <p:nvPr/>
        </p:nvSpPr>
        <p:spPr>
          <a:xfrm>
            <a:off x="1042416" y="4008636"/>
            <a:ext cx="10180015" cy="574457"/>
          </a:xfrm>
          <a:prstGeom prst="rect">
            <a:avLst/>
          </a:prstGeom>
          <a:noFill/>
          <a:ln/>
        </p:spPr>
        <p:txBody>
          <a:bodyPr wrap="square" lIns="0" tIns="0" rIns="0" bIns="0" rtlCol="0" anchor="t"/>
          <a:lstStyle/>
          <a:p>
            <a:pPr indent="0" marL="0">
              <a:lnSpc>
                <a:spcPts val="1672"/>
              </a:lnSpc>
              <a:buNone/>
            </a:pPr>
            <a:r>
              <a:rPr lang="en-US" sz="1130" dirty="0">
                <a:solidFill>
                  <a:srgbClr val="2A2724"/>
                </a:solidFill>
                <a:latin typeface="Courier New" pitchFamily="34" charset="0"/>
                <a:ea typeface="Courier New" pitchFamily="34" charset="-122"/>
                <a:cs typeface="Courier New" pitchFamily="34" charset="-120"/>
              </a:rPr>
              <a:t>store.query(embedding, k=50,</a:t>
            </a:r>
            <a:endParaRPr lang="en-US" sz="1130" dirty="0"/>
          </a:p>
          <a:p>
            <a:pPr indent="0" marL="0">
              <a:lnSpc>
                <a:spcPts val="1672"/>
              </a:lnSpc>
              <a:buNone/>
            </a:pPr>
            <a:r>
              <a:rPr lang="en-US" sz="1130" dirty="0">
                <a:solidFill>
                  <a:srgbClr val="2A2724"/>
                </a:solidFill>
                <a:latin typeface="Courier New" pitchFamily="34" charset="0"/>
                <a:ea typeface="Courier New" pitchFamily="34" charset="-122"/>
                <a:cs typeface="Courier New" pitchFamily="34" charset="-120"/>
              </a:rPr>
              <a:t>            where={"year": "2025", "type": "poster"})</a:t>
            </a:r>
            <a:endParaRPr lang="en-US" sz="1130" dirty="0"/>
          </a:p>
        </p:txBody>
      </p:sp>
      <p:sp>
        <p:nvSpPr>
          <p:cNvPr id="18" name="Text 16"/>
          <p:cNvSpPr/>
          <p:nvPr/>
        </p:nvSpPr>
        <p:spPr>
          <a:xfrm>
            <a:off x="786384" y="4897185"/>
            <a:ext cx="10087981" cy="644715"/>
          </a:xfrm>
          <a:prstGeom prst="rect">
            <a:avLst/>
          </a:prstGeom>
          <a:noFill/>
          <a:ln/>
        </p:spPr>
        <p:txBody>
          <a:bodyPr wrap="square" lIns="0" tIns="0" rIns="0" bIns="0" rtlCol="0" anchor="ctr"/>
          <a:lstStyle/>
          <a:p>
            <a:pPr indent="0" marL="0">
              <a:lnSpc>
                <a:spcPts val="2079"/>
              </a:lnSpc>
              <a:buNone/>
            </a:pPr>
            <a:r>
              <a:rPr lang="en-US" sz="1401" dirty="0">
                <a:solidFill>
                  <a:srgbClr val="141414"/>
                </a:solidFill>
                <a:latin typeface="Arial" pitchFamily="34" charset="0"/>
                <a:ea typeface="Arial" pitchFamily="34" charset="-122"/>
                <a:cs typeface="Arial" pitchFamily="34" charset="-120"/>
              </a:rPr>
              <a:t>Most Level 4 questions need both: filter to the right subset by metadata, then search or count within it. Chroma does both in one call using the where argument.</a:t>
            </a:r>
            <a:endParaRPr lang="en-US" sz="1401" dirty="0"/>
          </a:p>
        </p:txBody>
      </p:sp>
      <p:sp>
        <p:nvSpPr>
          <p:cNvPr id="19" name="Text 17"/>
          <p:cNvSpPr/>
          <p:nvPr/>
        </p:nvSpPr>
        <p:spPr>
          <a:xfrm>
            <a:off x="786384" y="5591493"/>
            <a:ext cx="10087981" cy="644715"/>
          </a:xfrm>
          <a:prstGeom prst="rect">
            <a:avLst/>
          </a:prstGeom>
          <a:noFill/>
          <a:ln/>
        </p:spPr>
        <p:txBody>
          <a:bodyPr wrap="square" lIns="0" tIns="0" rIns="0" bIns="0" rtlCol="0" anchor="ctr"/>
          <a:lstStyle/>
          <a:p>
            <a:pPr indent="0" marL="0">
              <a:lnSpc>
                <a:spcPts val="1989"/>
              </a:lnSpc>
              <a:buNone/>
            </a:pPr>
            <a:r>
              <a:rPr lang="en-US" sz="1356" dirty="0">
                <a:solidFill>
                  <a:srgbClr val="6E6A63"/>
                </a:solidFill>
                <a:latin typeface="Arial" pitchFamily="34" charset="0"/>
                <a:ea typeface="Arial" pitchFamily="34" charset="-122"/>
                <a:cs typeface="Arial" pitchFamily="34" charset="-120"/>
              </a:rPr>
              <a:t>The fields you attached at ingestion decide which questions you can answer precisely. Adding one now means rebuilding the index.</a:t>
            </a:r>
            <a:endParaRPr lang="en-US" sz="1356"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AF8F5"/>
        </a:solidFill>
      </p:bgPr>
    </p:bg>
    <p:spTree>
      <p:nvGrpSpPr>
        <p:cNvPr id="1" name=""/>
        <p:cNvGrpSpPr/>
        <p:nvPr/>
      </p:nvGrpSpPr>
      <p:grpSpPr>
        <a:xfrm>
          <a:off x="0" y="0"/>
          <a:ext cx="0" cy="0"/>
          <a:chOff x="0" y="0"/>
          <a:chExt cx="0" cy="0"/>
        </a:xfrm>
      </p:grpSpPr>
      <p:sp>
        <p:nvSpPr>
          <p:cNvPr id="2" name="Text 0"/>
          <p:cNvSpPr/>
          <p:nvPr/>
        </p:nvSpPr>
        <p:spPr>
          <a:xfrm>
            <a:off x="786384" y="402336"/>
            <a:ext cx="3657600" cy="237744"/>
          </a:xfrm>
          <a:prstGeom prst="rect">
            <a:avLst/>
          </a:prstGeom>
          <a:noFill/>
          <a:ln/>
        </p:spPr>
        <p:txBody>
          <a:bodyPr wrap="square" lIns="0" tIns="0" rIns="0" bIns="0" rtlCol="0" anchor="ctr"/>
          <a:lstStyle/>
          <a:p>
            <a:pPr indent="0" marL="0">
              <a:buNone/>
            </a:pPr>
            <a:r>
              <a:rPr lang="en-US" sz="950" b="1" spc="240" kern="0" dirty="0">
                <a:solidFill>
                  <a:srgbClr val="9C978E"/>
                </a:solidFill>
                <a:latin typeface="Arial" pitchFamily="34" charset="0"/>
                <a:ea typeface="Arial" pitchFamily="34" charset="-122"/>
                <a:cs typeface="Arial" pitchFamily="34" charset="-120"/>
              </a:rPr>
              <a:t>THEORY</a:t>
            </a:r>
            <a:endParaRPr lang="en-US" sz="950" dirty="0"/>
          </a:p>
        </p:txBody>
      </p:sp>
      <p:sp>
        <p:nvSpPr>
          <p:cNvPr id="3" name="Text 1"/>
          <p:cNvSpPr/>
          <p:nvPr/>
        </p:nvSpPr>
        <p:spPr>
          <a:xfrm>
            <a:off x="786384" y="713232"/>
            <a:ext cx="7923047" cy="676656"/>
          </a:xfrm>
          <a:prstGeom prst="rect">
            <a:avLst/>
          </a:prstGeom>
          <a:noFill/>
          <a:ln/>
        </p:spPr>
        <p:txBody>
          <a:bodyPr wrap="square" lIns="0" tIns="0" rIns="0" bIns="0" rtlCol="0" anchor="ctr"/>
          <a:lstStyle/>
          <a:p>
            <a:pPr indent="0" marL="0">
              <a:buNone/>
            </a:pPr>
            <a:r>
              <a:rPr lang="en-US" sz="2900" b="1" dirty="0">
                <a:solidFill>
                  <a:srgbClr val="141414"/>
                </a:solidFill>
                <a:latin typeface="Arial" pitchFamily="34" charset="0"/>
                <a:ea typeface="Arial" pitchFamily="34" charset="-122"/>
                <a:cs typeface="Arial" pitchFamily="34" charset="-120"/>
              </a:rPr>
              <a:t>Three Approaches</a:t>
            </a:r>
            <a:endParaRPr lang="en-US" sz="2900" dirty="0"/>
          </a:p>
        </p:txBody>
      </p:sp>
      <p:sp>
        <p:nvSpPr>
          <p:cNvPr id="4" name="Shape 2"/>
          <p:cNvSpPr/>
          <p:nvPr/>
        </p:nvSpPr>
        <p:spPr>
          <a:xfrm>
            <a:off x="10801807" y="877824"/>
            <a:ext cx="585216" cy="292608"/>
          </a:xfrm>
          <a:prstGeom prst="rect">
            <a:avLst/>
          </a:prstGeom>
          <a:solidFill>
            <a:srgbClr val="FAF8F5"/>
          </a:solidFill>
          <a:ln w="9525">
            <a:solidFill>
              <a:srgbClr val="D5D1CA"/>
            </a:solidFill>
            <a:prstDash val="solid"/>
          </a:ln>
        </p:spPr>
      </p:sp>
      <p:sp>
        <p:nvSpPr>
          <p:cNvPr id="5" name="Text 3"/>
          <p:cNvSpPr/>
          <p:nvPr/>
        </p:nvSpPr>
        <p:spPr>
          <a:xfrm>
            <a:off x="10801807" y="877824"/>
            <a:ext cx="585216" cy="292608"/>
          </a:xfrm>
          <a:prstGeom prst="rect">
            <a:avLst/>
          </a:prstGeom>
          <a:noFill/>
          <a:ln/>
        </p:spPr>
        <p:txBody>
          <a:bodyPr wrap="square" lIns="0" tIns="0" rIns="0" bIns="0" rtlCol="0" anchor="ctr"/>
          <a:lstStyle/>
          <a:p>
            <a:pPr algn="ctr" indent="0" marL="0">
              <a:buNone/>
            </a:pPr>
            <a:r>
              <a:rPr lang="en-US" sz="1100" b="1" spc="60" kern="0" dirty="0">
                <a:solidFill>
                  <a:srgbClr val="2E2C28"/>
                </a:solidFill>
                <a:latin typeface="Arial" pitchFamily="34" charset="0"/>
                <a:ea typeface="Arial" pitchFamily="34" charset="-122"/>
                <a:cs typeface="Arial" pitchFamily="34" charset="-120"/>
              </a:rPr>
              <a:t>LV4</a:t>
            </a:r>
            <a:endParaRPr lang="en-US" sz="1100" dirty="0"/>
          </a:p>
        </p:txBody>
      </p:sp>
      <p:sp>
        <p:nvSpPr>
          <p:cNvPr id="6" name="Shape 4"/>
          <p:cNvSpPr/>
          <p:nvPr/>
        </p:nvSpPr>
        <p:spPr>
          <a:xfrm>
            <a:off x="786384" y="1426464"/>
            <a:ext cx="10618927" cy="10973"/>
          </a:xfrm>
          <a:prstGeom prst="rect">
            <a:avLst/>
          </a:prstGeom>
          <a:solidFill>
            <a:srgbClr val="D5D1CA"/>
          </a:solidFill>
          <a:ln/>
        </p:spPr>
      </p:sp>
      <p:sp>
        <p:nvSpPr>
          <p:cNvPr id="7" name="Text 5"/>
          <p:cNvSpPr/>
          <p:nvPr/>
        </p:nvSpPr>
        <p:spPr>
          <a:xfrm>
            <a:off x="10490911" y="6309360"/>
            <a:ext cx="914400" cy="274320"/>
          </a:xfrm>
          <a:prstGeom prst="rect">
            <a:avLst/>
          </a:prstGeom>
          <a:noFill/>
          <a:ln/>
        </p:spPr>
        <p:txBody>
          <a:bodyPr wrap="square" lIns="0" tIns="0" rIns="0" bIns="0" rtlCol="0" anchor="ctr"/>
          <a:lstStyle/>
          <a:p>
            <a:pPr algn="r" indent="0" marL="0">
              <a:buNone/>
            </a:pPr>
            <a:r>
              <a:rPr lang="en-US" sz="1200" dirty="0">
                <a:solidFill>
                  <a:srgbClr val="9C978E"/>
                </a:solidFill>
                <a:latin typeface="Arial" pitchFamily="34" charset="0"/>
                <a:ea typeface="Arial" pitchFamily="34" charset="-122"/>
                <a:cs typeface="Arial" pitchFamily="34" charset="-120"/>
              </a:rPr>
              <a:t>22</a:t>
            </a:r>
            <a:endParaRPr lang="en-US" sz="1200" dirty="0"/>
          </a:p>
        </p:txBody>
      </p:sp>
      <p:sp>
        <p:nvSpPr>
          <p:cNvPr id="8" name="Shape 6"/>
          <p:cNvSpPr/>
          <p:nvPr/>
        </p:nvSpPr>
        <p:spPr>
          <a:xfrm>
            <a:off x="786384" y="1851843"/>
            <a:ext cx="3411626" cy="21726"/>
          </a:xfrm>
          <a:prstGeom prst="rect">
            <a:avLst/>
          </a:prstGeom>
          <a:solidFill>
            <a:srgbClr val="141414"/>
          </a:solidFill>
          <a:ln/>
        </p:spPr>
      </p:sp>
      <p:sp>
        <p:nvSpPr>
          <p:cNvPr id="9" name="Text 7"/>
          <p:cNvSpPr/>
          <p:nvPr/>
        </p:nvSpPr>
        <p:spPr>
          <a:xfrm>
            <a:off x="786384" y="2044964"/>
            <a:ext cx="3411626" cy="454304"/>
          </a:xfrm>
          <a:prstGeom prst="rect">
            <a:avLst/>
          </a:prstGeom>
          <a:noFill/>
          <a:ln/>
        </p:spPr>
        <p:txBody>
          <a:bodyPr wrap="square" lIns="0" tIns="0" rIns="0" bIns="0" rtlCol="0" anchor="ctr"/>
          <a:lstStyle/>
          <a:p>
            <a:pPr indent="0" marL="0">
              <a:lnSpc>
                <a:spcPts val="2350"/>
              </a:lnSpc>
              <a:buNone/>
            </a:pPr>
            <a:r>
              <a:rPr lang="en-US" sz="1950" b="1" dirty="0">
                <a:solidFill>
                  <a:srgbClr val="141414"/>
                </a:solidFill>
                <a:latin typeface="Arial" pitchFamily="34" charset="0"/>
                <a:ea typeface="Arial" pitchFamily="34" charset="-122"/>
                <a:cs typeface="Arial" pitchFamily="34" charset="-120"/>
              </a:rPr>
              <a:t>Decompose</a:t>
            </a:r>
            <a:endParaRPr lang="en-US" sz="1950" dirty="0"/>
          </a:p>
        </p:txBody>
      </p:sp>
      <p:sp>
        <p:nvSpPr>
          <p:cNvPr id="10" name="Text 8"/>
          <p:cNvSpPr/>
          <p:nvPr/>
        </p:nvSpPr>
        <p:spPr>
          <a:xfrm>
            <a:off x="786384" y="2595829"/>
            <a:ext cx="3411626" cy="2172614"/>
          </a:xfrm>
          <a:prstGeom prst="rect">
            <a:avLst/>
          </a:prstGeom>
          <a:noFill/>
          <a:ln/>
        </p:spPr>
        <p:txBody>
          <a:bodyPr wrap="square" lIns="0" tIns="0" rIns="0" bIns="0" rtlCol="0" anchor="t"/>
          <a:lstStyle/>
          <a:p>
            <a:pPr indent="0" marL="0">
              <a:lnSpc>
                <a:spcPts val="2100"/>
              </a:lnSpc>
              <a:buNone/>
            </a:pPr>
            <a:r>
              <a:rPr lang="en-US" sz="1400" dirty="0">
                <a:solidFill>
                  <a:srgbClr val="141414"/>
                </a:solidFill>
                <a:latin typeface="Arial" pitchFamily="34" charset="0"/>
                <a:ea typeface="Arial" pitchFamily="34" charset="-122"/>
                <a:cs typeface="Arial" pitchFamily="34" charset="-120"/>
              </a:rPr>
              <a:t>Split a multi-part question, retrieve for each part, then combine the results into one prompt.</a:t>
            </a:r>
            <a:endParaRPr lang="en-US" sz="1400" dirty="0"/>
          </a:p>
          <a:p>
            <a:pPr indent="0" marL="0">
              <a:lnSpc>
                <a:spcPts val="2100"/>
              </a:lnSpc>
              <a:buNone/>
            </a:pPr>
            <a:endParaRPr lang="en-US" sz="1400" dirty="0"/>
          </a:p>
          <a:p>
            <a:pPr indent="0" marL="0">
              <a:lnSpc>
                <a:spcPts val="2100"/>
              </a:lnSpc>
              <a:buNone/>
            </a:pPr>
            <a:r>
              <a:rPr lang="en-US" sz="1400" dirty="0">
                <a:solidFill>
                  <a:srgbClr val="141414"/>
                </a:solidFill>
                <a:latin typeface="Arial" pitchFamily="34" charset="0"/>
                <a:ea typeface="Arial" pitchFamily="34" charset="-122"/>
                <a:cs typeface="Arial" pitchFamily="34" charset="-120"/>
              </a:rPr>
              <a:t>Use when the question asks about two different things.</a:t>
            </a:r>
            <a:endParaRPr lang="en-US" sz="1400" dirty="0"/>
          </a:p>
        </p:txBody>
      </p:sp>
      <p:sp>
        <p:nvSpPr>
          <p:cNvPr id="11" name="Shape 9"/>
          <p:cNvSpPr/>
          <p:nvPr/>
        </p:nvSpPr>
        <p:spPr>
          <a:xfrm>
            <a:off x="4390034" y="1851843"/>
            <a:ext cx="3411626" cy="21726"/>
          </a:xfrm>
          <a:prstGeom prst="rect">
            <a:avLst/>
          </a:prstGeom>
          <a:solidFill>
            <a:srgbClr val="141414"/>
          </a:solidFill>
          <a:ln/>
        </p:spPr>
      </p:sp>
      <p:sp>
        <p:nvSpPr>
          <p:cNvPr id="12" name="Text 10"/>
          <p:cNvSpPr/>
          <p:nvPr/>
        </p:nvSpPr>
        <p:spPr>
          <a:xfrm>
            <a:off x="4390034" y="2044964"/>
            <a:ext cx="3411626" cy="454304"/>
          </a:xfrm>
          <a:prstGeom prst="rect">
            <a:avLst/>
          </a:prstGeom>
          <a:noFill/>
          <a:ln/>
        </p:spPr>
        <p:txBody>
          <a:bodyPr wrap="square" lIns="0" tIns="0" rIns="0" bIns="0" rtlCol="0" anchor="ctr"/>
          <a:lstStyle/>
          <a:p>
            <a:pPr indent="0" marL="0">
              <a:lnSpc>
                <a:spcPts val="2350"/>
              </a:lnSpc>
              <a:buNone/>
            </a:pPr>
            <a:r>
              <a:rPr lang="en-US" sz="1950" b="1" dirty="0">
                <a:solidFill>
                  <a:srgbClr val="141414"/>
                </a:solidFill>
                <a:latin typeface="Arial" pitchFamily="34" charset="0"/>
                <a:ea typeface="Arial" pitchFamily="34" charset="-122"/>
                <a:cs typeface="Arial" pitchFamily="34" charset="-120"/>
              </a:rPr>
              <a:t>Retrieve wide, then filter</a:t>
            </a:r>
            <a:endParaRPr lang="en-US" sz="1950" dirty="0"/>
          </a:p>
        </p:txBody>
      </p:sp>
      <p:sp>
        <p:nvSpPr>
          <p:cNvPr id="13" name="Text 11"/>
          <p:cNvSpPr/>
          <p:nvPr/>
        </p:nvSpPr>
        <p:spPr>
          <a:xfrm>
            <a:off x="4390034" y="2595829"/>
            <a:ext cx="3411626" cy="2172614"/>
          </a:xfrm>
          <a:prstGeom prst="rect">
            <a:avLst/>
          </a:prstGeom>
          <a:noFill/>
          <a:ln/>
        </p:spPr>
        <p:txBody>
          <a:bodyPr wrap="square" lIns="0" tIns="0" rIns="0" bIns="0" rtlCol="0" anchor="t"/>
          <a:lstStyle/>
          <a:p>
            <a:pPr indent="0" marL="0">
              <a:lnSpc>
                <a:spcPts val="2100"/>
              </a:lnSpc>
              <a:buNone/>
            </a:pPr>
            <a:r>
              <a:rPr lang="en-US" sz="1400" dirty="0">
                <a:solidFill>
                  <a:srgbClr val="141414"/>
                </a:solidFill>
                <a:latin typeface="Arial" pitchFamily="34" charset="0"/>
                <a:ea typeface="Arial" pitchFamily="34" charset="-122"/>
                <a:cs typeface="Arial" pitchFamily="34" charset="-120"/>
              </a:rPr>
              <a:t>Fetch 30 to 50 chunks and ask the model to discard the irrelevant ones before answering.</a:t>
            </a:r>
            <a:endParaRPr lang="en-US" sz="1400" dirty="0"/>
          </a:p>
          <a:p>
            <a:pPr indent="0" marL="0">
              <a:lnSpc>
                <a:spcPts val="2100"/>
              </a:lnSpc>
              <a:buNone/>
            </a:pPr>
            <a:endParaRPr lang="en-US" sz="1400" dirty="0"/>
          </a:p>
          <a:p>
            <a:pPr indent="0" marL="0">
              <a:lnSpc>
                <a:spcPts val="2100"/>
              </a:lnSpc>
              <a:buNone/>
            </a:pPr>
            <a:r>
              <a:rPr lang="en-US" sz="1400" dirty="0">
                <a:solidFill>
                  <a:srgbClr val="141414"/>
                </a:solidFill>
                <a:latin typeface="Arial" pitchFamily="34" charset="0"/>
                <a:ea typeface="Arial" pitchFamily="34" charset="-122"/>
                <a:cs typeface="Arial" pitchFamily="34" charset="-120"/>
              </a:rPr>
              <a:t>Models judge relevance better than distance ranks it. Costs tokens and time.</a:t>
            </a:r>
            <a:endParaRPr lang="en-US" sz="1400" dirty="0"/>
          </a:p>
        </p:txBody>
      </p:sp>
      <p:sp>
        <p:nvSpPr>
          <p:cNvPr id="14" name="Shape 12"/>
          <p:cNvSpPr/>
          <p:nvPr/>
        </p:nvSpPr>
        <p:spPr>
          <a:xfrm>
            <a:off x="7993685" y="1851843"/>
            <a:ext cx="3411626" cy="21726"/>
          </a:xfrm>
          <a:prstGeom prst="rect">
            <a:avLst/>
          </a:prstGeom>
          <a:solidFill>
            <a:srgbClr val="141414"/>
          </a:solidFill>
          <a:ln/>
        </p:spPr>
      </p:sp>
      <p:sp>
        <p:nvSpPr>
          <p:cNvPr id="15" name="Text 13"/>
          <p:cNvSpPr/>
          <p:nvPr/>
        </p:nvSpPr>
        <p:spPr>
          <a:xfrm>
            <a:off x="7993685" y="2044964"/>
            <a:ext cx="3411626" cy="454304"/>
          </a:xfrm>
          <a:prstGeom prst="rect">
            <a:avLst/>
          </a:prstGeom>
          <a:noFill/>
          <a:ln/>
        </p:spPr>
        <p:txBody>
          <a:bodyPr wrap="square" lIns="0" tIns="0" rIns="0" bIns="0" rtlCol="0" anchor="ctr"/>
          <a:lstStyle/>
          <a:p>
            <a:pPr indent="0" marL="0">
              <a:lnSpc>
                <a:spcPts val="2350"/>
              </a:lnSpc>
              <a:buNone/>
            </a:pPr>
            <a:r>
              <a:rPr lang="en-US" sz="1950" b="1" dirty="0">
                <a:solidFill>
                  <a:srgbClr val="141414"/>
                </a:solidFill>
                <a:latin typeface="Arial" pitchFamily="34" charset="0"/>
                <a:ea typeface="Arial" pitchFamily="34" charset="-122"/>
                <a:cs typeface="Arial" pitchFamily="34" charset="-120"/>
              </a:rPr>
              <a:t>Aggregate over the set</a:t>
            </a:r>
            <a:endParaRPr lang="en-US" sz="1950" dirty="0"/>
          </a:p>
        </p:txBody>
      </p:sp>
      <p:sp>
        <p:nvSpPr>
          <p:cNvPr id="16" name="Text 14"/>
          <p:cNvSpPr/>
          <p:nvPr/>
        </p:nvSpPr>
        <p:spPr>
          <a:xfrm>
            <a:off x="7993685" y="2595829"/>
            <a:ext cx="3411626" cy="2172614"/>
          </a:xfrm>
          <a:prstGeom prst="rect">
            <a:avLst/>
          </a:prstGeom>
          <a:noFill/>
          <a:ln/>
        </p:spPr>
        <p:txBody>
          <a:bodyPr wrap="square" lIns="0" tIns="0" rIns="0" bIns="0" rtlCol="0" anchor="t"/>
          <a:lstStyle/>
          <a:p>
            <a:pPr indent="0" marL="0">
              <a:lnSpc>
                <a:spcPts val="2100"/>
              </a:lnSpc>
              <a:buNone/>
            </a:pPr>
            <a:r>
              <a:rPr lang="en-US" sz="1400" dirty="0">
                <a:solidFill>
                  <a:srgbClr val="141414"/>
                </a:solidFill>
                <a:latin typeface="Arial" pitchFamily="34" charset="0"/>
                <a:ea typeface="Arial" pitchFamily="34" charset="-122"/>
                <a:cs typeface="Arial" pitchFamily="34" charset="-120"/>
              </a:rPr>
              <a:t>Retrieve the full set first, then have the model count or compare across what it was given.</a:t>
            </a:r>
            <a:endParaRPr lang="en-US" sz="1400" dirty="0"/>
          </a:p>
          <a:p>
            <a:pPr indent="0" marL="0">
              <a:lnSpc>
                <a:spcPts val="2100"/>
              </a:lnSpc>
              <a:buNone/>
            </a:pPr>
            <a:endParaRPr lang="en-US" sz="1400" dirty="0"/>
          </a:p>
          <a:p>
            <a:pPr indent="0" marL="0">
              <a:lnSpc>
                <a:spcPts val="2100"/>
              </a:lnSpc>
              <a:buNone/>
            </a:pPr>
            <a:r>
              <a:rPr lang="en-US" sz="1400" dirty="0">
                <a:solidFill>
                  <a:srgbClr val="141414"/>
                </a:solidFill>
                <a:latin typeface="Arial" pitchFamily="34" charset="0"/>
                <a:ea typeface="Arial" pitchFamily="34" charset="-122"/>
                <a:cs typeface="Arial" pitchFamily="34" charset="-120"/>
              </a:rPr>
              <a:t>Use when the answer is a count, a maximum or a comparison.</a:t>
            </a:r>
            <a:endParaRPr lang="en-US" sz="1400" dirty="0"/>
          </a:p>
        </p:txBody>
      </p:sp>
      <p:sp>
        <p:nvSpPr>
          <p:cNvPr id="17" name="Shape 15"/>
          <p:cNvSpPr/>
          <p:nvPr/>
        </p:nvSpPr>
        <p:spPr>
          <a:xfrm>
            <a:off x="786384" y="4676242"/>
            <a:ext cx="10618927" cy="1207008"/>
          </a:xfrm>
          <a:prstGeom prst="roundRect">
            <a:avLst>
              <a:gd name="adj" fmla="val 3788"/>
            </a:avLst>
          </a:prstGeom>
          <a:solidFill>
            <a:srgbClr val="F0EDE8"/>
          </a:solidFill>
          <a:ln/>
        </p:spPr>
      </p:sp>
      <p:sp>
        <p:nvSpPr>
          <p:cNvPr id="18" name="Text 16"/>
          <p:cNvSpPr/>
          <p:nvPr/>
        </p:nvSpPr>
        <p:spPr>
          <a:xfrm>
            <a:off x="1060704" y="4917643"/>
            <a:ext cx="10070287" cy="724205"/>
          </a:xfrm>
          <a:prstGeom prst="rect">
            <a:avLst/>
          </a:prstGeom>
          <a:noFill/>
          <a:ln/>
        </p:spPr>
        <p:txBody>
          <a:bodyPr wrap="square" lIns="0" tIns="0" rIns="0" bIns="0" rtlCol="0" anchor="ctr"/>
          <a:lstStyle/>
          <a:p>
            <a:pPr indent="0" marL="0">
              <a:lnSpc>
                <a:spcPts val="2200"/>
              </a:lnSpc>
              <a:buNone/>
            </a:pPr>
            <a:r>
              <a:rPr lang="en-US" sz="1550" dirty="0">
                <a:solidFill>
                  <a:srgbClr val="141414"/>
                </a:solidFill>
                <a:latin typeface="Arial" pitchFamily="34" charset="0"/>
                <a:ea typeface="Arial" pitchFamily="34" charset="-122"/>
                <a:cs typeface="Arial" pitchFamily="34" charset="-120"/>
              </a:rPr>
              <a:t>Each model call costs 1 to 5 seconds. A four-step chain fits inside 30 seconds; a twelve-step chain does not. Run independent sub-queries concurrently with asyncio rather than one after another.</a:t>
            </a:r>
            <a:endParaRPr lang="en-US" sz="15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AF8F5"/>
        </a:solidFill>
      </p:bgPr>
    </p:bg>
    <p:spTree>
      <p:nvGrpSpPr>
        <p:cNvPr id="1" name=""/>
        <p:cNvGrpSpPr/>
        <p:nvPr/>
      </p:nvGrpSpPr>
      <p:grpSpPr>
        <a:xfrm>
          <a:off x="0" y="0"/>
          <a:ext cx="0" cy="0"/>
          <a:chOff x="0" y="0"/>
          <a:chExt cx="0" cy="0"/>
        </a:xfrm>
      </p:grpSpPr>
      <p:sp>
        <p:nvSpPr>
          <p:cNvPr id="2" name="Text 0"/>
          <p:cNvSpPr/>
          <p:nvPr/>
        </p:nvSpPr>
        <p:spPr>
          <a:xfrm>
            <a:off x="786384" y="402336"/>
            <a:ext cx="3657600" cy="237744"/>
          </a:xfrm>
          <a:prstGeom prst="rect">
            <a:avLst/>
          </a:prstGeom>
          <a:noFill/>
          <a:ln/>
        </p:spPr>
        <p:txBody>
          <a:bodyPr wrap="square" lIns="0" tIns="0" rIns="0" bIns="0" rtlCol="0" anchor="ctr"/>
          <a:lstStyle/>
          <a:p>
            <a:pPr indent="0" marL="0">
              <a:buNone/>
            </a:pPr>
            <a:r>
              <a:rPr lang="en-US" sz="950" b="1" spc="240" kern="0" dirty="0">
                <a:solidFill>
                  <a:srgbClr val="C0402A"/>
                </a:solidFill>
                <a:latin typeface="Arial" pitchFamily="34" charset="0"/>
                <a:ea typeface="Arial" pitchFamily="34" charset="-122"/>
                <a:cs typeface="Arial" pitchFamily="34" charset="-120"/>
              </a:rPr>
              <a:t>LAB</a:t>
            </a:r>
            <a:endParaRPr lang="en-US" sz="950" dirty="0"/>
          </a:p>
        </p:txBody>
      </p:sp>
      <p:sp>
        <p:nvSpPr>
          <p:cNvPr id="3" name="Text 1"/>
          <p:cNvSpPr/>
          <p:nvPr/>
        </p:nvSpPr>
        <p:spPr>
          <a:xfrm>
            <a:off x="786384" y="713232"/>
            <a:ext cx="7923047" cy="676656"/>
          </a:xfrm>
          <a:prstGeom prst="rect">
            <a:avLst/>
          </a:prstGeom>
          <a:noFill/>
          <a:ln/>
        </p:spPr>
        <p:txBody>
          <a:bodyPr wrap="square" lIns="0" tIns="0" rIns="0" bIns="0" rtlCol="0" anchor="ctr"/>
          <a:lstStyle/>
          <a:p>
            <a:pPr indent="0" marL="0">
              <a:buNone/>
            </a:pPr>
            <a:r>
              <a:rPr lang="en-US" sz="2900" b="1" dirty="0">
                <a:solidFill>
                  <a:srgbClr val="141414"/>
                </a:solidFill>
                <a:latin typeface="Arial" pitchFamily="34" charset="0"/>
                <a:ea typeface="Arial" pitchFamily="34" charset="-122"/>
                <a:cs typeface="Arial" pitchFamily="34" charset="-120"/>
              </a:rPr>
              <a:t>Lab: Query Decomposition</a:t>
            </a:r>
            <a:endParaRPr lang="en-US" sz="2900" dirty="0"/>
          </a:p>
        </p:txBody>
      </p:sp>
      <p:sp>
        <p:nvSpPr>
          <p:cNvPr id="4" name="Shape 2"/>
          <p:cNvSpPr/>
          <p:nvPr/>
        </p:nvSpPr>
        <p:spPr>
          <a:xfrm>
            <a:off x="10801807" y="877824"/>
            <a:ext cx="585216" cy="292608"/>
          </a:xfrm>
          <a:prstGeom prst="rect">
            <a:avLst/>
          </a:prstGeom>
          <a:solidFill>
            <a:srgbClr val="FAF8F5"/>
          </a:solidFill>
          <a:ln w="9525">
            <a:solidFill>
              <a:srgbClr val="D5D1CA"/>
            </a:solidFill>
            <a:prstDash val="solid"/>
          </a:ln>
        </p:spPr>
      </p:sp>
      <p:sp>
        <p:nvSpPr>
          <p:cNvPr id="5" name="Text 3"/>
          <p:cNvSpPr/>
          <p:nvPr/>
        </p:nvSpPr>
        <p:spPr>
          <a:xfrm>
            <a:off x="10801807" y="877824"/>
            <a:ext cx="585216" cy="292608"/>
          </a:xfrm>
          <a:prstGeom prst="rect">
            <a:avLst/>
          </a:prstGeom>
          <a:noFill/>
          <a:ln/>
        </p:spPr>
        <p:txBody>
          <a:bodyPr wrap="square" lIns="0" tIns="0" rIns="0" bIns="0" rtlCol="0" anchor="ctr"/>
          <a:lstStyle/>
          <a:p>
            <a:pPr algn="ctr" indent="0" marL="0">
              <a:buNone/>
            </a:pPr>
            <a:r>
              <a:rPr lang="en-US" sz="1100" b="1" spc="60" kern="0" dirty="0">
                <a:solidFill>
                  <a:srgbClr val="2E2C28"/>
                </a:solidFill>
                <a:latin typeface="Arial" pitchFamily="34" charset="0"/>
                <a:ea typeface="Arial" pitchFamily="34" charset="-122"/>
                <a:cs typeface="Arial" pitchFamily="34" charset="-120"/>
              </a:rPr>
              <a:t>LV4</a:t>
            </a:r>
            <a:endParaRPr lang="en-US" sz="1100" dirty="0"/>
          </a:p>
        </p:txBody>
      </p:sp>
      <p:sp>
        <p:nvSpPr>
          <p:cNvPr id="6" name="Text 4"/>
          <p:cNvSpPr/>
          <p:nvPr/>
        </p:nvSpPr>
        <p:spPr>
          <a:xfrm>
            <a:off x="8662111" y="420624"/>
            <a:ext cx="2743200" cy="237744"/>
          </a:xfrm>
          <a:prstGeom prst="rect">
            <a:avLst/>
          </a:prstGeom>
          <a:noFill/>
          <a:ln/>
        </p:spPr>
        <p:txBody>
          <a:bodyPr wrap="square" lIns="0" tIns="0" rIns="0" bIns="0" rtlCol="0" anchor="ctr"/>
          <a:lstStyle/>
          <a:p>
            <a:pPr algn="r" indent="0" marL="0">
              <a:buNone/>
            </a:pPr>
            <a:r>
              <a:rPr lang="en-US" sz="950" b="1" spc="180" kern="0" dirty="0">
                <a:solidFill>
                  <a:srgbClr val="9C978E"/>
                </a:solidFill>
                <a:latin typeface="Arial" pitchFamily="34" charset="0"/>
                <a:ea typeface="Arial" pitchFamily="34" charset="-122"/>
                <a:cs typeface="Arial" pitchFamily="34" charset="-120"/>
              </a:rPr>
              <a:t>20 MINUTES</a:t>
            </a:r>
            <a:endParaRPr lang="en-US" sz="950" dirty="0"/>
          </a:p>
        </p:txBody>
      </p:sp>
      <p:sp>
        <p:nvSpPr>
          <p:cNvPr id="7" name="Shape 5"/>
          <p:cNvSpPr/>
          <p:nvPr/>
        </p:nvSpPr>
        <p:spPr>
          <a:xfrm>
            <a:off x="786384" y="1426464"/>
            <a:ext cx="10618927" cy="10973"/>
          </a:xfrm>
          <a:prstGeom prst="rect">
            <a:avLst/>
          </a:prstGeom>
          <a:solidFill>
            <a:srgbClr val="D5D1CA"/>
          </a:solidFill>
          <a:ln/>
        </p:spPr>
      </p:sp>
      <p:sp>
        <p:nvSpPr>
          <p:cNvPr id="8" name="Text 6"/>
          <p:cNvSpPr/>
          <p:nvPr/>
        </p:nvSpPr>
        <p:spPr>
          <a:xfrm>
            <a:off x="10490911" y="6309360"/>
            <a:ext cx="914400" cy="274320"/>
          </a:xfrm>
          <a:prstGeom prst="rect">
            <a:avLst/>
          </a:prstGeom>
          <a:noFill/>
          <a:ln/>
        </p:spPr>
        <p:txBody>
          <a:bodyPr wrap="square" lIns="0" tIns="0" rIns="0" bIns="0" rtlCol="0" anchor="ctr"/>
          <a:lstStyle/>
          <a:p>
            <a:pPr algn="r" indent="0" marL="0">
              <a:buNone/>
            </a:pPr>
            <a:r>
              <a:rPr lang="en-US" sz="1200" dirty="0">
                <a:solidFill>
                  <a:srgbClr val="9C978E"/>
                </a:solidFill>
                <a:latin typeface="Arial" pitchFamily="34" charset="0"/>
                <a:ea typeface="Arial" pitchFamily="34" charset="-122"/>
                <a:cs typeface="Arial" pitchFamily="34" charset="-120"/>
              </a:rPr>
              <a:t>23</a:t>
            </a:r>
            <a:endParaRPr lang="en-US" sz="1200" dirty="0"/>
          </a:p>
        </p:txBody>
      </p:sp>
      <p:sp>
        <p:nvSpPr>
          <p:cNvPr id="9" name="Text 7"/>
          <p:cNvSpPr/>
          <p:nvPr/>
        </p:nvSpPr>
        <p:spPr>
          <a:xfrm>
            <a:off x="786384" y="1765592"/>
            <a:ext cx="10087981" cy="334947"/>
          </a:xfrm>
          <a:prstGeom prst="rect">
            <a:avLst/>
          </a:prstGeom>
          <a:noFill/>
          <a:ln/>
        </p:spPr>
        <p:txBody>
          <a:bodyPr wrap="square" lIns="0" tIns="0" rIns="0" bIns="0" rtlCol="0" anchor="ctr"/>
          <a:lstStyle/>
          <a:p>
            <a:pPr indent="0" marL="0">
              <a:buNone/>
            </a:pPr>
            <a:r>
              <a:rPr lang="en-US" sz="1500" dirty="0">
                <a:solidFill>
                  <a:srgbClr val="6E6A63"/>
                </a:solidFill>
                <a:latin typeface="Arial" pitchFamily="34" charset="0"/>
                <a:ea typeface="Arial" pitchFamily="34" charset="-122"/>
                <a:cs typeface="Arial" pitchFamily="34" charset="-120"/>
              </a:rPr>
              <a:t>20 minutes. Use a Lv4 dev-set question your bot currently gets wrong.</a:t>
            </a:r>
            <a:endParaRPr lang="en-US" sz="1500" dirty="0"/>
          </a:p>
        </p:txBody>
      </p:sp>
      <p:sp>
        <p:nvSpPr>
          <p:cNvPr id="10" name="Text 8"/>
          <p:cNvSpPr/>
          <p:nvPr/>
        </p:nvSpPr>
        <p:spPr>
          <a:xfrm>
            <a:off x="786384" y="2193581"/>
            <a:ext cx="457200" cy="316339"/>
          </a:xfrm>
          <a:prstGeom prst="rect">
            <a:avLst/>
          </a:prstGeom>
          <a:noFill/>
          <a:ln/>
        </p:spPr>
        <p:txBody>
          <a:bodyPr wrap="square" lIns="0" tIns="0" rIns="0" bIns="0" rtlCol="0" anchor="ctr"/>
          <a:lstStyle/>
          <a:p>
            <a:pPr indent="0" marL="0">
              <a:buNone/>
            </a:pPr>
            <a:r>
              <a:rPr lang="en-US" sz="1750" b="1" dirty="0">
                <a:solidFill>
                  <a:srgbClr val="C0402A"/>
                </a:solidFill>
                <a:latin typeface="Arial" pitchFamily="34" charset="0"/>
                <a:ea typeface="Arial" pitchFamily="34" charset="-122"/>
                <a:cs typeface="Arial" pitchFamily="34" charset="-120"/>
              </a:rPr>
              <a:t>01</a:t>
            </a:r>
            <a:endParaRPr lang="en-US" sz="1750" dirty="0"/>
          </a:p>
        </p:txBody>
      </p:sp>
      <p:sp>
        <p:nvSpPr>
          <p:cNvPr id="11" name="Text 9"/>
          <p:cNvSpPr/>
          <p:nvPr/>
        </p:nvSpPr>
        <p:spPr>
          <a:xfrm>
            <a:off x="1353312" y="2193581"/>
            <a:ext cx="9521053" cy="350196"/>
          </a:xfrm>
          <a:prstGeom prst="rect">
            <a:avLst/>
          </a:prstGeom>
          <a:noFill/>
          <a:ln/>
        </p:spPr>
        <p:txBody>
          <a:bodyPr wrap="square" lIns="0" tIns="0" rIns="0" bIns="0" rtlCol="0" anchor="ctr"/>
          <a:lstStyle/>
          <a:p>
            <a:pPr indent="0" marL="0">
              <a:lnSpc>
                <a:spcPts val="2350"/>
              </a:lnSpc>
              <a:buNone/>
            </a:pPr>
            <a:r>
              <a:rPr lang="en-US" sz="1950" b="1" dirty="0">
                <a:solidFill>
                  <a:srgbClr val="141414"/>
                </a:solidFill>
                <a:latin typeface="Arial" pitchFamily="34" charset="0"/>
                <a:ea typeface="Arial" pitchFamily="34" charset="-122"/>
                <a:cs typeface="Arial" pitchFamily="34" charset="-120"/>
              </a:rPr>
              <a:t>Record the current answer and its timing</a:t>
            </a:r>
            <a:endParaRPr lang="en-US" sz="1950" dirty="0"/>
          </a:p>
        </p:txBody>
      </p:sp>
      <p:sp>
        <p:nvSpPr>
          <p:cNvPr id="12" name="Text 10"/>
          <p:cNvSpPr/>
          <p:nvPr/>
        </p:nvSpPr>
        <p:spPr>
          <a:xfrm>
            <a:off x="1353312" y="2580993"/>
            <a:ext cx="9521053" cy="324351"/>
          </a:xfrm>
          <a:prstGeom prst="rect">
            <a:avLst/>
          </a:prstGeom>
          <a:noFill/>
          <a:ln/>
        </p:spPr>
        <p:txBody>
          <a:bodyPr wrap="square" lIns="0" tIns="0" rIns="0" bIns="0" rtlCol="0" anchor="ctr"/>
          <a:lstStyle/>
          <a:p>
            <a:pPr indent="0" marL="0">
              <a:lnSpc>
                <a:spcPts val="2150"/>
              </a:lnSpc>
              <a:buNone/>
            </a:pPr>
            <a:r>
              <a:rPr lang="en-US" sz="1650" dirty="0">
                <a:solidFill>
                  <a:srgbClr val="6E6A63"/>
                </a:solidFill>
                <a:latin typeface="Arial" pitchFamily="34" charset="0"/>
                <a:ea typeface="Arial" pitchFamily="34" charset="-122"/>
                <a:cs typeface="Arial" pitchFamily="34" charset="-120"/>
              </a:rPr>
              <a:t>Both numbers. You are comparing against this.</a:t>
            </a:r>
            <a:endParaRPr lang="en-US" sz="1650" dirty="0"/>
          </a:p>
        </p:txBody>
      </p:sp>
      <p:sp>
        <p:nvSpPr>
          <p:cNvPr id="13" name="Text 11"/>
          <p:cNvSpPr/>
          <p:nvPr/>
        </p:nvSpPr>
        <p:spPr>
          <a:xfrm>
            <a:off x="786384" y="3026297"/>
            <a:ext cx="457200" cy="316339"/>
          </a:xfrm>
          <a:prstGeom prst="rect">
            <a:avLst/>
          </a:prstGeom>
          <a:noFill/>
          <a:ln/>
        </p:spPr>
        <p:txBody>
          <a:bodyPr wrap="square" lIns="0" tIns="0" rIns="0" bIns="0" rtlCol="0" anchor="ctr"/>
          <a:lstStyle/>
          <a:p>
            <a:pPr indent="0" marL="0">
              <a:buNone/>
            </a:pPr>
            <a:r>
              <a:rPr lang="en-US" sz="1750" b="1" dirty="0">
                <a:solidFill>
                  <a:srgbClr val="C0402A"/>
                </a:solidFill>
                <a:latin typeface="Arial" pitchFamily="34" charset="0"/>
                <a:ea typeface="Arial" pitchFamily="34" charset="-122"/>
                <a:cs typeface="Arial" pitchFamily="34" charset="-120"/>
              </a:rPr>
              <a:t>02</a:t>
            </a:r>
            <a:endParaRPr lang="en-US" sz="1750" dirty="0"/>
          </a:p>
        </p:txBody>
      </p:sp>
      <p:sp>
        <p:nvSpPr>
          <p:cNvPr id="14" name="Text 12"/>
          <p:cNvSpPr/>
          <p:nvPr/>
        </p:nvSpPr>
        <p:spPr>
          <a:xfrm>
            <a:off x="1353312" y="3026297"/>
            <a:ext cx="9521053" cy="350196"/>
          </a:xfrm>
          <a:prstGeom prst="rect">
            <a:avLst/>
          </a:prstGeom>
          <a:noFill/>
          <a:ln/>
        </p:spPr>
        <p:txBody>
          <a:bodyPr wrap="square" lIns="0" tIns="0" rIns="0" bIns="0" rtlCol="0" anchor="ctr"/>
          <a:lstStyle/>
          <a:p>
            <a:pPr indent="0" marL="0">
              <a:lnSpc>
                <a:spcPts val="2350"/>
              </a:lnSpc>
              <a:buNone/>
            </a:pPr>
            <a:r>
              <a:rPr lang="en-US" sz="1950" b="1" dirty="0">
                <a:solidFill>
                  <a:srgbClr val="141414"/>
                </a:solidFill>
                <a:latin typeface="Arial" pitchFamily="34" charset="0"/>
                <a:ea typeface="Arial" pitchFamily="34" charset="-122"/>
                <a:cs typeface="Arial" pitchFamily="34" charset="-120"/>
              </a:rPr>
              <a:t>Add a model call that splits the question</a:t>
            </a:r>
            <a:endParaRPr lang="en-US" sz="1950" dirty="0"/>
          </a:p>
        </p:txBody>
      </p:sp>
      <p:sp>
        <p:nvSpPr>
          <p:cNvPr id="15" name="Text 13"/>
          <p:cNvSpPr/>
          <p:nvPr/>
        </p:nvSpPr>
        <p:spPr>
          <a:xfrm>
            <a:off x="1353312" y="3413709"/>
            <a:ext cx="9521053" cy="324351"/>
          </a:xfrm>
          <a:prstGeom prst="rect">
            <a:avLst/>
          </a:prstGeom>
          <a:noFill/>
          <a:ln/>
        </p:spPr>
        <p:txBody>
          <a:bodyPr wrap="square" lIns="0" tIns="0" rIns="0" bIns="0" rtlCol="0" anchor="ctr"/>
          <a:lstStyle/>
          <a:p>
            <a:pPr indent="0" marL="0">
              <a:lnSpc>
                <a:spcPts val="2150"/>
              </a:lnSpc>
              <a:buNone/>
            </a:pPr>
            <a:r>
              <a:rPr lang="en-US" sz="1650" dirty="0">
                <a:solidFill>
                  <a:srgbClr val="6E6A63"/>
                </a:solidFill>
                <a:latin typeface="Arial" pitchFamily="34" charset="0"/>
                <a:ea typeface="Arial" pitchFamily="34" charset="-122"/>
                <a:cs typeface="Arial" pitchFamily="34" charset="-120"/>
              </a:rPr>
              <a:t>Sub-questions as a numbered list, then parse. One extra call.</a:t>
            </a:r>
            <a:endParaRPr lang="en-US" sz="1650" dirty="0"/>
          </a:p>
        </p:txBody>
      </p:sp>
      <p:sp>
        <p:nvSpPr>
          <p:cNvPr id="16" name="Text 14"/>
          <p:cNvSpPr/>
          <p:nvPr/>
        </p:nvSpPr>
        <p:spPr>
          <a:xfrm>
            <a:off x="786384" y="3859013"/>
            <a:ext cx="457200" cy="316339"/>
          </a:xfrm>
          <a:prstGeom prst="rect">
            <a:avLst/>
          </a:prstGeom>
          <a:noFill/>
          <a:ln/>
        </p:spPr>
        <p:txBody>
          <a:bodyPr wrap="square" lIns="0" tIns="0" rIns="0" bIns="0" rtlCol="0" anchor="ctr"/>
          <a:lstStyle/>
          <a:p>
            <a:pPr indent="0" marL="0">
              <a:buNone/>
            </a:pPr>
            <a:r>
              <a:rPr lang="en-US" sz="1750" b="1" dirty="0">
                <a:solidFill>
                  <a:srgbClr val="C0402A"/>
                </a:solidFill>
                <a:latin typeface="Arial" pitchFamily="34" charset="0"/>
                <a:ea typeface="Arial" pitchFamily="34" charset="-122"/>
                <a:cs typeface="Arial" pitchFamily="34" charset="-120"/>
              </a:rPr>
              <a:t>03</a:t>
            </a:r>
            <a:endParaRPr lang="en-US" sz="1750" dirty="0"/>
          </a:p>
        </p:txBody>
      </p:sp>
      <p:sp>
        <p:nvSpPr>
          <p:cNvPr id="17" name="Text 15"/>
          <p:cNvSpPr/>
          <p:nvPr/>
        </p:nvSpPr>
        <p:spPr>
          <a:xfrm>
            <a:off x="1353312" y="3859013"/>
            <a:ext cx="9521053" cy="350196"/>
          </a:xfrm>
          <a:prstGeom prst="rect">
            <a:avLst/>
          </a:prstGeom>
          <a:noFill/>
          <a:ln/>
        </p:spPr>
        <p:txBody>
          <a:bodyPr wrap="square" lIns="0" tIns="0" rIns="0" bIns="0" rtlCol="0" anchor="ctr"/>
          <a:lstStyle/>
          <a:p>
            <a:pPr indent="0" marL="0">
              <a:lnSpc>
                <a:spcPts val="2350"/>
              </a:lnSpc>
              <a:buNone/>
            </a:pPr>
            <a:r>
              <a:rPr lang="en-US" sz="1950" b="1" dirty="0">
                <a:solidFill>
                  <a:srgbClr val="141414"/>
                </a:solidFill>
                <a:latin typeface="Arial" pitchFamily="34" charset="0"/>
                <a:ea typeface="Arial" pitchFamily="34" charset="-122"/>
                <a:cs typeface="Arial" pitchFamily="34" charset="-120"/>
              </a:rPr>
              <a:t>Retrieve per part and label the results</a:t>
            </a:r>
            <a:endParaRPr lang="en-US" sz="1950" dirty="0"/>
          </a:p>
        </p:txBody>
      </p:sp>
      <p:sp>
        <p:nvSpPr>
          <p:cNvPr id="18" name="Text 16"/>
          <p:cNvSpPr/>
          <p:nvPr/>
        </p:nvSpPr>
        <p:spPr>
          <a:xfrm>
            <a:off x="1353312" y="4246425"/>
            <a:ext cx="9521053" cy="324351"/>
          </a:xfrm>
          <a:prstGeom prst="rect">
            <a:avLst/>
          </a:prstGeom>
          <a:noFill/>
          <a:ln/>
        </p:spPr>
        <p:txBody>
          <a:bodyPr wrap="square" lIns="0" tIns="0" rIns="0" bIns="0" rtlCol="0" anchor="ctr"/>
          <a:lstStyle/>
          <a:p>
            <a:pPr indent="0" marL="0">
              <a:lnSpc>
                <a:spcPts val="2150"/>
              </a:lnSpc>
              <a:buNone/>
            </a:pPr>
            <a:r>
              <a:rPr lang="en-US" sz="1650" dirty="0">
                <a:solidFill>
                  <a:srgbClr val="6E6A63"/>
                </a:solidFill>
                <a:latin typeface="Arial" pitchFamily="34" charset="0"/>
                <a:ea typeface="Arial" pitchFamily="34" charset="-122"/>
                <a:cs typeface="Arial" pitchFamily="34" charset="-120"/>
              </a:rPr>
              <a:t>Group chunks by sub-question so the model sees which came from where.</a:t>
            </a:r>
            <a:endParaRPr lang="en-US" sz="1650" dirty="0"/>
          </a:p>
        </p:txBody>
      </p:sp>
      <p:sp>
        <p:nvSpPr>
          <p:cNvPr id="19" name="Text 17"/>
          <p:cNvSpPr/>
          <p:nvPr/>
        </p:nvSpPr>
        <p:spPr>
          <a:xfrm>
            <a:off x="786384" y="4691729"/>
            <a:ext cx="457200" cy="316339"/>
          </a:xfrm>
          <a:prstGeom prst="rect">
            <a:avLst/>
          </a:prstGeom>
          <a:noFill/>
          <a:ln/>
        </p:spPr>
        <p:txBody>
          <a:bodyPr wrap="square" lIns="0" tIns="0" rIns="0" bIns="0" rtlCol="0" anchor="ctr"/>
          <a:lstStyle/>
          <a:p>
            <a:pPr indent="0" marL="0">
              <a:buNone/>
            </a:pPr>
            <a:r>
              <a:rPr lang="en-US" sz="1750" b="1" dirty="0">
                <a:solidFill>
                  <a:srgbClr val="C0402A"/>
                </a:solidFill>
                <a:latin typeface="Arial" pitchFamily="34" charset="0"/>
                <a:ea typeface="Arial" pitchFamily="34" charset="-122"/>
                <a:cs typeface="Arial" pitchFamily="34" charset="-120"/>
              </a:rPr>
              <a:t>04</a:t>
            </a:r>
            <a:endParaRPr lang="en-US" sz="1750" dirty="0"/>
          </a:p>
        </p:txBody>
      </p:sp>
      <p:sp>
        <p:nvSpPr>
          <p:cNvPr id="20" name="Text 18"/>
          <p:cNvSpPr/>
          <p:nvPr/>
        </p:nvSpPr>
        <p:spPr>
          <a:xfrm>
            <a:off x="1353312" y="4691729"/>
            <a:ext cx="9521053" cy="350196"/>
          </a:xfrm>
          <a:prstGeom prst="rect">
            <a:avLst/>
          </a:prstGeom>
          <a:noFill/>
          <a:ln/>
        </p:spPr>
        <p:txBody>
          <a:bodyPr wrap="square" lIns="0" tIns="0" rIns="0" bIns="0" rtlCol="0" anchor="ctr"/>
          <a:lstStyle/>
          <a:p>
            <a:pPr indent="0" marL="0">
              <a:lnSpc>
                <a:spcPts val="2350"/>
              </a:lnSpc>
              <a:buNone/>
            </a:pPr>
            <a:r>
              <a:rPr lang="en-US" sz="1950" b="1" dirty="0">
                <a:solidFill>
                  <a:srgbClr val="141414"/>
                </a:solidFill>
                <a:latin typeface="Arial" pitchFamily="34" charset="0"/>
                <a:ea typeface="Arial" pitchFamily="34" charset="-122"/>
                <a:cs typeface="Arial" pitchFamily="34" charset="-120"/>
              </a:rPr>
              <a:t>Answer from combined context, time it again</a:t>
            </a:r>
            <a:endParaRPr lang="en-US" sz="1950" dirty="0"/>
          </a:p>
        </p:txBody>
      </p:sp>
      <p:sp>
        <p:nvSpPr>
          <p:cNvPr id="21" name="Text 19"/>
          <p:cNvSpPr/>
          <p:nvPr/>
        </p:nvSpPr>
        <p:spPr>
          <a:xfrm>
            <a:off x="1353312" y="5079141"/>
            <a:ext cx="9521053" cy="324351"/>
          </a:xfrm>
          <a:prstGeom prst="rect">
            <a:avLst/>
          </a:prstGeom>
          <a:noFill/>
          <a:ln/>
        </p:spPr>
        <p:txBody>
          <a:bodyPr wrap="square" lIns="0" tIns="0" rIns="0" bIns="0" rtlCol="0" anchor="ctr"/>
          <a:lstStyle/>
          <a:p>
            <a:pPr indent="0" marL="0">
              <a:lnSpc>
                <a:spcPts val="2150"/>
              </a:lnSpc>
              <a:buNone/>
            </a:pPr>
            <a:r>
              <a:rPr lang="en-US" sz="1650" dirty="0">
                <a:solidFill>
                  <a:srgbClr val="6E6A63"/>
                </a:solidFill>
                <a:latin typeface="Arial" pitchFamily="34" charset="0"/>
                <a:ea typeface="Arial" pitchFamily="34" charset="-122"/>
                <a:cs typeface="Arial" pitchFamily="34" charset="-120"/>
              </a:rPr>
              <a:t>Expect the score to rise and the time to roughly triple.</a:t>
            </a:r>
            <a:endParaRPr lang="en-US" sz="1650" dirty="0"/>
          </a:p>
        </p:txBody>
      </p:sp>
      <p:sp>
        <p:nvSpPr>
          <p:cNvPr id="22" name="Text 20"/>
          <p:cNvSpPr/>
          <p:nvPr/>
        </p:nvSpPr>
        <p:spPr>
          <a:xfrm>
            <a:off x="786384" y="5524445"/>
            <a:ext cx="457200" cy="316339"/>
          </a:xfrm>
          <a:prstGeom prst="rect">
            <a:avLst/>
          </a:prstGeom>
          <a:noFill/>
          <a:ln/>
        </p:spPr>
        <p:txBody>
          <a:bodyPr wrap="square" lIns="0" tIns="0" rIns="0" bIns="0" rtlCol="0" anchor="ctr"/>
          <a:lstStyle/>
          <a:p>
            <a:pPr indent="0" marL="0">
              <a:buNone/>
            </a:pPr>
            <a:r>
              <a:rPr lang="en-US" sz="1750" b="1" dirty="0">
                <a:solidFill>
                  <a:srgbClr val="C0402A"/>
                </a:solidFill>
                <a:latin typeface="Arial" pitchFamily="34" charset="0"/>
                <a:ea typeface="Arial" pitchFamily="34" charset="-122"/>
                <a:cs typeface="Arial" pitchFamily="34" charset="-120"/>
              </a:rPr>
              <a:t>05</a:t>
            </a:r>
            <a:endParaRPr lang="en-US" sz="1750" dirty="0"/>
          </a:p>
        </p:txBody>
      </p:sp>
      <p:sp>
        <p:nvSpPr>
          <p:cNvPr id="23" name="Text 21"/>
          <p:cNvSpPr/>
          <p:nvPr/>
        </p:nvSpPr>
        <p:spPr>
          <a:xfrm>
            <a:off x="1353312" y="5524445"/>
            <a:ext cx="9521053" cy="350196"/>
          </a:xfrm>
          <a:prstGeom prst="rect">
            <a:avLst/>
          </a:prstGeom>
          <a:noFill/>
          <a:ln/>
        </p:spPr>
        <p:txBody>
          <a:bodyPr wrap="square" lIns="0" tIns="0" rIns="0" bIns="0" rtlCol="0" anchor="ctr"/>
          <a:lstStyle/>
          <a:p>
            <a:pPr indent="0" marL="0">
              <a:lnSpc>
                <a:spcPts val="2350"/>
              </a:lnSpc>
              <a:buNone/>
            </a:pPr>
            <a:r>
              <a:rPr lang="en-US" sz="1950" b="1" dirty="0">
                <a:solidFill>
                  <a:srgbClr val="141414"/>
                </a:solidFill>
                <a:latin typeface="Arial" pitchFamily="34" charset="0"/>
                <a:ea typeface="Arial" pitchFamily="34" charset="-122"/>
                <a:cs typeface="Arial" pitchFamily="34" charset="-120"/>
              </a:rPr>
              <a:t>Then decide which questions deserve this</a:t>
            </a:r>
            <a:endParaRPr lang="en-US" sz="1950" dirty="0"/>
          </a:p>
        </p:txBody>
      </p:sp>
      <p:sp>
        <p:nvSpPr>
          <p:cNvPr id="24" name="Text 22"/>
          <p:cNvSpPr/>
          <p:nvPr/>
        </p:nvSpPr>
        <p:spPr>
          <a:xfrm>
            <a:off x="1353312" y="5911857"/>
            <a:ext cx="9521053" cy="324351"/>
          </a:xfrm>
          <a:prstGeom prst="rect">
            <a:avLst/>
          </a:prstGeom>
          <a:noFill/>
          <a:ln/>
        </p:spPr>
        <p:txBody>
          <a:bodyPr wrap="square" lIns="0" tIns="0" rIns="0" bIns="0" rtlCol="0" anchor="ctr"/>
          <a:lstStyle/>
          <a:p>
            <a:pPr indent="0" marL="0">
              <a:lnSpc>
                <a:spcPts val="2150"/>
              </a:lnSpc>
              <a:buNone/>
            </a:pPr>
            <a:r>
              <a:rPr lang="en-US" sz="1650" dirty="0">
                <a:solidFill>
                  <a:srgbClr val="6E6A63"/>
                </a:solidFill>
                <a:latin typeface="Arial" pitchFamily="34" charset="0"/>
                <a:ea typeface="Arial" pitchFamily="34" charset="-122"/>
                <a:cs typeface="Arial" pitchFamily="34" charset="-120"/>
              </a:rPr>
              <a:t>Run it on a Lv1 question. Same score, triple the time: that is routing.</a:t>
            </a:r>
            <a:endParaRPr lang="en-US" sz="165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AF8F5"/>
        </a:solidFill>
      </p:bgPr>
    </p:bg>
    <p:spTree>
      <p:nvGrpSpPr>
        <p:cNvPr id="1" name=""/>
        <p:cNvGrpSpPr/>
        <p:nvPr/>
      </p:nvGrpSpPr>
      <p:grpSpPr>
        <a:xfrm>
          <a:off x="0" y="0"/>
          <a:ext cx="0" cy="0"/>
          <a:chOff x="0" y="0"/>
          <a:chExt cx="0" cy="0"/>
        </a:xfrm>
      </p:grpSpPr>
      <p:sp>
        <p:nvSpPr>
          <p:cNvPr id="2" name="Text 0"/>
          <p:cNvSpPr/>
          <p:nvPr/>
        </p:nvSpPr>
        <p:spPr>
          <a:xfrm>
            <a:off x="786384" y="402336"/>
            <a:ext cx="3657600" cy="237744"/>
          </a:xfrm>
          <a:prstGeom prst="rect">
            <a:avLst/>
          </a:prstGeom>
          <a:noFill/>
          <a:ln/>
        </p:spPr>
        <p:txBody>
          <a:bodyPr wrap="square" lIns="0" tIns="0" rIns="0" bIns="0" rtlCol="0" anchor="ctr"/>
          <a:lstStyle/>
          <a:p>
            <a:pPr indent="0" marL="0">
              <a:buNone/>
            </a:pPr>
            <a:r>
              <a:rPr lang="en-US" sz="950" b="1" spc="240" kern="0" dirty="0">
                <a:solidFill>
                  <a:srgbClr val="9C978E"/>
                </a:solidFill>
                <a:latin typeface="Arial" pitchFamily="34" charset="0"/>
                <a:ea typeface="Arial" pitchFamily="34" charset="-122"/>
                <a:cs typeface="Arial" pitchFamily="34" charset="-120"/>
              </a:rPr>
              <a:t>THEORY</a:t>
            </a:r>
            <a:endParaRPr lang="en-US" sz="950" dirty="0"/>
          </a:p>
        </p:txBody>
      </p:sp>
      <p:sp>
        <p:nvSpPr>
          <p:cNvPr id="3" name="Text 1"/>
          <p:cNvSpPr/>
          <p:nvPr/>
        </p:nvSpPr>
        <p:spPr>
          <a:xfrm>
            <a:off x="786384" y="713232"/>
            <a:ext cx="7923047" cy="676656"/>
          </a:xfrm>
          <a:prstGeom prst="rect">
            <a:avLst/>
          </a:prstGeom>
          <a:noFill/>
          <a:ln/>
        </p:spPr>
        <p:txBody>
          <a:bodyPr wrap="square" lIns="0" tIns="0" rIns="0" bIns="0" rtlCol="0" anchor="ctr"/>
          <a:lstStyle/>
          <a:p>
            <a:pPr indent="0" marL="0">
              <a:buNone/>
            </a:pPr>
            <a:r>
              <a:rPr lang="en-US" sz="2900" b="1" dirty="0">
                <a:solidFill>
                  <a:srgbClr val="141414"/>
                </a:solidFill>
                <a:latin typeface="Arial" pitchFamily="34" charset="0"/>
                <a:ea typeface="Arial" pitchFamily="34" charset="-122"/>
                <a:cs typeface="Arial" pitchFamily="34" charset="-120"/>
              </a:rPr>
              <a:t>Decomposition, Step by Step</a:t>
            </a:r>
            <a:endParaRPr lang="en-US" sz="2900" dirty="0"/>
          </a:p>
        </p:txBody>
      </p:sp>
      <p:sp>
        <p:nvSpPr>
          <p:cNvPr id="4" name="Shape 2"/>
          <p:cNvSpPr/>
          <p:nvPr/>
        </p:nvSpPr>
        <p:spPr>
          <a:xfrm>
            <a:off x="10801807" y="877824"/>
            <a:ext cx="585216" cy="292608"/>
          </a:xfrm>
          <a:prstGeom prst="rect">
            <a:avLst/>
          </a:prstGeom>
          <a:solidFill>
            <a:srgbClr val="FAF8F5"/>
          </a:solidFill>
          <a:ln w="9525">
            <a:solidFill>
              <a:srgbClr val="D5D1CA"/>
            </a:solidFill>
            <a:prstDash val="solid"/>
          </a:ln>
        </p:spPr>
      </p:sp>
      <p:sp>
        <p:nvSpPr>
          <p:cNvPr id="5" name="Text 3"/>
          <p:cNvSpPr/>
          <p:nvPr/>
        </p:nvSpPr>
        <p:spPr>
          <a:xfrm>
            <a:off x="10801807" y="877824"/>
            <a:ext cx="585216" cy="292608"/>
          </a:xfrm>
          <a:prstGeom prst="rect">
            <a:avLst/>
          </a:prstGeom>
          <a:noFill/>
          <a:ln/>
        </p:spPr>
        <p:txBody>
          <a:bodyPr wrap="square" lIns="0" tIns="0" rIns="0" bIns="0" rtlCol="0" anchor="ctr"/>
          <a:lstStyle/>
          <a:p>
            <a:pPr algn="ctr" indent="0" marL="0">
              <a:buNone/>
            </a:pPr>
            <a:r>
              <a:rPr lang="en-US" sz="1100" b="1" spc="60" kern="0" dirty="0">
                <a:solidFill>
                  <a:srgbClr val="2E2C28"/>
                </a:solidFill>
                <a:latin typeface="Arial" pitchFamily="34" charset="0"/>
                <a:ea typeface="Arial" pitchFamily="34" charset="-122"/>
                <a:cs typeface="Arial" pitchFamily="34" charset="-120"/>
              </a:rPr>
              <a:t>LV4</a:t>
            </a:r>
            <a:endParaRPr lang="en-US" sz="1100" dirty="0"/>
          </a:p>
        </p:txBody>
      </p:sp>
      <p:sp>
        <p:nvSpPr>
          <p:cNvPr id="6" name="Shape 4"/>
          <p:cNvSpPr/>
          <p:nvPr/>
        </p:nvSpPr>
        <p:spPr>
          <a:xfrm>
            <a:off x="786384" y="1426464"/>
            <a:ext cx="10618927" cy="10973"/>
          </a:xfrm>
          <a:prstGeom prst="rect">
            <a:avLst/>
          </a:prstGeom>
          <a:solidFill>
            <a:srgbClr val="D5D1CA"/>
          </a:solidFill>
          <a:ln/>
        </p:spPr>
      </p:sp>
      <p:sp>
        <p:nvSpPr>
          <p:cNvPr id="7" name="Text 5"/>
          <p:cNvSpPr/>
          <p:nvPr/>
        </p:nvSpPr>
        <p:spPr>
          <a:xfrm>
            <a:off x="10490911" y="6309360"/>
            <a:ext cx="914400" cy="274320"/>
          </a:xfrm>
          <a:prstGeom prst="rect">
            <a:avLst/>
          </a:prstGeom>
          <a:noFill/>
          <a:ln/>
        </p:spPr>
        <p:txBody>
          <a:bodyPr wrap="square" lIns="0" tIns="0" rIns="0" bIns="0" rtlCol="0" anchor="ctr"/>
          <a:lstStyle/>
          <a:p>
            <a:pPr algn="r" indent="0" marL="0">
              <a:buNone/>
            </a:pPr>
            <a:r>
              <a:rPr lang="en-US" sz="1200" dirty="0">
                <a:solidFill>
                  <a:srgbClr val="9C978E"/>
                </a:solidFill>
                <a:latin typeface="Arial" pitchFamily="34" charset="0"/>
                <a:ea typeface="Arial" pitchFamily="34" charset="-122"/>
                <a:cs typeface="Arial" pitchFamily="34" charset="-120"/>
              </a:rPr>
              <a:t>24</a:t>
            </a:r>
            <a:endParaRPr lang="en-US" sz="1200" dirty="0"/>
          </a:p>
        </p:txBody>
      </p:sp>
      <p:sp>
        <p:nvSpPr>
          <p:cNvPr id="8" name="Shape 6"/>
          <p:cNvSpPr/>
          <p:nvPr/>
        </p:nvSpPr>
        <p:spPr>
          <a:xfrm>
            <a:off x="786384" y="1811943"/>
            <a:ext cx="6125794" cy="3454280"/>
          </a:xfrm>
          <a:prstGeom prst="rect">
            <a:avLst/>
          </a:prstGeom>
          <a:solidFill>
            <a:srgbClr val="F2EFEA"/>
          </a:solidFill>
          <a:ln/>
        </p:spPr>
      </p:sp>
      <p:sp>
        <p:nvSpPr>
          <p:cNvPr id="9" name="Shape 7"/>
          <p:cNvSpPr/>
          <p:nvPr/>
        </p:nvSpPr>
        <p:spPr>
          <a:xfrm>
            <a:off x="786384" y="1811943"/>
            <a:ext cx="27432" cy="3454280"/>
          </a:xfrm>
          <a:prstGeom prst="rect">
            <a:avLst/>
          </a:prstGeom>
          <a:solidFill>
            <a:srgbClr val="C0402A"/>
          </a:solidFill>
          <a:ln/>
        </p:spPr>
      </p:sp>
      <p:sp>
        <p:nvSpPr>
          <p:cNvPr id="10" name="Text 8"/>
          <p:cNvSpPr/>
          <p:nvPr/>
        </p:nvSpPr>
        <p:spPr>
          <a:xfrm>
            <a:off x="1042416" y="1977047"/>
            <a:ext cx="5686882" cy="3124073"/>
          </a:xfrm>
          <a:prstGeom prst="rect">
            <a:avLst/>
          </a:prstGeom>
          <a:noFill/>
          <a:ln/>
        </p:spPr>
        <p:txBody>
          <a:bodyPr wrap="square" lIns="0" tIns="0" rIns="0" bIns="0" rtlCol="0" anchor="t"/>
          <a:lstStyle/>
          <a:p>
            <a:pPr indent="0" marL="0">
              <a:lnSpc>
                <a:spcPts val="1750"/>
              </a:lnSpc>
              <a:buNone/>
            </a:pPr>
            <a:r>
              <a:rPr lang="en-US" sz="1150" dirty="0">
                <a:solidFill>
                  <a:srgbClr val="2A2724"/>
                </a:solidFill>
                <a:latin typeface="Courier New" pitchFamily="34" charset="0"/>
                <a:ea typeface="Courier New" pitchFamily="34" charset="-122"/>
                <a:cs typeface="Courier New" pitchFamily="34" charset="-120"/>
              </a:rPr>
              <a:t>Q:  "Which faculty runs the Innovation Wing, and who is its director?"</a:t>
            </a:r>
            <a:endParaRPr lang="en-US" sz="1150" dirty="0"/>
          </a:p>
          <a:p>
            <a:pPr indent="0" marL="0">
              <a:lnSpc>
                <a:spcPts val="1750"/>
              </a:lnSpc>
              <a:buNone/>
            </a:pPr>
            <a:endParaRPr lang="en-US" sz="1150" dirty="0"/>
          </a:p>
          <a:p>
            <a:pPr indent="0" marL="0">
              <a:lnSpc>
                <a:spcPts val="1750"/>
              </a:lnSpc>
              <a:buNone/>
            </a:pPr>
            <a:r>
              <a:rPr lang="en-US" sz="1150" dirty="0">
                <a:solidFill>
                  <a:srgbClr val="2A2724"/>
                </a:solidFill>
                <a:latin typeface="Courier New" pitchFamily="34" charset="0"/>
                <a:ea typeface="Courier New" pitchFamily="34" charset="-122"/>
                <a:cs typeface="Courier New" pitchFamily="34" charset="-120"/>
              </a:rPr>
              <a:t>split  -&gt;  ["Which faculty runs the Tam Wing Fan Innovation Wing?",</a:t>
            </a:r>
            <a:endParaRPr lang="en-US" sz="1150" dirty="0"/>
          </a:p>
          <a:p>
            <a:pPr indent="0" marL="0">
              <a:lnSpc>
                <a:spcPts val="1750"/>
              </a:lnSpc>
              <a:buNone/>
            </a:pPr>
            <a:r>
              <a:rPr lang="en-US" sz="1150" dirty="0">
                <a:solidFill>
                  <a:srgbClr val="2A2724"/>
                </a:solidFill>
                <a:latin typeface="Courier New" pitchFamily="34" charset="0"/>
                <a:ea typeface="Courier New" pitchFamily="34" charset="-122"/>
                <a:cs typeface="Courier New" pitchFamily="34" charset="-120"/>
              </a:rPr>
              <a:t>            "Who is the director of the Tam Wing Fan Innovation Wing?"]</a:t>
            </a:r>
            <a:endParaRPr lang="en-US" sz="1150" dirty="0"/>
          </a:p>
          <a:p>
            <a:pPr indent="0" marL="0">
              <a:lnSpc>
                <a:spcPts val="1750"/>
              </a:lnSpc>
              <a:buNone/>
            </a:pPr>
            <a:endParaRPr lang="en-US" sz="1150" dirty="0"/>
          </a:p>
          <a:p>
            <a:pPr indent="0" marL="0">
              <a:lnSpc>
                <a:spcPts val="1750"/>
              </a:lnSpc>
              <a:buNone/>
            </a:pPr>
            <a:r>
              <a:rPr lang="en-US" sz="1150" dirty="0">
                <a:solidFill>
                  <a:srgbClr val="2A2724"/>
                </a:solidFill>
                <a:latin typeface="Courier New" pitchFamily="34" charset="0"/>
                <a:ea typeface="Courier New" pitchFamily="34" charset="-122"/>
                <a:cs typeface="Courier New" pitchFamily="34" charset="-120"/>
              </a:rPr>
              <a:t>retrieve each separately, then:</a:t>
            </a:r>
            <a:endParaRPr lang="en-US" sz="1150" dirty="0"/>
          </a:p>
          <a:p>
            <a:pPr indent="0" marL="0">
              <a:lnSpc>
                <a:spcPts val="1750"/>
              </a:lnSpc>
              <a:buNone/>
            </a:pPr>
            <a:endParaRPr lang="en-US" sz="1150" dirty="0"/>
          </a:p>
          <a:p>
            <a:pPr indent="0" marL="0">
              <a:lnSpc>
                <a:spcPts val="1750"/>
              </a:lnSpc>
              <a:buNone/>
            </a:pPr>
            <a:r>
              <a:rPr lang="en-US" sz="1150" dirty="0">
                <a:solidFill>
                  <a:srgbClr val="2A2724"/>
                </a:solidFill>
                <a:latin typeface="Courier New" pitchFamily="34" charset="0"/>
                <a:ea typeface="Courier New" pitchFamily="34" charset="-122"/>
                <a:cs typeface="Courier New" pitchFamily="34" charset="-120"/>
              </a:rPr>
              <a:t>  [from sub-question 1]  &lt;chunks&gt;</a:t>
            </a:r>
            <a:endParaRPr lang="en-US" sz="1150" dirty="0"/>
          </a:p>
          <a:p>
            <a:pPr indent="0" marL="0">
              <a:lnSpc>
                <a:spcPts val="1750"/>
              </a:lnSpc>
              <a:buNone/>
            </a:pPr>
            <a:r>
              <a:rPr lang="en-US" sz="1150" dirty="0">
                <a:solidFill>
                  <a:srgbClr val="2A2724"/>
                </a:solidFill>
                <a:latin typeface="Courier New" pitchFamily="34" charset="0"/>
                <a:ea typeface="Courier New" pitchFamily="34" charset="-122"/>
                <a:cs typeface="Courier New" pitchFamily="34" charset="-120"/>
              </a:rPr>
              <a:t>  [from sub-question 2]  &lt;chunks&gt;</a:t>
            </a:r>
            <a:endParaRPr lang="en-US" sz="1150" dirty="0"/>
          </a:p>
          <a:p>
            <a:pPr indent="0" marL="0">
              <a:lnSpc>
                <a:spcPts val="1750"/>
              </a:lnSpc>
              <a:buNone/>
            </a:pPr>
            <a:endParaRPr lang="en-US" sz="1150" dirty="0"/>
          </a:p>
          <a:p>
            <a:pPr indent="0" marL="0">
              <a:lnSpc>
                <a:spcPts val="1750"/>
              </a:lnSpc>
              <a:buNone/>
            </a:pPr>
            <a:r>
              <a:rPr lang="en-US" sz="1150" dirty="0">
                <a:solidFill>
                  <a:srgbClr val="2A2724"/>
                </a:solidFill>
                <a:latin typeface="Courier New" pitchFamily="34" charset="0"/>
                <a:ea typeface="Courier New" pitchFamily="34" charset="-122"/>
                <a:cs typeface="Courier New" pitchFamily="34" charset="-120"/>
              </a:rPr>
              <a:t>answer from both</a:t>
            </a:r>
            <a:endParaRPr lang="en-US" sz="1150" dirty="0"/>
          </a:p>
        </p:txBody>
      </p:sp>
      <p:sp>
        <p:nvSpPr>
          <p:cNvPr id="11" name="Shape 9"/>
          <p:cNvSpPr/>
          <p:nvPr/>
        </p:nvSpPr>
        <p:spPr>
          <a:xfrm>
            <a:off x="7076770" y="1811943"/>
            <a:ext cx="4328541" cy="18574"/>
          </a:xfrm>
          <a:prstGeom prst="rect">
            <a:avLst/>
          </a:prstGeom>
          <a:solidFill>
            <a:srgbClr val="141414"/>
          </a:solidFill>
          <a:ln/>
        </p:spPr>
      </p:sp>
      <p:sp>
        <p:nvSpPr>
          <p:cNvPr id="12" name="Text 10"/>
          <p:cNvSpPr/>
          <p:nvPr/>
        </p:nvSpPr>
        <p:spPr>
          <a:xfrm>
            <a:off x="7076770" y="1977047"/>
            <a:ext cx="4328541" cy="388395"/>
          </a:xfrm>
          <a:prstGeom prst="rect">
            <a:avLst/>
          </a:prstGeom>
          <a:noFill/>
          <a:ln/>
        </p:spPr>
        <p:txBody>
          <a:bodyPr wrap="square" lIns="0" tIns="0" rIns="0" bIns="0" rtlCol="0" anchor="ctr"/>
          <a:lstStyle/>
          <a:p>
            <a:pPr indent="0" marL="0">
              <a:lnSpc>
                <a:spcPts val="2350"/>
              </a:lnSpc>
              <a:buNone/>
            </a:pPr>
            <a:r>
              <a:rPr lang="en-US" sz="1950" b="1" dirty="0">
                <a:solidFill>
                  <a:srgbClr val="141414"/>
                </a:solidFill>
                <a:latin typeface="Arial" pitchFamily="34" charset="0"/>
                <a:ea typeface="Arial" pitchFamily="34" charset="-122"/>
                <a:cs typeface="Arial" pitchFamily="34" charset="-120"/>
              </a:rPr>
              <a:t>Cost</a:t>
            </a:r>
            <a:endParaRPr lang="en-US" sz="1950" dirty="0"/>
          </a:p>
        </p:txBody>
      </p:sp>
      <p:sp>
        <p:nvSpPr>
          <p:cNvPr id="13" name="Text 11"/>
          <p:cNvSpPr/>
          <p:nvPr/>
        </p:nvSpPr>
        <p:spPr>
          <a:xfrm>
            <a:off x="7076770" y="2447994"/>
            <a:ext cx="4328541" cy="653536"/>
          </a:xfrm>
          <a:prstGeom prst="rect">
            <a:avLst/>
          </a:prstGeom>
          <a:noFill/>
          <a:ln/>
        </p:spPr>
        <p:txBody>
          <a:bodyPr wrap="square" lIns="0" tIns="0" rIns="0" bIns="0" rtlCol="0" anchor="t"/>
          <a:lstStyle/>
          <a:p>
            <a:pPr indent="0" marL="0">
              <a:lnSpc>
                <a:spcPts val="2100"/>
              </a:lnSpc>
              <a:buNone/>
            </a:pPr>
            <a:r>
              <a:rPr lang="en-US" sz="1400" dirty="0">
                <a:solidFill>
                  <a:srgbClr val="141414"/>
                </a:solidFill>
                <a:latin typeface="Arial" pitchFamily="34" charset="0"/>
                <a:ea typeface="Arial" pitchFamily="34" charset="-122"/>
                <a:cs typeface="Arial" pitchFamily="34" charset="-120"/>
              </a:rPr>
              <a:t>One extra model call to split, plus one retrieval per part. Around 2 to 3 seconds.</a:t>
            </a:r>
            <a:endParaRPr lang="en-US" sz="1400" dirty="0"/>
          </a:p>
        </p:txBody>
      </p:sp>
      <p:sp>
        <p:nvSpPr>
          <p:cNvPr id="14" name="Shape 12"/>
          <p:cNvSpPr/>
          <p:nvPr/>
        </p:nvSpPr>
        <p:spPr>
          <a:xfrm>
            <a:off x="7076770" y="3256601"/>
            <a:ext cx="4328541" cy="1681708"/>
          </a:xfrm>
          <a:prstGeom prst="rect">
            <a:avLst/>
          </a:prstGeom>
          <a:solidFill>
            <a:srgbClr val="F7E6E0"/>
          </a:solidFill>
          <a:ln/>
        </p:spPr>
      </p:sp>
      <p:sp>
        <p:nvSpPr>
          <p:cNvPr id="15" name="Shape 13"/>
          <p:cNvSpPr/>
          <p:nvPr/>
        </p:nvSpPr>
        <p:spPr>
          <a:xfrm>
            <a:off x="7314514" y="3504257"/>
            <a:ext cx="3853053" cy="24766"/>
          </a:xfrm>
          <a:prstGeom prst="rect">
            <a:avLst/>
          </a:prstGeom>
          <a:solidFill>
            <a:srgbClr val="C0402A"/>
          </a:solidFill>
          <a:ln/>
        </p:spPr>
      </p:sp>
      <p:sp>
        <p:nvSpPr>
          <p:cNvPr id="16" name="Text 14"/>
          <p:cNvSpPr/>
          <p:nvPr/>
        </p:nvSpPr>
        <p:spPr>
          <a:xfrm>
            <a:off x="7314514" y="3669360"/>
            <a:ext cx="3853053" cy="388395"/>
          </a:xfrm>
          <a:prstGeom prst="rect">
            <a:avLst/>
          </a:prstGeom>
          <a:noFill/>
          <a:ln/>
        </p:spPr>
        <p:txBody>
          <a:bodyPr wrap="square" lIns="0" tIns="0" rIns="0" bIns="0" rtlCol="0" anchor="ctr"/>
          <a:lstStyle/>
          <a:p>
            <a:pPr indent="0" marL="0">
              <a:lnSpc>
                <a:spcPts val="2350"/>
              </a:lnSpc>
              <a:buNone/>
            </a:pPr>
            <a:r>
              <a:rPr lang="en-US" sz="1950" b="1" dirty="0">
                <a:solidFill>
                  <a:srgbClr val="141414"/>
                </a:solidFill>
                <a:latin typeface="Arial" pitchFamily="34" charset="0"/>
                <a:ea typeface="Arial" pitchFamily="34" charset="-122"/>
                <a:cs typeface="Arial" pitchFamily="34" charset="-120"/>
              </a:rPr>
              <a:t>When it helps</a:t>
            </a:r>
            <a:endParaRPr lang="en-US" sz="1950" dirty="0"/>
          </a:p>
        </p:txBody>
      </p:sp>
      <p:sp>
        <p:nvSpPr>
          <p:cNvPr id="17" name="Text 15"/>
          <p:cNvSpPr/>
          <p:nvPr/>
        </p:nvSpPr>
        <p:spPr>
          <a:xfrm>
            <a:off x="7314514" y="4140307"/>
            <a:ext cx="3853053" cy="653536"/>
          </a:xfrm>
          <a:prstGeom prst="rect">
            <a:avLst/>
          </a:prstGeom>
          <a:noFill/>
          <a:ln/>
        </p:spPr>
        <p:txBody>
          <a:bodyPr wrap="square" lIns="0" tIns="0" rIns="0" bIns="0" rtlCol="0" anchor="t"/>
          <a:lstStyle/>
          <a:p>
            <a:pPr indent="0" marL="0">
              <a:lnSpc>
                <a:spcPts val="2100"/>
              </a:lnSpc>
              <a:buNone/>
            </a:pPr>
            <a:r>
              <a:rPr lang="en-US" sz="1400" dirty="0">
                <a:solidFill>
                  <a:srgbClr val="141414"/>
                </a:solidFill>
                <a:latin typeface="Arial" pitchFamily="34" charset="0"/>
                <a:ea typeface="Arial" pitchFamily="34" charset="-122"/>
                <a:cs typeface="Arial" pitchFamily="34" charset="-120"/>
              </a:rPr>
              <a:t>Questions with two subjects, or a comparison. Not questions with one clear subject.</a:t>
            </a:r>
            <a:endParaRPr lang="en-US" sz="1400" dirty="0"/>
          </a:p>
        </p:txBody>
      </p:sp>
      <p:sp>
        <p:nvSpPr>
          <p:cNvPr id="18" name="Text 16"/>
          <p:cNvSpPr/>
          <p:nvPr/>
        </p:nvSpPr>
        <p:spPr>
          <a:xfrm>
            <a:off x="786384" y="5513879"/>
            <a:ext cx="10087981" cy="722329"/>
          </a:xfrm>
          <a:prstGeom prst="rect">
            <a:avLst/>
          </a:prstGeom>
          <a:noFill/>
          <a:ln/>
        </p:spPr>
        <p:txBody>
          <a:bodyPr wrap="square" lIns="0" tIns="0" rIns="0" bIns="0" rtlCol="0" anchor="ctr"/>
          <a:lstStyle/>
          <a:p>
            <a:pPr indent="0" marL="0">
              <a:lnSpc>
                <a:spcPts val="2300"/>
              </a:lnSpc>
              <a:buNone/>
            </a:pPr>
            <a:r>
              <a:rPr lang="en-US" sz="1550" dirty="0">
                <a:solidFill>
                  <a:srgbClr val="141414"/>
                </a:solidFill>
                <a:latin typeface="Arial" pitchFamily="34" charset="0"/>
                <a:ea typeface="Arial" pitchFamily="34" charset="-122"/>
                <a:cs typeface="Arial" pitchFamily="34" charset="-120"/>
              </a:rPr>
              <a:t>Label which sub-question each chunk came from. Without labels the model sees one undifferentiated block of text and often answers only the first part of the question.</a:t>
            </a:r>
            <a:endParaRPr lang="en-US" sz="155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4F0EA"/>
        </a:solidFill>
      </p:bgPr>
    </p:bg>
    <p:spTree>
      <p:nvGrpSpPr>
        <p:cNvPr id="1" name=""/>
        <p:cNvGrpSpPr/>
        <p:nvPr/>
      </p:nvGrpSpPr>
      <p:grpSpPr>
        <a:xfrm>
          <a:off x="0" y="0"/>
          <a:ext cx="0" cy="0"/>
          <a:chOff x="0" y="0"/>
          <a:chExt cx="0" cy="0"/>
        </a:xfrm>
      </p:grpSpPr>
      <p:sp>
        <p:nvSpPr>
          <p:cNvPr id="2" name="Text 0"/>
          <p:cNvSpPr/>
          <p:nvPr/>
        </p:nvSpPr>
        <p:spPr>
          <a:xfrm>
            <a:off x="786384" y="402336"/>
            <a:ext cx="3657600" cy="237744"/>
          </a:xfrm>
          <a:prstGeom prst="rect">
            <a:avLst/>
          </a:prstGeom>
          <a:noFill/>
          <a:ln/>
        </p:spPr>
        <p:txBody>
          <a:bodyPr wrap="square" lIns="0" tIns="0" rIns="0" bIns="0" rtlCol="0" anchor="ctr"/>
          <a:lstStyle/>
          <a:p>
            <a:pPr indent="0" marL="0">
              <a:buNone/>
            </a:pPr>
            <a:r>
              <a:rPr lang="en-US" sz="950" b="1" spc="240" kern="0" dirty="0">
                <a:solidFill>
                  <a:srgbClr val="C0402A"/>
                </a:solidFill>
                <a:latin typeface="Arial" pitchFamily="34" charset="0"/>
                <a:ea typeface="Arial" pitchFamily="34" charset="-122"/>
                <a:cs typeface="Arial" pitchFamily="34" charset="-120"/>
              </a:rPr>
              <a:t>FROM EXPERIENCE</a:t>
            </a:r>
            <a:endParaRPr lang="en-US" sz="950" dirty="0"/>
          </a:p>
        </p:txBody>
      </p:sp>
      <p:sp>
        <p:nvSpPr>
          <p:cNvPr id="3" name="Shape 1"/>
          <p:cNvSpPr/>
          <p:nvPr/>
        </p:nvSpPr>
        <p:spPr>
          <a:xfrm>
            <a:off x="0" y="0"/>
            <a:ext cx="128016" cy="6858000"/>
          </a:xfrm>
          <a:prstGeom prst="rect">
            <a:avLst/>
          </a:prstGeom>
          <a:solidFill>
            <a:srgbClr val="C0402A"/>
          </a:solidFill>
          <a:ln/>
        </p:spPr>
      </p:sp>
      <p:sp>
        <p:nvSpPr>
          <p:cNvPr id="4" name="Text 2"/>
          <p:cNvSpPr/>
          <p:nvPr/>
        </p:nvSpPr>
        <p:spPr>
          <a:xfrm>
            <a:off x="786384" y="713232"/>
            <a:ext cx="7923047" cy="676656"/>
          </a:xfrm>
          <a:prstGeom prst="rect">
            <a:avLst/>
          </a:prstGeom>
          <a:noFill/>
          <a:ln/>
        </p:spPr>
        <p:txBody>
          <a:bodyPr wrap="square" lIns="0" tIns="0" rIns="0" bIns="0" rtlCol="0" anchor="ctr"/>
          <a:lstStyle/>
          <a:p>
            <a:pPr indent="0" marL="0">
              <a:buNone/>
            </a:pPr>
            <a:r>
              <a:rPr lang="en-US" sz="2900" b="1" dirty="0">
                <a:solidFill>
                  <a:srgbClr val="141414"/>
                </a:solidFill>
                <a:latin typeface="Arial" pitchFamily="34" charset="0"/>
                <a:ea typeface="Arial" pitchFamily="34" charset="-122"/>
                <a:cs typeface="Arial" pitchFamily="34" charset="-120"/>
              </a:rPr>
              <a:t>Notes on Reasoning</a:t>
            </a:r>
            <a:endParaRPr lang="en-US" sz="2900" dirty="0"/>
          </a:p>
        </p:txBody>
      </p:sp>
      <p:sp>
        <p:nvSpPr>
          <p:cNvPr id="5" name="Shape 3"/>
          <p:cNvSpPr/>
          <p:nvPr/>
        </p:nvSpPr>
        <p:spPr>
          <a:xfrm>
            <a:off x="10801807" y="877824"/>
            <a:ext cx="585216" cy="292608"/>
          </a:xfrm>
          <a:prstGeom prst="rect">
            <a:avLst/>
          </a:prstGeom>
          <a:solidFill>
            <a:srgbClr val="FAF8F5"/>
          </a:solidFill>
          <a:ln w="9525">
            <a:solidFill>
              <a:srgbClr val="D5D1CA"/>
            </a:solidFill>
            <a:prstDash val="solid"/>
          </a:ln>
        </p:spPr>
      </p:sp>
      <p:sp>
        <p:nvSpPr>
          <p:cNvPr id="6" name="Text 4"/>
          <p:cNvSpPr/>
          <p:nvPr/>
        </p:nvSpPr>
        <p:spPr>
          <a:xfrm>
            <a:off x="10801807" y="877824"/>
            <a:ext cx="585216" cy="292608"/>
          </a:xfrm>
          <a:prstGeom prst="rect">
            <a:avLst/>
          </a:prstGeom>
          <a:noFill/>
          <a:ln/>
        </p:spPr>
        <p:txBody>
          <a:bodyPr wrap="square" lIns="0" tIns="0" rIns="0" bIns="0" rtlCol="0" anchor="ctr"/>
          <a:lstStyle/>
          <a:p>
            <a:pPr algn="ctr" indent="0" marL="0">
              <a:buNone/>
            </a:pPr>
            <a:r>
              <a:rPr lang="en-US" sz="1100" b="1" spc="60" kern="0" dirty="0">
                <a:solidFill>
                  <a:srgbClr val="2E2C28"/>
                </a:solidFill>
                <a:latin typeface="Arial" pitchFamily="34" charset="0"/>
                <a:ea typeface="Arial" pitchFamily="34" charset="-122"/>
                <a:cs typeface="Arial" pitchFamily="34" charset="-120"/>
              </a:rPr>
              <a:t>LV4</a:t>
            </a:r>
            <a:endParaRPr lang="en-US" sz="1100" dirty="0"/>
          </a:p>
        </p:txBody>
      </p:sp>
      <p:sp>
        <p:nvSpPr>
          <p:cNvPr id="7" name="Shape 5"/>
          <p:cNvSpPr/>
          <p:nvPr/>
        </p:nvSpPr>
        <p:spPr>
          <a:xfrm>
            <a:off x="786384" y="1426464"/>
            <a:ext cx="10618927" cy="10973"/>
          </a:xfrm>
          <a:prstGeom prst="rect">
            <a:avLst/>
          </a:prstGeom>
          <a:solidFill>
            <a:srgbClr val="D5D1CA"/>
          </a:solidFill>
          <a:ln/>
        </p:spPr>
      </p:sp>
      <p:sp>
        <p:nvSpPr>
          <p:cNvPr id="8" name="Text 6"/>
          <p:cNvSpPr/>
          <p:nvPr/>
        </p:nvSpPr>
        <p:spPr>
          <a:xfrm>
            <a:off x="10490911" y="6309360"/>
            <a:ext cx="914400" cy="274320"/>
          </a:xfrm>
          <a:prstGeom prst="rect">
            <a:avLst/>
          </a:prstGeom>
          <a:noFill/>
          <a:ln/>
        </p:spPr>
        <p:txBody>
          <a:bodyPr wrap="square" lIns="0" tIns="0" rIns="0" bIns="0" rtlCol="0" anchor="ctr"/>
          <a:lstStyle/>
          <a:p>
            <a:pPr algn="r" indent="0" marL="0">
              <a:buNone/>
            </a:pPr>
            <a:r>
              <a:rPr lang="en-US" sz="1200" dirty="0">
                <a:solidFill>
                  <a:srgbClr val="9C978E"/>
                </a:solidFill>
                <a:latin typeface="Arial" pitchFamily="34" charset="0"/>
                <a:ea typeface="Arial" pitchFamily="34" charset="-122"/>
                <a:cs typeface="Arial" pitchFamily="34" charset="-120"/>
              </a:rPr>
              <a:t>25</a:t>
            </a:r>
            <a:endParaRPr lang="en-US" sz="1200" dirty="0"/>
          </a:p>
        </p:txBody>
      </p:sp>
      <p:sp>
        <p:nvSpPr>
          <p:cNvPr id="9" name="Shape 7"/>
          <p:cNvSpPr/>
          <p:nvPr/>
        </p:nvSpPr>
        <p:spPr>
          <a:xfrm>
            <a:off x="786384" y="1823010"/>
            <a:ext cx="5227168" cy="20788"/>
          </a:xfrm>
          <a:prstGeom prst="rect">
            <a:avLst/>
          </a:prstGeom>
          <a:solidFill>
            <a:srgbClr val="141414"/>
          </a:solidFill>
          <a:ln/>
        </p:spPr>
      </p:sp>
      <p:sp>
        <p:nvSpPr>
          <p:cNvPr id="10" name="Text 8"/>
          <p:cNvSpPr/>
          <p:nvPr/>
        </p:nvSpPr>
        <p:spPr>
          <a:xfrm>
            <a:off x="786384" y="2007789"/>
            <a:ext cx="5227168" cy="434679"/>
          </a:xfrm>
          <a:prstGeom prst="rect">
            <a:avLst/>
          </a:prstGeom>
          <a:noFill/>
          <a:ln/>
        </p:spPr>
        <p:txBody>
          <a:bodyPr wrap="square" lIns="0" tIns="0" rIns="0" bIns="0" rtlCol="0" anchor="ctr"/>
          <a:lstStyle/>
          <a:p>
            <a:pPr indent="0" marL="0">
              <a:lnSpc>
                <a:spcPts val="2350"/>
              </a:lnSpc>
              <a:buNone/>
            </a:pPr>
            <a:r>
              <a:rPr lang="en-US" sz="1950" b="1" dirty="0">
                <a:solidFill>
                  <a:srgbClr val="141414"/>
                </a:solidFill>
                <a:latin typeface="Arial" pitchFamily="34" charset="0"/>
                <a:ea typeface="Arial" pitchFamily="34" charset="-122"/>
                <a:cs typeface="Arial" pitchFamily="34" charset="-120"/>
              </a:rPr>
              <a:t>Route before you reason</a:t>
            </a:r>
            <a:endParaRPr lang="en-US" sz="1950" dirty="0"/>
          </a:p>
        </p:txBody>
      </p:sp>
      <p:sp>
        <p:nvSpPr>
          <p:cNvPr id="11" name="Text 9"/>
          <p:cNvSpPr/>
          <p:nvPr/>
        </p:nvSpPr>
        <p:spPr>
          <a:xfrm>
            <a:off x="786384" y="2534858"/>
            <a:ext cx="5227168" cy="1068252"/>
          </a:xfrm>
          <a:prstGeom prst="rect">
            <a:avLst/>
          </a:prstGeom>
          <a:noFill/>
          <a:ln/>
        </p:spPr>
        <p:txBody>
          <a:bodyPr wrap="square" lIns="0" tIns="0" rIns="0" bIns="0" rtlCol="0" anchor="t"/>
          <a:lstStyle/>
          <a:p>
            <a:pPr indent="0" marL="0">
              <a:lnSpc>
                <a:spcPts val="2100"/>
              </a:lnSpc>
              <a:buNone/>
            </a:pPr>
            <a:r>
              <a:rPr lang="en-US" sz="1400" dirty="0">
                <a:solidFill>
                  <a:srgbClr val="141414"/>
                </a:solidFill>
                <a:latin typeface="Arial" pitchFamily="34" charset="0"/>
                <a:ea typeface="Arial" pitchFamily="34" charset="-122"/>
                <a:cs typeface="Arial" pitchFamily="34" charset="-120"/>
              </a:rPr>
              <a:t>One cheap call classifying the question level, then dispatch. Most questions do not need decomposition, and paying for it on all twenty wastes your time budget.</a:t>
            </a:r>
            <a:endParaRPr lang="en-US" sz="1400" dirty="0"/>
          </a:p>
        </p:txBody>
      </p:sp>
      <p:sp>
        <p:nvSpPr>
          <p:cNvPr id="12" name="Shape 10"/>
          <p:cNvSpPr/>
          <p:nvPr/>
        </p:nvSpPr>
        <p:spPr>
          <a:xfrm>
            <a:off x="6178144" y="1823010"/>
            <a:ext cx="5227168" cy="20788"/>
          </a:xfrm>
          <a:prstGeom prst="rect">
            <a:avLst/>
          </a:prstGeom>
          <a:solidFill>
            <a:srgbClr val="141414"/>
          </a:solidFill>
          <a:ln/>
        </p:spPr>
      </p:sp>
      <p:sp>
        <p:nvSpPr>
          <p:cNvPr id="13" name="Text 11"/>
          <p:cNvSpPr/>
          <p:nvPr/>
        </p:nvSpPr>
        <p:spPr>
          <a:xfrm>
            <a:off x="6178144" y="2007789"/>
            <a:ext cx="5227168" cy="434679"/>
          </a:xfrm>
          <a:prstGeom prst="rect">
            <a:avLst/>
          </a:prstGeom>
          <a:noFill/>
          <a:ln/>
        </p:spPr>
        <p:txBody>
          <a:bodyPr wrap="square" lIns="0" tIns="0" rIns="0" bIns="0" rtlCol="0" anchor="ctr"/>
          <a:lstStyle/>
          <a:p>
            <a:pPr indent="0" marL="0">
              <a:lnSpc>
                <a:spcPts val="2350"/>
              </a:lnSpc>
              <a:buNone/>
            </a:pPr>
            <a:r>
              <a:rPr lang="en-US" sz="1950" b="1" dirty="0">
                <a:solidFill>
                  <a:srgbClr val="141414"/>
                </a:solidFill>
                <a:latin typeface="Arial" pitchFamily="34" charset="0"/>
                <a:ea typeface="Arial" pitchFamily="34" charset="-122"/>
                <a:cs typeface="Arial" pitchFamily="34" charset="-120"/>
              </a:rPr>
              <a:t>Make it list evidence first</a:t>
            </a:r>
            <a:endParaRPr lang="en-US" sz="1950" dirty="0"/>
          </a:p>
        </p:txBody>
      </p:sp>
      <p:sp>
        <p:nvSpPr>
          <p:cNvPr id="14" name="Text 12"/>
          <p:cNvSpPr/>
          <p:nvPr/>
        </p:nvSpPr>
        <p:spPr>
          <a:xfrm>
            <a:off x="6178144" y="2534858"/>
            <a:ext cx="5227168" cy="1068252"/>
          </a:xfrm>
          <a:prstGeom prst="rect">
            <a:avLst/>
          </a:prstGeom>
          <a:noFill/>
          <a:ln/>
        </p:spPr>
        <p:txBody>
          <a:bodyPr wrap="square" lIns="0" tIns="0" rIns="0" bIns="0" rtlCol="0" anchor="t"/>
          <a:lstStyle/>
          <a:p>
            <a:pPr indent="0" marL="0">
              <a:lnSpc>
                <a:spcPts val="2100"/>
              </a:lnSpc>
              <a:buNone/>
            </a:pPr>
            <a:r>
              <a:rPr lang="en-US" sz="1400" dirty="0">
                <a:solidFill>
                  <a:srgbClr val="141414"/>
                </a:solidFill>
                <a:latin typeface="Arial" pitchFamily="34" charset="0"/>
                <a:ea typeface="Arial" pitchFamily="34" charset="-122"/>
                <a:cs typeface="Arial" pitchFamily="34" charset="-120"/>
              </a:rPr>
              <a:t>Instruct the model to write out the items it found before stating the answer. Counting accuracy improves, and when it is wrong you can see why.</a:t>
            </a:r>
            <a:endParaRPr lang="en-US" sz="1400" dirty="0"/>
          </a:p>
        </p:txBody>
      </p:sp>
      <p:sp>
        <p:nvSpPr>
          <p:cNvPr id="15" name="Shape 13"/>
          <p:cNvSpPr/>
          <p:nvPr/>
        </p:nvSpPr>
        <p:spPr>
          <a:xfrm>
            <a:off x="786384" y="4017258"/>
            <a:ext cx="5227168" cy="20788"/>
          </a:xfrm>
          <a:prstGeom prst="rect">
            <a:avLst/>
          </a:prstGeom>
          <a:solidFill>
            <a:srgbClr val="141414"/>
          </a:solidFill>
          <a:ln/>
        </p:spPr>
      </p:sp>
      <p:sp>
        <p:nvSpPr>
          <p:cNvPr id="16" name="Text 14"/>
          <p:cNvSpPr/>
          <p:nvPr/>
        </p:nvSpPr>
        <p:spPr>
          <a:xfrm>
            <a:off x="786384" y="4202037"/>
            <a:ext cx="5227168" cy="434679"/>
          </a:xfrm>
          <a:prstGeom prst="rect">
            <a:avLst/>
          </a:prstGeom>
          <a:noFill/>
          <a:ln/>
        </p:spPr>
        <p:txBody>
          <a:bodyPr wrap="square" lIns="0" tIns="0" rIns="0" bIns="0" rtlCol="0" anchor="ctr"/>
          <a:lstStyle/>
          <a:p>
            <a:pPr indent="0" marL="0">
              <a:lnSpc>
                <a:spcPts val="2350"/>
              </a:lnSpc>
              <a:buNone/>
            </a:pPr>
            <a:r>
              <a:rPr lang="en-US" sz="1950" b="1" dirty="0">
                <a:solidFill>
                  <a:srgbClr val="141414"/>
                </a:solidFill>
                <a:latin typeface="Arial" pitchFamily="34" charset="0"/>
                <a:ea typeface="Arial" pitchFamily="34" charset="-122"/>
                <a:cs typeface="Arial" pitchFamily="34" charset="-120"/>
              </a:rPr>
              <a:t>Run sub-queries in parallel</a:t>
            </a:r>
            <a:endParaRPr lang="en-US" sz="1950" dirty="0"/>
          </a:p>
        </p:txBody>
      </p:sp>
      <p:sp>
        <p:nvSpPr>
          <p:cNvPr id="17" name="Text 15"/>
          <p:cNvSpPr/>
          <p:nvPr/>
        </p:nvSpPr>
        <p:spPr>
          <a:xfrm>
            <a:off x="786384" y="4729106"/>
            <a:ext cx="5227168" cy="1068252"/>
          </a:xfrm>
          <a:prstGeom prst="rect">
            <a:avLst/>
          </a:prstGeom>
          <a:noFill/>
          <a:ln/>
        </p:spPr>
        <p:txBody>
          <a:bodyPr wrap="square" lIns="0" tIns="0" rIns="0" bIns="0" rtlCol="0" anchor="t"/>
          <a:lstStyle/>
          <a:p>
            <a:pPr indent="0" marL="0">
              <a:lnSpc>
                <a:spcPts val="2100"/>
              </a:lnSpc>
              <a:buNone/>
            </a:pPr>
            <a:r>
              <a:rPr lang="en-US" sz="1400" dirty="0">
                <a:solidFill>
                  <a:srgbClr val="141414"/>
                </a:solidFill>
                <a:latin typeface="Arial" pitchFamily="34" charset="0"/>
                <a:ea typeface="Arial" pitchFamily="34" charset="-122"/>
                <a:cs typeface="Arial" pitchFamily="34" charset="-120"/>
              </a:rPr>
              <a:t>Independent retrievals with asyncio or a thread pool. A five-step sequential chain becomes roughly the cost of its slowest step.</a:t>
            </a:r>
            <a:endParaRPr lang="en-US" sz="1400" dirty="0"/>
          </a:p>
        </p:txBody>
      </p:sp>
      <p:sp>
        <p:nvSpPr>
          <p:cNvPr id="18" name="Shape 16"/>
          <p:cNvSpPr/>
          <p:nvPr/>
        </p:nvSpPr>
        <p:spPr>
          <a:xfrm>
            <a:off x="6178144" y="4017258"/>
            <a:ext cx="5227168" cy="2218950"/>
          </a:xfrm>
          <a:prstGeom prst="rect">
            <a:avLst/>
          </a:prstGeom>
          <a:solidFill>
            <a:srgbClr val="F7E6E0"/>
          </a:solidFill>
          <a:ln/>
        </p:spPr>
      </p:sp>
      <p:sp>
        <p:nvSpPr>
          <p:cNvPr id="19" name="Shape 17"/>
          <p:cNvSpPr/>
          <p:nvPr/>
        </p:nvSpPr>
        <p:spPr>
          <a:xfrm>
            <a:off x="6415888" y="4294427"/>
            <a:ext cx="4751680" cy="27717"/>
          </a:xfrm>
          <a:prstGeom prst="rect">
            <a:avLst/>
          </a:prstGeom>
          <a:solidFill>
            <a:srgbClr val="C0402A"/>
          </a:solidFill>
          <a:ln/>
        </p:spPr>
      </p:sp>
      <p:sp>
        <p:nvSpPr>
          <p:cNvPr id="20" name="Text 18"/>
          <p:cNvSpPr/>
          <p:nvPr/>
        </p:nvSpPr>
        <p:spPr>
          <a:xfrm>
            <a:off x="6415888" y="4479205"/>
            <a:ext cx="4751680" cy="434679"/>
          </a:xfrm>
          <a:prstGeom prst="rect">
            <a:avLst/>
          </a:prstGeom>
          <a:noFill/>
          <a:ln/>
        </p:spPr>
        <p:txBody>
          <a:bodyPr wrap="square" lIns="0" tIns="0" rIns="0" bIns="0" rtlCol="0" anchor="ctr"/>
          <a:lstStyle/>
          <a:p>
            <a:pPr indent="0" marL="0">
              <a:lnSpc>
                <a:spcPts val="2350"/>
              </a:lnSpc>
              <a:buNone/>
            </a:pPr>
            <a:r>
              <a:rPr lang="en-US" sz="1950" b="1" dirty="0">
                <a:solidFill>
                  <a:srgbClr val="141414"/>
                </a:solidFill>
                <a:latin typeface="Arial" pitchFamily="34" charset="0"/>
                <a:ea typeface="Arial" pitchFamily="34" charset="-122"/>
                <a:cs typeface="Arial" pitchFamily="34" charset="-120"/>
              </a:rPr>
              <a:t>Watch the clock, not the score</a:t>
            </a:r>
            <a:endParaRPr lang="en-US" sz="1950" dirty="0"/>
          </a:p>
        </p:txBody>
      </p:sp>
      <p:sp>
        <p:nvSpPr>
          <p:cNvPr id="21" name="Text 19"/>
          <p:cNvSpPr/>
          <p:nvPr/>
        </p:nvSpPr>
        <p:spPr>
          <a:xfrm>
            <a:off x="6415888" y="5006274"/>
            <a:ext cx="4751680" cy="1068252"/>
          </a:xfrm>
          <a:prstGeom prst="rect">
            <a:avLst/>
          </a:prstGeom>
          <a:noFill/>
          <a:ln/>
        </p:spPr>
        <p:txBody>
          <a:bodyPr wrap="square" lIns="0" tIns="0" rIns="0" bIns="0" rtlCol="0" anchor="t"/>
          <a:lstStyle/>
          <a:p>
            <a:pPr indent="0" marL="0">
              <a:lnSpc>
                <a:spcPts val="2100"/>
              </a:lnSpc>
              <a:buNone/>
            </a:pPr>
            <a:r>
              <a:rPr lang="en-US" sz="1400" dirty="0">
                <a:solidFill>
                  <a:srgbClr val="141414"/>
                </a:solidFill>
                <a:latin typeface="Arial" pitchFamily="34" charset="0"/>
                <a:ea typeface="Arial" pitchFamily="34" charset="-122"/>
                <a:cs typeface="Arial" pitchFamily="34" charset="-120"/>
              </a:rPr>
              <a:t>Decomposition typically triples the time. Thirty seconds is a hard limit, and a timed-out question scores zero however good the answer would have been.</a:t>
            </a:r>
            <a:endParaRPr lang="en-US" sz="14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121212"/>
        </a:solidFill>
      </p:bgPr>
    </p:bg>
    <p:spTree>
      <p:nvGrpSpPr>
        <p:cNvPr id="1" name=""/>
        <p:cNvGrpSpPr/>
        <p:nvPr/>
      </p:nvGrpSpPr>
      <p:grpSpPr>
        <a:xfrm>
          <a:off x="0" y="0"/>
          <a:ext cx="0" cy="0"/>
          <a:chOff x="0" y="0"/>
          <a:chExt cx="0" cy="0"/>
        </a:xfrm>
      </p:grpSpPr>
      <p:sp>
        <p:nvSpPr>
          <p:cNvPr id="2" name="Text 0"/>
          <p:cNvSpPr/>
          <p:nvPr/>
        </p:nvSpPr>
        <p:spPr>
          <a:xfrm>
            <a:off x="8899855" y="960120"/>
            <a:ext cx="3017520" cy="3200400"/>
          </a:xfrm>
          <a:prstGeom prst="rect">
            <a:avLst/>
          </a:prstGeom>
          <a:noFill/>
          <a:ln/>
        </p:spPr>
        <p:txBody>
          <a:bodyPr wrap="square" lIns="0" tIns="0" rIns="0" bIns="0" rtlCol="0" anchor="ctr"/>
          <a:lstStyle/>
          <a:p>
            <a:pPr algn="r" indent="0" marL="0">
              <a:buNone/>
            </a:pPr>
            <a:r>
              <a:rPr lang="en-US" sz="9600" b="1" dirty="0">
                <a:solidFill>
                  <a:srgbClr val="3D3934"/>
                </a:solidFill>
                <a:latin typeface="Arial" pitchFamily="34" charset="0"/>
                <a:ea typeface="Arial" pitchFamily="34" charset="-122"/>
                <a:cs typeface="Arial" pitchFamily="34" charset="-120"/>
              </a:rPr>
              <a:t>5</a:t>
            </a:r>
            <a:endParaRPr lang="en-US" sz="9600" dirty="0"/>
          </a:p>
        </p:txBody>
      </p:sp>
      <p:sp>
        <p:nvSpPr>
          <p:cNvPr id="3" name="Text 1"/>
          <p:cNvSpPr/>
          <p:nvPr/>
        </p:nvSpPr>
        <p:spPr>
          <a:xfrm>
            <a:off x="786384" y="1975104"/>
            <a:ext cx="10618927" cy="274320"/>
          </a:xfrm>
          <a:prstGeom prst="rect">
            <a:avLst/>
          </a:prstGeom>
          <a:noFill/>
          <a:ln/>
        </p:spPr>
        <p:txBody>
          <a:bodyPr wrap="square" lIns="0" tIns="0" rIns="0" bIns="0" rtlCol="0" anchor="ctr"/>
          <a:lstStyle/>
          <a:p>
            <a:pPr indent="0" marL="0">
              <a:buNone/>
            </a:pPr>
            <a:r>
              <a:rPr lang="en-US" sz="1200" b="1" spc="260" kern="0" dirty="0">
                <a:solidFill>
                  <a:srgbClr val="C0402A"/>
                </a:solidFill>
                <a:latin typeface="Arial" pitchFamily="34" charset="0"/>
                <a:ea typeface="Arial" pitchFamily="34" charset="-122"/>
                <a:cs typeface="Arial" pitchFamily="34" charset="-120"/>
              </a:rPr>
              <a:t>BLOCK 5</a:t>
            </a:r>
            <a:endParaRPr lang="en-US" sz="1200" dirty="0"/>
          </a:p>
        </p:txBody>
      </p:sp>
      <p:sp>
        <p:nvSpPr>
          <p:cNvPr id="4" name="Shape 2"/>
          <p:cNvSpPr/>
          <p:nvPr/>
        </p:nvSpPr>
        <p:spPr>
          <a:xfrm>
            <a:off x="786384" y="2377440"/>
            <a:ext cx="1371600" cy="20117"/>
          </a:xfrm>
          <a:prstGeom prst="rect">
            <a:avLst/>
          </a:prstGeom>
          <a:solidFill>
            <a:srgbClr val="C0402A"/>
          </a:solidFill>
          <a:ln/>
        </p:spPr>
      </p:sp>
      <p:sp>
        <p:nvSpPr>
          <p:cNvPr id="5" name="Text 3"/>
          <p:cNvSpPr/>
          <p:nvPr/>
        </p:nvSpPr>
        <p:spPr>
          <a:xfrm>
            <a:off x="786384" y="2596896"/>
            <a:ext cx="7024421" cy="1188720"/>
          </a:xfrm>
          <a:prstGeom prst="rect">
            <a:avLst/>
          </a:prstGeom>
          <a:noFill/>
          <a:ln/>
        </p:spPr>
        <p:txBody>
          <a:bodyPr wrap="square" lIns="0" tIns="0" rIns="0" bIns="0" rtlCol="0" anchor="ctr"/>
          <a:lstStyle/>
          <a:p>
            <a:pPr indent="0" marL="0">
              <a:lnSpc>
                <a:spcPts val="4000"/>
              </a:lnSpc>
              <a:buNone/>
            </a:pPr>
            <a:r>
              <a:rPr lang="en-US" sz="3600" b="1" dirty="0">
                <a:solidFill>
                  <a:srgbClr val="FAF8F5"/>
                </a:solidFill>
                <a:latin typeface="Arial" pitchFamily="34" charset="0"/>
                <a:ea typeface="Arial" pitchFamily="34" charset="-122"/>
                <a:cs typeface="Arial" pitchFamily="34" charset="-120"/>
              </a:rPr>
              <a:t>Deadlines &amp; Collection</a:t>
            </a:r>
            <a:endParaRPr lang="en-US" sz="3600" dirty="0"/>
          </a:p>
        </p:txBody>
      </p:sp>
      <p:sp>
        <p:nvSpPr>
          <p:cNvPr id="6" name="Text 4"/>
          <p:cNvSpPr/>
          <p:nvPr/>
        </p:nvSpPr>
        <p:spPr>
          <a:xfrm>
            <a:off x="786384" y="3895344"/>
            <a:ext cx="6125794" cy="822960"/>
          </a:xfrm>
          <a:prstGeom prst="rect">
            <a:avLst/>
          </a:prstGeom>
          <a:noFill/>
          <a:ln/>
        </p:spPr>
        <p:txBody>
          <a:bodyPr wrap="square" lIns="0" tIns="0" rIns="0" bIns="0" rtlCol="0" anchor="ctr"/>
          <a:lstStyle/>
          <a:p>
            <a:pPr indent="0" marL="0">
              <a:lnSpc>
                <a:spcPts val="2300"/>
              </a:lnSpc>
              <a:buNone/>
            </a:pPr>
            <a:r>
              <a:rPr lang="en-US" sz="1750" dirty="0">
                <a:solidFill>
                  <a:srgbClr val="A8A39B"/>
                </a:solidFill>
                <a:latin typeface="Arial" pitchFamily="34" charset="0"/>
                <a:ea typeface="Arial" pitchFamily="34" charset="-122"/>
                <a:cs typeface="Arial" pitchFamily="34" charset="-120"/>
              </a:rPr>
              <a:t>Zone assignments and the written kit. The method is yours to work out.</a:t>
            </a:r>
            <a:endParaRPr lang="en-US" sz="1750" dirty="0"/>
          </a:p>
        </p:txBody>
      </p:sp>
      <p:sp>
        <p:nvSpPr>
          <p:cNvPr id="7" name="Text 5"/>
          <p:cNvSpPr/>
          <p:nvPr/>
        </p:nvSpPr>
        <p:spPr>
          <a:xfrm>
            <a:off x="9210751" y="5358384"/>
            <a:ext cx="2194560" cy="310896"/>
          </a:xfrm>
          <a:prstGeom prst="rect">
            <a:avLst/>
          </a:prstGeom>
          <a:noFill/>
          <a:ln/>
        </p:spPr>
        <p:txBody>
          <a:bodyPr wrap="square" lIns="0" tIns="0" rIns="0" bIns="0" rtlCol="0" anchor="ctr"/>
          <a:lstStyle/>
          <a:p>
            <a:pPr algn="r" indent="0" marL="0">
              <a:buNone/>
            </a:pPr>
            <a:r>
              <a:rPr lang="en-US" sz="1450" b="1" spc="180" kern="0" dirty="0">
                <a:solidFill>
                  <a:srgbClr val="C0402A"/>
                </a:solidFill>
                <a:latin typeface="Arial" pitchFamily="34" charset="0"/>
                <a:ea typeface="Arial" pitchFamily="34" charset="-122"/>
                <a:cs typeface="Arial" pitchFamily="34" charset="-120"/>
              </a:rPr>
              <a:t>5 MIN</a:t>
            </a:r>
            <a:endParaRPr lang="en-US" sz="1450" dirty="0"/>
          </a:p>
        </p:txBody>
      </p:sp>
      <p:sp>
        <p:nvSpPr>
          <p:cNvPr id="8" name="Shape 6"/>
          <p:cNvSpPr/>
          <p:nvPr/>
        </p:nvSpPr>
        <p:spPr>
          <a:xfrm>
            <a:off x="786384" y="5358384"/>
            <a:ext cx="585216" cy="292608"/>
          </a:xfrm>
          <a:prstGeom prst="rect">
            <a:avLst/>
          </a:prstGeom>
          <a:solidFill>
            <a:srgbClr val="121212"/>
          </a:solidFill>
          <a:ln w="9525">
            <a:solidFill>
              <a:srgbClr val="45423E"/>
            </a:solidFill>
            <a:prstDash val="solid"/>
          </a:ln>
        </p:spPr>
      </p:sp>
      <p:sp>
        <p:nvSpPr>
          <p:cNvPr id="9" name="Text 7"/>
          <p:cNvSpPr/>
          <p:nvPr/>
        </p:nvSpPr>
        <p:spPr>
          <a:xfrm>
            <a:off x="786384" y="5358384"/>
            <a:ext cx="585216" cy="292608"/>
          </a:xfrm>
          <a:prstGeom prst="rect">
            <a:avLst/>
          </a:prstGeom>
          <a:noFill/>
          <a:ln/>
        </p:spPr>
        <p:txBody>
          <a:bodyPr wrap="square" lIns="0" tIns="0" rIns="0" bIns="0" rtlCol="0" anchor="ctr"/>
          <a:lstStyle/>
          <a:p>
            <a:pPr algn="ctr" indent="0" marL="0">
              <a:buNone/>
            </a:pPr>
            <a:r>
              <a:rPr lang="en-US" sz="1100" b="1" spc="60" kern="0" dirty="0">
                <a:solidFill>
                  <a:srgbClr val="B5B0A8"/>
                </a:solidFill>
                <a:latin typeface="Arial" pitchFamily="34" charset="0"/>
                <a:ea typeface="Arial" pitchFamily="34" charset="-122"/>
                <a:cs typeface="Arial" pitchFamily="34" charset="-120"/>
              </a:rPr>
              <a:t>LV5</a:t>
            </a:r>
            <a:endParaRPr lang="en-US" sz="1100" dirty="0"/>
          </a:p>
        </p:txBody>
      </p:sp>
      <p:sp>
        <p:nvSpPr>
          <p:cNvPr id="10" name="Text 8"/>
          <p:cNvSpPr/>
          <p:nvPr/>
        </p:nvSpPr>
        <p:spPr>
          <a:xfrm>
            <a:off x="10490911" y="6309360"/>
            <a:ext cx="914400" cy="274320"/>
          </a:xfrm>
          <a:prstGeom prst="rect">
            <a:avLst/>
          </a:prstGeom>
          <a:noFill/>
          <a:ln/>
        </p:spPr>
        <p:txBody>
          <a:bodyPr wrap="square" lIns="0" tIns="0" rIns="0" bIns="0" rtlCol="0" anchor="ctr"/>
          <a:lstStyle/>
          <a:p>
            <a:pPr algn="r" indent="0" marL="0">
              <a:buNone/>
            </a:pPr>
            <a:r>
              <a:rPr lang="en-US" sz="1200" dirty="0">
                <a:solidFill>
                  <a:srgbClr val="56534E"/>
                </a:solidFill>
                <a:latin typeface="Arial" pitchFamily="34" charset="0"/>
                <a:ea typeface="Arial" pitchFamily="34" charset="-122"/>
                <a:cs typeface="Arial" pitchFamily="34" charset="-120"/>
              </a:rPr>
              <a:t>26</a:t>
            </a:r>
            <a:endParaRPr lang="en-US" sz="12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AF8F5"/>
        </a:solidFill>
      </p:bgPr>
    </p:bg>
    <p:spTree>
      <p:nvGrpSpPr>
        <p:cNvPr id="1" name=""/>
        <p:cNvGrpSpPr/>
        <p:nvPr/>
      </p:nvGrpSpPr>
      <p:grpSpPr>
        <a:xfrm>
          <a:off x="0" y="0"/>
          <a:ext cx="0" cy="0"/>
          <a:chOff x="0" y="0"/>
          <a:chExt cx="0" cy="0"/>
        </a:xfrm>
      </p:grpSpPr>
      <p:sp>
        <p:nvSpPr>
          <p:cNvPr id="2" name="Text 0"/>
          <p:cNvSpPr/>
          <p:nvPr/>
        </p:nvSpPr>
        <p:spPr>
          <a:xfrm>
            <a:off x="786384" y="402336"/>
            <a:ext cx="3657600" cy="237744"/>
          </a:xfrm>
          <a:prstGeom prst="rect">
            <a:avLst/>
          </a:prstGeom>
          <a:noFill/>
          <a:ln/>
        </p:spPr>
        <p:txBody>
          <a:bodyPr wrap="square" lIns="0" tIns="0" rIns="0" bIns="0" rtlCol="0" anchor="ctr"/>
          <a:lstStyle/>
          <a:p>
            <a:pPr indent="0" marL="0">
              <a:buNone/>
            </a:pPr>
            <a:r>
              <a:rPr lang="en-US" sz="950" b="1" spc="240" kern="0" dirty="0">
                <a:solidFill>
                  <a:srgbClr val="9C978E"/>
                </a:solidFill>
                <a:latin typeface="Arial" pitchFamily="34" charset="0"/>
                <a:ea typeface="Arial" pitchFamily="34" charset="-122"/>
                <a:cs typeface="Arial" pitchFamily="34" charset="-120"/>
              </a:rPr>
              <a:t>THEORY</a:t>
            </a:r>
            <a:endParaRPr lang="en-US" sz="950" dirty="0"/>
          </a:p>
        </p:txBody>
      </p:sp>
      <p:sp>
        <p:nvSpPr>
          <p:cNvPr id="3" name="Text 1"/>
          <p:cNvSpPr/>
          <p:nvPr/>
        </p:nvSpPr>
        <p:spPr>
          <a:xfrm>
            <a:off x="786384" y="713232"/>
            <a:ext cx="7923047" cy="676656"/>
          </a:xfrm>
          <a:prstGeom prst="rect">
            <a:avLst/>
          </a:prstGeom>
          <a:noFill/>
          <a:ln/>
        </p:spPr>
        <p:txBody>
          <a:bodyPr wrap="square" lIns="0" tIns="0" rIns="0" bIns="0" rtlCol="0" anchor="ctr"/>
          <a:lstStyle/>
          <a:p>
            <a:pPr indent="0" marL="0">
              <a:buNone/>
            </a:pPr>
            <a:r>
              <a:rPr lang="en-US" sz="2900" b="1" dirty="0">
                <a:solidFill>
                  <a:srgbClr val="141414"/>
                </a:solidFill>
                <a:latin typeface="Arial" pitchFamily="34" charset="0"/>
                <a:ea typeface="Arial" pitchFamily="34" charset="-122"/>
                <a:cs typeface="Arial" pitchFamily="34" charset="-120"/>
              </a:rPr>
              <a:t>Level 5: Physical Data</a:t>
            </a:r>
            <a:endParaRPr lang="en-US" sz="2900" dirty="0"/>
          </a:p>
        </p:txBody>
      </p:sp>
      <p:sp>
        <p:nvSpPr>
          <p:cNvPr id="4" name="Shape 2"/>
          <p:cNvSpPr/>
          <p:nvPr/>
        </p:nvSpPr>
        <p:spPr>
          <a:xfrm>
            <a:off x="10801807" y="877824"/>
            <a:ext cx="585216" cy="292608"/>
          </a:xfrm>
          <a:prstGeom prst="rect">
            <a:avLst/>
          </a:prstGeom>
          <a:solidFill>
            <a:srgbClr val="FAF8F5"/>
          </a:solidFill>
          <a:ln w="9525">
            <a:solidFill>
              <a:srgbClr val="D5D1CA"/>
            </a:solidFill>
            <a:prstDash val="solid"/>
          </a:ln>
        </p:spPr>
      </p:sp>
      <p:sp>
        <p:nvSpPr>
          <p:cNvPr id="5" name="Text 3"/>
          <p:cNvSpPr/>
          <p:nvPr/>
        </p:nvSpPr>
        <p:spPr>
          <a:xfrm>
            <a:off x="10801807" y="877824"/>
            <a:ext cx="585216" cy="292608"/>
          </a:xfrm>
          <a:prstGeom prst="rect">
            <a:avLst/>
          </a:prstGeom>
          <a:noFill/>
          <a:ln/>
        </p:spPr>
        <p:txBody>
          <a:bodyPr wrap="square" lIns="0" tIns="0" rIns="0" bIns="0" rtlCol="0" anchor="ctr"/>
          <a:lstStyle/>
          <a:p>
            <a:pPr algn="ctr" indent="0" marL="0">
              <a:buNone/>
            </a:pPr>
            <a:r>
              <a:rPr lang="en-US" sz="1100" b="1" spc="60" kern="0" dirty="0">
                <a:solidFill>
                  <a:srgbClr val="141414"/>
                </a:solidFill>
                <a:latin typeface="Arial" pitchFamily="34" charset="0"/>
                <a:ea typeface="Arial" pitchFamily="34" charset="-122"/>
                <a:cs typeface="Arial" pitchFamily="34" charset="-120"/>
              </a:rPr>
              <a:t>LV5</a:t>
            </a:r>
            <a:endParaRPr lang="en-US" sz="1100" dirty="0"/>
          </a:p>
        </p:txBody>
      </p:sp>
      <p:sp>
        <p:nvSpPr>
          <p:cNvPr id="6" name="Shape 4"/>
          <p:cNvSpPr/>
          <p:nvPr/>
        </p:nvSpPr>
        <p:spPr>
          <a:xfrm>
            <a:off x="786384" y="1426464"/>
            <a:ext cx="10618927" cy="10973"/>
          </a:xfrm>
          <a:prstGeom prst="rect">
            <a:avLst/>
          </a:prstGeom>
          <a:solidFill>
            <a:srgbClr val="D5D1CA"/>
          </a:solidFill>
          <a:ln/>
        </p:spPr>
      </p:sp>
      <p:sp>
        <p:nvSpPr>
          <p:cNvPr id="7" name="Text 5"/>
          <p:cNvSpPr/>
          <p:nvPr/>
        </p:nvSpPr>
        <p:spPr>
          <a:xfrm>
            <a:off x="10490911" y="6309360"/>
            <a:ext cx="914400" cy="274320"/>
          </a:xfrm>
          <a:prstGeom prst="rect">
            <a:avLst/>
          </a:prstGeom>
          <a:noFill/>
          <a:ln/>
        </p:spPr>
        <p:txBody>
          <a:bodyPr wrap="square" lIns="0" tIns="0" rIns="0" bIns="0" rtlCol="0" anchor="ctr"/>
          <a:lstStyle/>
          <a:p>
            <a:pPr algn="r" indent="0" marL="0">
              <a:buNone/>
            </a:pPr>
            <a:r>
              <a:rPr lang="en-US" sz="1200" dirty="0">
                <a:solidFill>
                  <a:srgbClr val="9C978E"/>
                </a:solidFill>
                <a:latin typeface="Arial" pitchFamily="34" charset="0"/>
                <a:ea typeface="Arial" pitchFamily="34" charset="-122"/>
                <a:cs typeface="Arial" pitchFamily="34" charset="-120"/>
              </a:rPr>
              <a:t>27</a:t>
            </a:r>
            <a:endParaRPr lang="en-US" sz="1200" dirty="0"/>
          </a:p>
        </p:txBody>
      </p:sp>
      <p:sp>
        <p:nvSpPr>
          <p:cNvPr id="8" name="Text 6"/>
          <p:cNvSpPr/>
          <p:nvPr/>
        </p:nvSpPr>
        <p:spPr>
          <a:xfrm>
            <a:off x="786384" y="1827703"/>
            <a:ext cx="9769413" cy="1086307"/>
          </a:xfrm>
          <a:prstGeom prst="rect">
            <a:avLst/>
          </a:prstGeom>
          <a:noFill/>
          <a:ln/>
        </p:spPr>
        <p:txBody>
          <a:bodyPr wrap="square" lIns="0" tIns="0" rIns="0" bIns="0" rtlCol="0" anchor="ctr"/>
          <a:lstStyle/>
          <a:p>
            <a:pPr indent="0" marL="0">
              <a:lnSpc>
                <a:spcPts val="2500"/>
              </a:lnSpc>
              <a:buNone/>
            </a:pPr>
            <a:r>
              <a:rPr lang="en-US" sz="1700" dirty="0">
                <a:solidFill>
                  <a:srgbClr val="141414"/>
                </a:solidFill>
                <a:latin typeface="Arial" pitchFamily="34" charset="0"/>
                <a:ea typeface="Arial" pitchFamily="34" charset="-122"/>
                <a:cs typeface="Arial" pitchFamily="34" charset="-120"/>
              </a:rPr>
              <a:t>This data is not on any website and cannot be scraped. Every team starts from nothing, and it is around 40% of the final round.</a:t>
            </a:r>
            <a:endParaRPr lang="en-US" sz="1700" dirty="0"/>
          </a:p>
        </p:txBody>
      </p:sp>
      <p:sp>
        <p:nvSpPr>
          <p:cNvPr id="9" name="Shape 7"/>
          <p:cNvSpPr/>
          <p:nvPr/>
        </p:nvSpPr>
        <p:spPr>
          <a:xfrm>
            <a:off x="786384" y="3107131"/>
            <a:ext cx="5163160" cy="21726"/>
          </a:xfrm>
          <a:prstGeom prst="rect">
            <a:avLst/>
          </a:prstGeom>
          <a:solidFill>
            <a:srgbClr val="141414"/>
          </a:solidFill>
          <a:ln/>
        </p:spPr>
      </p:sp>
      <p:sp>
        <p:nvSpPr>
          <p:cNvPr id="10" name="Text 8"/>
          <p:cNvSpPr/>
          <p:nvPr/>
        </p:nvSpPr>
        <p:spPr>
          <a:xfrm>
            <a:off x="786384" y="3300252"/>
            <a:ext cx="5163160" cy="454304"/>
          </a:xfrm>
          <a:prstGeom prst="rect">
            <a:avLst/>
          </a:prstGeom>
          <a:noFill/>
          <a:ln/>
        </p:spPr>
        <p:txBody>
          <a:bodyPr wrap="square" lIns="0" tIns="0" rIns="0" bIns="0" rtlCol="0" anchor="ctr"/>
          <a:lstStyle/>
          <a:p>
            <a:pPr indent="0" marL="0">
              <a:lnSpc>
                <a:spcPts val="2350"/>
              </a:lnSpc>
              <a:buNone/>
            </a:pPr>
            <a:r>
              <a:rPr lang="en-US" sz="1950" b="1" dirty="0">
                <a:solidFill>
                  <a:srgbClr val="141414"/>
                </a:solidFill>
                <a:latin typeface="Arial" pitchFamily="34" charset="0"/>
                <a:ea typeface="Arial" pitchFamily="34" charset="-122"/>
                <a:cs typeface="Arial" pitchFamily="34" charset="-120"/>
              </a:rPr>
              <a:t>In scope</a:t>
            </a:r>
            <a:endParaRPr lang="en-US" sz="1950" dirty="0"/>
          </a:p>
        </p:txBody>
      </p:sp>
      <p:sp>
        <p:nvSpPr>
          <p:cNvPr id="11" name="Text 9"/>
          <p:cNvSpPr/>
          <p:nvPr/>
        </p:nvSpPr>
        <p:spPr>
          <a:xfrm>
            <a:off x="786384" y="3851118"/>
            <a:ext cx="5163160" cy="1502054"/>
          </a:xfrm>
          <a:prstGeom prst="rect">
            <a:avLst/>
          </a:prstGeom>
          <a:noFill/>
          <a:ln/>
        </p:spPr>
        <p:txBody>
          <a:bodyPr wrap="square" lIns="0" tIns="0" rIns="0" bIns="0" rtlCol="0" anchor="t"/>
          <a:lstStyle/>
          <a:p>
            <a:pPr indent="0" marL="0">
              <a:lnSpc>
                <a:spcPts val="2150"/>
              </a:lnSpc>
              <a:buNone/>
            </a:pPr>
            <a:r>
              <a:rPr lang="en-US" sz="1450" dirty="0">
                <a:solidFill>
                  <a:srgbClr val="141414"/>
                </a:solidFill>
                <a:latin typeface="Arial" pitchFamily="34" charset="0"/>
                <a:ea typeface="Arial" pitchFamily="34" charset="-122"/>
                <a:cs typeface="Arial" pitchFamily="34" charset="-120"/>
              </a:rPr>
              <a:t>The gallery outside the office, posters, venues excluding the machine workshop and event hall, and equipment.</a:t>
            </a:r>
            <a:endParaRPr lang="en-US" sz="1450" dirty="0"/>
          </a:p>
          <a:p>
            <a:pPr indent="0" marL="0">
              <a:lnSpc>
                <a:spcPts val="2150"/>
              </a:lnSpc>
              <a:buNone/>
            </a:pPr>
            <a:endParaRPr lang="en-US" sz="1450" dirty="0"/>
          </a:p>
          <a:p>
            <a:pPr indent="0" marL="0">
              <a:lnSpc>
                <a:spcPts val="2150"/>
              </a:lnSpc>
              <a:buNone/>
            </a:pPr>
            <a:r>
              <a:rPr lang="en-US" sz="1450" dirty="0">
                <a:solidFill>
                  <a:srgbClr val="141414"/>
                </a:solidFill>
                <a:latin typeface="Arial" pitchFamily="34" charset="0"/>
                <a:ea typeface="Arial" pitchFamily="34" charset="-122"/>
                <a:cs typeface="Arial" pitchFamily="34" charset="-120"/>
              </a:rPr>
              <a:t>Your assigned zones are in the kit.</a:t>
            </a:r>
            <a:endParaRPr lang="en-US" sz="1450" dirty="0"/>
          </a:p>
        </p:txBody>
      </p:sp>
      <p:sp>
        <p:nvSpPr>
          <p:cNvPr id="12" name="Shape 10"/>
          <p:cNvSpPr/>
          <p:nvPr/>
        </p:nvSpPr>
        <p:spPr>
          <a:xfrm>
            <a:off x="6242152" y="3107131"/>
            <a:ext cx="5163160" cy="28968"/>
          </a:xfrm>
          <a:prstGeom prst="rect">
            <a:avLst/>
          </a:prstGeom>
          <a:solidFill>
            <a:srgbClr val="C0402A"/>
          </a:solidFill>
          <a:ln/>
        </p:spPr>
      </p:sp>
      <p:sp>
        <p:nvSpPr>
          <p:cNvPr id="13" name="Text 11"/>
          <p:cNvSpPr/>
          <p:nvPr/>
        </p:nvSpPr>
        <p:spPr>
          <a:xfrm>
            <a:off x="6242152" y="3300252"/>
            <a:ext cx="5163160" cy="454304"/>
          </a:xfrm>
          <a:prstGeom prst="rect">
            <a:avLst/>
          </a:prstGeom>
          <a:noFill/>
          <a:ln/>
        </p:spPr>
        <p:txBody>
          <a:bodyPr wrap="square" lIns="0" tIns="0" rIns="0" bIns="0" rtlCol="0" anchor="ctr"/>
          <a:lstStyle/>
          <a:p>
            <a:pPr indent="0" marL="0">
              <a:lnSpc>
                <a:spcPts val="2350"/>
              </a:lnSpc>
              <a:buNone/>
            </a:pPr>
            <a:r>
              <a:rPr lang="en-US" sz="1950" b="1" dirty="0">
                <a:solidFill>
                  <a:srgbClr val="141414"/>
                </a:solidFill>
                <a:latin typeface="Arial" pitchFamily="34" charset="0"/>
                <a:ea typeface="Arial" pitchFamily="34" charset="-122"/>
                <a:cs typeface="Arial" pitchFamily="34" charset="-120"/>
              </a:rPr>
              <a:t>Same pipeline as Level 3</a:t>
            </a:r>
            <a:endParaRPr lang="en-US" sz="1950" dirty="0"/>
          </a:p>
        </p:txBody>
      </p:sp>
      <p:sp>
        <p:nvSpPr>
          <p:cNvPr id="14" name="Text 12"/>
          <p:cNvSpPr/>
          <p:nvPr/>
        </p:nvSpPr>
        <p:spPr>
          <a:xfrm>
            <a:off x="6242152" y="3851118"/>
            <a:ext cx="5163160" cy="1141628"/>
          </a:xfrm>
          <a:prstGeom prst="rect">
            <a:avLst/>
          </a:prstGeom>
          <a:noFill/>
          <a:ln/>
        </p:spPr>
        <p:txBody>
          <a:bodyPr wrap="square" lIns="0" tIns="0" rIns="0" bIns="0" rtlCol="0" anchor="t"/>
          <a:lstStyle/>
          <a:p>
            <a:pPr indent="0" marL="0">
              <a:lnSpc>
                <a:spcPts val="2150"/>
              </a:lnSpc>
              <a:buNone/>
            </a:pPr>
            <a:r>
              <a:rPr lang="en-US" sz="1450" dirty="0">
                <a:solidFill>
                  <a:srgbClr val="141414"/>
                </a:solidFill>
                <a:latin typeface="Arial" pitchFamily="34" charset="0"/>
                <a:ea typeface="Arial" pitchFamily="34" charset="-122"/>
                <a:cs typeface="Arial" pitchFamily="34" charset="-120"/>
              </a:rPr>
              <a:t>Your photographs go through the same description prompt you wrote in block 3 and into the same index. Nothing new is required in the code.</a:t>
            </a:r>
            <a:endParaRPr lang="en-US" sz="1450" dirty="0"/>
          </a:p>
        </p:txBody>
      </p:sp>
      <p:sp>
        <p:nvSpPr>
          <p:cNvPr id="15" name="Text 13"/>
          <p:cNvSpPr/>
          <p:nvPr/>
        </p:nvSpPr>
        <p:spPr>
          <a:xfrm>
            <a:off x="786384" y="5328026"/>
            <a:ext cx="9769413" cy="844906"/>
          </a:xfrm>
          <a:prstGeom prst="rect">
            <a:avLst/>
          </a:prstGeom>
          <a:noFill/>
          <a:ln/>
        </p:spPr>
        <p:txBody>
          <a:bodyPr wrap="square" lIns="0" tIns="0" rIns="0" bIns="0" rtlCol="0" anchor="ctr"/>
          <a:lstStyle/>
          <a:p>
            <a:pPr indent="0" marL="0">
              <a:lnSpc>
                <a:spcPts val="2300"/>
              </a:lnSpc>
              <a:buNone/>
            </a:pPr>
            <a:r>
              <a:rPr lang="en-US" sz="1550" dirty="0">
                <a:solidFill>
                  <a:srgbClr val="141414"/>
                </a:solidFill>
                <a:latin typeface="Arial" pitchFamily="34" charset="0"/>
                <a:ea typeface="Arial" pitchFamily="34" charset="-122"/>
                <a:cs typeface="Arial" pitchFamily="34" charset="-120"/>
              </a:rPr>
              <a:t>Teams do not share collected data. The collection log records only which zones you have covered, so that two teams do not walk the same route.</a:t>
            </a:r>
            <a:endParaRPr lang="en-US" sz="155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4F0EA"/>
        </a:solidFill>
      </p:bgPr>
    </p:bg>
    <p:spTree>
      <p:nvGrpSpPr>
        <p:cNvPr id="1" name=""/>
        <p:cNvGrpSpPr/>
        <p:nvPr/>
      </p:nvGrpSpPr>
      <p:grpSpPr>
        <a:xfrm>
          <a:off x="0" y="0"/>
          <a:ext cx="0" cy="0"/>
          <a:chOff x="0" y="0"/>
          <a:chExt cx="0" cy="0"/>
        </a:xfrm>
      </p:grpSpPr>
      <p:sp>
        <p:nvSpPr>
          <p:cNvPr id="2" name="Text 0"/>
          <p:cNvSpPr/>
          <p:nvPr/>
        </p:nvSpPr>
        <p:spPr>
          <a:xfrm>
            <a:off x="786384" y="402336"/>
            <a:ext cx="3657600" cy="237744"/>
          </a:xfrm>
          <a:prstGeom prst="rect">
            <a:avLst/>
          </a:prstGeom>
          <a:noFill/>
          <a:ln/>
        </p:spPr>
        <p:txBody>
          <a:bodyPr wrap="square" lIns="0" tIns="0" rIns="0" bIns="0" rtlCol="0" anchor="ctr"/>
          <a:lstStyle/>
          <a:p>
            <a:pPr indent="0" marL="0">
              <a:buNone/>
            </a:pPr>
            <a:r>
              <a:rPr lang="en-US" sz="950" b="1" spc="240" kern="0" dirty="0">
                <a:solidFill>
                  <a:srgbClr val="C0402A"/>
                </a:solidFill>
                <a:latin typeface="Arial" pitchFamily="34" charset="0"/>
                <a:ea typeface="Arial" pitchFamily="34" charset="-122"/>
                <a:cs typeface="Arial" pitchFamily="34" charset="-120"/>
              </a:rPr>
              <a:t>FROM EXPERIENCE</a:t>
            </a:r>
            <a:endParaRPr lang="en-US" sz="950" dirty="0"/>
          </a:p>
        </p:txBody>
      </p:sp>
      <p:sp>
        <p:nvSpPr>
          <p:cNvPr id="3" name="Shape 1"/>
          <p:cNvSpPr/>
          <p:nvPr/>
        </p:nvSpPr>
        <p:spPr>
          <a:xfrm>
            <a:off x="0" y="0"/>
            <a:ext cx="128016" cy="6858000"/>
          </a:xfrm>
          <a:prstGeom prst="rect">
            <a:avLst/>
          </a:prstGeom>
          <a:solidFill>
            <a:srgbClr val="C0402A"/>
          </a:solidFill>
          <a:ln/>
        </p:spPr>
      </p:sp>
      <p:sp>
        <p:nvSpPr>
          <p:cNvPr id="4" name="Text 2"/>
          <p:cNvSpPr/>
          <p:nvPr/>
        </p:nvSpPr>
        <p:spPr>
          <a:xfrm>
            <a:off x="786384" y="713232"/>
            <a:ext cx="7923047" cy="676656"/>
          </a:xfrm>
          <a:prstGeom prst="rect">
            <a:avLst/>
          </a:prstGeom>
          <a:noFill/>
          <a:ln/>
        </p:spPr>
        <p:txBody>
          <a:bodyPr wrap="square" lIns="0" tIns="0" rIns="0" bIns="0" rtlCol="0" anchor="ctr"/>
          <a:lstStyle/>
          <a:p>
            <a:pPr indent="0" marL="0">
              <a:buNone/>
            </a:pPr>
            <a:r>
              <a:rPr lang="en-US" sz="2900" b="1" dirty="0">
                <a:solidFill>
                  <a:srgbClr val="141414"/>
                </a:solidFill>
                <a:latin typeface="Arial" pitchFamily="34" charset="0"/>
                <a:ea typeface="Arial" pitchFamily="34" charset="-122"/>
                <a:cs typeface="Arial" pitchFamily="34" charset="-120"/>
              </a:rPr>
              <a:t>Planning Your Collection</a:t>
            </a:r>
            <a:endParaRPr lang="en-US" sz="2900" dirty="0"/>
          </a:p>
        </p:txBody>
      </p:sp>
      <p:sp>
        <p:nvSpPr>
          <p:cNvPr id="5" name="Shape 3"/>
          <p:cNvSpPr/>
          <p:nvPr/>
        </p:nvSpPr>
        <p:spPr>
          <a:xfrm>
            <a:off x="10801807" y="877824"/>
            <a:ext cx="585216" cy="292608"/>
          </a:xfrm>
          <a:prstGeom prst="rect">
            <a:avLst/>
          </a:prstGeom>
          <a:solidFill>
            <a:srgbClr val="FAF8F5"/>
          </a:solidFill>
          <a:ln w="9525">
            <a:solidFill>
              <a:srgbClr val="D5D1CA"/>
            </a:solidFill>
            <a:prstDash val="solid"/>
          </a:ln>
        </p:spPr>
      </p:sp>
      <p:sp>
        <p:nvSpPr>
          <p:cNvPr id="6" name="Text 4"/>
          <p:cNvSpPr/>
          <p:nvPr/>
        </p:nvSpPr>
        <p:spPr>
          <a:xfrm>
            <a:off x="10801807" y="877824"/>
            <a:ext cx="585216" cy="292608"/>
          </a:xfrm>
          <a:prstGeom prst="rect">
            <a:avLst/>
          </a:prstGeom>
          <a:noFill/>
          <a:ln/>
        </p:spPr>
        <p:txBody>
          <a:bodyPr wrap="square" lIns="0" tIns="0" rIns="0" bIns="0" rtlCol="0" anchor="ctr"/>
          <a:lstStyle/>
          <a:p>
            <a:pPr algn="ctr" indent="0" marL="0">
              <a:buNone/>
            </a:pPr>
            <a:r>
              <a:rPr lang="en-US" sz="1100" b="1" spc="60" kern="0" dirty="0">
                <a:solidFill>
                  <a:srgbClr val="141414"/>
                </a:solidFill>
                <a:latin typeface="Arial" pitchFamily="34" charset="0"/>
                <a:ea typeface="Arial" pitchFamily="34" charset="-122"/>
                <a:cs typeface="Arial" pitchFamily="34" charset="-120"/>
              </a:rPr>
              <a:t>LV5</a:t>
            </a:r>
            <a:endParaRPr lang="en-US" sz="1100" dirty="0"/>
          </a:p>
        </p:txBody>
      </p:sp>
      <p:sp>
        <p:nvSpPr>
          <p:cNvPr id="7" name="Shape 5"/>
          <p:cNvSpPr/>
          <p:nvPr/>
        </p:nvSpPr>
        <p:spPr>
          <a:xfrm>
            <a:off x="786384" y="1426464"/>
            <a:ext cx="10618927" cy="10973"/>
          </a:xfrm>
          <a:prstGeom prst="rect">
            <a:avLst/>
          </a:prstGeom>
          <a:solidFill>
            <a:srgbClr val="D5D1CA"/>
          </a:solidFill>
          <a:ln/>
        </p:spPr>
      </p:sp>
      <p:sp>
        <p:nvSpPr>
          <p:cNvPr id="8" name="Text 6"/>
          <p:cNvSpPr/>
          <p:nvPr/>
        </p:nvSpPr>
        <p:spPr>
          <a:xfrm>
            <a:off x="10490911" y="6309360"/>
            <a:ext cx="914400" cy="274320"/>
          </a:xfrm>
          <a:prstGeom prst="rect">
            <a:avLst/>
          </a:prstGeom>
          <a:noFill/>
          <a:ln/>
        </p:spPr>
        <p:txBody>
          <a:bodyPr wrap="square" lIns="0" tIns="0" rIns="0" bIns="0" rtlCol="0" anchor="ctr"/>
          <a:lstStyle/>
          <a:p>
            <a:pPr algn="r" indent="0" marL="0">
              <a:buNone/>
            </a:pPr>
            <a:r>
              <a:rPr lang="en-US" sz="1200" dirty="0">
                <a:solidFill>
                  <a:srgbClr val="9C978E"/>
                </a:solidFill>
                <a:latin typeface="Arial" pitchFamily="34" charset="0"/>
                <a:ea typeface="Arial" pitchFamily="34" charset="-122"/>
                <a:cs typeface="Arial" pitchFamily="34" charset="-120"/>
              </a:rPr>
              <a:t>28</a:t>
            </a:r>
            <a:endParaRPr lang="en-US" sz="1200" dirty="0"/>
          </a:p>
        </p:txBody>
      </p:sp>
      <p:sp>
        <p:nvSpPr>
          <p:cNvPr id="9" name="Shape 7"/>
          <p:cNvSpPr/>
          <p:nvPr/>
        </p:nvSpPr>
        <p:spPr>
          <a:xfrm>
            <a:off x="786384" y="1900123"/>
            <a:ext cx="10618927" cy="1810512"/>
          </a:xfrm>
          <a:prstGeom prst="roundRect">
            <a:avLst>
              <a:gd name="adj" fmla="val 2525"/>
            </a:avLst>
          </a:prstGeom>
          <a:solidFill>
            <a:srgbClr val="EEEBF5"/>
          </a:solidFill>
          <a:ln/>
        </p:spPr>
      </p:sp>
      <p:sp>
        <p:nvSpPr>
          <p:cNvPr id="10" name="Text 8"/>
          <p:cNvSpPr/>
          <p:nvPr/>
        </p:nvSpPr>
        <p:spPr>
          <a:xfrm>
            <a:off x="1060704" y="2165665"/>
            <a:ext cx="10070287" cy="1327709"/>
          </a:xfrm>
          <a:prstGeom prst="rect">
            <a:avLst/>
          </a:prstGeom>
          <a:noFill/>
          <a:ln/>
        </p:spPr>
        <p:txBody>
          <a:bodyPr wrap="square" lIns="0" tIns="0" rIns="0" bIns="0" rtlCol="0" anchor="ctr"/>
          <a:lstStyle/>
          <a:p>
            <a:pPr indent="0" marL="0">
              <a:lnSpc>
                <a:spcPts val="2800"/>
              </a:lnSpc>
              <a:buNone/>
            </a:pPr>
            <a:r>
              <a:rPr lang="en-US" sz="2000" b="1" dirty="0">
                <a:solidFill>
                  <a:srgbClr val="3A2F5C"/>
                </a:solidFill>
                <a:latin typeface="Arial" pitchFamily="34" charset="0"/>
                <a:ea typeface="Arial" pitchFamily="34" charset="-122"/>
                <a:cs typeface="Arial" pitchFamily="34" charset="-120"/>
              </a:rPr>
              <a:t>You cannot photograph everything. What would you need to have captured, and captured well enough to transcribe, for a question you have not seen yet to be answerable?</a:t>
            </a:r>
            <a:endParaRPr lang="en-US" sz="2000" dirty="0"/>
          </a:p>
        </p:txBody>
      </p:sp>
      <p:sp>
        <p:nvSpPr>
          <p:cNvPr id="11" name="Text 9"/>
          <p:cNvSpPr/>
          <p:nvPr/>
        </p:nvSpPr>
        <p:spPr>
          <a:xfrm>
            <a:off x="786384" y="3952037"/>
            <a:ext cx="9557034" cy="844906"/>
          </a:xfrm>
          <a:prstGeom prst="rect">
            <a:avLst/>
          </a:prstGeom>
          <a:noFill/>
          <a:ln/>
        </p:spPr>
        <p:txBody>
          <a:bodyPr wrap="square" lIns="0" tIns="0" rIns="0" bIns="0" rtlCol="0" anchor="ctr"/>
          <a:lstStyle/>
          <a:p>
            <a:pPr indent="0" marL="0">
              <a:lnSpc>
                <a:spcPts val="2400"/>
              </a:lnSpc>
              <a:buNone/>
            </a:pPr>
            <a:r>
              <a:rPr lang="en-US" sz="1600" dirty="0">
                <a:solidFill>
                  <a:srgbClr val="141414"/>
                </a:solidFill>
                <a:latin typeface="Arial" pitchFamily="34" charset="0"/>
                <a:ea typeface="Arial" pitchFamily="34" charset="-122"/>
                <a:cs typeface="Arial" pitchFamily="34" charset="-120"/>
              </a:rPr>
              <a:t>Decide your answer to this before the first visit. Details of the zone assignments and the file naming convention are in the written collection kit.</a:t>
            </a:r>
            <a:endParaRPr lang="en-US" sz="16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AF8F5"/>
        </a:solidFill>
      </p:bgPr>
    </p:bg>
    <p:spTree>
      <p:nvGrpSpPr>
        <p:cNvPr id="1" name=""/>
        <p:cNvGrpSpPr/>
        <p:nvPr/>
      </p:nvGrpSpPr>
      <p:grpSpPr>
        <a:xfrm>
          <a:off x="0" y="0"/>
          <a:ext cx="0" cy="0"/>
          <a:chOff x="0" y="0"/>
          <a:chExt cx="0" cy="0"/>
        </a:xfrm>
      </p:grpSpPr>
      <p:sp>
        <p:nvSpPr>
          <p:cNvPr id="2" name="Text 0"/>
          <p:cNvSpPr/>
          <p:nvPr/>
        </p:nvSpPr>
        <p:spPr>
          <a:xfrm>
            <a:off x="786384" y="475488"/>
            <a:ext cx="9720301" cy="676656"/>
          </a:xfrm>
          <a:prstGeom prst="rect">
            <a:avLst/>
          </a:prstGeom>
          <a:noFill/>
          <a:ln/>
        </p:spPr>
        <p:txBody>
          <a:bodyPr wrap="square" lIns="0" tIns="0" rIns="0" bIns="0" rtlCol="0" anchor="ctr"/>
          <a:lstStyle/>
          <a:p>
            <a:pPr indent="0" marL="0">
              <a:buNone/>
            </a:pPr>
            <a:r>
              <a:rPr lang="en-US" sz="2900" b="1" dirty="0">
                <a:solidFill>
                  <a:srgbClr val="141414"/>
                </a:solidFill>
                <a:latin typeface="Arial" pitchFamily="34" charset="0"/>
                <a:ea typeface="Arial" pitchFamily="34" charset="-122"/>
                <a:cs typeface="Arial" pitchFamily="34" charset="-120"/>
              </a:rPr>
              <a:t>Key Dates</a:t>
            </a:r>
            <a:endParaRPr lang="en-US" sz="2900" dirty="0"/>
          </a:p>
        </p:txBody>
      </p:sp>
      <p:sp>
        <p:nvSpPr>
          <p:cNvPr id="3" name="Shape 1"/>
          <p:cNvSpPr/>
          <p:nvPr/>
        </p:nvSpPr>
        <p:spPr>
          <a:xfrm>
            <a:off x="786384" y="1207008"/>
            <a:ext cx="10618927" cy="10973"/>
          </a:xfrm>
          <a:prstGeom prst="rect">
            <a:avLst/>
          </a:prstGeom>
          <a:solidFill>
            <a:srgbClr val="D5D1CA"/>
          </a:solidFill>
          <a:ln/>
        </p:spPr>
      </p:sp>
      <p:sp>
        <p:nvSpPr>
          <p:cNvPr id="4" name="Text 2"/>
          <p:cNvSpPr/>
          <p:nvPr/>
        </p:nvSpPr>
        <p:spPr>
          <a:xfrm>
            <a:off x="10490911" y="6309360"/>
            <a:ext cx="914400" cy="274320"/>
          </a:xfrm>
          <a:prstGeom prst="rect">
            <a:avLst/>
          </a:prstGeom>
          <a:noFill/>
          <a:ln/>
        </p:spPr>
        <p:txBody>
          <a:bodyPr wrap="square" lIns="0" tIns="0" rIns="0" bIns="0" rtlCol="0" anchor="ctr"/>
          <a:lstStyle/>
          <a:p>
            <a:pPr algn="r" indent="0" marL="0">
              <a:buNone/>
            </a:pPr>
            <a:r>
              <a:rPr lang="en-US" sz="1200" dirty="0">
                <a:solidFill>
                  <a:srgbClr val="9C978E"/>
                </a:solidFill>
                <a:latin typeface="Arial" pitchFamily="34" charset="0"/>
                <a:ea typeface="Arial" pitchFamily="34" charset="-122"/>
                <a:cs typeface="Arial" pitchFamily="34" charset="-120"/>
              </a:rPr>
              <a:t>29</a:t>
            </a:r>
            <a:endParaRPr lang="en-US" sz="1200" dirty="0"/>
          </a:p>
        </p:txBody>
      </p:sp>
      <p:sp>
        <p:nvSpPr>
          <p:cNvPr id="5" name="Text 3"/>
          <p:cNvSpPr/>
          <p:nvPr/>
        </p:nvSpPr>
        <p:spPr>
          <a:xfrm>
            <a:off x="786384" y="1628983"/>
            <a:ext cx="1188720" cy="423383"/>
          </a:xfrm>
          <a:prstGeom prst="rect">
            <a:avLst/>
          </a:prstGeom>
          <a:noFill/>
          <a:ln/>
        </p:spPr>
        <p:txBody>
          <a:bodyPr wrap="square" lIns="0" tIns="0" rIns="0" bIns="0" rtlCol="0" anchor="ctr"/>
          <a:lstStyle/>
          <a:p>
            <a:pPr indent="0" marL="0">
              <a:buNone/>
            </a:pPr>
            <a:r>
              <a:rPr lang="en-US" sz="1700" b="1" dirty="0">
                <a:solidFill>
                  <a:srgbClr val="C0402A"/>
                </a:solidFill>
                <a:latin typeface="Arial" pitchFamily="34" charset="0"/>
                <a:ea typeface="Arial" pitchFamily="34" charset="-122"/>
                <a:cs typeface="Arial" pitchFamily="34" charset="-120"/>
              </a:rPr>
              <a:t>7 Oct</a:t>
            </a:r>
            <a:endParaRPr lang="en-US" sz="1700" dirty="0"/>
          </a:p>
        </p:txBody>
      </p:sp>
      <p:sp>
        <p:nvSpPr>
          <p:cNvPr id="6" name="Text 4"/>
          <p:cNvSpPr/>
          <p:nvPr/>
        </p:nvSpPr>
        <p:spPr>
          <a:xfrm>
            <a:off x="2157984" y="1628983"/>
            <a:ext cx="9247327" cy="423383"/>
          </a:xfrm>
          <a:prstGeom prst="rect">
            <a:avLst/>
          </a:prstGeom>
          <a:noFill/>
          <a:ln/>
        </p:spPr>
        <p:txBody>
          <a:bodyPr wrap="square" lIns="0" tIns="0" rIns="0" bIns="0" rtlCol="0" anchor="ctr"/>
          <a:lstStyle/>
          <a:p>
            <a:pPr indent="0" marL="0">
              <a:buNone/>
            </a:pPr>
            <a:r>
              <a:rPr lang="en-US" sz="1600" dirty="0">
                <a:solidFill>
                  <a:srgbClr val="141414"/>
                </a:solidFill>
                <a:latin typeface="Arial" pitchFamily="34" charset="0"/>
                <a:ea typeface="Arial" pitchFamily="34" charset="-122"/>
                <a:cs typeface="Arial" pitchFamily="34" charset="-120"/>
              </a:rPr>
              <a:t>Collection log entry for your assigned zones</a:t>
            </a:r>
            <a:endParaRPr lang="en-US" sz="1600" dirty="0"/>
          </a:p>
        </p:txBody>
      </p:sp>
      <p:sp>
        <p:nvSpPr>
          <p:cNvPr id="7" name="Text 5"/>
          <p:cNvSpPr/>
          <p:nvPr/>
        </p:nvSpPr>
        <p:spPr>
          <a:xfrm>
            <a:off x="786384" y="2358142"/>
            <a:ext cx="1188720" cy="423383"/>
          </a:xfrm>
          <a:prstGeom prst="rect">
            <a:avLst/>
          </a:prstGeom>
          <a:noFill/>
          <a:ln/>
        </p:spPr>
        <p:txBody>
          <a:bodyPr wrap="square" lIns="0" tIns="0" rIns="0" bIns="0" rtlCol="0" anchor="ctr"/>
          <a:lstStyle/>
          <a:p>
            <a:pPr indent="0" marL="0">
              <a:buNone/>
            </a:pPr>
            <a:r>
              <a:rPr lang="en-US" sz="1700" b="1" dirty="0">
                <a:solidFill>
                  <a:srgbClr val="C0402A"/>
                </a:solidFill>
                <a:latin typeface="Arial" pitchFamily="34" charset="0"/>
                <a:ea typeface="Arial" pitchFamily="34" charset="-122"/>
                <a:cs typeface="Arial" pitchFamily="34" charset="-120"/>
              </a:rPr>
              <a:t>14 Oct</a:t>
            </a:r>
            <a:endParaRPr lang="en-US" sz="1700" dirty="0"/>
          </a:p>
        </p:txBody>
      </p:sp>
      <p:sp>
        <p:nvSpPr>
          <p:cNvPr id="8" name="Text 6"/>
          <p:cNvSpPr/>
          <p:nvPr/>
        </p:nvSpPr>
        <p:spPr>
          <a:xfrm>
            <a:off x="2157984" y="2358142"/>
            <a:ext cx="9247327" cy="423383"/>
          </a:xfrm>
          <a:prstGeom prst="rect">
            <a:avLst/>
          </a:prstGeom>
          <a:noFill/>
          <a:ln/>
        </p:spPr>
        <p:txBody>
          <a:bodyPr wrap="square" lIns="0" tIns="0" rIns="0" bIns="0" rtlCol="0" anchor="ctr"/>
          <a:lstStyle/>
          <a:p>
            <a:pPr indent="0" marL="0">
              <a:buNone/>
            </a:pPr>
            <a:r>
              <a:rPr lang="en-US" sz="1600" dirty="0">
                <a:solidFill>
                  <a:srgbClr val="141414"/>
                </a:solidFill>
                <a:latin typeface="Arial" pitchFamily="34" charset="0"/>
                <a:ea typeface="Arial" pitchFamily="34" charset="-122"/>
                <a:cs typeface="Arial" pitchFamily="34" charset="-120"/>
              </a:rPr>
              <a:t>Image descriptions indexed, scoring above zero on Lv3</a:t>
            </a:r>
            <a:endParaRPr lang="en-US" sz="1600" dirty="0"/>
          </a:p>
        </p:txBody>
      </p:sp>
      <p:sp>
        <p:nvSpPr>
          <p:cNvPr id="9" name="Text 7"/>
          <p:cNvSpPr/>
          <p:nvPr/>
        </p:nvSpPr>
        <p:spPr>
          <a:xfrm>
            <a:off x="786384" y="3087300"/>
            <a:ext cx="1188720" cy="423383"/>
          </a:xfrm>
          <a:prstGeom prst="rect">
            <a:avLst/>
          </a:prstGeom>
          <a:noFill/>
          <a:ln/>
        </p:spPr>
        <p:txBody>
          <a:bodyPr wrap="square" lIns="0" tIns="0" rIns="0" bIns="0" rtlCol="0" anchor="ctr"/>
          <a:lstStyle/>
          <a:p>
            <a:pPr indent="0" marL="0">
              <a:buNone/>
            </a:pPr>
            <a:r>
              <a:rPr lang="en-US" sz="1700" b="1" dirty="0">
                <a:solidFill>
                  <a:srgbClr val="C0402A"/>
                </a:solidFill>
                <a:latin typeface="Arial" pitchFamily="34" charset="0"/>
                <a:ea typeface="Arial" pitchFamily="34" charset="-122"/>
                <a:cs typeface="Arial" pitchFamily="34" charset="-120"/>
              </a:rPr>
              <a:t>21 Oct</a:t>
            </a:r>
            <a:endParaRPr lang="en-US" sz="1700" dirty="0"/>
          </a:p>
        </p:txBody>
      </p:sp>
      <p:sp>
        <p:nvSpPr>
          <p:cNvPr id="10" name="Text 8"/>
          <p:cNvSpPr/>
          <p:nvPr/>
        </p:nvSpPr>
        <p:spPr>
          <a:xfrm>
            <a:off x="2157984" y="3087300"/>
            <a:ext cx="9247327" cy="423383"/>
          </a:xfrm>
          <a:prstGeom prst="rect">
            <a:avLst/>
          </a:prstGeom>
          <a:noFill/>
          <a:ln/>
        </p:spPr>
        <p:txBody>
          <a:bodyPr wrap="square" lIns="0" tIns="0" rIns="0" bIns="0" rtlCol="0" anchor="ctr"/>
          <a:lstStyle/>
          <a:p>
            <a:pPr indent="0" marL="0">
              <a:buNone/>
            </a:pPr>
            <a:r>
              <a:rPr lang="en-US" sz="1600" dirty="0">
                <a:solidFill>
                  <a:srgbClr val="141414"/>
                </a:solidFill>
                <a:latin typeface="Arial" pitchFamily="34" charset="0"/>
                <a:ea typeface="Arial" pitchFamily="34" charset="-122"/>
                <a:cs typeface="Arial" pitchFamily="34" charset="-120"/>
              </a:rPr>
              <a:t>Preliminary submission: code and vector database</a:t>
            </a:r>
            <a:endParaRPr lang="en-US" sz="1600" dirty="0"/>
          </a:p>
        </p:txBody>
      </p:sp>
      <p:sp>
        <p:nvSpPr>
          <p:cNvPr id="11" name="Text 9"/>
          <p:cNvSpPr/>
          <p:nvPr/>
        </p:nvSpPr>
        <p:spPr>
          <a:xfrm>
            <a:off x="786384" y="3816459"/>
            <a:ext cx="1188720" cy="423383"/>
          </a:xfrm>
          <a:prstGeom prst="rect">
            <a:avLst/>
          </a:prstGeom>
          <a:noFill/>
          <a:ln/>
        </p:spPr>
        <p:txBody>
          <a:bodyPr wrap="square" lIns="0" tIns="0" rIns="0" bIns="0" rtlCol="0" anchor="ctr"/>
          <a:lstStyle/>
          <a:p>
            <a:pPr indent="0" marL="0">
              <a:buNone/>
            </a:pPr>
            <a:r>
              <a:rPr lang="en-US" sz="1700" b="1" dirty="0">
                <a:solidFill>
                  <a:srgbClr val="C0402A"/>
                </a:solidFill>
                <a:latin typeface="Arial" pitchFamily="34" charset="0"/>
                <a:ea typeface="Arial" pitchFamily="34" charset="-122"/>
                <a:cs typeface="Arial" pitchFamily="34" charset="-120"/>
              </a:rPr>
              <a:t>28 Oct</a:t>
            </a:r>
            <a:endParaRPr lang="en-US" sz="1700" dirty="0"/>
          </a:p>
        </p:txBody>
      </p:sp>
      <p:sp>
        <p:nvSpPr>
          <p:cNvPr id="12" name="Text 10"/>
          <p:cNvSpPr/>
          <p:nvPr/>
        </p:nvSpPr>
        <p:spPr>
          <a:xfrm>
            <a:off x="2157984" y="3816459"/>
            <a:ext cx="9247327" cy="423383"/>
          </a:xfrm>
          <a:prstGeom prst="rect">
            <a:avLst/>
          </a:prstGeom>
          <a:noFill/>
          <a:ln/>
        </p:spPr>
        <p:txBody>
          <a:bodyPr wrap="square" lIns="0" tIns="0" rIns="0" bIns="0" rtlCol="0" anchor="ctr"/>
          <a:lstStyle/>
          <a:p>
            <a:pPr indent="0" marL="0">
              <a:buNone/>
            </a:pPr>
            <a:r>
              <a:rPr lang="en-US" sz="1600" dirty="0">
                <a:solidFill>
                  <a:srgbClr val="141414"/>
                </a:solidFill>
                <a:latin typeface="Arial" pitchFamily="34" charset="0"/>
                <a:ea typeface="Arial" pitchFamily="34" charset="-122"/>
                <a:cs typeface="Arial" pitchFamily="34" charset="-120"/>
              </a:rPr>
              <a:t>Final, live in Inno Wing</a:t>
            </a:r>
            <a:endParaRPr lang="en-US" sz="1600" dirty="0"/>
          </a:p>
        </p:txBody>
      </p:sp>
      <p:sp>
        <p:nvSpPr>
          <p:cNvPr id="13" name="Shape 11"/>
          <p:cNvSpPr/>
          <p:nvPr/>
        </p:nvSpPr>
        <p:spPr>
          <a:xfrm>
            <a:off x="786384" y="4733788"/>
            <a:ext cx="10618927" cy="21169"/>
          </a:xfrm>
          <a:prstGeom prst="rect">
            <a:avLst/>
          </a:prstGeom>
          <a:solidFill>
            <a:srgbClr val="141414"/>
          </a:solidFill>
          <a:ln/>
        </p:spPr>
      </p:sp>
      <p:sp>
        <p:nvSpPr>
          <p:cNvPr id="14" name="Text 12"/>
          <p:cNvSpPr/>
          <p:nvPr/>
        </p:nvSpPr>
        <p:spPr>
          <a:xfrm>
            <a:off x="786384" y="4921958"/>
            <a:ext cx="10618927" cy="442657"/>
          </a:xfrm>
          <a:prstGeom prst="rect">
            <a:avLst/>
          </a:prstGeom>
          <a:noFill/>
          <a:ln/>
        </p:spPr>
        <p:txBody>
          <a:bodyPr wrap="square" lIns="0" tIns="0" rIns="0" bIns="0" rtlCol="0" anchor="ctr"/>
          <a:lstStyle/>
          <a:p>
            <a:pPr indent="0" marL="0">
              <a:lnSpc>
                <a:spcPts val="2350"/>
              </a:lnSpc>
              <a:buNone/>
            </a:pPr>
            <a:r>
              <a:rPr lang="en-US" sz="1950" b="1" dirty="0">
                <a:solidFill>
                  <a:srgbClr val="141414"/>
                </a:solidFill>
                <a:latin typeface="Arial" pitchFamily="34" charset="0"/>
                <a:ea typeface="Arial" pitchFamily="34" charset="-122"/>
                <a:cs typeface="Arial" pitchFamily="34" charset="-120"/>
              </a:rPr>
              <a:t>Plan a second visit</a:t>
            </a:r>
            <a:endParaRPr lang="en-US" sz="1950" dirty="0"/>
          </a:p>
        </p:txBody>
      </p:sp>
      <p:sp>
        <p:nvSpPr>
          <p:cNvPr id="15" name="Text 13"/>
          <p:cNvSpPr/>
          <p:nvPr/>
        </p:nvSpPr>
        <p:spPr>
          <a:xfrm>
            <a:off x="786384" y="5458700"/>
            <a:ext cx="10618927" cy="777508"/>
          </a:xfrm>
          <a:prstGeom prst="rect">
            <a:avLst/>
          </a:prstGeom>
          <a:noFill/>
          <a:ln/>
        </p:spPr>
        <p:txBody>
          <a:bodyPr wrap="square" lIns="0" tIns="0" rIns="0" bIns="0" rtlCol="0" anchor="t"/>
          <a:lstStyle/>
          <a:p>
            <a:pPr indent="0" marL="0">
              <a:lnSpc>
                <a:spcPts val="2200"/>
              </a:lnSpc>
              <a:buNone/>
            </a:pPr>
            <a:r>
              <a:rPr lang="en-US" sz="1500" dirty="0">
                <a:solidFill>
                  <a:srgbClr val="141414"/>
                </a:solidFill>
                <a:latin typeface="Arial" pitchFamily="34" charset="0"/>
                <a:ea typeface="Arial" pitchFamily="34" charset="-122"/>
                <a:cs typeface="Arial" pitchFamily="34" charset="-120"/>
              </a:rPr>
              <a:t>After indexing your first batch, write your own Lv5 questions and run them. Note which ones fail, then go back for exactly those. The building is open and the data does not change.</a:t>
            </a:r>
            <a:endParaRPr lang="en-US" sz="15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AF8F5"/>
        </a:solidFill>
      </p:bgPr>
    </p:bg>
    <p:spTree>
      <p:nvGrpSpPr>
        <p:cNvPr id="1" name=""/>
        <p:cNvGrpSpPr/>
        <p:nvPr/>
      </p:nvGrpSpPr>
      <p:grpSpPr>
        <a:xfrm>
          <a:off x="0" y="0"/>
          <a:ext cx="0" cy="0"/>
          <a:chOff x="0" y="0"/>
          <a:chExt cx="0" cy="0"/>
        </a:xfrm>
      </p:grpSpPr>
      <p:sp>
        <p:nvSpPr>
          <p:cNvPr id="2" name="Text 0"/>
          <p:cNvSpPr/>
          <p:nvPr/>
        </p:nvSpPr>
        <p:spPr>
          <a:xfrm>
            <a:off x="786384" y="402336"/>
            <a:ext cx="3657600" cy="237744"/>
          </a:xfrm>
          <a:prstGeom prst="rect">
            <a:avLst/>
          </a:prstGeom>
          <a:noFill/>
          <a:ln/>
        </p:spPr>
        <p:txBody>
          <a:bodyPr wrap="square" lIns="0" tIns="0" rIns="0" bIns="0" rtlCol="0" anchor="ctr"/>
          <a:lstStyle/>
          <a:p>
            <a:pPr indent="0" marL="0">
              <a:buNone/>
            </a:pPr>
            <a:r>
              <a:rPr lang="en-US" sz="950" b="1" spc="240" kern="0" dirty="0">
                <a:solidFill>
                  <a:srgbClr val="9C978E"/>
                </a:solidFill>
                <a:latin typeface="Arial" pitchFamily="34" charset="0"/>
                <a:ea typeface="Arial" pitchFamily="34" charset="-122"/>
                <a:cs typeface="Arial" pitchFamily="34" charset="-120"/>
              </a:rPr>
              <a:t>THEORY</a:t>
            </a:r>
            <a:endParaRPr lang="en-US" sz="950" dirty="0"/>
          </a:p>
        </p:txBody>
      </p:sp>
      <p:sp>
        <p:nvSpPr>
          <p:cNvPr id="3" name="Text 1"/>
          <p:cNvSpPr/>
          <p:nvPr/>
        </p:nvSpPr>
        <p:spPr>
          <a:xfrm>
            <a:off x="786384" y="713232"/>
            <a:ext cx="9720301" cy="676656"/>
          </a:xfrm>
          <a:prstGeom prst="rect">
            <a:avLst/>
          </a:prstGeom>
          <a:noFill/>
          <a:ln/>
        </p:spPr>
        <p:txBody>
          <a:bodyPr wrap="square" lIns="0" tIns="0" rIns="0" bIns="0" rtlCol="0" anchor="ctr"/>
          <a:lstStyle/>
          <a:p>
            <a:pPr indent="0" marL="0">
              <a:buNone/>
            </a:pPr>
            <a:r>
              <a:rPr lang="en-US" sz="2900" b="1" dirty="0">
                <a:solidFill>
                  <a:srgbClr val="141414"/>
                </a:solidFill>
                <a:latin typeface="Arial" pitchFamily="34" charset="0"/>
                <a:ea typeface="Arial" pitchFamily="34" charset="-122"/>
                <a:cs typeface="Arial" pitchFamily="34" charset="-120"/>
              </a:rPr>
              <a:t>The Complete Pipeline</a:t>
            </a:r>
            <a:endParaRPr lang="en-US" sz="2900" dirty="0"/>
          </a:p>
        </p:txBody>
      </p:sp>
      <p:sp>
        <p:nvSpPr>
          <p:cNvPr id="4" name="Shape 2"/>
          <p:cNvSpPr/>
          <p:nvPr/>
        </p:nvSpPr>
        <p:spPr>
          <a:xfrm>
            <a:off x="786384" y="1426464"/>
            <a:ext cx="10618927" cy="10973"/>
          </a:xfrm>
          <a:prstGeom prst="rect">
            <a:avLst/>
          </a:prstGeom>
          <a:solidFill>
            <a:srgbClr val="D5D1CA"/>
          </a:solidFill>
          <a:ln/>
        </p:spPr>
      </p:sp>
      <p:sp>
        <p:nvSpPr>
          <p:cNvPr id="5" name="Text 3"/>
          <p:cNvSpPr/>
          <p:nvPr/>
        </p:nvSpPr>
        <p:spPr>
          <a:xfrm>
            <a:off x="10490911" y="6309360"/>
            <a:ext cx="914400" cy="274320"/>
          </a:xfrm>
          <a:prstGeom prst="rect">
            <a:avLst/>
          </a:prstGeom>
          <a:noFill/>
          <a:ln/>
        </p:spPr>
        <p:txBody>
          <a:bodyPr wrap="square" lIns="0" tIns="0" rIns="0" bIns="0" rtlCol="0" anchor="ctr"/>
          <a:lstStyle/>
          <a:p>
            <a:pPr algn="r" indent="0" marL="0">
              <a:buNone/>
            </a:pPr>
            <a:r>
              <a:rPr lang="en-US" sz="1200" dirty="0">
                <a:solidFill>
                  <a:srgbClr val="9C978E"/>
                </a:solidFill>
                <a:latin typeface="Arial" pitchFamily="34" charset="0"/>
                <a:ea typeface="Arial" pitchFamily="34" charset="-122"/>
                <a:cs typeface="Arial" pitchFamily="34" charset="-120"/>
              </a:rPr>
              <a:t>30</a:t>
            </a:r>
            <a:endParaRPr lang="en-US" sz="1200" dirty="0"/>
          </a:p>
        </p:txBody>
      </p:sp>
      <p:sp>
        <p:nvSpPr>
          <p:cNvPr id="6" name="Text 4"/>
          <p:cNvSpPr/>
          <p:nvPr/>
        </p:nvSpPr>
        <p:spPr>
          <a:xfrm>
            <a:off x="786384" y="1768711"/>
            <a:ext cx="10618927" cy="357400"/>
          </a:xfrm>
          <a:prstGeom prst="rect">
            <a:avLst/>
          </a:prstGeom>
          <a:noFill/>
          <a:ln/>
        </p:spPr>
        <p:txBody>
          <a:bodyPr wrap="square" lIns="0" tIns="0" rIns="0" bIns="0" rtlCol="0" anchor="ctr"/>
          <a:lstStyle/>
          <a:p>
            <a:pPr indent="0" marL="0">
              <a:buNone/>
            </a:pPr>
            <a:r>
              <a:rPr lang="en-US" sz="1700" b="1" dirty="0">
                <a:solidFill>
                  <a:srgbClr val="141414"/>
                </a:solidFill>
                <a:latin typeface="Arial" pitchFamily="34" charset="0"/>
                <a:ea typeface="Arial" pitchFamily="34" charset="-122"/>
                <a:cs typeface="Arial" pitchFamily="34" charset="-120"/>
              </a:rPr>
              <a:t>Built once, in advance</a:t>
            </a:r>
            <a:endParaRPr lang="en-US" sz="1700" dirty="0"/>
          </a:p>
        </p:txBody>
      </p:sp>
      <p:sp>
        <p:nvSpPr>
          <p:cNvPr id="7" name="Shape 5"/>
          <p:cNvSpPr/>
          <p:nvPr/>
        </p:nvSpPr>
        <p:spPr>
          <a:xfrm>
            <a:off x="786384" y="2205533"/>
            <a:ext cx="1904329" cy="21841"/>
          </a:xfrm>
          <a:prstGeom prst="rect">
            <a:avLst/>
          </a:prstGeom>
          <a:solidFill>
            <a:srgbClr val="141414"/>
          </a:solidFill>
          <a:ln/>
        </p:spPr>
      </p:sp>
      <p:sp>
        <p:nvSpPr>
          <p:cNvPr id="8" name="Text 6"/>
          <p:cNvSpPr/>
          <p:nvPr/>
        </p:nvSpPr>
        <p:spPr>
          <a:xfrm>
            <a:off x="786384" y="2364377"/>
            <a:ext cx="1904329" cy="476533"/>
          </a:xfrm>
          <a:prstGeom prst="rect">
            <a:avLst/>
          </a:prstGeom>
          <a:noFill/>
          <a:ln/>
        </p:spPr>
        <p:txBody>
          <a:bodyPr wrap="square" lIns="0" tIns="0" rIns="0" bIns="0" rtlCol="0" anchor="ctr"/>
          <a:lstStyle/>
          <a:p>
            <a:pPr indent="0" marL="0">
              <a:lnSpc>
                <a:spcPts val="1900"/>
              </a:lnSpc>
              <a:buNone/>
            </a:pPr>
            <a:r>
              <a:rPr lang="en-US" sz="1750" b="1" dirty="0">
                <a:solidFill>
                  <a:srgbClr val="141414"/>
                </a:solidFill>
                <a:latin typeface="Arial" pitchFamily="34" charset="0"/>
                <a:ea typeface="Arial" pitchFamily="34" charset="-122"/>
                <a:cs typeface="Arial" pitchFamily="34" charset="-120"/>
              </a:rPr>
              <a:t>Crawl</a:t>
            </a:r>
            <a:endParaRPr lang="en-US" sz="1750" dirty="0"/>
          </a:p>
        </p:txBody>
      </p:sp>
      <p:sp>
        <p:nvSpPr>
          <p:cNvPr id="9" name="Text 7"/>
          <p:cNvSpPr/>
          <p:nvPr/>
        </p:nvSpPr>
        <p:spPr>
          <a:xfrm>
            <a:off x="786384" y="2880621"/>
            <a:ext cx="1904329" cy="426894"/>
          </a:xfrm>
          <a:prstGeom prst="rect">
            <a:avLst/>
          </a:prstGeom>
          <a:noFill/>
          <a:ln/>
        </p:spPr>
        <p:txBody>
          <a:bodyPr wrap="square" lIns="0" tIns="0" rIns="0" bIns="0" rtlCol="0" anchor="ctr"/>
          <a:lstStyle/>
          <a:p>
            <a:pPr indent="0" marL="0">
              <a:lnSpc>
                <a:spcPts val="1800"/>
              </a:lnSpc>
              <a:buNone/>
            </a:pPr>
            <a:r>
              <a:rPr lang="en-US" sz="1350" dirty="0">
                <a:solidFill>
                  <a:srgbClr val="6E6A63"/>
                </a:solidFill>
                <a:latin typeface="Arial" pitchFamily="34" charset="0"/>
                <a:ea typeface="Arial" pitchFamily="34" charset="-122"/>
                <a:cs typeface="Arial" pitchFamily="34" charset="-120"/>
              </a:rPr>
              <a:t>Both sites</a:t>
            </a:r>
            <a:endParaRPr lang="en-US" sz="1350" dirty="0"/>
          </a:p>
        </p:txBody>
      </p:sp>
      <p:sp>
        <p:nvSpPr>
          <p:cNvPr id="10" name="Text 8"/>
          <p:cNvSpPr/>
          <p:nvPr/>
        </p:nvSpPr>
        <p:spPr>
          <a:xfrm>
            <a:off x="2690713" y="2284955"/>
            <a:ext cx="274320" cy="416966"/>
          </a:xfrm>
          <a:prstGeom prst="rect">
            <a:avLst/>
          </a:prstGeom>
          <a:noFill/>
          <a:ln/>
        </p:spPr>
        <p:txBody>
          <a:bodyPr wrap="square" lIns="0" tIns="0" rIns="0" bIns="0" rtlCol="0" anchor="ctr"/>
          <a:lstStyle/>
          <a:p>
            <a:pPr algn="ctr" indent="0" marL="0">
              <a:buNone/>
            </a:pPr>
            <a:r>
              <a:rPr lang="en-US" sz="1400" dirty="0">
                <a:solidFill>
                  <a:srgbClr val="9C978E"/>
                </a:solidFill>
                <a:latin typeface="Arial" pitchFamily="34" charset="0"/>
                <a:ea typeface="Arial" pitchFamily="34" charset="-122"/>
                <a:cs typeface="Arial" pitchFamily="34" charset="-120"/>
              </a:rPr>
              <a:t>→</a:t>
            </a:r>
            <a:endParaRPr lang="en-US" sz="1400" dirty="0"/>
          </a:p>
        </p:txBody>
      </p:sp>
      <p:sp>
        <p:nvSpPr>
          <p:cNvPr id="11" name="Shape 9"/>
          <p:cNvSpPr/>
          <p:nvPr/>
        </p:nvSpPr>
        <p:spPr>
          <a:xfrm>
            <a:off x="2965033" y="2205533"/>
            <a:ext cx="1904329" cy="21841"/>
          </a:xfrm>
          <a:prstGeom prst="rect">
            <a:avLst/>
          </a:prstGeom>
          <a:solidFill>
            <a:srgbClr val="141414"/>
          </a:solidFill>
          <a:ln/>
        </p:spPr>
      </p:sp>
      <p:sp>
        <p:nvSpPr>
          <p:cNvPr id="12" name="Text 10"/>
          <p:cNvSpPr/>
          <p:nvPr/>
        </p:nvSpPr>
        <p:spPr>
          <a:xfrm>
            <a:off x="2965033" y="2364377"/>
            <a:ext cx="1904329" cy="476533"/>
          </a:xfrm>
          <a:prstGeom prst="rect">
            <a:avLst/>
          </a:prstGeom>
          <a:noFill/>
          <a:ln/>
        </p:spPr>
        <p:txBody>
          <a:bodyPr wrap="square" lIns="0" tIns="0" rIns="0" bIns="0" rtlCol="0" anchor="ctr"/>
          <a:lstStyle/>
          <a:p>
            <a:pPr indent="0" marL="0">
              <a:lnSpc>
                <a:spcPts val="1900"/>
              </a:lnSpc>
              <a:buNone/>
            </a:pPr>
            <a:r>
              <a:rPr lang="en-US" sz="1750" b="1" dirty="0">
                <a:solidFill>
                  <a:srgbClr val="141414"/>
                </a:solidFill>
                <a:latin typeface="Arial" pitchFamily="34" charset="0"/>
                <a:ea typeface="Arial" pitchFamily="34" charset="-122"/>
                <a:cs typeface="Arial" pitchFamily="34" charset="-120"/>
              </a:rPr>
              <a:t>Extract</a:t>
            </a:r>
            <a:endParaRPr lang="en-US" sz="1750" dirty="0"/>
          </a:p>
        </p:txBody>
      </p:sp>
      <p:sp>
        <p:nvSpPr>
          <p:cNvPr id="13" name="Text 11"/>
          <p:cNvSpPr/>
          <p:nvPr/>
        </p:nvSpPr>
        <p:spPr>
          <a:xfrm>
            <a:off x="2965033" y="2880621"/>
            <a:ext cx="1904329" cy="426894"/>
          </a:xfrm>
          <a:prstGeom prst="rect">
            <a:avLst/>
          </a:prstGeom>
          <a:noFill/>
          <a:ln/>
        </p:spPr>
        <p:txBody>
          <a:bodyPr wrap="square" lIns="0" tIns="0" rIns="0" bIns="0" rtlCol="0" anchor="ctr"/>
          <a:lstStyle/>
          <a:p>
            <a:pPr indent="0" marL="0">
              <a:lnSpc>
                <a:spcPts val="1800"/>
              </a:lnSpc>
              <a:buNone/>
            </a:pPr>
            <a:r>
              <a:rPr lang="en-US" sz="1350" dirty="0">
                <a:solidFill>
                  <a:srgbClr val="6E6A63"/>
                </a:solidFill>
                <a:latin typeface="Arial" pitchFamily="34" charset="0"/>
                <a:ea typeface="Arial" pitchFamily="34" charset="-122"/>
                <a:cs typeface="Arial" pitchFamily="34" charset="-120"/>
              </a:rPr>
              <a:t>Text and image URLs</a:t>
            </a:r>
            <a:endParaRPr lang="en-US" sz="1350" dirty="0"/>
          </a:p>
        </p:txBody>
      </p:sp>
      <p:sp>
        <p:nvSpPr>
          <p:cNvPr id="14" name="Text 12"/>
          <p:cNvSpPr/>
          <p:nvPr/>
        </p:nvSpPr>
        <p:spPr>
          <a:xfrm>
            <a:off x="4869363" y="2284955"/>
            <a:ext cx="274320" cy="416966"/>
          </a:xfrm>
          <a:prstGeom prst="rect">
            <a:avLst/>
          </a:prstGeom>
          <a:noFill/>
          <a:ln/>
        </p:spPr>
        <p:txBody>
          <a:bodyPr wrap="square" lIns="0" tIns="0" rIns="0" bIns="0" rtlCol="0" anchor="ctr"/>
          <a:lstStyle/>
          <a:p>
            <a:pPr algn="ctr" indent="0" marL="0">
              <a:buNone/>
            </a:pPr>
            <a:r>
              <a:rPr lang="en-US" sz="1400" dirty="0">
                <a:solidFill>
                  <a:srgbClr val="9C978E"/>
                </a:solidFill>
                <a:latin typeface="Arial" pitchFamily="34" charset="0"/>
                <a:ea typeface="Arial" pitchFamily="34" charset="-122"/>
                <a:cs typeface="Arial" pitchFamily="34" charset="-120"/>
              </a:rPr>
              <a:t>→</a:t>
            </a:r>
            <a:endParaRPr lang="en-US" sz="1400" dirty="0"/>
          </a:p>
        </p:txBody>
      </p:sp>
      <p:sp>
        <p:nvSpPr>
          <p:cNvPr id="15" name="Shape 13"/>
          <p:cNvSpPr/>
          <p:nvPr/>
        </p:nvSpPr>
        <p:spPr>
          <a:xfrm>
            <a:off x="5143683" y="2205533"/>
            <a:ext cx="1904329" cy="21841"/>
          </a:xfrm>
          <a:prstGeom prst="rect">
            <a:avLst/>
          </a:prstGeom>
          <a:solidFill>
            <a:srgbClr val="141414"/>
          </a:solidFill>
          <a:ln/>
        </p:spPr>
      </p:sp>
      <p:sp>
        <p:nvSpPr>
          <p:cNvPr id="16" name="Text 14"/>
          <p:cNvSpPr/>
          <p:nvPr/>
        </p:nvSpPr>
        <p:spPr>
          <a:xfrm>
            <a:off x="5143683" y="2364377"/>
            <a:ext cx="1904329" cy="476533"/>
          </a:xfrm>
          <a:prstGeom prst="rect">
            <a:avLst/>
          </a:prstGeom>
          <a:noFill/>
          <a:ln/>
        </p:spPr>
        <p:txBody>
          <a:bodyPr wrap="square" lIns="0" tIns="0" rIns="0" bIns="0" rtlCol="0" anchor="ctr"/>
          <a:lstStyle/>
          <a:p>
            <a:pPr indent="0" marL="0">
              <a:lnSpc>
                <a:spcPts val="1900"/>
              </a:lnSpc>
              <a:buNone/>
            </a:pPr>
            <a:r>
              <a:rPr lang="en-US" sz="1750" b="1" dirty="0">
                <a:solidFill>
                  <a:srgbClr val="141414"/>
                </a:solidFill>
                <a:latin typeface="Arial" pitchFamily="34" charset="0"/>
                <a:ea typeface="Arial" pitchFamily="34" charset="-122"/>
                <a:cs typeface="Arial" pitchFamily="34" charset="-120"/>
              </a:rPr>
              <a:t>Describe</a:t>
            </a:r>
            <a:endParaRPr lang="en-US" sz="1750" dirty="0"/>
          </a:p>
        </p:txBody>
      </p:sp>
      <p:sp>
        <p:nvSpPr>
          <p:cNvPr id="17" name="Text 15"/>
          <p:cNvSpPr/>
          <p:nvPr/>
        </p:nvSpPr>
        <p:spPr>
          <a:xfrm>
            <a:off x="5143683" y="2880621"/>
            <a:ext cx="1904329" cy="426894"/>
          </a:xfrm>
          <a:prstGeom prst="rect">
            <a:avLst/>
          </a:prstGeom>
          <a:noFill/>
          <a:ln/>
        </p:spPr>
        <p:txBody>
          <a:bodyPr wrap="square" lIns="0" tIns="0" rIns="0" bIns="0" rtlCol="0" anchor="ctr"/>
          <a:lstStyle/>
          <a:p>
            <a:pPr indent="0" marL="0">
              <a:lnSpc>
                <a:spcPts val="1800"/>
              </a:lnSpc>
              <a:buNone/>
            </a:pPr>
            <a:r>
              <a:rPr lang="en-US" sz="1350" dirty="0">
                <a:solidFill>
                  <a:srgbClr val="6E6A63"/>
                </a:solidFill>
                <a:latin typeface="Arial" pitchFamily="34" charset="0"/>
                <a:ea typeface="Arial" pitchFamily="34" charset="-122"/>
                <a:cs typeface="Arial" pitchFamily="34" charset="-120"/>
              </a:rPr>
              <a:t>Vision model, cached</a:t>
            </a:r>
            <a:endParaRPr lang="en-US" sz="1350" dirty="0"/>
          </a:p>
        </p:txBody>
      </p:sp>
      <p:sp>
        <p:nvSpPr>
          <p:cNvPr id="18" name="Text 16"/>
          <p:cNvSpPr/>
          <p:nvPr/>
        </p:nvSpPr>
        <p:spPr>
          <a:xfrm>
            <a:off x="7048012" y="2284955"/>
            <a:ext cx="274320" cy="416966"/>
          </a:xfrm>
          <a:prstGeom prst="rect">
            <a:avLst/>
          </a:prstGeom>
          <a:noFill/>
          <a:ln/>
        </p:spPr>
        <p:txBody>
          <a:bodyPr wrap="square" lIns="0" tIns="0" rIns="0" bIns="0" rtlCol="0" anchor="ctr"/>
          <a:lstStyle/>
          <a:p>
            <a:pPr algn="ctr" indent="0" marL="0">
              <a:buNone/>
            </a:pPr>
            <a:r>
              <a:rPr lang="en-US" sz="1400" dirty="0">
                <a:solidFill>
                  <a:srgbClr val="9C978E"/>
                </a:solidFill>
                <a:latin typeface="Arial" pitchFamily="34" charset="0"/>
                <a:ea typeface="Arial" pitchFamily="34" charset="-122"/>
                <a:cs typeface="Arial" pitchFamily="34" charset="-120"/>
              </a:rPr>
              <a:t>→</a:t>
            </a:r>
            <a:endParaRPr lang="en-US" sz="1400" dirty="0"/>
          </a:p>
        </p:txBody>
      </p:sp>
      <p:sp>
        <p:nvSpPr>
          <p:cNvPr id="19" name="Shape 17"/>
          <p:cNvSpPr/>
          <p:nvPr/>
        </p:nvSpPr>
        <p:spPr>
          <a:xfrm>
            <a:off x="7322332" y="2205533"/>
            <a:ext cx="1904329" cy="21841"/>
          </a:xfrm>
          <a:prstGeom prst="rect">
            <a:avLst/>
          </a:prstGeom>
          <a:solidFill>
            <a:srgbClr val="141414"/>
          </a:solidFill>
          <a:ln/>
        </p:spPr>
      </p:sp>
      <p:sp>
        <p:nvSpPr>
          <p:cNvPr id="20" name="Text 18"/>
          <p:cNvSpPr/>
          <p:nvPr/>
        </p:nvSpPr>
        <p:spPr>
          <a:xfrm>
            <a:off x="7322332" y="2364377"/>
            <a:ext cx="1904329" cy="476533"/>
          </a:xfrm>
          <a:prstGeom prst="rect">
            <a:avLst/>
          </a:prstGeom>
          <a:noFill/>
          <a:ln/>
        </p:spPr>
        <p:txBody>
          <a:bodyPr wrap="square" lIns="0" tIns="0" rIns="0" bIns="0" rtlCol="0" anchor="ctr"/>
          <a:lstStyle/>
          <a:p>
            <a:pPr indent="0" marL="0">
              <a:lnSpc>
                <a:spcPts val="1900"/>
              </a:lnSpc>
              <a:buNone/>
            </a:pPr>
            <a:r>
              <a:rPr lang="en-US" sz="1750" b="1" dirty="0">
                <a:solidFill>
                  <a:srgbClr val="141414"/>
                </a:solidFill>
                <a:latin typeface="Arial" pitchFamily="34" charset="0"/>
                <a:ea typeface="Arial" pitchFamily="34" charset="-122"/>
                <a:cs typeface="Arial" pitchFamily="34" charset="-120"/>
              </a:rPr>
              <a:t>Photograph</a:t>
            </a:r>
            <a:endParaRPr lang="en-US" sz="1750" dirty="0"/>
          </a:p>
        </p:txBody>
      </p:sp>
      <p:sp>
        <p:nvSpPr>
          <p:cNvPr id="21" name="Text 19"/>
          <p:cNvSpPr/>
          <p:nvPr/>
        </p:nvSpPr>
        <p:spPr>
          <a:xfrm>
            <a:off x="7322332" y="2880621"/>
            <a:ext cx="1904329" cy="426894"/>
          </a:xfrm>
          <a:prstGeom prst="rect">
            <a:avLst/>
          </a:prstGeom>
          <a:noFill/>
          <a:ln/>
        </p:spPr>
        <p:txBody>
          <a:bodyPr wrap="square" lIns="0" tIns="0" rIns="0" bIns="0" rtlCol="0" anchor="ctr"/>
          <a:lstStyle/>
          <a:p>
            <a:pPr indent="0" marL="0">
              <a:lnSpc>
                <a:spcPts val="1800"/>
              </a:lnSpc>
              <a:buNone/>
            </a:pPr>
            <a:r>
              <a:rPr lang="en-US" sz="1350" dirty="0">
                <a:solidFill>
                  <a:srgbClr val="6E6A63"/>
                </a:solidFill>
                <a:latin typeface="Arial" pitchFamily="34" charset="0"/>
                <a:ea typeface="Arial" pitchFamily="34" charset="-122"/>
                <a:cs typeface="Arial" pitchFamily="34" charset="-120"/>
              </a:rPr>
              <a:t>Your zones</a:t>
            </a:r>
            <a:endParaRPr lang="en-US" sz="1350" dirty="0"/>
          </a:p>
        </p:txBody>
      </p:sp>
      <p:sp>
        <p:nvSpPr>
          <p:cNvPr id="22" name="Text 20"/>
          <p:cNvSpPr/>
          <p:nvPr/>
        </p:nvSpPr>
        <p:spPr>
          <a:xfrm>
            <a:off x="9226662" y="2284955"/>
            <a:ext cx="274320" cy="416966"/>
          </a:xfrm>
          <a:prstGeom prst="rect">
            <a:avLst/>
          </a:prstGeom>
          <a:noFill/>
          <a:ln/>
        </p:spPr>
        <p:txBody>
          <a:bodyPr wrap="square" lIns="0" tIns="0" rIns="0" bIns="0" rtlCol="0" anchor="ctr"/>
          <a:lstStyle/>
          <a:p>
            <a:pPr algn="ctr" indent="0" marL="0">
              <a:buNone/>
            </a:pPr>
            <a:r>
              <a:rPr lang="en-US" sz="1400" dirty="0">
                <a:solidFill>
                  <a:srgbClr val="9C978E"/>
                </a:solidFill>
                <a:latin typeface="Arial" pitchFamily="34" charset="0"/>
                <a:ea typeface="Arial" pitchFamily="34" charset="-122"/>
                <a:cs typeface="Arial" pitchFamily="34" charset="-120"/>
              </a:rPr>
              <a:t>→</a:t>
            </a:r>
            <a:endParaRPr lang="en-US" sz="1400" dirty="0"/>
          </a:p>
        </p:txBody>
      </p:sp>
      <p:sp>
        <p:nvSpPr>
          <p:cNvPr id="23" name="Shape 21"/>
          <p:cNvSpPr/>
          <p:nvPr/>
        </p:nvSpPr>
        <p:spPr>
          <a:xfrm>
            <a:off x="9500982" y="2205533"/>
            <a:ext cx="1904329" cy="21841"/>
          </a:xfrm>
          <a:prstGeom prst="rect">
            <a:avLst/>
          </a:prstGeom>
          <a:solidFill>
            <a:srgbClr val="141414"/>
          </a:solidFill>
          <a:ln/>
        </p:spPr>
      </p:sp>
      <p:sp>
        <p:nvSpPr>
          <p:cNvPr id="24" name="Text 22"/>
          <p:cNvSpPr/>
          <p:nvPr/>
        </p:nvSpPr>
        <p:spPr>
          <a:xfrm>
            <a:off x="9500982" y="2364377"/>
            <a:ext cx="1904329" cy="476533"/>
          </a:xfrm>
          <a:prstGeom prst="rect">
            <a:avLst/>
          </a:prstGeom>
          <a:noFill/>
          <a:ln/>
        </p:spPr>
        <p:txBody>
          <a:bodyPr wrap="square" lIns="0" tIns="0" rIns="0" bIns="0" rtlCol="0" anchor="ctr"/>
          <a:lstStyle/>
          <a:p>
            <a:pPr indent="0" marL="0">
              <a:lnSpc>
                <a:spcPts val="1900"/>
              </a:lnSpc>
              <a:buNone/>
            </a:pPr>
            <a:r>
              <a:rPr lang="en-US" sz="1750" b="1" dirty="0">
                <a:solidFill>
                  <a:srgbClr val="141414"/>
                </a:solidFill>
                <a:latin typeface="Arial" pitchFamily="34" charset="0"/>
                <a:ea typeface="Arial" pitchFamily="34" charset="-122"/>
                <a:cs typeface="Arial" pitchFamily="34" charset="-120"/>
              </a:rPr>
              <a:t>Chunk and embed</a:t>
            </a:r>
            <a:endParaRPr lang="en-US" sz="1750" dirty="0"/>
          </a:p>
        </p:txBody>
      </p:sp>
      <p:sp>
        <p:nvSpPr>
          <p:cNvPr id="25" name="Text 23"/>
          <p:cNvSpPr/>
          <p:nvPr/>
        </p:nvSpPr>
        <p:spPr>
          <a:xfrm>
            <a:off x="9500982" y="2880621"/>
            <a:ext cx="1904329" cy="426894"/>
          </a:xfrm>
          <a:prstGeom prst="rect">
            <a:avLst/>
          </a:prstGeom>
          <a:noFill/>
          <a:ln/>
        </p:spPr>
        <p:txBody>
          <a:bodyPr wrap="square" lIns="0" tIns="0" rIns="0" bIns="0" rtlCol="0" anchor="ctr"/>
          <a:lstStyle/>
          <a:p>
            <a:pPr indent="0" marL="0">
              <a:lnSpc>
                <a:spcPts val="1800"/>
              </a:lnSpc>
              <a:buNone/>
            </a:pPr>
            <a:r>
              <a:rPr lang="en-US" sz="1350" dirty="0">
                <a:solidFill>
                  <a:srgbClr val="6E6A63"/>
                </a:solidFill>
                <a:latin typeface="Arial" pitchFamily="34" charset="0"/>
                <a:ea typeface="Arial" pitchFamily="34" charset="-122"/>
                <a:cs typeface="Arial" pitchFamily="34" charset="-120"/>
              </a:rPr>
              <a:t>One index for all of it</a:t>
            </a:r>
            <a:endParaRPr lang="en-US" sz="1350" dirty="0"/>
          </a:p>
        </p:txBody>
      </p:sp>
      <p:sp>
        <p:nvSpPr>
          <p:cNvPr id="26" name="Text 24"/>
          <p:cNvSpPr/>
          <p:nvPr/>
        </p:nvSpPr>
        <p:spPr>
          <a:xfrm>
            <a:off x="786384" y="3595421"/>
            <a:ext cx="10618927" cy="357400"/>
          </a:xfrm>
          <a:prstGeom prst="rect">
            <a:avLst/>
          </a:prstGeom>
          <a:noFill/>
          <a:ln/>
        </p:spPr>
        <p:txBody>
          <a:bodyPr wrap="square" lIns="0" tIns="0" rIns="0" bIns="0" rtlCol="0" anchor="ctr"/>
          <a:lstStyle/>
          <a:p>
            <a:pPr indent="0" marL="0">
              <a:buNone/>
            </a:pPr>
            <a:r>
              <a:rPr lang="en-US" sz="1700" b="1" dirty="0">
                <a:solidFill>
                  <a:srgbClr val="141414"/>
                </a:solidFill>
                <a:latin typeface="Arial" pitchFamily="34" charset="0"/>
                <a:ea typeface="Arial" pitchFamily="34" charset="-122"/>
                <a:cs typeface="Arial" pitchFamily="34" charset="-120"/>
              </a:rPr>
              <a:t>Run once per question, inside 30 seconds</a:t>
            </a:r>
            <a:endParaRPr lang="en-US" sz="1700" dirty="0"/>
          </a:p>
        </p:txBody>
      </p:sp>
      <p:sp>
        <p:nvSpPr>
          <p:cNvPr id="27" name="Shape 25"/>
          <p:cNvSpPr/>
          <p:nvPr/>
        </p:nvSpPr>
        <p:spPr>
          <a:xfrm>
            <a:off x="786384" y="4032243"/>
            <a:ext cx="1904329" cy="21841"/>
          </a:xfrm>
          <a:prstGeom prst="rect">
            <a:avLst/>
          </a:prstGeom>
          <a:solidFill>
            <a:srgbClr val="141414"/>
          </a:solidFill>
          <a:ln/>
        </p:spPr>
      </p:sp>
      <p:sp>
        <p:nvSpPr>
          <p:cNvPr id="28" name="Text 26"/>
          <p:cNvSpPr/>
          <p:nvPr/>
        </p:nvSpPr>
        <p:spPr>
          <a:xfrm>
            <a:off x="786384" y="4191087"/>
            <a:ext cx="1904329" cy="476533"/>
          </a:xfrm>
          <a:prstGeom prst="rect">
            <a:avLst/>
          </a:prstGeom>
          <a:noFill/>
          <a:ln/>
        </p:spPr>
        <p:txBody>
          <a:bodyPr wrap="square" lIns="0" tIns="0" rIns="0" bIns="0" rtlCol="0" anchor="ctr"/>
          <a:lstStyle/>
          <a:p>
            <a:pPr indent="0" marL="0">
              <a:lnSpc>
                <a:spcPts val="1900"/>
              </a:lnSpc>
              <a:buNone/>
            </a:pPr>
            <a:r>
              <a:rPr lang="en-US" sz="1750" b="1" dirty="0">
                <a:solidFill>
                  <a:srgbClr val="141414"/>
                </a:solidFill>
                <a:latin typeface="Arial" pitchFamily="34" charset="0"/>
                <a:ea typeface="Arial" pitchFamily="34" charset="-122"/>
                <a:cs typeface="Arial" pitchFamily="34" charset="-120"/>
              </a:rPr>
              <a:t>Classify</a:t>
            </a:r>
            <a:endParaRPr lang="en-US" sz="1750" dirty="0"/>
          </a:p>
        </p:txBody>
      </p:sp>
      <p:sp>
        <p:nvSpPr>
          <p:cNvPr id="29" name="Text 27"/>
          <p:cNvSpPr/>
          <p:nvPr/>
        </p:nvSpPr>
        <p:spPr>
          <a:xfrm>
            <a:off x="786384" y="4707331"/>
            <a:ext cx="1904329" cy="426894"/>
          </a:xfrm>
          <a:prstGeom prst="rect">
            <a:avLst/>
          </a:prstGeom>
          <a:noFill/>
          <a:ln/>
        </p:spPr>
        <p:txBody>
          <a:bodyPr wrap="square" lIns="0" tIns="0" rIns="0" bIns="0" rtlCol="0" anchor="ctr"/>
          <a:lstStyle/>
          <a:p>
            <a:pPr indent="0" marL="0">
              <a:lnSpc>
                <a:spcPts val="1800"/>
              </a:lnSpc>
              <a:buNone/>
            </a:pPr>
            <a:r>
              <a:rPr lang="en-US" sz="1350" dirty="0">
                <a:solidFill>
                  <a:srgbClr val="6E6A63"/>
                </a:solidFill>
                <a:latin typeface="Arial" pitchFamily="34" charset="0"/>
                <a:ea typeface="Arial" pitchFamily="34" charset="-122"/>
                <a:cs typeface="Arial" pitchFamily="34" charset="-120"/>
              </a:rPr>
              <a:t>Which level is this</a:t>
            </a:r>
            <a:endParaRPr lang="en-US" sz="1350" dirty="0"/>
          </a:p>
        </p:txBody>
      </p:sp>
      <p:sp>
        <p:nvSpPr>
          <p:cNvPr id="30" name="Text 28"/>
          <p:cNvSpPr/>
          <p:nvPr/>
        </p:nvSpPr>
        <p:spPr>
          <a:xfrm>
            <a:off x="2690713" y="4111665"/>
            <a:ext cx="274320" cy="416966"/>
          </a:xfrm>
          <a:prstGeom prst="rect">
            <a:avLst/>
          </a:prstGeom>
          <a:noFill/>
          <a:ln/>
        </p:spPr>
        <p:txBody>
          <a:bodyPr wrap="square" lIns="0" tIns="0" rIns="0" bIns="0" rtlCol="0" anchor="ctr"/>
          <a:lstStyle/>
          <a:p>
            <a:pPr algn="ctr" indent="0" marL="0">
              <a:buNone/>
            </a:pPr>
            <a:r>
              <a:rPr lang="en-US" sz="1400" dirty="0">
                <a:solidFill>
                  <a:srgbClr val="9C978E"/>
                </a:solidFill>
                <a:latin typeface="Arial" pitchFamily="34" charset="0"/>
                <a:ea typeface="Arial" pitchFamily="34" charset="-122"/>
                <a:cs typeface="Arial" pitchFamily="34" charset="-120"/>
              </a:rPr>
              <a:t>→</a:t>
            </a:r>
            <a:endParaRPr lang="en-US" sz="1400" dirty="0"/>
          </a:p>
        </p:txBody>
      </p:sp>
      <p:sp>
        <p:nvSpPr>
          <p:cNvPr id="31" name="Shape 29"/>
          <p:cNvSpPr/>
          <p:nvPr/>
        </p:nvSpPr>
        <p:spPr>
          <a:xfrm>
            <a:off x="2965033" y="4032243"/>
            <a:ext cx="1904329" cy="21841"/>
          </a:xfrm>
          <a:prstGeom prst="rect">
            <a:avLst/>
          </a:prstGeom>
          <a:solidFill>
            <a:srgbClr val="141414"/>
          </a:solidFill>
          <a:ln/>
        </p:spPr>
      </p:sp>
      <p:sp>
        <p:nvSpPr>
          <p:cNvPr id="32" name="Text 30"/>
          <p:cNvSpPr/>
          <p:nvPr/>
        </p:nvSpPr>
        <p:spPr>
          <a:xfrm>
            <a:off x="2965033" y="4191087"/>
            <a:ext cx="1904329" cy="476533"/>
          </a:xfrm>
          <a:prstGeom prst="rect">
            <a:avLst/>
          </a:prstGeom>
          <a:noFill/>
          <a:ln/>
        </p:spPr>
        <p:txBody>
          <a:bodyPr wrap="square" lIns="0" tIns="0" rIns="0" bIns="0" rtlCol="0" anchor="ctr"/>
          <a:lstStyle/>
          <a:p>
            <a:pPr indent="0" marL="0">
              <a:lnSpc>
                <a:spcPts val="1900"/>
              </a:lnSpc>
              <a:buNone/>
            </a:pPr>
            <a:r>
              <a:rPr lang="en-US" sz="1750" b="1" dirty="0">
                <a:solidFill>
                  <a:srgbClr val="141414"/>
                </a:solidFill>
                <a:latin typeface="Arial" pitchFamily="34" charset="0"/>
                <a:ea typeface="Arial" pitchFamily="34" charset="-122"/>
                <a:cs typeface="Arial" pitchFamily="34" charset="-120"/>
              </a:rPr>
              <a:t>Decompose</a:t>
            </a:r>
            <a:endParaRPr lang="en-US" sz="1750" dirty="0"/>
          </a:p>
        </p:txBody>
      </p:sp>
      <p:sp>
        <p:nvSpPr>
          <p:cNvPr id="33" name="Text 31"/>
          <p:cNvSpPr/>
          <p:nvPr/>
        </p:nvSpPr>
        <p:spPr>
          <a:xfrm>
            <a:off x="2965033" y="4707331"/>
            <a:ext cx="1904329" cy="426894"/>
          </a:xfrm>
          <a:prstGeom prst="rect">
            <a:avLst/>
          </a:prstGeom>
          <a:noFill/>
          <a:ln/>
        </p:spPr>
        <p:txBody>
          <a:bodyPr wrap="square" lIns="0" tIns="0" rIns="0" bIns="0" rtlCol="0" anchor="ctr"/>
          <a:lstStyle/>
          <a:p>
            <a:pPr indent="0" marL="0">
              <a:lnSpc>
                <a:spcPts val="1800"/>
              </a:lnSpc>
              <a:buNone/>
            </a:pPr>
            <a:r>
              <a:rPr lang="en-US" sz="1350" dirty="0">
                <a:solidFill>
                  <a:srgbClr val="6E6A63"/>
                </a:solidFill>
                <a:latin typeface="Arial" pitchFamily="34" charset="0"/>
                <a:ea typeface="Arial" pitchFamily="34" charset="-122"/>
                <a:cs typeface="Arial" pitchFamily="34" charset="-120"/>
              </a:rPr>
              <a:t>If it needs it</a:t>
            </a:r>
            <a:endParaRPr lang="en-US" sz="1350" dirty="0"/>
          </a:p>
        </p:txBody>
      </p:sp>
      <p:sp>
        <p:nvSpPr>
          <p:cNvPr id="34" name="Text 32"/>
          <p:cNvSpPr/>
          <p:nvPr/>
        </p:nvSpPr>
        <p:spPr>
          <a:xfrm>
            <a:off x="4869363" y="4111665"/>
            <a:ext cx="274320" cy="416966"/>
          </a:xfrm>
          <a:prstGeom prst="rect">
            <a:avLst/>
          </a:prstGeom>
          <a:noFill/>
          <a:ln/>
        </p:spPr>
        <p:txBody>
          <a:bodyPr wrap="square" lIns="0" tIns="0" rIns="0" bIns="0" rtlCol="0" anchor="ctr"/>
          <a:lstStyle/>
          <a:p>
            <a:pPr algn="ctr" indent="0" marL="0">
              <a:buNone/>
            </a:pPr>
            <a:r>
              <a:rPr lang="en-US" sz="1400" dirty="0">
                <a:solidFill>
                  <a:srgbClr val="9C978E"/>
                </a:solidFill>
                <a:latin typeface="Arial" pitchFamily="34" charset="0"/>
                <a:ea typeface="Arial" pitchFamily="34" charset="-122"/>
                <a:cs typeface="Arial" pitchFamily="34" charset="-120"/>
              </a:rPr>
              <a:t>→</a:t>
            </a:r>
            <a:endParaRPr lang="en-US" sz="1400" dirty="0"/>
          </a:p>
        </p:txBody>
      </p:sp>
      <p:sp>
        <p:nvSpPr>
          <p:cNvPr id="35" name="Shape 33"/>
          <p:cNvSpPr/>
          <p:nvPr/>
        </p:nvSpPr>
        <p:spPr>
          <a:xfrm>
            <a:off x="5143683" y="4032243"/>
            <a:ext cx="1904329" cy="21841"/>
          </a:xfrm>
          <a:prstGeom prst="rect">
            <a:avLst/>
          </a:prstGeom>
          <a:solidFill>
            <a:srgbClr val="141414"/>
          </a:solidFill>
          <a:ln/>
        </p:spPr>
      </p:sp>
      <p:sp>
        <p:nvSpPr>
          <p:cNvPr id="36" name="Text 34"/>
          <p:cNvSpPr/>
          <p:nvPr/>
        </p:nvSpPr>
        <p:spPr>
          <a:xfrm>
            <a:off x="5143683" y="4191087"/>
            <a:ext cx="1904329" cy="476533"/>
          </a:xfrm>
          <a:prstGeom prst="rect">
            <a:avLst/>
          </a:prstGeom>
          <a:noFill/>
          <a:ln/>
        </p:spPr>
        <p:txBody>
          <a:bodyPr wrap="square" lIns="0" tIns="0" rIns="0" bIns="0" rtlCol="0" anchor="ctr"/>
          <a:lstStyle/>
          <a:p>
            <a:pPr indent="0" marL="0">
              <a:lnSpc>
                <a:spcPts val="1900"/>
              </a:lnSpc>
              <a:buNone/>
            </a:pPr>
            <a:r>
              <a:rPr lang="en-US" sz="1750" b="1" dirty="0">
                <a:solidFill>
                  <a:srgbClr val="141414"/>
                </a:solidFill>
                <a:latin typeface="Arial" pitchFamily="34" charset="0"/>
                <a:ea typeface="Arial" pitchFamily="34" charset="-122"/>
                <a:cs typeface="Arial" pitchFamily="34" charset="-120"/>
              </a:rPr>
              <a:t>Filter and search</a:t>
            </a:r>
            <a:endParaRPr lang="en-US" sz="1750" dirty="0"/>
          </a:p>
        </p:txBody>
      </p:sp>
      <p:sp>
        <p:nvSpPr>
          <p:cNvPr id="37" name="Text 35"/>
          <p:cNvSpPr/>
          <p:nvPr/>
        </p:nvSpPr>
        <p:spPr>
          <a:xfrm>
            <a:off x="5143683" y="4707331"/>
            <a:ext cx="1904329" cy="426894"/>
          </a:xfrm>
          <a:prstGeom prst="rect">
            <a:avLst/>
          </a:prstGeom>
          <a:noFill/>
          <a:ln/>
        </p:spPr>
        <p:txBody>
          <a:bodyPr wrap="square" lIns="0" tIns="0" rIns="0" bIns="0" rtlCol="0" anchor="ctr"/>
          <a:lstStyle/>
          <a:p>
            <a:pPr indent="0" marL="0">
              <a:lnSpc>
                <a:spcPts val="1800"/>
              </a:lnSpc>
              <a:buNone/>
            </a:pPr>
            <a:r>
              <a:rPr lang="en-US" sz="1350" dirty="0">
                <a:solidFill>
                  <a:srgbClr val="6E6A63"/>
                </a:solidFill>
                <a:latin typeface="Arial" pitchFamily="34" charset="0"/>
                <a:ea typeface="Arial" pitchFamily="34" charset="-122"/>
                <a:cs typeface="Arial" pitchFamily="34" charset="-120"/>
              </a:rPr>
              <a:t>Metadata plus vectors</a:t>
            </a:r>
            <a:endParaRPr lang="en-US" sz="1350" dirty="0"/>
          </a:p>
        </p:txBody>
      </p:sp>
      <p:sp>
        <p:nvSpPr>
          <p:cNvPr id="38" name="Text 36"/>
          <p:cNvSpPr/>
          <p:nvPr/>
        </p:nvSpPr>
        <p:spPr>
          <a:xfrm>
            <a:off x="7048012" y="4111665"/>
            <a:ext cx="274320" cy="416966"/>
          </a:xfrm>
          <a:prstGeom prst="rect">
            <a:avLst/>
          </a:prstGeom>
          <a:noFill/>
          <a:ln/>
        </p:spPr>
        <p:txBody>
          <a:bodyPr wrap="square" lIns="0" tIns="0" rIns="0" bIns="0" rtlCol="0" anchor="ctr"/>
          <a:lstStyle/>
          <a:p>
            <a:pPr algn="ctr" indent="0" marL="0">
              <a:buNone/>
            </a:pPr>
            <a:r>
              <a:rPr lang="en-US" sz="1400" dirty="0">
                <a:solidFill>
                  <a:srgbClr val="9C978E"/>
                </a:solidFill>
                <a:latin typeface="Arial" pitchFamily="34" charset="0"/>
                <a:ea typeface="Arial" pitchFamily="34" charset="-122"/>
                <a:cs typeface="Arial" pitchFamily="34" charset="-120"/>
              </a:rPr>
              <a:t>→</a:t>
            </a:r>
            <a:endParaRPr lang="en-US" sz="1400" dirty="0"/>
          </a:p>
        </p:txBody>
      </p:sp>
      <p:sp>
        <p:nvSpPr>
          <p:cNvPr id="39" name="Shape 37"/>
          <p:cNvSpPr/>
          <p:nvPr/>
        </p:nvSpPr>
        <p:spPr>
          <a:xfrm>
            <a:off x="7322332" y="4032243"/>
            <a:ext cx="1904329" cy="21841"/>
          </a:xfrm>
          <a:prstGeom prst="rect">
            <a:avLst/>
          </a:prstGeom>
          <a:solidFill>
            <a:srgbClr val="141414"/>
          </a:solidFill>
          <a:ln/>
        </p:spPr>
      </p:sp>
      <p:sp>
        <p:nvSpPr>
          <p:cNvPr id="40" name="Text 38"/>
          <p:cNvSpPr/>
          <p:nvPr/>
        </p:nvSpPr>
        <p:spPr>
          <a:xfrm>
            <a:off x="7322332" y="4191087"/>
            <a:ext cx="1904329" cy="476533"/>
          </a:xfrm>
          <a:prstGeom prst="rect">
            <a:avLst/>
          </a:prstGeom>
          <a:noFill/>
          <a:ln/>
        </p:spPr>
        <p:txBody>
          <a:bodyPr wrap="square" lIns="0" tIns="0" rIns="0" bIns="0" rtlCol="0" anchor="ctr"/>
          <a:lstStyle/>
          <a:p>
            <a:pPr indent="0" marL="0">
              <a:lnSpc>
                <a:spcPts val="1900"/>
              </a:lnSpc>
              <a:buNone/>
            </a:pPr>
            <a:r>
              <a:rPr lang="en-US" sz="1750" b="1" dirty="0">
                <a:solidFill>
                  <a:srgbClr val="141414"/>
                </a:solidFill>
                <a:latin typeface="Arial" pitchFamily="34" charset="0"/>
                <a:ea typeface="Arial" pitchFamily="34" charset="-122"/>
                <a:cs typeface="Arial" pitchFamily="34" charset="-120"/>
              </a:rPr>
              <a:t>Assemble</a:t>
            </a:r>
            <a:endParaRPr lang="en-US" sz="1750" dirty="0"/>
          </a:p>
        </p:txBody>
      </p:sp>
      <p:sp>
        <p:nvSpPr>
          <p:cNvPr id="41" name="Text 39"/>
          <p:cNvSpPr/>
          <p:nvPr/>
        </p:nvSpPr>
        <p:spPr>
          <a:xfrm>
            <a:off x="7322332" y="4707331"/>
            <a:ext cx="1904329" cy="426894"/>
          </a:xfrm>
          <a:prstGeom prst="rect">
            <a:avLst/>
          </a:prstGeom>
          <a:noFill/>
          <a:ln/>
        </p:spPr>
        <p:txBody>
          <a:bodyPr wrap="square" lIns="0" tIns="0" rIns="0" bIns="0" rtlCol="0" anchor="ctr"/>
          <a:lstStyle/>
          <a:p>
            <a:pPr indent="0" marL="0">
              <a:lnSpc>
                <a:spcPts val="1800"/>
              </a:lnSpc>
              <a:buNone/>
            </a:pPr>
            <a:r>
              <a:rPr lang="en-US" sz="1350" dirty="0">
                <a:solidFill>
                  <a:srgbClr val="6E6A63"/>
                </a:solidFill>
                <a:latin typeface="Arial" pitchFamily="34" charset="0"/>
                <a:ea typeface="Arial" pitchFamily="34" charset="-122"/>
                <a:cs typeface="Arial" pitchFamily="34" charset="-120"/>
              </a:rPr>
              <a:t>Context and question</a:t>
            </a:r>
            <a:endParaRPr lang="en-US" sz="1350" dirty="0"/>
          </a:p>
        </p:txBody>
      </p:sp>
      <p:sp>
        <p:nvSpPr>
          <p:cNvPr id="42" name="Text 40"/>
          <p:cNvSpPr/>
          <p:nvPr/>
        </p:nvSpPr>
        <p:spPr>
          <a:xfrm>
            <a:off x="9226662" y="4111665"/>
            <a:ext cx="274320" cy="416966"/>
          </a:xfrm>
          <a:prstGeom prst="rect">
            <a:avLst/>
          </a:prstGeom>
          <a:noFill/>
          <a:ln/>
        </p:spPr>
        <p:txBody>
          <a:bodyPr wrap="square" lIns="0" tIns="0" rIns="0" bIns="0" rtlCol="0" anchor="ctr"/>
          <a:lstStyle/>
          <a:p>
            <a:pPr algn="ctr" indent="0" marL="0">
              <a:buNone/>
            </a:pPr>
            <a:r>
              <a:rPr lang="en-US" sz="1400" dirty="0">
                <a:solidFill>
                  <a:srgbClr val="9C978E"/>
                </a:solidFill>
                <a:latin typeface="Arial" pitchFamily="34" charset="0"/>
                <a:ea typeface="Arial" pitchFamily="34" charset="-122"/>
                <a:cs typeface="Arial" pitchFamily="34" charset="-120"/>
              </a:rPr>
              <a:t>→</a:t>
            </a:r>
            <a:endParaRPr lang="en-US" sz="1400" dirty="0"/>
          </a:p>
        </p:txBody>
      </p:sp>
      <p:sp>
        <p:nvSpPr>
          <p:cNvPr id="43" name="Shape 41"/>
          <p:cNvSpPr/>
          <p:nvPr/>
        </p:nvSpPr>
        <p:spPr>
          <a:xfrm>
            <a:off x="9500982" y="4032243"/>
            <a:ext cx="1904329" cy="21841"/>
          </a:xfrm>
          <a:prstGeom prst="rect">
            <a:avLst/>
          </a:prstGeom>
          <a:solidFill>
            <a:srgbClr val="141414"/>
          </a:solidFill>
          <a:ln/>
        </p:spPr>
      </p:sp>
      <p:sp>
        <p:nvSpPr>
          <p:cNvPr id="44" name="Text 42"/>
          <p:cNvSpPr/>
          <p:nvPr/>
        </p:nvSpPr>
        <p:spPr>
          <a:xfrm>
            <a:off x="9500982" y="4191087"/>
            <a:ext cx="1904329" cy="476533"/>
          </a:xfrm>
          <a:prstGeom prst="rect">
            <a:avLst/>
          </a:prstGeom>
          <a:noFill/>
          <a:ln/>
        </p:spPr>
        <p:txBody>
          <a:bodyPr wrap="square" lIns="0" tIns="0" rIns="0" bIns="0" rtlCol="0" anchor="ctr"/>
          <a:lstStyle/>
          <a:p>
            <a:pPr indent="0" marL="0">
              <a:lnSpc>
                <a:spcPts val="1900"/>
              </a:lnSpc>
              <a:buNone/>
            </a:pPr>
            <a:r>
              <a:rPr lang="en-US" sz="1750" b="1" dirty="0">
                <a:solidFill>
                  <a:srgbClr val="141414"/>
                </a:solidFill>
                <a:latin typeface="Arial" pitchFamily="34" charset="0"/>
                <a:ea typeface="Arial" pitchFamily="34" charset="-122"/>
                <a:cs typeface="Arial" pitchFamily="34" charset="-120"/>
              </a:rPr>
              <a:t>Answer</a:t>
            </a:r>
            <a:endParaRPr lang="en-US" sz="1750" dirty="0"/>
          </a:p>
        </p:txBody>
      </p:sp>
      <p:sp>
        <p:nvSpPr>
          <p:cNvPr id="45" name="Text 43"/>
          <p:cNvSpPr/>
          <p:nvPr/>
        </p:nvSpPr>
        <p:spPr>
          <a:xfrm>
            <a:off x="9500982" y="4707331"/>
            <a:ext cx="1904329" cy="426894"/>
          </a:xfrm>
          <a:prstGeom prst="rect">
            <a:avLst/>
          </a:prstGeom>
          <a:noFill/>
          <a:ln/>
        </p:spPr>
        <p:txBody>
          <a:bodyPr wrap="square" lIns="0" tIns="0" rIns="0" bIns="0" rtlCol="0" anchor="ctr"/>
          <a:lstStyle/>
          <a:p>
            <a:pPr indent="0" marL="0">
              <a:lnSpc>
                <a:spcPts val="1800"/>
              </a:lnSpc>
              <a:buNone/>
            </a:pPr>
            <a:r>
              <a:rPr lang="en-US" sz="1350" dirty="0">
                <a:solidFill>
                  <a:srgbClr val="6E6A63"/>
                </a:solidFill>
                <a:latin typeface="Arial" pitchFamily="34" charset="0"/>
                <a:ea typeface="Arial" pitchFamily="34" charset="-122"/>
                <a:cs typeface="Arial" pitchFamily="34" charset="-120"/>
              </a:rPr>
              <a:t>Directly, and always</a:t>
            </a:r>
            <a:endParaRPr lang="en-US" sz="1350" dirty="0"/>
          </a:p>
        </p:txBody>
      </p:sp>
      <p:sp>
        <p:nvSpPr>
          <p:cNvPr id="46" name="Text 44"/>
          <p:cNvSpPr/>
          <p:nvPr/>
        </p:nvSpPr>
        <p:spPr>
          <a:xfrm>
            <a:off x="786384" y="5441986"/>
            <a:ext cx="9981792" cy="794222"/>
          </a:xfrm>
          <a:prstGeom prst="rect">
            <a:avLst/>
          </a:prstGeom>
          <a:noFill/>
          <a:ln/>
        </p:spPr>
        <p:txBody>
          <a:bodyPr wrap="square" lIns="0" tIns="0" rIns="0" bIns="0" rtlCol="0" anchor="ctr"/>
          <a:lstStyle/>
          <a:p>
            <a:pPr indent="0" marL="0">
              <a:lnSpc>
                <a:spcPts val="2300"/>
              </a:lnSpc>
              <a:buNone/>
            </a:pPr>
            <a:r>
              <a:rPr lang="en-US" sz="1550" dirty="0">
                <a:solidFill>
                  <a:srgbClr val="141414"/>
                </a:solidFill>
                <a:latin typeface="Arial" pitchFamily="34" charset="0"/>
                <a:ea typeface="Arial" pitchFamily="34" charset="-122"/>
                <a:cs typeface="Arial" pitchFamily="34" charset="-120"/>
              </a:rPr>
              <a:t>Scraped text, website image descriptions and your own photographs all go into one index and are retrieved by the same query. Levels 3 and 5 do not need separate systems.</a:t>
            </a:r>
            <a:endParaRPr lang="en-US" sz="155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AF8F5"/>
        </a:solidFill>
      </p:bgPr>
    </p:bg>
    <p:spTree>
      <p:nvGrpSpPr>
        <p:cNvPr id="1" name=""/>
        <p:cNvGrpSpPr/>
        <p:nvPr/>
      </p:nvGrpSpPr>
      <p:grpSpPr>
        <a:xfrm>
          <a:off x="0" y="0"/>
          <a:ext cx="0" cy="0"/>
          <a:chOff x="0" y="0"/>
          <a:chExt cx="0" cy="0"/>
        </a:xfrm>
      </p:grpSpPr>
      <p:sp>
        <p:nvSpPr>
          <p:cNvPr id="2" name="Text 0"/>
          <p:cNvSpPr/>
          <p:nvPr/>
        </p:nvSpPr>
        <p:spPr>
          <a:xfrm>
            <a:off x="786384" y="475488"/>
            <a:ext cx="9720301" cy="676656"/>
          </a:xfrm>
          <a:prstGeom prst="rect">
            <a:avLst/>
          </a:prstGeom>
          <a:noFill/>
          <a:ln/>
        </p:spPr>
        <p:txBody>
          <a:bodyPr wrap="square" lIns="0" tIns="0" rIns="0" bIns="0" rtlCol="0" anchor="ctr"/>
          <a:lstStyle/>
          <a:p>
            <a:pPr indent="0" marL="0">
              <a:buNone/>
            </a:pPr>
            <a:r>
              <a:rPr lang="en-US" sz="2900" b="1" dirty="0">
                <a:solidFill>
                  <a:srgbClr val="141414"/>
                </a:solidFill>
                <a:latin typeface="Arial" pitchFamily="34" charset="0"/>
                <a:ea typeface="Arial" pitchFamily="34" charset="-122"/>
                <a:cs typeface="Arial" pitchFamily="34" charset="-120"/>
              </a:rPr>
              <a:t>Open Lab</a:t>
            </a:r>
            <a:endParaRPr lang="en-US" sz="2900" dirty="0"/>
          </a:p>
        </p:txBody>
      </p:sp>
      <p:sp>
        <p:nvSpPr>
          <p:cNvPr id="3" name="Shape 1"/>
          <p:cNvSpPr/>
          <p:nvPr/>
        </p:nvSpPr>
        <p:spPr>
          <a:xfrm>
            <a:off x="786384" y="1207008"/>
            <a:ext cx="10618927" cy="10973"/>
          </a:xfrm>
          <a:prstGeom prst="rect">
            <a:avLst/>
          </a:prstGeom>
          <a:solidFill>
            <a:srgbClr val="D5D1CA"/>
          </a:solidFill>
          <a:ln/>
        </p:spPr>
      </p:sp>
      <p:sp>
        <p:nvSpPr>
          <p:cNvPr id="4" name="Text 2"/>
          <p:cNvSpPr/>
          <p:nvPr/>
        </p:nvSpPr>
        <p:spPr>
          <a:xfrm>
            <a:off x="10490911" y="6309360"/>
            <a:ext cx="914400" cy="274320"/>
          </a:xfrm>
          <a:prstGeom prst="rect">
            <a:avLst/>
          </a:prstGeom>
          <a:noFill/>
          <a:ln/>
        </p:spPr>
        <p:txBody>
          <a:bodyPr wrap="square" lIns="0" tIns="0" rIns="0" bIns="0" rtlCol="0" anchor="ctr"/>
          <a:lstStyle/>
          <a:p>
            <a:pPr algn="r" indent="0" marL="0">
              <a:buNone/>
            </a:pPr>
            <a:r>
              <a:rPr lang="en-US" sz="1200" dirty="0">
                <a:solidFill>
                  <a:srgbClr val="9C978E"/>
                </a:solidFill>
                <a:latin typeface="Arial" pitchFamily="34" charset="0"/>
                <a:ea typeface="Arial" pitchFamily="34" charset="-122"/>
                <a:cs typeface="Arial" pitchFamily="34" charset="-120"/>
              </a:rPr>
              <a:t>31</a:t>
            </a:r>
            <a:endParaRPr lang="en-US" sz="1200" dirty="0"/>
          </a:p>
        </p:txBody>
      </p:sp>
      <p:sp>
        <p:nvSpPr>
          <p:cNvPr id="5" name="Text 3"/>
          <p:cNvSpPr/>
          <p:nvPr/>
        </p:nvSpPr>
        <p:spPr>
          <a:xfrm>
            <a:off x="786384" y="1680667"/>
            <a:ext cx="9344656" cy="965606"/>
          </a:xfrm>
          <a:prstGeom prst="rect">
            <a:avLst/>
          </a:prstGeom>
          <a:noFill/>
          <a:ln/>
        </p:spPr>
        <p:txBody>
          <a:bodyPr wrap="square" lIns="0" tIns="0" rIns="0" bIns="0" rtlCol="0" anchor="ctr"/>
          <a:lstStyle/>
          <a:p>
            <a:pPr indent="0" marL="0">
              <a:lnSpc>
                <a:spcPts val="2600"/>
              </a:lnSpc>
              <a:buNone/>
            </a:pPr>
            <a:r>
              <a:rPr lang="en-US" sz="1700" dirty="0">
                <a:solidFill>
                  <a:srgbClr val="141414"/>
                </a:solidFill>
                <a:latin typeface="Arial" pitchFamily="34" charset="0"/>
                <a:ea typeface="Arial" pitchFamily="34" charset="-122"/>
                <a:cs typeface="Arial" pitchFamily="34" charset="-120"/>
              </a:rPr>
              <a:t>Thirty minutes, immediately after this session. Mentors stay in the room, and the collection zones are in the building around you.</a:t>
            </a:r>
            <a:endParaRPr lang="en-US" sz="1700" dirty="0"/>
          </a:p>
        </p:txBody>
      </p:sp>
      <p:sp>
        <p:nvSpPr>
          <p:cNvPr id="6" name="Shape 4"/>
          <p:cNvSpPr/>
          <p:nvPr/>
        </p:nvSpPr>
        <p:spPr>
          <a:xfrm>
            <a:off x="786384" y="3170316"/>
            <a:ext cx="155448" cy="24140"/>
          </a:xfrm>
          <a:prstGeom prst="rect">
            <a:avLst/>
          </a:prstGeom>
          <a:solidFill>
            <a:srgbClr val="C0402A"/>
          </a:solidFill>
          <a:ln/>
        </p:spPr>
      </p:sp>
      <p:sp>
        <p:nvSpPr>
          <p:cNvPr id="7" name="Text 5"/>
          <p:cNvSpPr/>
          <p:nvPr/>
        </p:nvSpPr>
        <p:spPr>
          <a:xfrm>
            <a:off x="1097280" y="3008376"/>
            <a:ext cx="9246138" cy="457992"/>
          </a:xfrm>
          <a:prstGeom prst="rect">
            <a:avLst/>
          </a:prstGeom>
          <a:noFill/>
          <a:ln/>
        </p:spPr>
        <p:txBody>
          <a:bodyPr wrap="square" lIns="0" tIns="0" rIns="0" bIns="0" rtlCol="0" anchor="t"/>
          <a:lstStyle/>
          <a:p>
            <a:pPr indent="0" marL="0">
              <a:lnSpc>
                <a:spcPts val="2300"/>
              </a:lnSpc>
              <a:buNone/>
            </a:pPr>
            <a:r>
              <a:rPr lang="en-US" sz="1600" dirty="0">
                <a:solidFill>
                  <a:srgbClr val="141414"/>
                </a:solidFill>
                <a:latin typeface="Arial" pitchFamily="34" charset="0"/>
                <a:ea typeface="Arial" pitchFamily="34" charset="-122"/>
                <a:cs typeface="Arial" pitchFamily="34" charset="-120"/>
              </a:rPr>
              <a:t>Finish the block 3 or block 4 lab if you did not complete it.</a:t>
            </a:r>
            <a:endParaRPr lang="en-US" sz="1600" dirty="0"/>
          </a:p>
        </p:txBody>
      </p:sp>
      <p:sp>
        <p:nvSpPr>
          <p:cNvPr id="8" name="Shape 6"/>
          <p:cNvSpPr/>
          <p:nvPr/>
        </p:nvSpPr>
        <p:spPr>
          <a:xfrm>
            <a:off x="786384" y="3773820"/>
            <a:ext cx="155448" cy="24140"/>
          </a:xfrm>
          <a:prstGeom prst="rect">
            <a:avLst/>
          </a:prstGeom>
          <a:solidFill>
            <a:srgbClr val="C0402A"/>
          </a:solidFill>
          <a:ln/>
        </p:spPr>
      </p:sp>
      <p:sp>
        <p:nvSpPr>
          <p:cNvPr id="9" name="Text 7"/>
          <p:cNvSpPr/>
          <p:nvPr/>
        </p:nvSpPr>
        <p:spPr>
          <a:xfrm>
            <a:off x="1097280" y="3611880"/>
            <a:ext cx="9246138" cy="457992"/>
          </a:xfrm>
          <a:prstGeom prst="rect">
            <a:avLst/>
          </a:prstGeom>
          <a:noFill/>
          <a:ln/>
        </p:spPr>
        <p:txBody>
          <a:bodyPr wrap="square" lIns="0" tIns="0" rIns="0" bIns="0" rtlCol="0" anchor="t"/>
          <a:lstStyle/>
          <a:p>
            <a:pPr indent="0" marL="0">
              <a:lnSpc>
                <a:spcPts val="2300"/>
              </a:lnSpc>
              <a:buNone/>
            </a:pPr>
            <a:r>
              <a:rPr lang="en-US" sz="1600" dirty="0">
                <a:solidFill>
                  <a:srgbClr val="141414"/>
                </a:solidFill>
                <a:latin typeface="Arial" pitchFamily="34" charset="0"/>
                <a:ea typeface="Arial" pitchFamily="34" charset="-122"/>
                <a:cs typeface="Arial" pitchFamily="34" charset="-120"/>
              </a:rPr>
              <a:t>Start photographing your assigned zones while mentors are available.</a:t>
            </a:r>
            <a:endParaRPr lang="en-US" sz="1600" dirty="0"/>
          </a:p>
        </p:txBody>
      </p:sp>
      <p:sp>
        <p:nvSpPr>
          <p:cNvPr id="10" name="Shape 8"/>
          <p:cNvSpPr/>
          <p:nvPr/>
        </p:nvSpPr>
        <p:spPr>
          <a:xfrm>
            <a:off x="786384" y="4377324"/>
            <a:ext cx="155448" cy="24140"/>
          </a:xfrm>
          <a:prstGeom prst="rect">
            <a:avLst/>
          </a:prstGeom>
          <a:solidFill>
            <a:srgbClr val="C0402A"/>
          </a:solidFill>
          <a:ln/>
        </p:spPr>
      </p:sp>
      <p:sp>
        <p:nvSpPr>
          <p:cNvPr id="11" name="Text 9"/>
          <p:cNvSpPr/>
          <p:nvPr/>
        </p:nvSpPr>
        <p:spPr>
          <a:xfrm>
            <a:off x="1097280" y="4215384"/>
            <a:ext cx="9246138" cy="457992"/>
          </a:xfrm>
          <a:prstGeom prst="rect">
            <a:avLst/>
          </a:prstGeom>
          <a:noFill/>
          <a:ln/>
        </p:spPr>
        <p:txBody>
          <a:bodyPr wrap="square" lIns="0" tIns="0" rIns="0" bIns="0" rtlCol="0" anchor="t"/>
          <a:lstStyle/>
          <a:p>
            <a:pPr indent="0" marL="0">
              <a:lnSpc>
                <a:spcPts val="2300"/>
              </a:lnSpc>
              <a:buNone/>
            </a:pPr>
            <a:r>
              <a:rPr lang="en-US" sz="1600" dirty="0">
                <a:solidFill>
                  <a:srgbClr val="141414"/>
                </a:solidFill>
                <a:latin typeface="Arial" pitchFamily="34" charset="0"/>
                <a:ea typeface="Arial" pitchFamily="34" charset="-122"/>
                <a:cs typeface="Arial" pitchFamily="34" charset="-120"/>
              </a:rPr>
              <a:t>Ask about OCR, tiling or routing if you want to try any of them.</a:t>
            </a:r>
            <a:endParaRPr lang="en-US" sz="16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31</Slides>
  <Notes>31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31</vt:i4>
      </vt:variant>
    </vt:vector>
  </HeadingPairs>
  <TitlesOfParts>
    <vt:vector size="3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Chatbot Challenge 2026: Workshop 2</dc:title>
  <dc:subject>PptxGenJS Presentation</dc:subject>
  <dc:creator>Tam Wing Fan Innovation Wing</dc:creator>
  <cp:lastModifiedBy>Tam Wing Fan Innovation Wing</cp:lastModifiedBy>
  <cp:revision>1</cp:revision>
  <dcterms:created xsi:type="dcterms:W3CDTF">2026-09-07T08:42:44Z</dcterms:created>
  <dcterms:modified xsi:type="dcterms:W3CDTF">2026-09-07T08:42:44Z</dcterms:modified>
</cp:coreProperties>
</file>