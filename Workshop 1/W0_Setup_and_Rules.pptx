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Aim for 20 minutes. The goal is that everyone arrives at Workshop 1 with a working environment and a key that makes a live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Show the command actually running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out loud. Teams that think they need all five levels to be competitive drop out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models clause is what makes CLIP and OCR legal. Plant it now, collect in Workshop 2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surprises people who have read RAG tutorials.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retrieval here. This slide is only about the contract. Both ship returning empty strings so the pipeline runs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402A"/>
          </a:solidFill>
          <a:ln/>
        </p:spPr>
      </p:sp>
      <p:sp>
        <p:nvSpPr>
          <p:cNvPr id="3" name="Text 1"/>
          <p:cNvSpPr/>
          <p:nvPr/>
        </p:nvSpPr>
        <p:spPr>
          <a:xfrm>
            <a:off x="786384" y="1051560"/>
            <a:ext cx="10618927" cy="274320"/>
          </a:xfrm>
          <a:prstGeom prst="rect">
            <a:avLst/>
          </a:prstGeom>
          <a:noFill/>
          <a:ln/>
        </p:spPr>
        <p:txBody>
          <a:bodyPr wrap="square" lIns="0" tIns="0" rIns="0" bIns="0" rtlCol="0" anchor="ctr"/>
          <a:lstStyle/>
          <a:p>
            <a:pPr indent="0" marL="0">
              <a:buNone/>
            </a:pPr>
            <a:r>
              <a:rPr lang="en-US" sz="1200" b="1" spc="260" kern="0" dirty="0">
                <a:solidFill>
                  <a:srgbClr val="6E6A63"/>
                </a:solidFill>
                <a:latin typeface="Arial" pitchFamily="34" charset="0"/>
                <a:ea typeface="Arial" pitchFamily="34" charset="-122"/>
                <a:cs typeface="Arial" pitchFamily="34" charset="-120"/>
              </a:rPr>
              <a:t>TAM WING FAN INNOVATION WING</a:t>
            </a:r>
            <a:endParaRPr lang="en-US" sz="1200" dirty="0"/>
          </a:p>
        </p:txBody>
      </p:sp>
      <p:sp>
        <p:nvSpPr>
          <p:cNvPr id="4" name="Shape 2"/>
          <p:cNvSpPr/>
          <p:nvPr/>
        </p:nvSpPr>
        <p:spPr>
          <a:xfrm>
            <a:off x="786384" y="1444752"/>
            <a:ext cx="10618927" cy="10973"/>
          </a:xfrm>
          <a:prstGeom prst="rect">
            <a:avLst/>
          </a:prstGeom>
          <a:solidFill>
            <a:srgbClr val="D5D1CA"/>
          </a:solidFill>
          <a:ln/>
        </p:spPr>
      </p:sp>
      <p:sp>
        <p:nvSpPr>
          <p:cNvPr id="5" name="Text 3"/>
          <p:cNvSpPr/>
          <p:nvPr/>
        </p:nvSpPr>
        <p:spPr>
          <a:xfrm>
            <a:off x="786384" y="1719072"/>
            <a:ext cx="7923047" cy="1737360"/>
          </a:xfrm>
          <a:prstGeom prst="rect">
            <a:avLst/>
          </a:prstGeom>
          <a:noFill/>
          <a:ln/>
        </p:spPr>
        <p:txBody>
          <a:bodyPr wrap="square" lIns="0" tIns="0" rIns="0" bIns="0" rtlCol="0" anchor="ctr"/>
          <a:lstStyle/>
          <a:p>
            <a:pPr indent="0" marL="0">
              <a:lnSpc>
                <a:spcPts val="5000"/>
              </a:lnSpc>
              <a:buNone/>
            </a:pPr>
            <a:r>
              <a:rPr lang="en-US" sz="4800" b="1" dirty="0">
                <a:solidFill>
                  <a:srgbClr val="141414"/>
                </a:solidFill>
                <a:latin typeface="Arial" pitchFamily="34" charset="0"/>
                <a:ea typeface="Arial" pitchFamily="34" charset="-122"/>
                <a:cs typeface="Arial" pitchFamily="34" charset="-120"/>
              </a:rPr>
              <a:t>Setup &amp; Rules</a:t>
            </a:r>
            <a:endParaRPr lang="en-US" sz="4800" dirty="0"/>
          </a:p>
        </p:txBody>
      </p:sp>
      <p:sp>
        <p:nvSpPr>
          <p:cNvPr id="6" name="Text 4"/>
          <p:cNvSpPr/>
          <p:nvPr/>
        </p:nvSpPr>
        <p:spPr>
          <a:xfrm>
            <a:off x="786384" y="3703320"/>
            <a:ext cx="6125794" cy="914400"/>
          </a:xfrm>
          <a:prstGeom prst="rect">
            <a:avLst/>
          </a:prstGeom>
          <a:noFill/>
          <a:ln/>
        </p:spPr>
        <p:txBody>
          <a:bodyPr wrap="square" lIns="0" tIns="0" rIns="0" bIns="0" rtlCol="0" anchor="ctr"/>
          <a:lstStyle/>
          <a:p>
            <a:pPr indent="0" marL="0">
              <a:lnSpc>
                <a:spcPts val="2500"/>
              </a:lnSpc>
              <a:buNone/>
            </a:pPr>
            <a:r>
              <a:rPr lang="en-US" sz="1950" dirty="0">
                <a:solidFill>
                  <a:srgbClr val="6E6A63"/>
                </a:solidFill>
                <a:latin typeface="Arial" pitchFamily="34" charset="0"/>
                <a:ea typeface="Arial" pitchFamily="34" charset="-122"/>
                <a:cs typeface="Arial" pitchFamily="34" charset="-120"/>
              </a:rPr>
              <a:t>Watch before 16 September. Environment, rules, and the code you are given.</a:t>
            </a:r>
            <a:endParaRPr lang="en-US" sz="1950" dirty="0"/>
          </a:p>
        </p:txBody>
      </p:sp>
      <p:sp>
        <p:nvSpPr>
          <p:cNvPr id="7" name="Shape 5"/>
          <p:cNvSpPr/>
          <p:nvPr/>
        </p:nvSpPr>
        <p:spPr>
          <a:xfrm>
            <a:off x="786384" y="5760720"/>
            <a:ext cx="10618927" cy="10973"/>
          </a:xfrm>
          <a:prstGeom prst="rect">
            <a:avLst/>
          </a:prstGeom>
          <a:solidFill>
            <a:srgbClr val="D5D1CA"/>
          </a:solidFill>
          <a:ln/>
        </p:spPr>
      </p:sp>
      <p:sp>
        <p:nvSpPr>
          <p:cNvPr id="8" name="Text 6"/>
          <p:cNvSpPr/>
          <p:nvPr/>
        </p:nvSpPr>
        <p:spPr>
          <a:xfrm>
            <a:off x="786384" y="5907024"/>
            <a:ext cx="10618927" cy="274320"/>
          </a:xfrm>
          <a:prstGeom prst="rect">
            <a:avLst/>
          </a:prstGeom>
          <a:noFill/>
          <a:ln/>
        </p:spPr>
        <p:txBody>
          <a:bodyPr wrap="square" lIns="0" tIns="0" rIns="0" bIns="0" rtlCol="0" anchor="ctr"/>
          <a:lstStyle/>
          <a:p>
            <a:pPr indent="0" marL="0">
              <a:buNone/>
            </a:pPr>
            <a:r>
              <a:rPr lang="en-US" sz="1450" dirty="0">
                <a:solidFill>
                  <a:srgbClr val="9C978E"/>
                </a:solidFill>
                <a:latin typeface="Arial" pitchFamily="34" charset="0"/>
                <a:ea typeface="Arial" pitchFamily="34" charset="-122"/>
                <a:cs typeface="Arial" pitchFamily="34" charset="-120"/>
              </a:rPr>
              <a:t>Chatbot Challenge 2026</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Key Dates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02</a:t>
            </a:r>
            <a:endParaRPr lang="en-US" sz="1200" dirty="0"/>
          </a:p>
        </p:txBody>
      </p:sp>
      <p:sp>
        <p:nvSpPr>
          <p:cNvPr id="5" name="Text 3"/>
          <p:cNvSpPr/>
          <p:nvPr/>
        </p:nvSpPr>
        <p:spPr>
          <a:xfrm>
            <a:off x="786384" y="1568691"/>
            <a:ext cx="1051560" cy="315773"/>
          </a:xfrm>
          <a:prstGeom prst="rect">
            <a:avLst/>
          </a:prstGeom>
          <a:noFill/>
          <a:ln/>
        </p:spPr>
        <p:txBody>
          <a:bodyPr wrap="square" lIns="0" tIns="0" rIns="0" bIns="0" rtlCol="0" anchor="ctr"/>
          <a:lstStyle/>
          <a:p>
            <a:pPr indent="0" marL="0">
              <a:buNone/>
            </a:pPr>
            <a:r>
              <a:rPr lang="en-US" sz="1550" b="1" dirty="0">
                <a:solidFill>
                  <a:srgbClr val="C0402A"/>
                </a:solidFill>
                <a:latin typeface="Arial" pitchFamily="34" charset="0"/>
                <a:ea typeface="Arial" pitchFamily="34" charset="-122"/>
                <a:cs typeface="Arial" pitchFamily="34" charset="-120"/>
              </a:rPr>
              <a:t>16 Sep</a:t>
            </a:r>
            <a:endParaRPr lang="en-US" sz="1550" dirty="0"/>
          </a:p>
        </p:txBody>
      </p:sp>
      <p:sp>
        <p:nvSpPr>
          <p:cNvPr id="6" name="Text 4"/>
          <p:cNvSpPr/>
          <p:nvPr/>
        </p:nvSpPr>
        <p:spPr>
          <a:xfrm>
            <a:off x="1975104" y="1568691"/>
            <a:ext cx="2834640" cy="315773"/>
          </a:xfrm>
          <a:prstGeom prst="rect">
            <a:avLst/>
          </a:prstGeom>
          <a:noFill/>
          <a:ln/>
        </p:spPr>
        <p:txBody>
          <a:bodyPr wrap="square" lIns="0" tIns="0" rIns="0" bIns="0" rtlCol="0" anchor="ctr"/>
          <a:lstStyle/>
          <a:p>
            <a:pPr indent="0" marL="0">
              <a:buNone/>
            </a:pPr>
            <a:r>
              <a:rPr lang="en-US" sz="1500" b="1" dirty="0">
                <a:solidFill>
                  <a:srgbClr val="141414"/>
                </a:solidFill>
                <a:latin typeface="Arial" pitchFamily="34" charset="0"/>
                <a:ea typeface="Arial" pitchFamily="34" charset="-122"/>
                <a:cs typeface="Arial" pitchFamily="34" charset="-120"/>
              </a:rPr>
              <a:t>Briefing and Workshop 1</a:t>
            </a:r>
            <a:endParaRPr lang="en-US" sz="1500" dirty="0"/>
          </a:p>
        </p:txBody>
      </p:sp>
      <p:sp>
        <p:nvSpPr>
          <p:cNvPr id="7" name="Text 5"/>
          <p:cNvSpPr/>
          <p:nvPr/>
        </p:nvSpPr>
        <p:spPr>
          <a:xfrm>
            <a:off x="4901184" y="1568691"/>
            <a:ext cx="6504127" cy="315773"/>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RAG pipeline, live, 1.5 hours</a:t>
            </a:r>
            <a:endParaRPr lang="en-US" sz="1450" dirty="0"/>
          </a:p>
        </p:txBody>
      </p:sp>
      <p:sp>
        <p:nvSpPr>
          <p:cNvPr id="8" name="Text 6"/>
          <p:cNvSpPr/>
          <p:nvPr/>
        </p:nvSpPr>
        <p:spPr>
          <a:xfrm>
            <a:off x="786384" y="2121294"/>
            <a:ext cx="1051560" cy="315773"/>
          </a:xfrm>
          <a:prstGeom prst="rect">
            <a:avLst/>
          </a:prstGeom>
          <a:noFill/>
          <a:ln/>
        </p:spPr>
        <p:txBody>
          <a:bodyPr wrap="square" lIns="0" tIns="0" rIns="0" bIns="0" rtlCol="0" anchor="ctr"/>
          <a:lstStyle/>
          <a:p>
            <a:pPr indent="0" marL="0">
              <a:buNone/>
            </a:pPr>
            <a:r>
              <a:rPr lang="en-US" sz="1550" b="1" dirty="0">
                <a:solidFill>
                  <a:srgbClr val="6E6A63"/>
                </a:solidFill>
                <a:latin typeface="Arial" pitchFamily="34" charset="0"/>
                <a:ea typeface="Arial" pitchFamily="34" charset="-122"/>
                <a:cs typeface="Arial" pitchFamily="34" charset="-120"/>
              </a:rPr>
              <a:t>23 Sep</a:t>
            </a:r>
            <a:endParaRPr lang="en-US" sz="1550" dirty="0"/>
          </a:p>
        </p:txBody>
      </p:sp>
      <p:sp>
        <p:nvSpPr>
          <p:cNvPr id="9" name="Text 7"/>
          <p:cNvSpPr/>
          <p:nvPr/>
        </p:nvSpPr>
        <p:spPr>
          <a:xfrm>
            <a:off x="1975104" y="2121294"/>
            <a:ext cx="2834640" cy="315773"/>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Self assessment</a:t>
            </a:r>
            <a:endParaRPr lang="en-US" sz="1500" dirty="0"/>
          </a:p>
        </p:txBody>
      </p:sp>
      <p:sp>
        <p:nvSpPr>
          <p:cNvPr id="10" name="Text 8"/>
          <p:cNvSpPr/>
          <p:nvPr/>
        </p:nvSpPr>
        <p:spPr>
          <a:xfrm>
            <a:off x="4901184" y="2121294"/>
            <a:ext cx="6504127" cy="315773"/>
          </a:xfrm>
          <a:prstGeom prst="rect">
            <a:avLst/>
          </a:prstGeom>
          <a:noFill/>
          <a:ln/>
        </p:spPr>
        <p:txBody>
          <a:bodyPr wrap="square" lIns="0" tIns="0" rIns="0" bIns="0" rtlCol="0" anchor="ctr"/>
          <a:lstStyle/>
          <a:p>
            <a:pPr indent="0" marL="0">
              <a:buNone/>
            </a:pPr>
            <a:r>
              <a:rPr lang="en-US" sz="1450" dirty="0">
                <a:solidFill>
                  <a:srgbClr val="6E6A63"/>
                </a:solidFill>
                <a:latin typeface="Arial" pitchFamily="34" charset="0"/>
                <a:ea typeface="Arial" pitchFamily="34" charset="-122"/>
                <a:cs typeface="Arial" pitchFamily="34" charset="-120"/>
              </a:rPr>
              <a:t>Your own scraper and vector database, scoring above zero on Lv1 and Lv2</a:t>
            </a:r>
            <a:endParaRPr lang="en-US" sz="1450" dirty="0"/>
          </a:p>
        </p:txBody>
      </p:sp>
      <p:sp>
        <p:nvSpPr>
          <p:cNvPr id="11" name="Text 9"/>
          <p:cNvSpPr/>
          <p:nvPr/>
        </p:nvSpPr>
        <p:spPr>
          <a:xfrm>
            <a:off x="786384" y="2673896"/>
            <a:ext cx="1051560" cy="315773"/>
          </a:xfrm>
          <a:prstGeom prst="rect">
            <a:avLst/>
          </a:prstGeom>
          <a:noFill/>
          <a:ln/>
        </p:spPr>
        <p:txBody>
          <a:bodyPr wrap="square" lIns="0" tIns="0" rIns="0" bIns="0" rtlCol="0" anchor="ctr"/>
          <a:lstStyle/>
          <a:p>
            <a:pPr indent="0" marL="0">
              <a:buNone/>
            </a:pPr>
            <a:r>
              <a:rPr lang="en-US" sz="1550" b="1" dirty="0">
                <a:solidFill>
                  <a:srgbClr val="C0402A"/>
                </a:solidFill>
                <a:latin typeface="Arial" pitchFamily="34" charset="0"/>
                <a:ea typeface="Arial" pitchFamily="34" charset="-122"/>
                <a:cs typeface="Arial" pitchFamily="34" charset="-120"/>
              </a:rPr>
              <a:t>30 Sep</a:t>
            </a:r>
            <a:endParaRPr lang="en-US" sz="1550" dirty="0"/>
          </a:p>
        </p:txBody>
      </p:sp>
      <p:sp>
        <p:nvSpPr>
          <p:cNvPr id="12" name="Text 10"/>
          <p:cNvSpPr/>
          <p:nvPr/>
        </p:nvSpPr>
        <p:spPr>
          <a:xfrm>
            <a:off x="1975104" y="2673896"/>
            <a:ext cx="2834640" cy="315773"/>
          </a:xfrm>
          <a:prstGeom prst="rect">
            <a:avLst/>
          </a:prstGeom>
          <a:noFill/>
          <a:ln/>
        </p:spPr>
        <p:txBody>
          <a:bodyPr wrap="square" lIns="0" tIns="0" rIns="0" bIns="0" rtlCol="0" anchor="ctr"/>
          <a:lstStyle/>
          <a:p>
            <a:pPr indent="0" marL="0">
              <a:buNone/>
            </a:pPr>
            <a:r>
              <a:rPr lang="en-US" sz="1500" b="1" dirty="0">
                <a:solidFill>
                  <a:srgbClr val="141414"/>
                </a:solidFill>
                <a:latin typeface="Arial" pitchFamily="34" charset="0"/>
                <a:ea typeface="Arial" pitchFamily="34" charset="-122"/>
                <a:cs typeface="Arial" pitchFamily="34" charset="-120"/>
              </a:rPr>
              <a:t>Workshop 2</a:t>
            </a:r>
            <a:endParaRPr lang="en-US" sz="1500" dirty="0"/>
          </a:p>
        </p:txBody>
      </p:sp>
      <p:sp>
        <p:nvSpPr>
          <p:cNvPr id="13" name="Text 11"/>
          <p:cNvSpPr/>
          <p:nvPr/>
        </p:nvSpPr>
        <p:spPr>
          <a:xfrm>
            <a:off x="4901184" y="2673896"/>
            <a:ext cx="6504127" cy="315773"/>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Visual and physical data, live. Attempt image data before you arrive</a:t>
            </a:r>
            <a:endParaRPr lang="en-US" sz="1450" dirty="0"/>
          </a:p>
        </p:txBody>
      </p:sp>
      <p:sp>
        <p:nvSpPr>
          <p:cNvPr id="14" name="Text 12"/>
          <p:cNvSpPr/>
          <p:nvPr/>
        </p:nvSpPr>
        <p:spPr>
          <a:xfrm>
            <a:off x="786384" y="3226499"/>
            <a:ext cx="1051560" cy="315773"/>
          </a:xfrm>
          <a:prstGeom prst="rect">
            <a:avLst/>
          </a:prstGeom>
          <a:noFill/>
          <a:ln/>
        </p:spPr>
        <p:txBody>
          <a:bodyPr wrap="square" lIns="0" tIns="0" rIns="0" bIns="0" rtlCol="0" anchor="ctr"/>
          <a:lstStyle/>
          <a:p>
            <a:pPr indent="0" marL="0">
              <a:buNone/>
            </a:pPr>
            <a:r>
              <a:rPr lang="en-US" sz="1550" b="1" dirty="0">
                <a:solidFill>
                  <a:srgbClr val="6E6A63"/>
                </a:solidFill>
                <a:latin typeface="Arial" pitchFamily="34" charset="0"/>
                <a:ea typeface="Arial" pitchFamily="34" charset="-122"/>
                <a:cs typeface="Arial" pitchFamily="34" charset="-120"/>
              </a:rPr>
              <a:t>7 Oct</a:t>
            </a:r>
            <a:endParaRPr lang="en-US" sz="1550" dirty="0"/>
          </a:p>
        </p:txBody>
      </p:sp>
      <p:sp>
        <p:nvSpPr>
          <p:cNvPr id="15" name="Text 13"/>
          <p:cNvSpPr/>
          <p:nvPr/>
        </p:nvSpPr>
        <p:spPr>
          <a:xfrm>
            <a:off x="1975104" y="3226499"/>
            <a:ext cx="2834640" cy="315773"/>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Self assessment</a:t>
            </a:r>
            <a:endParaRPr lang="en-US" sz="1500" dirty="0"/>
          </a:p>
        </p:txBody>
      </p:sp>
      <p:sp>
        <p:nvSpPr>
          <p:cNvPr id="16" name="Text 14"/>
          <p:cNvSpPr/>
          <p:nvPr/>
        </p:nvSpPr>
        <p:spPr>
          <a:xfrm>
            <a:off x="4901184" y="3226499"/>
            <a:ext cx="6504127" cy="315773"/>
          </a:xfrm>
          <a:prstGeom prst="rect">
            <a:avLst/>
          </a:prstGeom>
          <a:noFill/>
          <a:ln/>
        </p:spPr>
        <p:txBody>
          <a:bodyPr wrap="square" lIns="0" tIns="0" rIns="0" bIns="0" rtlCol="0" anchor="ctr"/>
          <a:lstStyle/>
          <a:p>
            <a:pPr indent="0" marL="0">
              <a:buNone/>
            </a:pPr>
            <a:r>
              <a:rPr lang="en-US" sz="1450" dirty="0">
                <a:solidFill>
                  <a:srgbClr val="6E6A63"/>
                </a:solidFill>
                <a:latin typeface="Arial" pitchFamily="34" charset="0"/>
                <a:ea typeface="Arial" pitchFamily="34" charset="-122"/>
                <a:cs typeface="Arial" pitchFamily="34" charset="-120"/>
              </a:rPr>
              <a:t>Collection log entry for your assigned zones</a:t>
            </a:r>
            <a:endParaRPr lang="en-US" sz="1450" dirty="0"/>
          </a:p>
        </p:txBody>
      </p:sp>
      <p:sp>
        <p:nvSpPr>
          <p:cNvPr id="17" name="Text 15"/>
          <p:cNvSpPr/>
          <p:nvPr/>
        </p:nvSpPr>
        <p:spPr>
          <a:xfrm>
            <a:off x="786384" y="3779101"/>
            <a:ext cx="1051560" cy="315773"/>
          </a:xfrm>
          <a:prstGeom prst="rect">
            <a:avLst/>
          </a:prstGeom>
          <a:noFill/>
          <a:ln/>
        </p:spPr>
        <p:txBody>
          <a:bodyPr wrap="square" lIns="0" tIns="0" rIns="0" bIns="0" rtlCol="0" anchor="ctr"/>
          <a:lstStyle/>
          <a:p>
            <a:pPr indent="0" marL="0">
              <a:buNone/>
            </a:pPr>
            <a:r>
              <a:rPr lang="en-US" sz="1550" b="1" dirty="0">
                <a:solidFill>
                  <a:srgbClr val="6E6A63"/>
                </a:solidFill>
                <a:latin typeface="Arial" pitchFamily="34" charset="0"/>
                <a:ea typeface="Arial" pitchFamily="34" charset="-122"/>
                <a:cs typeface="Arial" pitchFamily="34" charset="-120"/>
              </a:rPr>
              <a:t>14 Oct</a:t>
            </a:r>
            <a:endParaRPr lang="en-US" sz="1550" dirty="0"/>
          </a:p>
        </p:txBody>
      </p:sp>
      <p:sp>
        <p:nvSpPr>
          <p:cNvPr id="18" name="Text 16"/>
          <p:cNvSpPr/>
          <p:nvPr/>
        </p:nvSpPr>
        <p:spPr>
          <a:xfrm>
            <a:off x="1975104" y="3779101"/>
            <a:ext cx="2834640" cy="315773"/>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Self assessment</a:t>
            </a:r>
            <a:endParaRPr lang="en-US" sz="1500" dirty="0"/>
          </a:p>
        </p:txBody>
      </p:sp>
      <p:sp>
        <p:nvSpPr>
          <p:cNvPr id="19" name="Text 17"/>
          <p:cNvSpPr/>
          <p:nvPr/>
        </p:nvSpPr>
        <p:spPr>
          <a:xfrm>
            <a:off x="4901184" y="3779101"/>
            <a:ext cx="6504127" cy="315773"/>
          </a:xfrm>
          <a:prstGeom prst="rect">
            <a:avLst/>
          </a:prstGeom>
          <a:noFill/>
          <a:ln/>
        </p:spPr>
        <p:txBody>
          <a:bodyPr wrap="square" lIns="0" tIns="0" rIns="0" bIns="0" rtlCol="0" anchor="ctr"/>
          <a:lstStyle/>
          <a:p>
            <a:pPr indent="0" marL="0">
              <a:buNone/>
            </a:pPr>
            <a:r>
              <a:rPr lang="en-US" sz="1450" dirty="0">
                <a:solidFill>
                  <a:srgbClr val="6E6A63"/>
                </a:solidFill>
                <a:latin typeface="Arial" pitchFamily="34" charset="0"/>
                <a:ea typeface="Arial" pitchFamily="34" charset="-122"/>
                <a:cs typeface="Arial" pitchFamily="34" charset="-120"/>
              </a:rPr>
              <a:t>Image descriptions indexed, scoring above zero on Lv3</a:t>
            </a:r>
            <a:endParaRPr lang="en-US" sz="1450" dirty="0"/>
          </a:p>
        </p:txBody>
      </p:sp>
      <p:sp>
        <p:nvSpPr>
          <p:cNvPr id="20" name="Text 18"/>
          <p:cNvSpPr/>
          <p:nvPr/>
        </p:nvSpPr>
        <p:spPr>
          <a:xfrm>
            <a:off x="786384" y="4331703"/>
            <a:ext cx="1051560" cy="315773"/>
          </a:xfrm>
          <a:prstGeom prst="rect">
            <a:avLst/>
          </a:prstGeom>
          <a:noFill/>
          <a:ln/>
        </p:spPr>
        <p:txBody>
          <a:bodyPr wrap="square" lIns="0" tIns="0" rIns="0" bIns="0" rtlCol="0" anchor="ctr"/>
          <a:lstStyle/>
          <a:p>
            <a:pPr indent="0" marL="0">
              <a:buNone/>
            </a:pPr>
            <a:r>
              <a:rPr lang="en-US" sz="1550" b="1" dirty="0">
                <a:solidFill>
                  <a:srgbClr val="C0402A"/>
                </a:solidFill>
                <a:latin typeface="Arial" pitchFamily="34" charset="0"/>
                <a:ea typeface="Arial" pitchFamily="34" charset="-122"/>
                <a:cs typeface="Arial" pitchFamily="34" charset="-120"/>
              </a:rPr>
              <a:t>21 Oct</a:t>
            </a:r>
            <a:endParaRPr lang="en-US" sz="1550" dirty="0"/>
          </a:p>
        </p:txBody>
      </p:sp>
      <p:sp>
        <p:nvSpPr>
          <p:cNvPr id="21" name="Text 19"/>
          <p:cNvSpPr/>
          <p:nvPr/>
        </p:nvSpPr>
        <p:spPr>
          <a:xfrm>
            <a:off x="1975104" y="4331703"/>
            <a:ext cx="2834640" cy="315773"/>
          </a:xfrm>
          <a:prstGeom prst="rect">
            <a:avLst/>
          </a:prstGeom>
          <a:noFill/>
          <a:ln/>
        </p:spPr>
        <p:txBody>
          <a:bodyPr wrap="square" lIns="0" tIns="0" rIns="0" bIns="0" rtlCol="0" anchor="ctr"/>
          <a:lstStyle/>
          <a:p>
            <a:pPr indent="0" marL="0">
              <a:buNone/>
            </a:pPr>
            <a:r>
              <a:rPr lang="en-US" sz="1500" b="1" dirty="0">
                <a:solidFill>
                  <a:srgbClr val="141414"/>
                </a:solidFill>
                <a:latin typeface="Arial" pitchFamily="34" charset="0"/>
                <a:ea typeface="Arial" pitchFamily="34" charset="-122"/>
                <a:cs typeface="Arial" pitchFamily="34" charset="-120"/>
              </a:rPr>
              <a:t>Preliminary submission</a:t>
            </a:r>
            <a:endParaRPr lang="en-US" sz="1500" dirty="0"/>
          </a:p>
        </p:txBody>
      </p:sp>
      <p:sp>
        <p:nvSpPr>
          <p:cNvPr id="22" name="Text 20"/>
          <p:cNvSpPr/>
          <p:nvPr/>
        </p:nvSpPr>
        <p:spPr>
          <a:xfrm>
            <a:off x="4901184" y="4331703"/>
            <a:ext cx="6504127" cy="315773"/>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Code and vector database, submitted through Codabench</a:t>
            </a:r>
            <a:endParaRPr lang="en-US" sz="1450" dirty="0"/>
          </a:p>
        </p:txBody>
      </p:sp>
      <p:sp>
        <p:nvSpPr>
          <p:cNvPr id="23" name="Text 21"/>
          <p:cNvSpPr/>
          <p:nvPr/>
        </p:nvSpPr>
        <p:spPr>
          <a:xfrm>
            <a:off x="786384" y="4884306"/>
            <a:ext cx="1051560" cy="315773"/>
          </a:xfrm>
          <a:prstGeom prst="rect">
            <a:avLst/>
          </a:prstGeom>
          <a:noFill/>
          <a:ln/>
        </p:spPr>
        <p:txBody>
          <a:bodyPr wrap="square" lIns="0" tIns="0" rIns="0" bIns="0" rtlCol="0" anchor="ctr"/>
          <a:lstStyle/>
          <a:p>
            <a:pPr indent="0" marL="0">
              <a:buNone/>
            </a:pPr>
            <a:r>
              <a:rPr lang="en-US" sz="1550" b="1" dirty="0">
                <a:solidFill>
                  <a:srgbClr val="C0402A"/>
                </a:solidFill>
                <a:latin typeface="Arial" pitchFamily="34" charset="0"/>
                <a:ea typeface="Arial" pitchFamily="34" charset="-122"/>
                <a:cs typeface="Arial" pitchFamily="34" charset="-120"/>
              </a:rPr>
              <a:t>28 Oct</a:t>
            </a:r>
            <a:endParaRPr lang="en-US" sz="1550" dirty="0"/>
          </a:p>
        </p:txBody>
      </p:sp>
      <p:sp>
        <p:nvSpPr>
          <p:cNvPr id="24" name="Text 22"/>
          <p:cNvSpPr/>
          <p:nvPr/>
        </p:nvSpPr>
        <p:spPr>
          <a:xfrm>
            <a:off x="1975104" y="4884306"/>
            <a:ext cx="2834640" cy="315773"/>
          </a:xfrm>
          <a:prstGeom prst="rect">
            <a:avLst/>
          </a:prstGeom>
          <a:noFill/>
          <a:ln/>
        </p:spPr>
        <p:txBody>
          <a:bodyPr wrap="square" lIns="0" tIns="0" rIns="0" bIns="0" rtlCol="0" anchor="ctr"/>
          <a:lstStyle/>
          <a:p>
            <a:pPr indent="0" marL="0">
              <a:buNone/>
            </a:pPr>
            <a:r>
              <a:rPr lang="en-US" sz="1500" b="1" dirty="0">
                <a:solidFill>
                  <a:srgbClr val="141414"/>
                </a:solidFill>
                <a:latin typeface="Arial" pitchFamily="34" charset="0"/>
                <a:ea typeface="Arial" pitchFamily="34" charset="-122"/>
                <a:cs typeface="Arial" pitchFamily="34" charset="-120"/>
              </a:rPr>
              <a:t>Final</a:t>
            </a:r>
            <a:endParaRPr lang="en-US" sz="1500" dirty="0"/>
          </a:p>
        </p:txBody>
      </p:sp>
      <p:sp>
        <p:nvSpPr>
          <p:cNvPr id="25" name="Text 23"/>
          <p:cNvSpPr/>
          <p:nvPr/>
        </p:nvSpPr>
        <p:spPr>
          <a:xfrm>
            <a:off x="4901184" y="4884306"/>
            <a:ext cx="6504127" cy="315773"/>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Live, in Inno Wing</a:t>
            </a:r>
            <a:endParaRPr lang="en-US" sz="1450" dirty="0"/>
          </a:p>
        </p:txBody>
      </p:sp>
      <p:sp>
        <p:nvSpPr>
          <p:cNvPr id="26" name="Text 24"/>
          <p:cNvSpPr/>
          <p:nvPr/>
        </p:nvSpPr>
        <p:spPr>
          <a:xfrm>
            <a:off x="786384" y="5545455"/>
            <a:ext cx="9344656" cy="690753"/>
          </a:xfrm>
          <a:prstGeom prst="rect">
            <a:avLst/>
          </a:prstGeom>
          <a:noFill/>
          <a:ln/>
        </p:spPr>
        <p:txBody>
          <a:bodyPr wrap="square" lIns="0" tIns="0" rIns="0" bIns="0" rtlCol="0" anchor="ctr"/>
          <a:lstStyle/>
          <a:p>
            <a:pPr indent="0" marL="0">
              <a:lnSpc>
                <a:spcPts val="2200"/>
              </a:lnSpc>
              <a:buNone/>
            </a:pPr>
            <a:r>
              <a:rPr lang="en-US" sz="1500" dirty="0">
                <a:solidFill>
                  <a:srgbClr val="6E6A63"/>
                </a:solidFill>
                <a:latin typeface="Arial" pitchFamily="34" charset="0"/>
                <a:ea typeface="Arial" pitchFamily="34" charset="-122"/>
                <a:cs typeface="Arial" pitchFamily="34" charset="-120"/>
              </a:rPr>
              <a:t>Workshops 1 and 2 each run 1.5 hours, with an optional 30 minute open lab afterwards. Mentors stay for the open lab. Leaving on the hour means missing nothing compulsory.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How It Runs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03</a:t>
            </a:r>
            <a:endParaRPr lang="en-US" sz="1200" dirty="0"/>
          </a:p>
        </p:txBody>
      </p:sp>
      <p:sp>
        <p:nvSpPr>
          <p:cNvPr id="6" name="Text 3"/>
          <p:cNvSpPr/>
          <p:nvPr/>
        </p:nvSpPr>
        <p:spPr>
          <a:xfrm>
            <a:off x="786384" y="1559966"/>
            <a:ext cx="6583735" cy="1207008"/>
          </a:xfrm>
          <a:prstGeom prst="rect">
            <a:avLst/>
          </a:prstGeom>
          <a:noFill/>
          <a:ln/>
        </p:spPr>
        <p:txBody>
          <a:bodyPr wrap="square" lIns="0" tIns="0" rIns="0" bIns="0" rtlCol="0" anchor="ctr"/>
          <a:lstStyle/>
          <a:p>
            <a:pPr indent="0" marL="0">
              <a:lnSpc>
                <a:spcPts val="2700"/>
              </a:lnSpc>
              <a:buNone/>
            </a:pPr>
            <a:r>
              <a:rPr lang="en-US" sz="1800" dirty="0">
                <a:solidFill>
                  <a:srgbClr val="141414"/>
                </a:solidFill>
                <a:latin typeface="Arial" pitchFamily="34" charset="0"/>
                <a:ea typeface="Arial" pitchFamily="34" charset="-122"/>
                <a:cs typeface="Arial" pitchFamily="34" charset="-120"/>
              </a:rPr>
              <a:t>A chatbot that answers questions about Inno Wing. It runs from the command line, prints one answer, and judges score that answer.</a:t>
            </a:r>
            <a:endParaRPr lang="en-US" sz="1800" dirty="0"/>
          </a:p>
        </p:txBody>
      </p:sp>
      <p:sp>
        <p:nvSpPr>
          <p:cNvPr id="7" name="Shape 4"/>
          <p:cNvSpPr/>
          <p:nvPr/>
        </p:nvSpPr>
        <p:spPr>
          <a:xfrm>
            <a:off x="786384" y="3008376"/>
            <a:ext cx="6583735" cy="2003633"/>
          </a:xfrm>
          <a:prstGeom prst="rect">
            <a:avLst/>
          </a:prstGeom>
          <a:solidFill>
            <a:srgbClr val="F2EFEA"/>
          </a:solidFill>
          <a:ln/>
        </p:spPr>
      </p:sp>
      <p:sp>
        <p:nvSpPr>
          <p:cNvPr id="8" name="Shape 5"/>
          <p:cNvSpPr/>
          <p:nvPr/>
        </p:nvSpPr>
        <p:spPr>
          <a:xfrm>
            <a:off x="786384" y="3008376"/>
            <a:ext cx="27432" cy="2003633"/>
          </a:xfrm>
          <a:prstGeom prst="rect">
            <a:avLst/>
          </a:prstGeom>
          <a:solidFill>
            <a:srgbClr val="C0402A"/>
          </a:solidFill>
          <a:ln/>
        </p:spPr>
      </p:sp>
      <p:sp>
        <p:nvSpPr>
          <p:cNvPr id="9" name="Text 6"/>
          <p:cNvSpPr/>
          <p:nvPr/>
        </p:nvSpPr>
        <p:spPr>
          <a:xfrm>
            <a:off x="1042416" y="3201497"/>
            <a:ext cx="6144823" cy="1617391"/>
          </a:xfrm>
          <a:prstGeom prst="rect">
            <a:avLst/>
          </a:prstGeom>
          <a:noFill/>
          <a:ln/>
        </p:spPr>
        <p:txBody>
          <a:bodyPr wrap="square" lIns="0" tIns="0" rIns="0" bIns="0" rtlCol="0" anchor="t"/>
          <a:lstStyle/>
          <a:p>
            <a:pPr indent="0" marL="0">
              <a:lnSpc>
                <a:spcPts val="2000"/>
              </a:lnSpc>
              <a:buNone/>
            </a:pPr>
            <a:r>
              <a:rPr lang="en-US" sz="1400" dirty="0">
                <a:solidFill>
                  <a:srgbClr val="2A2724"/>
                </a:solidFill>
                <a:latin typeface="Courier New" pitchFamily="34" charset="0"/>
                <a:ea typeface="Courier New" pitchFamily="34" charset="-122"/>
                <a:cs typeface="Courier New" pitchFamily="34" charset="-120"/>
              </a:rPr>
              <a:t>$ python trivia.py "What faculty does the</a:t>
            </a:r>
            <a:endParaRPr lang="en-US" sz="1400" dirty="0"/>
          </a:p>
          <a:p>
            <a:pPr indent="0" marL="0">
              <a:lnSpc>
                <a:spcPts val="2000"/>
              </a:lnSpc>
              <a:buNone/>
            </a:pPr>
            <a:r>
              <a:rPr lang="en-US" sz="1400" dirty="0">
                <a:solidFill>
                  <a:srgbClr val="2A2724"/>
                </a:solidFill>
                <a:latin typeface="Courier New" pitchFamily="34" charset="0"/>
                <a:ea typeface="Courier New" pitchFamily="34" charset="-122"/>
                <a:cs typeface="Courier New" pitchFamily="34" charset="-120"/>
              </a:rPr>
              <a:t>   Tam Wing Fan Innovation Wing belong to?"</a:t>
            </a:r>
            <a:endParaRPr lang="en-US" sz="1400" dirty="0"/>
          </a:p>
          <a:p>
            <a:pPr indent="0" marL="0">
              <a:lnSpc>
                <a:spcPts val="2000"/>
              </a:lnSpc>
              <a:buNone/>
            </a:pPr>
            <a:endParaRPr lang="en-US" sz="1400" dirty="0"/>
          </a:p>
          <a:p>
            <a:pPr indent="0" marL="0">
              <a:lnSpc>
                <a:spcPts val="2000"/>
              </a:lnSpc>
              <a:buNone/>
            </a:pPr>
            <a:r>
              <a:rPr lang="en-US" sz="1400" dirty="0">
                <a:solidFill>
                  <a:srgbClr val="2A2724"/>
                </a:solidFill>
                <a:latin typeface="Courier New" pitchFamily="34" charset="0"/>
                <a:ea typeface="Courier New" pitchFamily="34" charset="-122"/>
                <a:cs typeface="Courier New" pitchFamily="34" charset="-120"/>
              </a:rPr>
              <a:t>Engineering</a:t>
            </a:r>
            <a:endParaRPr lang="en-US" sz="1400" dirty="0"/>
          </a:p>
        </p:txBody>
      </p:sp>
      <p:sp>
        <p:nvSpPr>
          <p:cNvPr id="10" name="Shape 7"/>
          <p:cNvSpPr/>
          <p:nvPr/>
        </p:nvSpPr>
        <p:spPr>
          <a:xfrm>
            <a:off x="7794876" y="1559966"/>
            <a:ext cx="3610435" cy="21726"/>
          </a:xfrm>
          <a:prstGeom prst="rect">
            <a:avLst/>
          </a:prstGeom>
          <a:solidFill>
            <a:srgbClr val="141414"/>
          </a:solidFill>
          <a:ln/>
        </p:spPr>
      </p:sp>
      <p:sp>
        <p:nvSpPr>
          <p:cNvPr id="11" name="Text 8"/>
          <p:cNvSpPr/>
          <p:nvPr/>
        </p:nvSpPr>
        <p:spPr>
          <a:xfrm>
            <a:off x="7794876" y="1753088"/>
            <a:ext cx="3610435"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Two rounds</a:t>
            </a:r>
            <a:endParaRPr lang="en-US" sz="1950" dirty="0"/>
          </a:p>
        </p:txBody>
      </p:sp>
      <p:sp>
        <p:nvSpPr>
          <p:cNvPr id="12" name="Text 9"/>
          <p:cNvSpPr/>
          <p:nvPr/>
        </p:nvSpPr>
        <p:spPr>
          <a:xfrm>
            <a:off x="7794876" y="2303953"/>
            <a:ext cx="3610435" cy="2524658"/>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Preliminary, 20 questions, submitted by 21 October. Twenty teams cut to five.</a:t>
            </a:r>
            <a:endParaRPr lang="en-US" sz="1750" dirty="0"/>
          </a:p>
          <a:p>
            <a:pPr indent="0" marL="0">
              <a:lnSpc>
                <a:spcPts val="2450"/>
              </a:lnSpc>
              <a:buNone/>
            </a:pPr>
            <a:endParaRPr lang="en-US" sz="1750" dirty="0"/>
          </a:p>
          <a:p>
            <a:pPr indent="0" marL="0">
              <a:lnSpc>
                <a:spcPts val="2450"/>
              </a:lnSpc>
              <a:buNone/>
            </a:pPr>
            <a:r>
              <a:rPr lang="en-US" sz="1750" dirty="0">
                <a:solidFill>
                  <a:srgbClr val="141414"/>
                </a:solidFill>
                <a:latin typeface="Arial" pitchFamily="34" charset="0"/>
                <a:ea typeface="Arial" pitchFamily="34" charset="-122"/>
                <a:cs typeface="Arial" pitchFamily="34" charset="-120"/>
              </a:rPr>
              <a:t>Final, 20 questions, live on 28 October.</a:t>
            </a:r>
            <a:endParaRPr lang="en-US" sz="1750" dirty="0"/>
          </a:p>
        </p:txBody>
      </p:sp>
      <p:sp>
        <p:nvSpPr>
          <p:cNvPr id="13" name="Text 10"/>
          <p:cNvSpPr/>
          <p:nvPr/>
        </p:nvSpPr>
        <p:spPr>
          <a:xfrm>
            <a:off x="786384" y="5362042"/>
            <a:ext cx="10618927" cy="482803"/>
          </a:xfrm>
          <a:prstGeom prst="rect">
            <a:avLst/>
          </a:prstGeom>
          <a:noFill/>
          <a:ln/>
        </p:spPr>
        <p:txBody>
          <a:bodyPr wrap="square" lIns="0" tIns="0" rIns="0" bIns="0" rtlCol="0" anchor="ctr"/>
          <a:lstStyle/>
          <a:p>
            <a:pPr indent="0" marL="0">
              <a:buNone/>
            </a:pPr>
            <a:r>
              <a:rPr lang="en-US" sz="1500" i="1" dirty="0">
                <a:solidFill>
                  <a:srgbClr val="6E6A63"/>
                </a:solidFill>
                <a:latin typeface="Arial" pitchFamily="34" charset="0"/>
                <a:ea typeface="Arial" pitchFamily="34" charset="-122"/>
                <a:cs typeface="Arial" pitchFamily="34" charset="-120"/>
              </a:rPr>
              <a:t>This session covers setup only. The pipeline itself starts in Workshop 1.</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Five Question Levels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04</a:t>
            </a:r>
            <a:endParaRPr lang="en-US" sz="1200" dirty="0"/>
          </a:p>
        </p:txBody>
      </p:sp>
      <p:sp>
        <p:nvSpPr>
          <p:cNvPr id="6" name="Text 3"/>
          <p:cNvSpPr/>
          <p:nvPr/>
        </p:nvSpPr>
        <p:spPr>
          <a:xfrm>
            <a:off x="877824" y="1533856"/>
            <a:ext cx="914400" cy="296750"/>
          </a:xfrm>
          <a:prstGeom prst="rect">
            <a:avLst/>
          </a:prstGeom>
          <a:noFill/>
          <a:ln/>
        </p:spPr>
        <p:txBody>
          <a:bodyPr wrap="square" lIns="0" tIns="0" rIns="0" bIns="0" rtlCol="0" anchor="ctr"/>
          <a:lstStyle/>
          <a:p>
            <a:pPr indent="0" marL="0">
              <a:buNone/>
            </a:pPr>
            <a:r>
              <a:rPr lang="en-US" sz="1050" b="1" spc="140" kern="0" dirty="0">
                <a:solidFill>
                  <a:srgbClr val="6E6A63"/>
                </a:solidFill>
                <a:latin typeface="Arial" pitchFamily="34" charset="0"/>
                <a:ea typeface="Arial" pitchFamily="34" charset="-122"/>
                <a:cs typeface="Arial" pitchFamily="34" charset="-120"/>
              </a:rPr>
              <a:t>LEVEL</a:t>
            </a:r>
            <a:endParaRPr lang="en-US" sz="1050" dirty="0"/>
          </a:p>
        </p:txBody>
      </p:sp>
      <p:sp>
        <p:nvSpPr>
          <p:cNvPr id="7" name="Text 4"/>
          <p:cNvSpPr/>
          <p:nvPr/>
        </p:nvSpPr>
        <p:spPr>
          <a:xfrm>
            <a:off x="4718304" y="1533856"/>
            <a:ext cx="4023360" cy="296750"/>
          </a:xfrm>
          <a:prstGeom prst="rect">
            <a:avLst/>
          </a:prstGeom>
          <a:noFill/>
          <a:ln/>
        </p:spPr>
        <p:txBody>
          <a:bodyPr wrap="square" lIns="0" tIns="0" rIns="0" bIns="0" rtlCol="0" anchor="ctr"/>
          <a:lstStyle/>
          <a:p>
            <a:pPr indent="0" marL="0">
              <a:buNone/>
            </a:pPr>
            <a:r>
              <a:rPr lang="en-US" sz="1050" b="1" spc="140" kern="0" dirty="0">
                <a:solidFill>
                  <a:srgbClr val="6E6A63"/>
                </a:solidFill>
                <a:latin typeface="Arial" pitchFamily="34" charset="0"/>
                <a:ea typeface="Arial" pitchFamily="34" charset="-122"/>
                <a:cs typeface="Arial" pitchFamily="34" charset="-120"/>
              </a:rPr>
              <a:t>WHERE THE ANSWER LIVES</a:t>
            </a:r>
            <a:endParaRPr lang="en-US" sz="1050" dirty="0"/>
          </a:p>
        </p:txBody>
      </p:sp>
      <p:sp>
        <p:nvSpPr>
          <p:cNvPr id="8" name="Text 5"/>
          <p:cNvSpPr/>
          <p:nvPr/>
        </p:nvSpPr>
        <p:spPr>
          <a:xfrm>
            <a:off x="9393631" y="1533856"/>
            <a:ext cx="2011680" cy="296750"/>
          </a:xfrm>
          <a:prstGeom prst="rect">
            <a:avLst/>
          </a:prstGeom>
          <a:noFill/>
          <a:ln/>
        </p:spPr>
        <p:txBody>
          <a:bodyPr wrap="square" lIns="0" tIns="0" rIns="0" bIns="0" rtlCol="0" anchor="ctr"/>
          <a:lstStyle/>
          <a:p>
            <a:pPr algn="r" indent="0" marL="0">
              <a:buNone/>
            </a:pPr>
            <a:r>
              <a:rPr lang="en-US" sz="1050" b="1" spc="140" kern="0" dirty="0">
                <a:solidFill>
                  <a:srgbClr val="6E6A63"/>
                </a:solidFill>
                <a:latin typeface="Arial" pitchFamily="34" charset="0"/>
                <a:ea typeface="Arial" pitchFamily="34" charset="-122"/>
                <a:cs typeface="Arial" pitchFamily="34" charset="-120"/>
              </a:rPr>
              <a:t>PRELIM / FINAL %</a:t>
            </a:r>
            <a:endParaRPr lang="en-US" sz="1050" dirty="0"/>
          </a:p>
        </p:txBody>
      </p:sp>
      <p:sp>
        <p:nvSpPr>
          <p:cNvPr id="9" name="Shape 6"/>
          <p:cNvSpPr/>
          <p:nvPr/>
        </p:nvSpPr>
        <p:spPr>
          <a:xfrm>
            <a:off x="786384" y="1967568"/>
            <a:ext cx="566928" cy="353818"/>
          </a:xfrm>
          <a:prstGeom prst="roundRect">
            <a:avLst>
              <a:gd name="adj" fmla="val 12922"/>
            </a:avLst>
          </a:prstGeom>
          <a:solidFill>
            <a:srgbClr val="8A857D"/>
          </a:solidFill>
          <a:ln/>
        </p:spPr>
      </p:sp>
      <p:sp>
        <p:nvSpPr>
          <p:cNvPr id="10" name="Text 7"/>
          <p:cNvSpPr/>
          <p:nvPr/>
        </p:nvSpPr>
        <p:spPr>
          <a:xfrm>
            <a:off x="786384" y="1967568"/>
            <a:ext cx="566928" cy="35381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Lv1</a:t>
            </a:r>
            <a:endParaRPr lang="en-US" sz="1150" dirty="0"/>
          </a:p>
        </p:txBody>
      </p:sp>
      <p:sp>
        <p:nvSpPr>
          <p:cNvPr id="11" name="Text 8"/>
          <p:cNvSpPr/>
          <p:nvPr/>
        </p:nvSpPr>
        <p:spPr>
          <a:xfrm>
            <a:off x="1563624" y="1944742"/>
            <a:ext cx="3108960" cy="388058"/>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General knowledge</a:t>
            </a:r>
            <a:endParaRPr lang="en-US" sz="1600" dirty="0"/>
          </a:p>
        </p:txBody>
      </p:sp>
      <p:sp>
        <p:nvSpPr>
          <p:cNvPr id="12" name="Text 9"/>
          <p:cNvSpPr/>
          <p:nvPr/>
        </p:nvSpPr>
        <p:spPr>
          <a:xfrm>
            <a:off x="4718304" y="1956155"/>
            <a:ext cx="4206240" cy="388058"/>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The model already knows it</a:t>
            </a:r>
            <a:endParaRPr lang="en-US" sz="1450" dirty="0"/>
          </a:p>
        </p:txBody>
      </p:sp>
      <p:sp>
        <p:nvSpPr>
          <p:cNvPr id="13" name="Text 10"/>
          <p:cNvSpPr/>
          <p:nvPr/>
        </p:nvSpPr>
        <p:spPr>
          <a:xfrm>
            <a:off x="9393631" y="1956155"/>
            <a:ext cx="2011680" cy="388058"/>
          </a:xfrm>
          <a:prstGeom prst="rect">
            <a:avLst/>
          </a:prstGeom>
          <a:noFill/>
          <a:ln/>
        </p:spPr>
        <p:txBody>
          <a:bodyPr wrap="square" lIns="0" tIns="0" rIns="0" bIns="0" rtlCol="0" anchor="ctr"/>
          <a:lstStyle/>
          <a:p>
            <a:pPr algn="r" indent="0" marL="0">
              <a:buNone/>
            </a:pPr>
            <a:r>
              <a:rPr lang="en-US" sz="1450" dirty="0">
                <a:solidFill>
                  <a:srgbClr val="6E6A63"/>
                </a:solidFill>
                <a:latin typeface="Arial" pitchFamily="34" charset="0"/>
                <a:ea typeface="Arial" pitchFamily="34" charset="-122"/>
                <a:cs typeface="Arial" pitchFamily="34" charset="-120"/>
              </a:rPr>
              <a:t>30 / 30</a:t>
            </a:r>
            <a:endParaRPr lang="en-US" sz="1450" dirty="0"/>
          </a:p>
        </p:txBody>
      </p:sp>
      <p:sp>
        <p:nvSpPr>
          <p:cNvPr id="14" name="Shape 11"/>
          <p:cNvSpPr/>
          <p:nvPr/>
        </p:nvSpPr>
        <p:spPr>
          <a:xfrm>
            <a:off x="786384" y="2675204"/>
            <a:ext cx="566928" cy="353818"/>
          </a:xfrm>
          <a:prstGeom prst="roundRect">
            <a:avLst>
              <a:gd name="adj" fmla="val 12922"/>
            </a:avLst>
          </a:prstGeom>
          <a:solidFill>
            <a:srgbClr val="6E6A63"/>
          </a:solidFill>
          <a:ln/>
        </p:spPr>
      </p:sp>
      <p:sp>
        <p:nvSpPr>
          <p:cNvPr id="15" name="Text 12"/>
          <p:cNvSpPr/>
          <p:nvPr/>
        </p:nvSpPr>
        <p:spPr>
          <a:xfrm>
            <a:off x="786384" y="2675204"/>
            <a:ext cx="566928" cy="35381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Lv2</a:t>
            </a:r>
            <a:endParaRPr lang="en-US" sz="1150" dirty="0"/>
          </a:p>
        </p:txBody>
      </p:sp>
      <p:sp>
        <p:nvSpPr>
          <p:cNvPr id="16" name="Text 13"/>
          <p:cNvSpPr/>
          <p:nvPr/>
        </p:nvSpPr>
        <p:spPr>
          <a:xfrm>
            <a:off x="1563624" y="2652377"/>
            <a:ext cx="3108960" cy="388058"/>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Text retrieval</a:t>
            </a:r>
            <a:endParaRPr lang="en-US" sz="1600" dirty="0"/>
          </a:p>
        </p:txBody>
      </p:sp>
      <p:sp>
        <p:nvSpPr>
          <p:cNvPr id="17" name="Text 14"/>
          <p:cNvSpPr/>
          <p:nvPr/>
        </p:nvSpPr>
        <p:spPr>
          <a:xfrm>
            <a:off x="4718304" y="2663790"/>
            <a:ext cx="4206240" cy="388058"/>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Buried in the website text</a:t>
            </a:r>
            <a:endParaRPr lang="en-US" sz="1450" dirty="0"/>
          </a:p>
        </p:txBody>
      </p:sp>
      <p:sp>
        <p:nvSpPr>
          <p:cNvPr id="18" name="Text 15"/>
          <p:cNvSpPr/>
          <p:nvPr/>
        </p:nvSpPr>
        <p:spPr>
          <a:xfrm>
            <a:off x="9393631" y="2663790"/>
            <a:ext cx="2011680" cy="388058"/>
          </a:xfrm>
          <a:prstGeom prst="rect">
            <a:avLst/>
          </a:prstGeom>
          <a:noFill/>
          <a:ln/>
        </p:spPr>
        <p:txBody>
          <a:bodyPr wrap="square" lIns="0" tIns="0" rIns="0" bIns="0" rtlCol="0" anchor="ctr"/>
          <a:lstStyle/>
          <a:p>
            <a:pPr algn="r" indent="0" marL="0">
              <a:buNone/>
            </a:pPr>
            <a:r>
              <a:rPr lang="en-US" sz="1450" dirty="0">
                <a:solidFill>
                  <a:srgbClr val="6E6A63"/>
                </a:solidFill>
                <a:latin typeface="Arial" pitchFamily="34" charset="0"/>
                <a:ea typeface="Arial" pitchFamily="34" charset="-122"/>
                <a:cs typeface="Arial" pitchFamily="34" charset="-120"/>
              </a:rPr>
              <a:t>30 / 30</a:t>
            </a:r>
            <a:endParaRPr lang="en-US" sz="1450" dirty="0"/>
          </a:p>
        </p:txBody>
      </p:sp>
      <p:sp>
        <p:nvSpPr>
          <p:cNvPr id="19" name="Shape 16"/>
          <p:cNvSpPr/>
          <p:nvPr/>
        </p:nvSpPr>
        <p:spPr>
          <a:xfrm>
            <a:off x="786384" y="3382839"/>
            <a:ext cx="566928" cy="353818"/>
          </a:xfrm>
          <a:prstGeom prst="roundRect">
            <a:avLst>
              <a:gd name="adj" fmla="val 12922"/>
            </a:avLst>
          </a:prstGeom>
          <a:solidFill>
            <a:srgbClr val="4A4741"/>
          </a:solidFill>
          <a:ln/>
        </p:spPr>
      </p:sp>
      <p:sp>
        <p:nvSpPr>
          <p:cNvPr id="20" name="Text 17"/>
          <p:cNvSpPr/>
          <p:nvPr/>
        </p:nvSpPr>
        <p:spPr>
          <a:xfrm>
            <a:off x="786384" y="3382839"/>
            <a:ext cx="566928" cy="35381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Lv3</a:t>
            </a:r>
            <a:endParaRPr lang="en-US" sz="1150" dirty="0"/>
          </a:p>
        </p:txBody>
      </p:sp>
      <p:sp>
        <p:nvSpPr>
          <p:cNvPr id="21" name="Text 18"/>
          <p:cNvSpPr/>
          <p:nvPr/>
        </p:nvSpPr>
        <p:spPr>
          <a:xfrm>
            <a:off x="1563624" y="3360012"/>
            <a:ext cx="3108960" cy="388058"/>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Visual retrieval</a:t>
            </a:r>
            <a:endParaRPr lang="en-US" sz="1600" dirty="0"/>
          </a:p>
        </p:txBody>
      </p:sp>
      <p:sp>
        <p:nvSpPr>
          <p:cNvPr id="22" name="Text 19"/>
          <p:cNvSpPr/>
          <p:nvPr/>
        </p:nvSpPr>
        <p:spPr>
          <a:xfrm>
            <a:off x="4718304" y="3371426"/>
            <a:ext cx="4206240" cy="388058"/>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Only inside an image</a:t>
            </a:r>
            <a:endParaRPr lang="en-US" sz="1450" dirty="0"/>
          </a:p>
        </p:txBody>
      </p:sp>
      <p:sp>
        <p:nvSpPr>
          <p:cNvPr id="23" name="Text 20"/>
          <p:cNvSpPr/>
          <p:nvPr/>
        </p:nvSpPr>
        <p:spPr>
          <a:xfrm>
            <a:off x="9393631" y="3371426"/>
            <a:ext cx="2011680" cy="388058"/>
          </a:xfrm>
          <a:prstGeom prst="rect">
            <a:avLst/>
          </a:prstGeom>
          <a:noFill/>
          <a:ln/>
        </p:spPr>
        <p:txBody>
          <a:bodyPr wrap="square" lIns="0" tIns="0" rIns="0" bIns="0" rtlCol="0" anchor="ctr"/>
          <a:lstStyle/>
          <a:p>
            <a:pPr algn="r" indent="0" marL="0">
              <a:buNone/>
            </a:pPr>
            <a:r>
              <a:rPr lang="en-US" sz="1450" dirty="0">
                <a:solidFill>
                  <a:srgbClr val="6E6A63"/>
                </a:solidFill>
                <a:latin typeface="Arial" pitchFamily="34" charset="0"/>
                <a:ea typeface="Arial" pitchFamily="34" charset="-122"/>
                <a:cs typeface="Arial" pitchFamily="34" charset="-120"/>
              </a:rPr>
              <a:t>40 / 30</a:t>
            </a:r>
            <a:endParaRPr lang="en-US" sz="1450" dirty="0"/>
          </a:p>
        </p:txBody>
      </p:sp>
      <p:sp>
        <p:nvSpPr>
          <p:cNvPr id="24" name="Shape 21"/>
          <p:cNvSpPr/>
          <p:nvPr/>
        </p:nvSpPr>
        <p:spPr>
          <a:xfrm>
            <a:off x="786384" y="4090475"/>
            <a:ext cx="566928" cy="353818"/>
          </a:xfrm>
          <a:prstGeom prst="roundRect">
            <a:avLst>
              <a:gd name="adj" fmla="val 12922"/>
            </a:avLst>
          </a:prstGeom>
          <a:solidFill>
            <a:srgbClr val="2E2C28"/>
          </a:solidFill>
          <a:ln/>
        </p:spPr>
      </p:sp>
      <p:sp>
        <p:nvSpPr>
          <p:cNvPr id="25" name="Text 22"/>
          <p:cNvSpPr/>
          <p:nvPr/>
        </p:nvSpPr>
        <p:spPr>
          <a:xfrm>
            <a:off x="786384" y="4090475"/>
            <a:ext cx="566928" cy="35381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Lv4</a:t>
            </a:r>
            <a:endParaRPr lang="en-US" sz="1150" dirty="0"/>
          </a:p>
        </p:txBody>
      </p:sp>
      <p:sp>
        <p:nvSpPr>
          <p:cNvPr id="26" name="Text 23"/>
          <p:cNvSpPr/>
          <p:nvPr/>
        </p:nvSpPr>
        <p:spPr>
          <a:xfrm>
            <a:off x="1563624" y="4067648"/>
            <a:ext cx="3108960" cy="388058"/>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Reasoning</a:t>
            </a:r>
            <a:endParaRPr lang="en-US" sz="1600" dirty="0"/>
          </a:p>
        </p:txBody>
      </p:sp>
      <p:sp>
        <p:nvSpPr>
          <p:cNvPr id="27" name="Text 24"/>
          <p:cNvSpPr/>
          <p:nvPr/>
        </p:nvSpPr>
        <p:spPr>
          <a:xfrm>
            <a:off x="4718304" y="4079061"/>
            <a:ext cx="4206240" cy="388058"/>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Not written down anywhere</a:t>
            </a:r>
            <a:endParaRPr lang="en-US" sz="1450" dirty="0"/>
          </a:p>
        </p:txBody>
      </p:sp>
      <p:sp>
        <p:nvSpPr>
          <p:cNvPr id="28" name="Text 25"/>
          <p:cNvSpPr/>
          <p:nvPr/>
        </p:nvSpPr>
        <p:spPr>
          <a:xfrm>
            <a:off x="9393631" y="4079061"/>
            <a:ext cx="2011680" cy="388058"/>
          </a:xfrm>
          <a:prstGeom prst="rect">
            <a:avLst/>
          </a:prstGeom>
          <a:noFill/>
          <a:ln/>
        </p:spPr>
        <p:txBody>
          <a:bodyPr wrap="square" lIns="0" tIns="0" rIns="0" bIns="0" rtlCol="0" anchor="ctr"/>
          <a:lstStyle/>
          <a:p>
            <a:pPr algn="r" indent="0" marL="0">
              <a:buNone/>
            </a:pPr>
            <a:r>
              <a:rPr lang="en-US" sz="1450" dirty="0">
                <a:solidFill>
                  <a:srgbClr val="6E6A63"/>
                </a:solidFill>
                <a:latin typeface="Arial" pitchFamily="34" charset="0"/>
                <a:ea typeface="Arial" pitchFamily="34" charset="-122"/>
                <a:cs typeface="Arial" pitchFamily="34" charset="-120"/>
              </a:rPr>
              <a:t>0 / 30</a:t>
            </a:r>
            <a:endParaRPr lang="en-US" sz="1450" dirty="0"/>
          </a:p>
        </p:txBody>
      </p:sp>
      <p:sp>
        <p:nvSpPr>
          <p:cNvPr id="29" name="Shape 26"/>
          <p:cNvSpPr/>
          <p:nvPr/>
        </p:nvSpPr>
        <p:spPr>
          <a:xfrm>
            <a:off x="786384" y="4798110"/>
            <a:ext cx="566928" cy="353818"/>
          </a:xfrm>
          <a:prstGeom prst="roundRect">
            <a:avLst>
              <a:gd name="adj" fmla="val 12922"/>
            </a:avLst>
          </a:prstGeom>
          <a:solidFill>
            <a:srgbClr val="141414"/>
          </a:solidFill>
          <a:ln/>
        </p:spPr>
      </p:sp>
      <p:sp>
        <p:nvSpPr>
          <p:cNvPr id="30" name="Text 27"/>
          <p:cNvSpPr/>
          <p:nvPr/>
        </p:nvSpPr>
        <p:spPr>
          <a:xfrm>
            <a:off x="786384" y="4798110"/>
            <a:ext cx="566928" cy="35381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Lv5</a:t>
            </a:r>
            <a:endParaRPr lang="en-US" sz="1150" dirty="0"/>
          </a:p>
        </p:txBody>
      </p:sp>
      <p:sp>
        <p:nvSpPr>
          <p:cNvPr id="31" name="Text 28"/>
          <p:cNvSpPr/>
          <p:nvPr/>
        </p:nvSpPr>
        <p:spPr>
          <a:xfrm>
            <a:off x="1563624" y="4775283"/>
            <a:ext cx="3108960" cy="388058"/>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Physical world</a:t>
            </a:r>
            <a:endParaRPr lang="en-US" sz="1600" dirty="0"/>
          </a:p>
        </p:txBody>
      </p:sp>
      <p:sp>
        <p:nvSpPr>
          <p:cNvPr id="32" name="Text 29"/>
          <p:cNvSpPr/>
          <p:nvPr/>
        </p:nvSpPr>
        <p:spPr>
          <a:xfrm>
            <a:off x="4718304" y="4786697"/>
            <a:ext cx="4206240" cy="388058"/>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Only inside the building</a:t>
            </a:r>
            <a:endParaRPr lang="en-US" sz="1450" dirty="0"/>
          </a:p>
        </p:txBody>
      </p:sp>
      <p:sp>
        <p:nvSpPr>
          <p:cNvPr id="33" name="Text 30"/>
          <p:cNvSpPr/>
          <p:nvPr/>
        </p:nvSpPr>
        <p:spPr>
          <a:xfrm>
            <a:off x="9393631" y="4786697"/>
            <a:ext cx="2011680" cy="388058"/>
          </a:xfrm>
          <a:prstGeom prst="rect">
            <a:avLst/>
          </a:prstGeom>
          <a:noFill/>
          <a:ln/>
        </p:spPr>
        <p:txBody>
          <a:bodyPr wrap="square" lIns="0" tIns="0" rIns="0" bIns="0" rtlCol="0" anchor="ctr"/>
          <a:lstStyle/>
          <a:p>
            <a:pPr algn="r" indent="0" marL="0">
              <a:buNone/>
            </a:pPr>
            <a:r>
              <a:rPr lang="en-US" sz="1450" dirty="0">
                <a:solidFill>
                  <a:srgbClr val="6E6A63"/>
                </a:solidFill>
                <a:latin typeface="Arial" pitchFamily="34" charset="0"/>
                <a:ea typeface="Arial" pitchFamily="34" charset="-122"/>
                <a:cs typeface="Arial" pitchFamily="34" charset="-120"/>
              </a:rPr>
              <a:t>0 / 40</a:t>
            </a:r>
            <a:endParaRPr lang="en-US" sz="1450" dirty="0"/>
          </a:p>
        </p:txBody>
      </p:sp>
      <p:sp>
        <p:nvSpPr>
          <p:cNvPr id="34" name="Text 31"/>
          <p:cNvSpPr/>
          <p:nvPr/>
        </p:nvSpPr>
        <p:spPr>
          <a:xfrm>
            <a:off x="786384" y="5779669"/>
            <a:ext cx="10618927" cy="456539"/>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Levels 1 and 2 alone cover 60% of the preliminary round.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Competition Rules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786384" y="1335024"/>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Breaking any one of these voids the submission.</a:t>
            </a:r>
            <a:endParaRPr lang="en-US" sz="1750" dirty="0"/>
          </a:p>
        </p:txBody>
      </p:sp>
      <p:sp>
        <p:nvSpPr>
          <p:cNvPr id="5" name="Text 3"/>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05</a:t>
            </a:r>
            <a:endParaRPr lang="en-US" sz="1200" dirty="0"/>
          </a:p>
        </p:txBody>
      </p:sp>
      <p:sp>
        <p:nvSpPr>
          <p:cNvPr id="7" name="Shape 4"/>
          <p:cNvSpPr/>
          <p:nvPr/>
        </p:nvSpPr>
        <p:spPr>
          <a:xfrm>
            <a:off x="786384" y="2208967"/>
            <a:ext cx="5181448" cy="17017"/>
          </a:xfrm>
          <a:prstGeom prst="rect">
            <a:avLst/>
          </a:prstGeom>
          <a:solidFill>
            <a:srgbClr val="141414"/>
          </a:solidFill>
          <a:ln/>
        </p:spPr>
      </p:sp>
      <p:sp>
        <p:nvSpPr>
          <p:cNvPr id="8" name="Text 5"/>
          <p:cNvSpPr/>
          <p:nvPr/>
        </p:nvSpPr>
        <p:spPr>
          <a:xfrm>
            <a:off x="786384" y="2360225"/>
            <a:ext cx="5181448" cy="35582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No web search at runtime</a:t>
            </a:r>
            <a:endParaRPr lang="en-US" sz="1950" dirty="0"/>
          </a:p>
        </p:txBody>
      </p:sp>
      <p:sp>
        <p:nvSpPr>
          <p:cNvPr id="9" name="Text 6"/>
          <p:cNvSpPr/>
          <p:nvPr/>
        </p:nvSpPr>
        <p:spPr>
          <a:xfrm>
            <a:off x="786384" y="2791678"/>
            <a:ext cx="5181448" cy="690639"/>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Your bot cannot reach the internet while answering. Scrape in advance, store what you found.</a:t>
            </a:r>
            <a:endParaRPr lang="en-US" sz="1750" dirty="0"/>
          </a:p>
        </p:txBody>
      </p:sp>
      <p:sp>
        <p:nvSpPr>
          <p:cNvPr id="10" name="Shape 7"/>
          <p:cNvSpPr/>
          <p:nvPr/>
        </p:nvSpPr>
        <p:spPr>
          <a:xfrm>
            <a:off x="6223864" y="2208967"/>
            <a:ext cx="5181448" cy="17017"/>
          </a:xfrm>
          <a:prstGeom prst="rect">
            <a:avLst/>
          </a:prstGeom>
          <a:solidFill>
            <a:srgbClr val="141414"/>
          </a:solidFill>
          <a:ln/>
        </p:spPr>
      </p:sp>
      <p:sp>
        <p:nvSpPr>
          <p:cNvPr id="11" name="Text 8"/>
          <p:cNvSpPr/>
          <p:nvPr/>
        </p:nvSpPr>
        <p:spPr>
          <a:xfrm>
            <a:off x="6223864" y="2360225"/>
            <a:ext cx="5181448" cy="35582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No external APIs at runtime</a:t>
            </a:r>
            <a:endParaRPr lang="en-US" sz="1950" dirty="0"/>
          </a:p>
        </p:txBody>
      </p:sp>
      <p:sp>
        <p:nvSpPr>
          <p:cNvPr id="12" name="Text 9"/>
          <p:cNvSpPr/>
          <p:nvPr/>
        </p:nvSpPr>
        <p:spPr>
          <a:xfrm>
            <a:off x="6223864" y="2791678"/>
            <a:ext cx="5181448" cy="690639"/>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Only the Inno Wing gateway. Models you deploy locally are fine, and that matters later.</a:t>
            </a:r>
            <a:endParaRPr lang="en-US" sz="1750" dirty="0"/>
          </a:p>
        </p:txBody>
      </p:sp>
      <p:sp>
        <p:nvSpPr>
          <p:cNvPr id="13" name="Shape 10"/>
          <p:cNvSpPr/>
          <p:nvPr/>
        </p:nvSpPr>
        <p:spPr>
          <a:xfrm>
            <a:off x="786384" y="3834989"/>
            <a:ext cx="5181448" cy="17017"/>
          </a:xfrm>
          <a:prstGeom prst="rect">
            <a:avLst/>
          </a:prstGeom>
          <a:solidFill>
            <a:srgbClr val="141414"/>
          </a:solidFill>
          <a:ln/>
        </p:spPr>
      </p:sp>
      <p:sp>
        <p:nvSpPr>
          <p:cNvPr id="14" name="Text 11"/>
          <p:cNvSpPr/>
          <p:nvPr/>
        </p:nvSpPr>
        <p:spPr>
          <a:xfrm>
            <a:off x="786384" y="3986247"/>
            <a:ext cx="5181448" cy="35582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Command line, stdout</a:t>
            </a:r>
            <a:endParaRPr lang="en-US" sz="1950" dirty="0"/>
          </a:p>
        </p:txBody>
      </p:sp>
      <p:sp>
        <p:nvSpPr>
          <p:cNvPr id="15" name="Text 12"/>
          <p:cNvSpPr/>
          <p:nvPr/>
        </p:nvSpPr>
        <p:spPr>
          <a:xfrm>
            <a:off x="786384" y="4417700"/>
            <a:ext cx="5181448" cy="690639"/>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python trivia.py "question" prints the answer. Not a dict, not a log line, one answer.</a:t>
            </a:r>
            <a:endParaRPr lang="en-US" sz="1750" dirty="0"/>
          </a:p>
        </p:txBody>
      </p:sp>
      <p:sp>
        <p:nvSpPr>
          <p:cNvPr id="16" name="Shape 13"/>
          <p:cNvSpPr/>
          <p:nvPr/>
        </p:nvSpPr>
        <p:spPr>
          <a:xfrm>
            <a:off x="6223864" y="3834989"/>
            <a:ext cx="5181448" cy="17017"/>
          </a:xfrm>
          <a:prstGeom prst="rect">
            <a:avLst/>
          </a:prstGeom>
          <a:solidFill>
            <a:srgbClr val="141414"/>
          </a:solidFill>
          <a:ln/>
        </p:spPr>
      </p:sp>
      <p:sp>
        <p:nvSpPr>
          <p:cNvPr id="17" name="Text 14"/>
          <p:cNvSpPr/>
          <p:nvPr/>
        </p:nvSpPr>
        <p:spPr>
          <a:xfrm>
            <a:off x="6223864" y="3986247"/>
            <a:ext cx="5181448" cy="35582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Thirty seconds per question</a:t>
            </a:r>
            <a:endParaRPr lang="en-US" sz="1950" dirty="0"/>
          </a:p>
        </p:txBody>
      </p:sp>
      <p:sp>
        <p:nvSpPr>
          <p:cNvPr id="18" name="Text 15"/>
          <p:cNvSpPr/>
          <p:nvPr/>
        </p:nvSpPr>
        <p:spPr>
          <a:xfrm>
            <a:off x="6223864" y="4417700"/>
            <a:ext cx="5181448" cy="690639"/>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Measured per question. Over the limit scores zero regardless of the answer.</a:t>
            </a:r>
            <a:endParaRPr lang="en-US" sz="1750" dirty="0"/>
          </a:p>
        </p:txBody>
      </p:sp>
      <p:sp>
        <p:nvSpPr>
          <p:cNvPr id="19" name="Text 16"/>
          <p:cNvSpPr/>
          <p:nvPr/>
        </p:nvSpPr>
        <p:spPr>
          <a:xfrm>
            <a:off x="786384" y="5574455"/>
            <a:ext cx="10618927" cy="661753"/>
          </a:xfrm>
          <a:prstGeom prst="rect">
            <a:avLst/>
          </a:prstGeom>
          <a:noFill/>
          <a:ln/>
        </p:spPr>
        <p:txBody>
          <a:bodyPr wrap="square" lIns="0" tIns="0" rIns="0" bIns="0" rtlCol="0" anchor="ctr"/>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Locally deployed embedding models are permitted. Remember this one. It becomes useful in Workshop 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Scoring</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06</a:t>
            </a:r>
            <a:endParaRPr lang="en-US" sz="1200" dirty="0"/>
          </a:p>
        </p:txBody>
      </p:sp>
      <p:sp>
        <p:nvSpPr>
          <p:cNvPr id="6" name="Shape 3"/>
          <p:cNvSpPr/>
          <p:nvPr/>
        </p:nvSpPr>
        <p:spPr>
          <a:xfrm>
            <a:off x="786384" y="1595845"/>
            <a:ext cx="3185678" cy="25661"/>
          </a:xfrm>
          <a:prstGeom prst="rect">
            <a:avLst/>
          </a:prstGeom>
          <a:solidFill>
            <a:srgbClr val="C0402A"/>
          </a:solidFill>
          <a:ln/>
        </p:spPr>
      </p:sp>
      <p:sp>
        <p:nvSpPr>
          <p:cNvPr id="7" name="Text 4"/>
          <p:cNvSpPr/>
          <p:nvPr/>
        </p:nvSpPr>
        <p:spPr>
          <a:xfrm>
            <a:off x="786384" y="1766918"/>
            <a:ext cx="3185678" cy="402438"/>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1 point</a:t>
            </a:r>
            <a:endParaRPr lang="en-US" sz="1950" dirty="0"/>
          </a:p>
        </p:txBody>
      </p:sp>
      <p:sp>
        <p:nvSpPr>
          <p:cNvPr id="8" name="Text 5"/>
          <p:cNvSpPr/>
          <p:nvPr/>
        </p:nvSpPr>
        <p:spPr>
          <a:xfrm>
            <a:off x="786384" y="2254893"/>
            <a:ext cx="3185678" cy="781116"/>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Factually correct and complete.</a:t>
            </a:r>
            <a:endParaRPr lang="en-US" sz="1750" dirty="0"/>
          </a:p>
        </p:txBody>
      </p:sp>
      <p:sp>
        <p:nvSpPr>
          <p:cNvPr id="9" name="Shape 6"/>
          <p:cNvSpPr/>
          <p:nvPr/>
        </p:nvSpPr>
        <p:spPr>
          <a:xfrm>
            <a:off x="4343725" y="1595845"/>
            <a:ext cx="3185678" cy="19246"/>
          </a:xfrm>
          <a:prstGeom prst="rect">
            <a:avLst/>
          </a:prstGeom>
          <a:solidFill>
            <a:srgbClr val="141414"/>
          </a:solidFill>
          <a:ln/>
        </p:spPr>
      </p:sp>
      <p:sp>
        <p:nvSpPr>
          <p:cNvPr id="10" name="Text 7"/>
          <p:cNvSpPr/>
          <p:nvPr/>
        </p:nvSpPr>
        <p:spPr>
          <a:xfrm>
            <a:off x="4343725" y="1766918"/>
            <a:ext cx="3185678" cy="402438"/>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0.5 points</a:t>
            </a:r>
            <a:endParaRPr lang="en-US" sz="1950" dirty="0"/>
          </a:p>
        </p:txBody>
      </p:sp>
      <p:sp>
        <p:nvSpPr>
          <p:cNvPr id="11" name="Text 8"/>
          <p:cNvSpPr/>
          <p:nvPr/>
        </p:nvSpPr>
        <p:spPr>
          <a:xfrm>
            <a:off x="4343725" y="2254893"/>
            <a:ext cx="3185678" cy="417288"/>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Partially correct.</a:t>
            </a:r>
            <a:endParaRPr lang="en-US" sz="1750" dirty="0"/>
          </a:p>
        </p:txBody>
      </p:sp>
      <p:sp>
        <p:nvSpPr>
          <p:cNvPr id="12" name="Shape 9"/>
          <p:cNvSpPr/>
          <p:nvPr/>
        </p:nvSpPr>
        <p:spPr>
          <a:xfrm>
            <a:off x="7901065" y="1595845"/>
            <a:ext cx="3504246" cy="19246"/>
          </a:xfrm>
          <a:prstGeom prst="rect">
            <a:avLst/>
          </a:prstGeom>
          <a:solidFill>
            <a:srgbClr val="D5D1CA"/>
          </a:solidFill>
          <a:ln/>
        </p:spPr>
      </p:sp>
      <p:sp>
        <p:nvSpPr>
          <p:cNvPr id="13" name="Text 10"/>
          <p:cNvSpPr/>
          <p:nvPr/>
        </p:nvSpPr>
        <p:spPr>
          <a:xfrm>
            <a:off x="7901065" y="1766918"/>
            <a:ext cx="3504246" cy="402438"/>
          </a:xfrm>
          <a:prstGeom prst="rect">
            <a:avLst/>
          </a:prstGeom>
          <a:noFill/>
          <a:ln/>
        </p:spPr>
        <p:txBody>
          <a:bodyPr wrap="square" lIns="0" tIns="0" rIns="0" bIns="0" rtlCol="0" anchor="ctr"/>
          <a:lstStyle/>
          <a:p>
            <a:pPr indent="0" marL="0">
              <a:lnSpc>
                <a:spcPts val="2350"/>
              </a:lnSpc>
              <a:buNone/>
            </a:pPr>
            <a:r>
              <a:rPr lang="en-US" sz="1950" b="1" dirty="0">
                <a:solidFill>
                  <a:srgbClr val="6E6A63"/>
                </a:solidFill>
                <a:latin typeface="Arial" pitchFamily="34" charset="0"/>
                <a:ea typeface="Arial" pitchFamily="34" charset="-122"/>
                <a:cs typeface="Arial" pitchFamily="34" charset="-120"/>
              </a:rPr>
              <a:t>0 points</a:t>
            </a:r>
            <a:endParaRPr lang="en-US" sz="1950" dirty="0"/>
          </a:p>
        </p:txBody>
      </p:sp>
      <p:sp>
        <p:nvSpPr>
          <p:cNvPr id="14" name="Text 11"/>
          <p:cNvSpPr/>
          <p:nvPr/>
        </p:nvSpPr>
        <p:spPr>
          <a:xfrm>
            <a:off x="7901065" y="2254893"/>
            <a:ext cx="3504246" cy="781116"/>
          </a:xfrm>
          <a:prstGeom prst="rect">
            <a:avLst/>
          </a:prstGeom>
          <a:noFill/>
          <a:ln/>
        </p:spPr>
        <p:txBody>
          <a:bodyPr wrap="square" lIns="0" tIns="0" rIns="0" bIns="0" rtlCol="0" anchor="t"/>
          <a:lstStyle/>
          <a:p>
            <a:pPr indent="0" marL="0">
              <a:lnSpc>
                <a:spcPts val="2450"/>
              </a:lnSpc>
              <a:buNone/>
            </a:pPr>
            <a:r>
              <a:rPr lang="en-US" sz="1750" dirty="0">
                <a:solidFill>
                  <a:srgbClr val="6E6A63"/>
                </a:solidFill>
                <a:latin typeface="Arial" pitchFamily="34" charset="0"/>
                <a:ea typeface="Arial" pitchFamily="34" charset="-122"/>
                <a:cs typeface="Arial" pitchFamily="34" charset="-120"/>
              </a:rPr>
              <a:t>Wrong, irrelevant, or no answer at all.</a:t>
            </a:r>
            <a:endParaRPr lang="en-US" sz="1750" dirty="0"/>
          </a:p>
        </p:txBody>
      </p:sp>
      <p:sp>
        <p:nvSpPr>
          <p:cNvPr id="15" name="Shape 12"/>
          <p:cNvSpPr/>
          <p:nvPr/>
        </p:nvSpPr>
        <p:spPr>
          <a:xfrm>
            <a:off x="786384" y="3306578"/>
            <a:ext cx="10618927" cy="1839038"/>
          </a:xfrm>
          <a:prstGeom prst="roundRect">
            <a:avLst>
              <a:gd name="adj" fmla="val 2486"/>
            </a:avLst>
          </a:prstGeom>
          <a:solidFill>
            <a:srgbClr val="F7E6E0"/>
          </a:solidFill>
          <a:ln/>
        </p:spPr>
      </p:sp>
      <p:sp>
        <p:nvSpPr>
          <p:cNvPr id="16" name="Text 13"/>
          <p:cNvSpPr/>
          <p:nvPr/>
        </p:nvSpPr>
        <p:spPr>
          <a:xfrm>
            <a:off x="1060704" y="3520419"/>
            <a:ext cx="10070287" cy="427683"/>
          </a:xfrm>
          <a:prstGeom prst="rect">
            <a:avLst/>
          </a:prstGeom>
          <a:noFill/>
          <a:ln/>
        </p:spPr>
        <p:txBody>
          <a:bodyPr wrap="square" lIns="0" tIns="0" rIns="0" bIns="0" rtlCol="0" anchor="ctr"/>
          <a:lstStyle/>
          <a:p>
            <a:pPr indent="0" marL="0">
              <a:buNone/>
            </a:pPr>
            <a:r>
              <a:rPr lang="en-US" sz="2000" b="1" dirty="0">
                <a:solidFill>
                  <a:srgbClr val="6B4410"/>
                </a:solidFill>
                <a:latin typeface="Arial" pitchFamily="34" charset="0"/>
                <a:ea typeface="Arial" pitchFamily="34" charset="-122"/>
                <a:cs typeface="Arial" pitchFamily="34" charset="-120"/>
              </a:rPr>
              <a:t>No negative marking, so a guess is never worse than a refusal.</a:t>
            </a:r>
            <a:endParaRPr lang="en-US" sz="2000" dirty="0"/>
          </a:p>
        </p:txBody>
      </p:sp>
      <p:sp>
        <p:nvSpPr>
          <p:cNvPr id="17" name="Text 14"/>
          <p:cNvSpPr/>
          <p:nvPr/>
        </p:nvSpPr>
        <p:spPr>
          <a:xfrm>
            <a:off x="1060704" y="4012255"/>
            <a:ext cx="10070287" cy="962287"/>
          </a:xfrm>
          <a:prstGeom prst="rect">
            <a:avLst/>
          </a:prstGeom>
          <a:noFill/>
          <a:ln/>
        </p:spPr>
        <p:txBody>
          <a:bodyPr wrap="square" lIns="0" tIns="0" rIns="0" bIns="0" rtlCol="0" anchor="ctr"/>
          <a:lstStyle/>
          <a:p>
            <a:pPr indent="0" marL="0">
              <a:lnSpc>
                <a:spcPts val="2200"/>
              </a:lnSpc>
              <a:buNone/>
            </a:pPr>
            <a:r>
              <a:rPr lang="en-US" sz="1550" dirty="0">
                <a:solidFill>
                  <a:srgbClr val="5A3D14"/>
                </a:solidFill>
                <a:latin typeface="Arial" pitchFamily="34" charset="0"/>
                <a:ea typeface="Arial" pitchFamily="34" charset="-122"/>
                <a:cs typeface="Arial" pitchFamily="34" charset="-120"/>
              </a:rPr>
              <a:t>Saying "I don't know" scores zero. Guessing wrong also scores zero. A guess can land on 0.5, or on 1. Most RAG tutorials tell you to refuse when retrieval looks weak, and under this rubric that advice costs points.</a:t>
            </a:r>
            <a:endParaRPr lang="en-US" sz="1550" dirty="0"/>
          </a:p>
        </p:txBody>
      </p:sp>
      <p:sp>
        <p:nvSpPr>
          <p:cNvPr id="18" name="Text 15"/>
          <p:cNvSpPr/>
          <p:nvPr/>
        </p:nvSpPr>
        <p:spPr>
          <a:xfrm>
            <a:off x="786384" y="5402226"/>
            <a:ext cx="10618927" cy="833982"/>
          </a:xfrm>
          <a:prstGeom prst="rect">
            <a:avLst/>
          </a:prstGeom>
          <a:noFill/>
          <a:ln/>
        </p:spPr>
        <p:txBody>
          <a:bodyPr wrap="square" lIns="0" tIns="0" rIns="0" bIns="0" rtlCol="0" anchor="ctr"/>
          <a:lstStyle/>
          <a:p>
            <a:pPr indent="0" marL="0">
              <a:lnSpc>
                <a:spcPts val="2200"/>
              </a:lnSpc>
              <a:buNone/>
            </a:pPr>
            <a:r>
              <a:rPr lang="en-US" sz="1550" dirty="0">
                <a:solidFill>
                  <a:srgbClr val="141414"/>
                </a:solidFill>
                <a:latin typeface="Arial" pitchFamily="34" charset="0"/>
                <a:ea typeface="Arial" pitchFamily="34" charset="-122"/>
                <a:cs typeface="Arial" pitchFamily="34" charset="-120"/>
              </a:rPr>
              <a:t>Precision still matters. A correct fact wrapped in three sentences of hedging can be marked partial instead of correct.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What to Install</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07</a:t>
            </a:r>
            <a:endParaRPr lang="en-US" sz="1200" dirty="0"/>
          </a:p>
        </p:txBody>
      </p:sp>
      <p:sp>
        <p:nvSpPr>
          <p:cNvPr id="5" name="Shape 3"/>
          <p:cNvSpPr/>
          <p:nvPr/>
        </p:nvSpPr>
        <p:spPr>
          <a:xfrm>
            <a:off x="786384" y="1665618"/>
            <a:ext cx="384048" cy="464806"/>
          </a:xfrm>
          <a:prstGeom prst="roundRect">
            <a:avLst>
              <a:gd name="adj" fmla="val 16667"/>
            </a:avLst>
          </a:prstGeom>
          <a:solidFill>
            <a:srgbClr val="C0402A"/>
          </a:solidFill>
          <a:ln/>
        </p:spPr>
      </p:sp>
      <p:sp>
        <p:nvSpPr>
          <p:cNvPr id="6" name="Text 4"/>
          <p:cNvSpPr/>
          <p:nvPr/>
        </p:nvSpPr>
        <p:spPr>
          <a:xfrm>
            <a:off x="786384" y="1665618"/>
            <a:ext cx="384048" cy="46480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353312" y="1643484"/>
            <a:ext cx="2377440" cy="442672"/>
          </a:xfrm>
          <a:prstGeom prst="rect">
            <a:avLst/>
          </a:prstGeom>
          <a:noFill/>
          <a:ln/>
        </p:spPr>
        <p:txBody>
          <a:bodyPr wrap="square" lIns="0" tIns="0" rIns="0" bIns="0" rtlCol="0" anchor="ctr"/>
          <a:lstStyle/>
          <a:p>
            <a:pPr indent="0" marL="0">
              <a:buNone/>
            </a:pPr>
            <a:r>
              <a:rPr lang="en-US" sz="1800" b="1" dirty="0">
                <a:solidFill>
                  <a:srgbClr val="141414"/>
                </a:solidFill>
                <a:latin typeface="Arial" pitchFamily="34" charset="0"/>
                <a:ea typeface="Arial" pitchFamily="34" charset="-122"/>
                <a:cs typeface="Arial" pitchFamily="34" charset="-120"/>
              </a:rPr>
              <a:t>Python</a:t>
            </a:r>
            <a:endParaRPr lang="en-US" sz="1800" dirty="0"/>
          </a:p>
        </p:txBody>
      </p:sp>
      <p:sp>
        <p:nvSpPr>
          <p:cNvPr id="8" name="Text 6"/>
          <p:cNvSpPr/>
          <p:nvPr/>
        </p:nvSpPr>
        <p:spPr>
          <a:xfrm>
            <a:off x="3803904" y="1665618"/>
            <a:ext cx="7601407" cy="442672"/>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Anaconda is the easiest route on Windows. 3.10 or later.</a:t>
            </a:r>
            <a:endParaRPr lang="en-US" sz="1500" dirty="0"/>
          </a:p>
        </p:txBody>
      </p:sp>
      <p:sp>
        <p:nvSpPr>
          <p:cNvPr id="9" name="Shape 7"/>
          <p:cNvSpPr/>
          <p:nvPr/>
        </p:nvSpPr>
        <p:spPr>
          <a:xfrm>
            <a:off x="786384" y="2528829"/>
            <a:ext cx="384048" cy="464806"/>
          </a:xfrm>
          <a:prstGeom prst="roundRect">
            <a:avLst>
              <a:gd name="adj" fmla="val 16667"/>
            </a:avLst>
          </a:prstGeom>
          <a:solidFill>
            <a:srgbClr val="C0402A"/>
          </a:solidFill>
          <a:ln/>
        </p:spPr>
      </p:sp>
      <p:sp>
        <p:nvSpPr>
          <p:cNvPr id="10" name="Text 8"/>
          <p:cNvSpPr/>
          <p:nvPr/>
        </p:nvSpPr>
        <p:spPr>
          <a:xfrm>
            <a:off x="786384" y="2528829"/>
            <a:ext cx="384048" cy="46480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353312" y="2506695"/>
            <a:ext cx="2377440" cy="442672"/>
          </a:xfrm>
          <a:prstGeom prst="rect">
            <a:avLst/>
          </a:prstGeom>
          <a:noFill/>
          <a:ln/>
        </p:spPr>
        <p:txBody>
          <a:bodyPr wrap="square" lIns="0" tIns="0" rIns="0" bIns="0" rtlCol="0" anchor="ctr"/>
          <a:lstStyle/>
          <a:p>
            <a:pPr indent="0" marL="0">
              <a:buNone/>
            </a:pPr>
            <a:r>
              <a:rPr lang="en-US" sz="1800" b="1" dirty="0">
                <a:solidFill>
                  <a:srgbClr val="141414"/>
                </a:solidFill>
                <a:latin typeface="Arial" pitchFamily="34" charset="0"/>
                <a:ea typeface="Arial" pitchFamily="34" charset="-122"/>
                <a:cs typeface="Arial" pitchFamily="34" charset="-120"/>
              </a:rPr>
              <a:t>VS Code</a:t>
            </a:r>
            <a:endParaRPr lang="en-US" sz="1800" dirty="0"/>
          </a:p>
        </p:txBody>
      </p:sp>
      <p:sp>
        <p:nvSpPr>
          <p:cNvPr id="12" name="Text 10"/>
          <p:cNvSpPr/>
          <p:nvPr/>
        </p:nvSpPr>
        <p:spPr>
          <a:xfrm>
            <a:off x="3803904" y="2528829"/>
            <a:ext cx="7601407" cy="442672"/>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Any editor works. This is the one we can help you with.</a:t>
            </a:r>
            <a:endParaRPr lang="en-US" sz="1500" dirty="0"/>
          </a:p>
        </p:txBody>
      </p:sp>
      <p:sp>
        <p:nvSpPr>
          <p:cNvPr id="13" name="Shape 11"/>
          <p:cNvSpPr/>
          <p:nvPr/>
        </p:nvSpPr>
        <p:spPr>
          <a:xfrm>
            <a:off x="786384" y="3392039"/>
            <a:ext cx="384048" cy="464806"/>
          </a:xfrm>
          <a:prstGeom prst="roundRect">
            <a:avLst>
              <a:gd name="adj" fmla="val 16667"/>
            </a:avLst>
          </a:prstGeom>
          <a:solidFill>
            <a:srgbClr val="C0402A"/>
          </a:solidFill>
          <a:ln/>
        </p:spPr>
      </p:sp>
      <p:sp>
        <p:nvSpPr>
          <p:cNvPr id="14" name="Text 12"/>
          <p:cNvSpPr/>
          <p:nvPr/>
        </p:nvSpPr>
        <p:spPr>
          <a:xfrm>
            <a:off x="786384" y="3392039"/>
            <a:ext cx="384048" cy="46480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353312" y="3369906"/>
            <a:ext cx="2377440" cy="442672"/>
          </a:xfrm>
          <a:prstGeom prst="rect">
            <a:avLst/>
          </a:prstGeom>
          <a:noFill/>
          <a:ln/>
        </p:spPr>
        <p:txBody>
          <a:bodyPr wrap="square" lIns="0" tIns="0" rIns="0" bIns="0" rtlCol="0" anchor="ctr"/>
          <a:lstStyle/>
          <a:p>
            <a:pPr indent="0" marL="0">
              <a:buNone/>
            </a:pPr>
            <a:r>
              <a:rPr lang="en-US" sz="1800" b="1" dirty="0">
                <a:solidFill>
                  <a:srgbClr val="141414"/>
                </a:solidFill>
                <a:latin typeface="Arial" pitchFamily="34" charset="0"/>
                <a:ea typeface="Arial" pitchFamily="34" charset="-122"/>
                <a:cs typeface="Arial" pitchFamily="34" charset="-120"/>
              </a:rPr>
              <a:t>GitHub CLI</a:t>
            </a:r>
            <a:endParaRPr lang="en-US" sz="1800" dirty="0"/>
          </a:p>
        </p:txBody>
      </p:sp>
      <p:sp>
        <p:nvSpPr>
          <p:cNvPr id="16" name="Text 14"/>
          <p:cNvSpPr/>
          <p:nvPr/>
        </p:nvSpPr>
        <p:spPr>
          <a:xfrm>
            <a:off x="3803904" y="3392039"/>
            <a:ext cx="7601407" cy="442672"/>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You need it to clone your team repository.</a:t>
            </a:r>
            <a:endParaRPr lang="en-US" sz="1500" dirty="0"/>
          </a:p>
        </p:txBody>
      </p:sp>
      <p:sp>
        <p:nvSpPr>
          <p:cNvPr id="17" name="Shape 15"/>
          <p:cNvSpPr/>
          <p:nvPr/>
        </p:nvSpPr>
        <p:spPr>
          <a:xfrm>
            <a:off x="786384" y="4255250"/>
            <a:ext cx="384048" cy="464806"/>
          </a:xfrm>
          <a:prstGeom prst="roundRect">
            <a:avLst>
              <a:gd name="adj" fmla="val 16667"/>
            </a:avLst>
          </a:prstGeom>
          <a:solidFill>
            <a:srgbClr val="C0402A"/>
          </a:solidFill>
          <a:ln/>
        </p:spPr>
      </p:sp>
      <p:sp>
        <p:nvSpPr>
          <p:cNvPr id="18" name="Text 16"/>
          <p:cNvSpPr/>
          <p:nvPr/>
        </p:nvSpPr>
        <p:spPr>
          <a:xfrm>
            <a:off x="786384" y="4255250"/>
            <a:ext cx="384048" cy="46480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353312" y="4233117"/>
            <a:ext cx="2377440" cy="442672"/>
          </a:xfrm>
          <a:prstGeom prst="rect">
            <a:avLst/>
          </a:prstGeom>
          <a:noFill/>
          <a:ln/>
        </p:spPr>
        <p:txBody>
          <a:bodyPr wrap="square" lIns="0" tIns="0" rIns="0" bIns="0" rtlCol="0" anchor="ctr"/>
          <a:lstStyle/>
          <a:p>
            <a:pPr indent="0" marL="0">
              <a:buNone/>
            </a:pPr>
            <a:r>
              <a:rPr lang="en-US" sz="1800" b="1" dirty="0">
                <a:solidFill>
                  <a:srgbClr val="141414"/>
                </a:solidFill>
                <a:latin typeface="Arial" pitchFamily="34" charset="0"/>
                <a:ea typeface="Arial" pitchFamily="34" charset="-122"/>
                <a:cs typeface="Arial" pitchFamily="34" charset="-120"/>
              </a:rPr>
              <a:t>Git</a:t>
            </a:r>
            <a:endParaRPr lang="en-US" sz="1800" dirty="0"/>
          </a:p>
        </p:txBody>
      </p:sp>
      <p:sp>
        <p:nvSpPr>
          <p:cNvPr id="20" name="Text 18"/>
          <p:cNvSpPr/>
          <p:nvPr/>
        </p:nvSpPr>
        <p:spPr>
          <a:xfrm>
            <a:off x="3803904" y="4255250"/>
            <a:ext cx="7601407" cy="442672"/>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Bundled with GitHub CLI on Windows, already present on macOS and Linux.</a:t>
            </a:r>
            <a:endParaRPr lang="en-US" sz="1500" dirty="0"/>
          </a:p>
        </p:txBody>
      </p:sp>
      <p:sp>
        <p:nvSpPr>
          <p:cNvPr id="21" name="Text 19"/>
          <p:cNvSpPr/>
          <p:nvPr/>
        </p:nvSpPr>
        <p:spPr>
          <a:xfrm>
            <a:off x="786384" y="5372997"/>
            <a:ext cx="10618927" cy="863211"/>
          </a:xfrm>
          <a:prstGeom prst="rect">
            <a:avLst/>
          </a:prstGeom>
          <a:noFill/>
          <a:ln/>
        </p:spPr>
        <p:txBody>
          <a:bodyPr wrap="square" lIns="0" tIns="0" rIns="0" bIns="0" rtlCol="0" anchor="ctr"/>
          <a:lstStyle/>
          <a:p>
            <a:pPr indent="0" marL="0">
              <a:lnSpc>
                <a:spcPts val="2200"/>
              </a:lnSpc>
              <a:buNone/>
            </a:pPr>
            <a:r>
              <a:rPr lang="en-US" sz="1500" i="1" dirty="0">
                <a:solidFill>
                  <a:srgbClr val="6E6A63"/>
                </a:solidFill>
                <a:latin typeface="Arial" pitchFamily="34" charset="0"/>
                <a:ea typeface="Arial" pitchFamily="34" charset="-122"/>
                <a:cs typeface="Arial" pitchFamily="34" charset="-120"/>
              </a:rPr>
              <a:t>Step-by-step instructions with screenshots are in the written setup guide. This is the checklist.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Cloning Your Repository</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08</a:t>
            </a:r>
            <a:endParaRPr lang="en-US" sz="1200" dirty="0"/>
          </a:p>
        </p:txBody>
      </p:sp>
      <p:sp>
        <p:nvSpPr>
          <p:cNvPr id="5" name="Shape 3"/>
          <p:cNvSpPr/>
          <p:nvPr/>
        </p:nvSpPr>
        <p:spPr>
          <a:xfrm>
            <a:off x="786384" y="1613129"/>
            <a:ext cx="6158978" cy="2587583"/>
          </a:xfrm>
          <a:prstGeom prst="rect">
            <a:avLst/>
          </a:prstGeom>
          <a:solidFill>
            <a:srgbClr val="F2EFEA"/>
          </a:solidFill>
          <a:ln/>
        </p:spPr>
      </p:sp>
      <p:sp>
        <p:nvSpPr>
          <p:cNvPr id="6" name="Shape 4"/>
          <p:cNvSpPr/>
          <p:nvPr/>
        </p:nvSpPr>
        <p:spPr>
          <a:xfrm>
            <a:off x="786384" y="1613129"/>
            <a:ext cx="27432" cy="2587583"/>
          </a:xfrm>
          <a:prstGeom prst="rect">
            <a:avLst/>
          </a:prstGeom>
          <a:solidFill>
            <a:srgbClr val="C0402A"/>
          </a:solidFill>
          <a:ln/>
        </p:spPr>
      </p:sp>
      <p:sp>
        <p:nvSpPr>
          <p:cNvPr id="7" name="Text 5"/>
          <p:cNvSpPr/>
          <p:nvPr/>
        </p:nvSpPr>
        <p:spPr>
          <a:xfrm>
            <a:off x="1042416" y="1778239"/>
            <a:ext cx="5720066" cy="2257363"/>
          </a:xfrm>
          <a:prstGeom prst="rect">
            <a:avLst/>
          </a:prstGeom>
          <a:noFill/>
          <a:ln/>
        </p:spPr>
        <p:txBody>
          <a:bodyPr wrap="square" lIns="0" tIns="0" rIns="0" bIns="0" rtlCol="0" anchor="t"/>
          <a:lstStyle/>
          <a:p>
            <a:pPr indent="0" marL="0">
              <a:lnSpc>
                <a:spcPts val="1950"/>
              </a:lnSpc>
              <a:buNone/>
            </a:pPr>
            <a:r>
              <a:rPr lang="en-US" sz="1350" dirty="0">
                <a:solidFill>
                  <a:srgbClr val="2A2724"/>
                </a:solidFill>
                <a:latin typeface="Courier New" pitchFamily="34" charset="0"/>
                <a:ea typeface="Courier New" pitchFamily="34" charset="-122"/>
                <a:cs typeface="Courier New" pitchFamily="34" charset="-120"/>
              </a:rPr>
              <a:t>1. Fork the repository on GitHub</a:t>
            </a:r>
            <a:endParaRPr lang="en-US" sz="1350" dirty="0"/>
          </a:p>
          <a:p>
            <a:pPr indent="0" marL="0">
              <a:lnSpc>
                <a:spcPts val="1950"/>
              </a:lnSpc>
              <a:buNone/>
            </a:pPr>
            <a:endParaRPr lang="en-US" sz="1350" dirty="0"/>
          </a:p>
          <a:p>
            <a:pPr indent="0" marL="0">
              <a:lnSpc>
                <a:spcPts val="1950"/>
              </a:lnSpc>
              <a:buNone/>
            </a:pPr>
            <a:r>
              <a:rPr lang="en-US" sz="1350" dirty="0">
                <a:solidFill>
                  <a:srgbClr val="2A2724"/>
                </a:solidFill>
                <a:latin typeface="Courier New" pitchFamily="34" charset="0"/>
                <a:ea typeface="Courier New" pitchFamily="34" charset="-122"/>
                <a:cs typeface="Courier New" pitchFamily="34" charset="-120"/>
              </a:rPr>
              <a:t>2. $ git clone https://github.com/&lt;your-username&gt;/&lt;repo&gt;</a:t>
            </a:r>
            <a:endParaRPr lang="en-US" sz="1350" dirty="0"/>
          </a:p>
          <a:p>
            <a:pPr indent="0" marL="0">
              <a:lnSpc>
                <a:spcPts val="1950"/>
              </a:lnSpc>
              <a:buNone/>
            </a:pPr>
            <a:endParaRPr lang="en-US" sz="1350" dirty="0"/>
          </a:p>
          <a:p>
            <a:pPr indent="0" marL="0">
              <a:lnSpc>
                <a:spcPts val="1950"/>
              </a:lnSpc>
              <a:buNone/>
            </a:pPr>
            <a:r>
              <a:rPr lang="en-US" sz="1350" dirty="0">
                <a:solidFill>
                  <a:srgbClr val="2A2724"/>
                </a:solidFill>
                <a:latin typeface="Courier New" pitchFamily="34" charset="0"/>
                <a:ea typeface="Courier New" pitchFamily="34" charset="-122"/>
                <a:cs typeface="Courier New" pitchFamily="34" charset="-120"/>
              </a:rPr>
              <a:t>3. $ cd &lt;repo&gt;</a:t>
            </a:r>
            <a:endParaRPr lang="en-US" sz="1350" dirty="0"/>
          </a:p>
          <a:p>
            <a:pPr indent="0" marL="0">
              <a:lnSpc>
                <a:spcPts val="1950"/>
              </a:lnSpc>
              <a:buNone/>
            </a:pPr>
            <a:endParaRPr lang="en-US" sz="1350" dirty="0"/>
          </a:p>
          <a:p>
            <a:pPr indent="0" marL="0">
              <a:lnSpc>
                <a:spcPts val="1950"/>
              </a:lnSpc>
              <a:buNone/>
            </a:pPr>
            <a:r>
              <a:rPr lang="en-US" sz="1350" dirty="0">
                <a:solidFill>
                  <a:srgbClr val="2A2724"/>
                </a:solidFill>
                <a:latin typeface="Courier New" pitchFamily="34" charset="0"/>
                <a:ea typeface="Courier New" pitchFamily="34" charset="-122"/>
                <a:cs typeface="Courier New" pitchFamily="34" charset="-120"/>
              </a:rPr>
              <a:t>4. $ pip install -r requirements.txt</a:t>
            </a:r>
            <a:endParaRPr lang="en-US" sz="1350" dirty="0"/>
          </a:p>
        </p:txBody>
      </p:sp>
      <p:sp>
        <p:nvSpPr>
          <p:cNvPr id="8" name="Shape 6"/>
          <p:cNvSpPr/>
          <p:nvPr/>
        </p:nvSpPr>
        <p:spPr>
          <a:xfrm>
            <a:off x="7370119" y="1613129"/>
            <a:ext cx="4035192" cy="18575"/>
          </a:xfrm>
          <a:prstGeom prst="rect">
            <a:avLst/>
          </a:prstGeom>
          <a:solidFill>
            <a:srgbClr val="141414"/>
          </a:solidFill>
          <a:ln/>
        </p:spPr>
      </p:sp>
      <p:sp>
        <p:nvSpPr>
          <p:cNvPr id="9" name="Text 7"/>
          <p:cNvSpPr/>
          <p:nvPr/>
        </p:nvSpPr>
        <p:spPr>
          <a:xfrm>
            <a:off x="7370119" y="1778239"/>
            <a:ext cx="4035192" cy="388410"/>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Accept the assignment first</a:t>
            </a:r>
            <a:endParaRPr lang="en-US" sz="1950" dirty="0"/>
          </a:p>
        </p:txBody>
      </p:sp>
      <p:sp>
        <p:nvSpPr>
          <p:cNvPr id="10" name="Text 8"/>
          <p:cNvSpPr/>
          <p:nvPr/>
        </p:nvSpPr>
        <p:spPr>
          <a:xfrm>
            <a:off x="7370119" y="2249204"/>
            <a:ext cx="4035192" cy="2158469"/>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Fork the competition repository into your own account, then clone your fork. Do not clone the original.</a:t>
            </a:r>
            <a:endParaRPr lang="en-US" sz="1750" dirty="0"/>
          </a:p>
          <a:p>
            <a:pPr indent="0" marL="0">
              <a:lnSpc>
                <a:spcPts val="2450"/>
              </a:lnSpc>
              <a:buNone/>
            </a:pPr>
            <a:endParaRPr lang="en-US" sz="1750" dirty="0"/>
          </a:p>
          <a:p>
            <a:pPr indent="0" marL="0">
              <a:lnSpc>
                <a:spcPts val="2450"/>
              </a:lnSpc>
              <a:buNone/>
            </a:pPr>
            <a:r>
              <a:rPr lang="en-US" sz="1750" dirty="0">
                <a:solidFill>
                  <a:srgbClr val="141414"/>
                </a:solidFill>
                <a:latin typeface="Arial" pitchFamily="34" charset="0"/>
                <a:ea typeface="Arial" pitchFamily="34" charset="-122"/>
                <a:cs typeface="Arial" pitchFamily="34" charset="-120"/>
              </a:rPr>
              <a:t>One person forks and adds the rest of the team as collaborators.</a:t>
            </a:r>
            <a:endParaRPr lang="en-US" sz="1750" dirty="0"/>
          </a:p>
        </p:txBody>
      </p:sp>
      <p:sp>
        <p:nvSpPr>
          <p:cNvPr id="11" name="Text 9"/>
          <p:cNvSpPr/>
          <p:nvPr/>
        </p:nvSpPr>
        <p:spPr>
          <a:xfrm>
            <a:off x="786384" y="4750218"/>
            <a:ext cx="10618927" cy="412775"/>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Pin your versions before the deadline</a:t>
            </a:r>
            <a:endParaRPr lang="en-US" sz="1900" dirty="0"/>
          </a:p>
        </p:txBody>
      </p:sp>
      <p:sp>
        <p:nvSpPr>
          <p:cNvPr id="12" name="Text 10"/>
          <p:cNvSpPr/>
          <p:nvPr/>
        </p:nvSpPr>
        <p:spPr>
          <a:xfrm>
            <a:off x="786384" y="5204271"/>
            <a:ext cx="9132277" cy="1031937"/>
          </a:xfrm>
          <a:prstGeom prst="rect">
            <a:avLst/>
          </a:prstGeom>
          <a:noFill/>
          <a:ln/>
        </p:spPr>
        <p:txBody>
          <a:bodyPr wrap="square" lIns="0" tIns="0" rIns="0" bIns="0" rtlCol="0" anchor="ctr"/>
          <a:lstStyle/>
          <a:p>
            <a:pPr indent="0" marL="0">
              <a:lnSpc>
                <a:spcPts val="2200"/>
              </a:lnSpc>
              <a:buNone/>
            </a:pPr>
            <a:r>
              <a:rPr lang="en-US" sz="1550" dirty="0">
                <a:solidFill>
                  <a:srgbClr val="141414"/>
                </a:solidFill>
                <a:latin typeface="Arial" pitchFamily="34" charset="0"/>
                <a:ea typeface="Arial" pitchFamily="34" charset="-122"/>
                <a:cs typeface="Arial" pitchFamily="34" charset="-120"/>
              </a:rPr>
              <a:t>You work on your own laptop, in Makerspace A, which is booked for both workshops. Pin your versions with pip freeze and test a clean install in a fresh virtual environment before submitting, so the graders can reproduce your run.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Repository Contents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09</a:t>
            </a:r>
            <a:endParaRPr lang="en-US" sz="1200" dirty="0"/>
          </a:p>
        </p:txBody>
      </p:sp>
      <p:sp>
        <p:nvSpPr>
          <p:cNvPr id="5" name="Text 3"/>
          <p:cNvSpPr/>
          <p:nvPr/>
        </p:nvSpPr>
        <p:spPr>
          <a:xfrm>
            <a:off x="786384" y="1591292"/>
            <a:ext cx="2651760" cy="346331"/>
          </a:xfrm>
          <a:prstGeom prst="rect">
            <a:avLst/>
          </a:prstGeom>
          <a:noFill/>
          <a:ln/>
        </p:spPr>
        <p:txBody>
          <a:bodyPr wrap="square" lIns="0" tIns="0" rIns="0" bIns="0" rtlCol="0" anchor="ctr"/>
          <a:lstStyle/>
          <a:p>
            <a:pPr indent="0" marL="0">
              <a:buNone/>
            </a:pPr>
            <a:r>
              <a:rPr lang="en-US" sz="1450" b="1" dirty="0">
                <a:solidFill>
                  <a:srgbClr val="141414"/>
                </a:solidFill>
                <a:latin typeface="Courier New" pitchFamily="34" charset="0"/>
                <a:ea typeface="Courier New" pitchFamily="34" charset="-122"/>
                <a:cs typeface="Courier New" pitchFamily="34" charset="-120"/>
              </a:rPr>
              <a:t>trivia.py</a:t>
            </a:r>
            <a:endParaRPr lang="en-US" sz="1450" dirty="0"/>
          </a:p>
        </p:txBody>
      </p:sp>
      <p:sp>
        <p:nvSpPr>
          <p:cNvPr id="6" name="Text 4"/>
          <p:cNvSpPr/>
          <p:nvPr/>
        </p:nvSpPr>
        <p:spPr>
          <a:xfrm>
            <a:off x="3529584" y="1591292"/>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The entry point. Frozen. Do not edit it.</a:t>
            </a:r>
            <a:endParaRPr lang="en-US" sz="1450" dirty="0"/>
          </a:p>
        </p:txBody>
      </p:sp>
      <p:sp>
        <p:nvSpPr>
          <p:cNvPr id="7" name="Shape 5"/>
          <p:cNvSpPr/>
          <p:nvPr/>
        </p:nvSpPr>
        <p:spPr>
          <a:xfrm>
            <a:off x="10170871" y="1601478"/>
            <a:ext cx="1234440" cy="305587"/>
          </a:xfrm>
          <a:prstGeom prst="roundRect">
            <a:avLst>
              <a:gd name="adj" fmla="val 14961"/>
            </a:avLst>
          </a:prstGeom>
          <a:solidFill>
            <a:srgbClr val="EDF1F3"/>
          </a:solidFill>
          <a:ln/>
        </p:spPr>
      </p:sp>
      <p:sp>
        <p:nvSpPr>
          <p:cNvPr id="8" name="Text 6"/>
          <p:cNvSpPr/>
          <p:nvPr/>
        </p:nvSpPr>
        <p:spPr>
          <a:xfrm>
            <a:off x="10170871" y="1601478"/>
            <a:ext cx="1234440" cy="305587"/>
          </a:xfrm>
          <a:prstGeom prst="rect">
            <a:avLst/>
          </a:prstGeom>
          <a:noFill/>
          <a:ln/>
        </p:spPr>
        <p:txBody>
          <a:bodyPr wrap="square" lIns="0" tIns="0" rIns="0" bIns="0" rtlCol="0" anchor="ctr"/>
          <a:lstStyle/>
          <a:p>
            <a:pPr algn="ctr" indent="0" marL="0">
              <a:buNone/>
            </a:pPr>
            <a:r>
              <a:rPr lang="en-US" sz="1050" b="1" dirty="0">
                <a:solidFill>
                  <a:srgbClr val="6E6A63"/>
                </a:solidFill>
                <a:latin typeface="Arial" pitchFamily="34" charset="0"/>
                <a:ea typeface="Arial" pitchFamily="34" charset="-122"/>
                <a:cs typeface="Arial" pitchFamily="34" charset="-120"/>
              </a:rPr>
              <a:t>given</a:t>
            </a:r>
            <a:endParaRPr lang="en-US" sz="1050" dirty="0"/>
          </a:p>
        </p:txBody>
      </p:sp>
      <p:sp>
        <p:nvSpPr>
          <p:cNvPr id="9" name="Text 7"/>
          <p:cNvSpPr/>
          <p:nvPr/>
        </p:nvSpPr>
        <p:spPr>
          <a:xfrm>
            <a:off x="786384" y="2161720"/>
            <a:ext cx="2651760" cy="346331"/>
          </a:xfrm>
          <a:prstGeom prst="rect">
            <a:avLst/>
          </a:prstGeom>
          <a:noFill/>
          <a:ln/>
        </p:spPr>
        <p:txBody>
          <a:bodyPr wrap="square" lIns="0" tIns="0" rIns="0" bIns="0" rtlCol="0" anchor="ctr"/>
          <a:lstStyle/>
          <a:p>
            <a:pPr indent="0" marL="0">
              <a:buNone/>
            </a:pPr>
            <a:r>
              <a:rPr lang="en-US" sz="1450" b="1" dirty="0">
                <a:solidFill>
                  <a:srgbClr val="C0402A"/>
                </a:solidFill>
                <a:latin typeface="Courier New" pitchFamily="34" charset="0"/>
                <a:ea typeface="Courier New" pitchFamily="34" charset="-122"/>
                <a:cs typeface="Courier New" pitchFamily="34" charset="-120"/>
              </a:rPr>
              <a:t>bot/answer.py</a:t>
            </a:r>
            <a:endParaRPr lang="en-US" sz="1450" dirty="0"/>
          </a:p>
        </p:txBody>
      </p:sp>
      <p:sp>
        <p:nvSpPr>
          <p:cNvPr id="10" name="Text 8"/>
          <p:cNvSpPr/>
          <p:nvPr/>
        </p:nvSpPr>
        <p:spPr>
          <a:xfrm>
            <a:off x="3529584" y="2161720"/>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rag_answer(question) -&gt; str. Your logic goes here.</a:t>
            </a:r>
            <a:endParaRPr lang="en-US" sz="1450" dirty="0"/>
          </a:p>
        </p:txBody>
      </p:sp>
      <p:sp>
        <p:nvSpPr>
          <p:cNvPr id="11" name="Shape 9"/>
          <p:cNvSpPr/>
          <p:nvPr/>
        </p:nvSpPr>
        <p:spPr>
          <a:xfrm>
            <a:off x="10170871" y="2171906"/>
            <a:ext cx="1234440" cy="305587"/>
          </a:xfrm>
          <a:prstGeom prst="roundRect">
            <a:avLst>
              <a:gd name="adj" fmla="val 14961"/>
            </a:avLst>
          </a:prstGeom>
          <a:solidFill>
            <a:srgbClr val="C0402A"/>
          </a:solidFill>
          <a:ln/>
        </p:spPr>
      </p:sp>
      <p:sp>
        <p:nvSpPr>
          <p:cNvPr id="12" name="Text 10"/>
          <p:cNvSpPr/>
          <p:nvPr/>
        </p:nvSpPr>
        <p:spPr>
          <a:xfrm>
            <a:off x="10170871" y="2171906"/>
            <a:ext cx="1234440" cy="305587"/>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you write</a:t>
            </a:r>
            <a:endParaRPr lang="en-US" sz="1050" dirty="0"/>
          </a:p>
        </p:txBody>
      </p:sp>
      <p:sp>
        <p:nvSpPr>
          <p:cNvPr id="13" name="Text 11"/>
          <p:cNvSpPr/>
          <p:nvPr/>
        </p:nvSpPr>
        <p:spPr>
          <a:xfrm>
            <a:off x="786384" y="2732149"/>
            <a:ext cx="2651760" cy="346331"/>
          </a:xfrm>
          <a:prstGeom prst="rect">
            <a:avLst/>
          </a:prstGeom>
          <a:noFill/>
          <a:ln/>
        </p:spPr>
        <p:txBody>
          <a:bodyPr wrap="square" lIns="0" tIns="0" rIns="0" bIns="0" rtlCol="0" anchor="ctr"/>
          <a:lstStyle/>
          <a:p>
            <a:pPr indent="0" marL="0">
              <a:buNone/>
            </a:pPr>
            <a:r>
              <a:rPr lang="en-US" sz="1450" b="1" dirty="0">
                <a:solidFill>
                  <a:srgbClr val="141414"/>
                </a:solidFill>
                <a:latin typeface="Courier New" pitchFamily="34" charset="0"/>
                <a:ea typeface="Courier New" pitchFamily="34" charset="-122"/>
                <a:cs typeface="Courier New" pitchFamily="34" charset="-120"/>
              </a:rPr>
              <a:t>bot/llm.py</a:t>
            </a:r>
            <a:endParaRPr lang="en-US" sz="1450" dirty="0"/>
          </a:p>
        </p:txBody>
      </p:sp>
      <p:sp>
        <p:nvSpPr>
          <p:cNvPr id="14" name="Text 12"/>
          <p:cNvSpPr/>
          <p:nvPr/>
        </p:nvSpPr>
        <p:spPr>
          <a:xfrm>
            <a:off x="3529584" y="2732149"/>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Gateway client. Chat, embeddings, image description.</a:t>
            </a:r>
            <a:endParaRPr lang="en-US" sz="1450" dirty="0"/>
          </a:p>
        </p:txBody>
      </p:sp>
      <p:sp>
        <p:nvSpPr>
          <p:cNvPr id="15" name="Shape 13"/>
          <p:cNvSpPr/>
          <p:nvPr/>
        </p:nvSpPr>
        <p:spPr>
          <a:xfrm>
            <a:off x="10170871" y="2742335"/>
            <a:ext cx="1234440" cy="305587"/>
          </a:xfrm>
          <a:prstGeom prst="roundRect">
            <a:avLst>
              <a:gd name="adj" fmla="val 14961"/>
            </a:avLst>
          </a:prstGeom>
          <a:solidFill>
            <a:srgbClr val="EDF1F3"/>
          </a:solidFill>
          <a:ln/>
        </p:spPr>
      </p:sp>
      <p:sp>
        <p:nvSpPr>
          <p:cNvPr id="16" name="Text 14"/>
          <p:cNvSpPr/>
          <p:nvPr/>
        </p:nvSpPr>
        <p:spPr>
          <a:xfrm>
            <a:off x="10170871" y="2742335"/>
            <a:ext cx="1234440" cy="305587"/>
          </a:xfrm>
          <a:prstGeom prst="rect">
            <a:avLst/>
          </a:prstGeom>
          <a:noFill/>
          <a:ln/>
        </p:spPr>
        <p:txBody>
          <a:bodyPr wrap="square" lIns="0" tIns="0" rIns="0" bIns="0" rtlCol="0" anchor="ctr"/>
          <a:lstStyle/>
          <a:p>
            <a:pPr algn="ctr" indent="0" marL="0">
              <a:buNone/>
            </a:pPr>
            <a:r>
              <a:rPr lang="en-US" sz="1050" b="1" dirty="0">
                <a:solidFill>
                  <a:srgbClr val="6E6A63"/>
                </a:solidFill>
                <a:latin typeface="Arial" pitchFamily="34" charset="0"/>
                <a:ea typeface="Arial" pitchFamily="34" charset="-122"/>
                <a:cs typeface="Arial" pitchFamily="34" charset="-120"/>
              </a:rPr>
              <a:t>given</a:t>
            </a:r>
            <a:endParaRPr lang="en-US" sz="1050" dirty="0"/>
          </a:p>
        </p:txBody>
      </p:sp>
      <p:sp>
        <p:nvSpPr>
          <p:cNvPr id="17" name="Text 15"/>
          <p:cNvSpPr/>
          <p:nvPr/>
        </p:nvSpPr>
        <p:spPr>
          <a:xfrm>
            <a:off x="786384" y="3302577"/>
            <a:ext cx="2651760" cy="346331"/>
          </a:xfrm>
          <a:prstGeom prst="rect">
            <a:avLst/>
          </a:prstGeom>
          <a:noFill/>
          <a:ln/>
        </p:spPr>
        <p:txBody>
          <a:bodyPr wrap="square" lIns="0" tIns="0" rIns="0" bIns="0" rtlCol="0" anchor="ctr"/>
          <a:lstStyle/>
          <a:p>
            <a:pPr indent="0" marL="0">
              <a:buNone/>
            </a:pPr>
            <a:r>
              <a:rPr lang="en-US" sz="1450" b="1" dirty="0">
                <a:solidFill>
                  <a:srgbClr val="141414"/>
                </a:solidFill>
                <a:latin typeface="Courier New" pitchFamily="34" charset="0"/>
                <a:ea typeface="Courier New" pitchFamily="34" charset="-122"/>
                <a:cs typeface="Courier New" pitchFamily="34" charset="-120"/>
              </a:rPr>
              <a:t>bot/store.py</a:t>
            </a:r>
            <a:endParaRPr lang="en-US" sz="1450" dirty="0"/>
          </a:p>
        </p:txBody>
      </p:sp>
      <p:sp>
        <p:nvSpPr>
          <p:cNvPr id="18" name="Text 16"/>
          <p:cNvSpPr/>
          <p:nvPr/>
        </p:nvSpPr>
        <p:spPr>
          <a:xfrm>
            <a:off x="3529584" y="3302577"/>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Vector store wrapper.</a:t>
            </a:r>
            <a:endParaRPr lang="en-US" sz="1450" dirty="0"/>
          </a:p>
        </p:txBody>
      </p:sp>
      <p:sp>
        <p:nvSpPr>
          <p:cNvPr id="19" name="Shape 17"/>
          <p:cNvSpPr/>
          <p:nvPr/>
        </p:nvSpPr>
        <p:spPr>
          <a:xfrm>
            <a:off x="10170871" y="3312763"/>
            <a:ext cx="1234440" cy="305587"/>
          </a:xfrm>
          <a:prstGeom prst="roundRect">
            <a:avLst>
              <a:gd name="adj" fmla="val 14961"/>
            </a:avLst>
          </a:prstGeom>
          <a:solidFill>
            <a:srgbClr val="EDF1F3"/>
          </a:solidFill>
          <a:ln/>
        </p:spPr>
      </p:sp>
      <p:sp>
        <p:nvSpPr>
          <p:cNvPr id="20" name="Text 18"/>
          <p:cNvSpPr/>
          <p:nvPr/>
        </p:nvSpPr>
        <p:spPr>
          <a:xfrm>
            <a:off x="10170871" y="3312763"/>
            <a:ext cx="1234440" cy="305587"/>
          </a:xfrm>
          <a:prstGeom prst="rect">
            <a:avLst/>
          </a:prstGeom>
          <a:noFill/>
          <a:ln/>
        </p:spPr>
        <p:txBody>
          <a:bodyPr wrap="square" lIns="0" tIns="0" rIns="0" bIns="0" rtlCol="0" anchor="ctr"/>
          <a:lstStyle/>
          <a:p>
            <a:pPr algn="ctr" indent="0" marL="0">
              <a:buNone/>
            </a:pPr>
            <a:r>
              <a:rPr lang="en-US" sz="1050" b="1" dirty="0">
                <a:solidFill>
                  <a:srgbClr val="6E6A63"/>
                </a:solidFill>
                <a:latin typeface="Arial" pitchFamily="34" charset="0"/>
                <a:ea typeface="Arial" pitchFamily="34" charset="-122"/>
                <a:cs typeface="Arial" pitchFamily="34" charset="-120"/>
              </a:rPr>
              <a:t>given</a:t>
            </a:r>
            <a:endParaRPr lang="en-US" sz="1050" dirty="0"/>
          </a:p>
        </p:txBody>
      </p:sp>
      <p:sp>
        <p:nvSpPr>
          <p:cNvPr id="21" name="Text 19"/>
          <p:cNvSpPr/>
          <p:nvPr/>
        </p:nvSpPr>
        <p:spPr>
          <a:xfrm>
            <a:off x="786384" y="3873005"/>
            <a:ext cx="2651760" cy="346331"/>
          </a:xfrm>
          <a:prstGeom prst="rect">
            <a:avLst/>
          </a:prstGeom>
          <a:noFill/>
          <a:ln/>
        </p:spPr>
        <p:txBody>
          <a:bodyPr wrap="square" lIns="0" tIns="0" rIns="0" bIns="0" rtlCol="0" anchor="ctr"/>
          <a:lstStyle/>
          <a:p>
            <a:pPr indent="0" marL="0">
              <a:buNone/>
            </a:pPr>
            <a:r>
              <a:rPr lang="en-US" sz="1450" b="1" dirty="0">
                <a:solidFill>
                  <a:srgbClr val="C0402A"/>
                </a:solidFill>
                <a:latin typeface="Courier New" pitchFamily="34" charset="0"/>
                <a:ea typeface="Courier New" pitchFamily="34" charset="-122"/>
                <a:cs typeface="Courier New" pitchFamily="34" charset="-120"/>
              </a:rPr>
              <a:t>build/</a:t>
            </a:r>
            <a:endParaRPr lang="en-US" sz="1450" dirty="0"/>
          </a:p>
        </p:txBody>
      </p:sp>
      <p:sp>
        <p:nvSpPr>
          <p:cNvPr id="22" name="Text 20"/>
          <p:cNvSpPr/>
          <p:nvPr/>
        </p:nvSpPr>
        <p:spPr>
          <a:xfrm>
            <a:off x="3529584" y="3873005"/>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Scraper, indexer, image pipeline. All stubs.</a:t>
            </a:r>
            <a:endParaRPr lang="en-US" sz="1450" dirty="0"/>
          </a:p>
        </p:txBody>
      </p:sp>
      <p:sp>
        <p:nvSpPr>
          <p:cNvPr id="23" name="Shape 21"/>
          <p:cNvSpPr/>
          <p:nvPr/>
        </p:nvSpPr>
        <p:spPr>
          <a:xfrm>
            <a:off x="10170871" y="3883191"/>
            <a:ext cx="1234440" cy="305587"/>
          </a:xfrm>
          <a:prstGeom prst="roundRect">
            <a:avLst>
              <a:gd name="adj" fmla="val 14961"/>
            </a:avLst>
          </a:prstGeom>
          <a:solidFill>
            <a:srgbClr val="C0402A"/>
          </a:solidFill>
          <a:ln/>
        </p:spPr>
      </p:sp>
      <p:sp>
        <p:nvSpPr>
          <p:cNvPr id="24" name="Text 22"/>
          <p:cNvSpPr/>
          <p:nvPr/>
        </p:nvSpPr>
        <p:spPr>
          <a:xfrm>
            <a:off x="10170871" y="3883191"/>
            <a:ext cx="1234440" cy="305587"/>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you write</a:t>
            </a:r>
            <a:endParaRPr lang="en-US" sz="1050" dirty="0"/>
          </a:p>
        </p:txBody>
      </p:sp>
      <p:sp>
        <p:nvSpPr>
          <p:cNvPr id="25" name="Text 23"/>
          <p:cNvSpPr/>
          <p:nvPr/>
        </p:nvSpPr>
        <p:spPr>
          <a:xfrm>
            <a:off x="786384" y="4443433"/>
            <a:ext cx="2651760" cy="346331"/>
          </a:xfrm>
          <a:prstGeom prst="rect">
            <a:avLst/>
          </a:prstGeom>
          <a:noFill/>
          <a:ln/>
        </p:spPr>
        <p:txBody>
          <a:bodyPr wrap="square" lIns="0" tIns="0" rIns="0" bIns="0" rtlCol="0" anchor="ctr"/>
          <a:lstStyle/>
          <a:p>
            <a:pPr indent="0" marL="0">
              <a:buNone/>
            </a:pPr>
            <a:r>
              <a:rPr lang="en-US" sz="1450" b="1" dirty="0">
                <a:solidFill>
                  <a:srgbClr val="141414"/>
                </a:solidFill>
                <a:latin typeface="Courier New" pitchFamily="34" charset="0"/>
                <a:ea typeface="Courier New" pitchFamily="34" charset="-122"/>
                <a:cs typeface="Courier New" pitchFamily="34" charset="-120"/>
              </a:rPr>
              <a:t>dev_set.json</a:t>
            </a:r>
            <a:endParaRPr lang="en-US" sz="1450" dirty="0"/>
          </a:p>
        </p:txBody>
      </p:sp>
      <p:sp>
        <p:nvSpPr>
          <p:cNvPr id="26" name="Text 24"/>
          <p:cNvSpPr/>
          <p:nvPr/>
        </p:nvSpPr>
        <p:spPr>
          <a:xfrm>
            <a:off x="3529584" y="4443433"/>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15 questions with answers. Mark your own bot against it.</a:t>
            </a:r>
            <a:endParaRPr lang="en-US" sz="1450" dirty="0"/>
          </a:p>
        </p:txBody>
      </p:sp>
      <p:sp>
        <p:nvSpPr>
          <p:cNvPr id="27" name="Shape 25"/>
          <p:cNvSpPr/>
          <p:nvPr/>
        </p:nvSpPr>
        <p:spPr>
          <a:xfrm>
            <a:off x="10170871" y="4453620"/>
            <a:ext cx="1234440" cy="305587"/>
          </a:xfrm>
          <a:prstGeom prst="roundRect">
            <a:avLst>
              <a:gd name="adj" fmla="val 14961"/>
            </a:avLst>
          </a:prstGeom>
          <a:solidFill>
            <a:srgbClr val="EDF1F3"/>
          </a:solidFill>
          <a:ln/>
        </p:spPr>
      </p:sp>
      <p:sp>
        <p:nvSpPr>
          <p:cNvPr id="28" name="Text 26"/>
          <p:cNvSpPr/>
          <p:nvPr/>
        </p:nvSpPr>
        <p:spPr>
          <a:xfrm>
            <a:off x="10170871" y="4453620"/>
            <a:ext cx="1234440" cy="305587"/>
          </a:xfrm>
          <a:prstGeom prst="rect">
            <a:avLst/>
          </a:prstGeom>
          <a:noFill/>
          <a:ln/>
        </p:spPr>
        <p:txBody>
          <a:bodyPr wrap="square" lIns="0" tIns="0" rIns="0" bIns="0" rtlCol="0" anchor="ctr"/>
          <a:lstStyle/>
          <a:p>
            <a:pPr algn="ctr" indent="0" marL="0">
              <a:buNone/>
            </a:pPr>
            <a:r>
              <a:rPr lang="en-US" sz="1050" b="1" dirty="0">
                <a:solidFill>
                  <a:srgbClr val="6E6A63"/>
                </a:solidFill>
                <a:latin typeface="Arial" pitchFamily="34" charset="0"/>
                <a:ea typeface="Arial" pitchFamily="34" charset="-122"/>
                <a:cs typeface="Arial" pitchFamily="34" charset="-120"/>
              </a:rPr>
              <a:t>given</a:t>
            </a:r>
            <a:endParaRPr lang="en-US" sz="1050" dirty="0"/>
          </a:p>
        </p:txBody>
      </p:sp>
      <p:sp>
        <p:nvSpPr>
          <p:cNvPr id="29" name="Text 27"/>
          <p:cNvSpPr/>
          <p:nvPr/>
        </p:nvSpPr>
        <p:spPr>
          <a:xfrm>
            <a:off x="786384" y="5013862"/>
            <a:ext cx="2651760" cy="346331"/>
          </a:xfrm>
          <a:prstGeom prst="rect">
            <a:avLst/>
          </a:prstGeom>
          <a:noFill/>
          <a:ln/>
        </p:spPr>
        <p:txBody>
          <a:bodyPr wrap="square" lIns="0" tIns="0" rIns="0" bIns="0" rtlCol="0" anchor="ctr"/>
          <a:lstStyle/>
          <a:p>
            <a:pPr indent="0" marL="0">
              <a:buNone/>
            </a:pPr>
            <a:r>
              <a:rPr lang="en-US" sz="1450" b="1" dirty="0">
                <a:solidFill>
                  <a:srgbClr val="141414"/>
                </a:solidFill>
                <a:latin typeface="Courier New" pitchFamily="34" charset="0"/>
                <a:ea typeface="Courier New" pitchFamily="34" charset="-122"/>
                <a:cs typeface="Courier New" pitchFamily="34" charset="-120"/>
              </a:rPr>
              <a:t>sample_corpus/</a:t>
            </a:r>
            <a:endParaRPr lang="en-US" sz="1450" dirty="0"/>
          </a:p>
        </p:txBody>
      </p:sp>
      <p:sp>
        <p:nvSpPr>
          <p:cNvPr id="30" name="Text 28"/>
          <p:cNvSpPr/>
          <p:nvPr/>
        </p:nvSpPr>
        <p:spPr>
          <a:xfrm>
            <a:off x="3529584" y="5013862"/>
            <a:ext cx="6412687" cy="346331"/>
          </a:xfrm>
          <a:prstGeom prst="rect">
            <a:avLst/>
          </a:prstGeom>
          <a:noFill/>
          <a:ln/>
        </p:spPr>
        <p:txBody>
          <a:bodyPr wrap="square" lIns="0" tIns="0" rIns="0" bIns="0" rtlCol="0" anchor="ctr"/>
          <a:lstStyle/>
          <a:p>
            <a:pPr indent="0" marL="0">
              <a:buNone/>
            </a:pPr>
            <a:r>
              <a:rPr lang="en-US" sz="1450" dirty="0">
                <a:solidFill>
                  <a:srgbClr val="141414"/>
                </a:solidFill>
                <a:latin typeface="Arial" pitchFamily="34" charset="0"/>
                <a:ea typeface="Arial" pitchFamily="34" charset="-122"/>
                <a:cs typeface="Arial" pitchFamily="34" charset="-120"/>
              </a:rPr>
              <a:t>A small test corpus for Workshop 1.</a:t>
            </a:r>
            <a:endParaRPr lang="en-US" sz="1450" dirty="0"/>
          </a:p>
        </p:txBody>
      </p:sp>
      <p:sp>
        <p:nvSpPr>
          <p:cNvPr id="31" name="Shape 29"/>
          <p:cNvSpPr/>
          <p:nvPr/>
        </p:nvSpPr>
        <p:spPr>
          <a:xfrm>
            <a:off x="10170871" y="5024048"/>
            <a:ext cx="1234440" cy="305587"/>
          </a:xfrm>
          <a:prstGeom prst="roundRect">
            <a:avLst>
              <a:gd name="adj" fmla="val 14961"/>
            </a:avLst>
          </a:prstGeom>
          <a:solidFill>
            <a:srgbClr val="EDF1F3"/>
          </a:solidFill>
          <a:ln/>
        </p:spPr>
      </p:sp>
      <p:sp>
        <p:nvSpPr>
          <p:cNvPr id="32" name="Text 30"/>
          <p:cNvSpPr/>
          <p:nvPr/>
        </p:nvSpPr>
        <p:spPr>
          <a:xfrm>
            <a:off x="10170871" y="5024048"/>
            <a:ext cx="1234440" cy="305587"/>
          </a:xfrm>
          <a:prstGeom prst="rect">
            <a:avLst/>
          </a:prstGeom>
          <a:noFill/>
          <a:ln/>
        </p:spPr>
        <p:txBody>
          <a:bodyPr wrap="square" lIns="0" tIns="0" rIns="0" bIns="0" rtlCol="0" anchor="ctr"/>
          <a:lstStyle/>
          <a:p>
            <a:pPr algn="ctr" indent="0" marL="0">
              <a:buNone/>
            </a:pPr>
            <a:r>
              <a:rPr lang="en-US" sz="1050" b="1" dirty="0">
                <a:solidFill>
                  <a:srgbClr val="6E6A63"/>
                </a:solidFill>
                <a:latin typeface="Arial" pitchFamily="34" charset="0"/>
                <a:ea typeface="Arial" pitchFamily="34" charset="-122"/>
                <a:cs typeface="Arial" pitchFamily="34" charset="-120"/>
              </a:rPr>
              <a:t>given</a:t>
            </a:r>
            <a:endParaRPr lang="en-US" sz="1050" dirty="0"/>
          </a:p>
        </p:txBody>
      </p:sp>
      <p:sp>
        <p:nvSpPr>
          <p:cNvPr id="33" name="Text 31"/>
          <p:cNvSpPr/>
          <p:nvPr/>
        </p:nvSpPr>
        <p:spPr>
          <a:xfrm>
            <a:off x="786384" y="5726897"/>
            <a:ext cx="10618927" cy="509311"/>
          </a:xfrm>
          <a:prstGeom prst="rect">
            <a:avLst/>
          </a:prstGeom>
          <a:noFill/>
          <a:ln/>
        </p:spPr>
        <p:txBody>
          <a:bodyPr wrap="square" lIns="0" tIns="0" rIns="0" bIns="0" rtlCol="0" anchor="ctr"/>
          <a:lstStyle/>
          <a:p>
            <a:pPr indent="0" marL="0">
              <a:lnSpc>
                <a:spcPts val="2200"/>
              </a:lnSpc>
              <a:buNone/>
            </a:pPr>
            <a:r>
              <a:rPr lang="en-US" sz="1550" i="1" dirty="0">
                <a:solidFill>
                  <a:srgbClr val="6E6A63"/>
                </a:solidFill>
                <a:latin typeface="Arial" pitchFamily="34" charset="0"/>
                <a:ea typeface="Arial" pitchFamily="34" charset="-122"/>
                <a:cs typeface="Arial" pitchFamily="34" charset="-120"/>
              </a:rPr>
              <a:t>The files you write are the ones the levels score. The rest is plumbing. Preliminary submissions are made through Codabench, which runs your bot and produces the leaderboard.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Two Functions You Write</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10</a:t>
            </a:r>
            <a:endParaRPr lang="en-US" sz="1200" dirty="0"/>
          </a:p>
        </p:txBody>
      </p:sp>
      <p:sp>
        <p:nvSpPr>
          <p:cNvPr id="6" name="Shape 3"/>
          <p:cNvSpPr/>
          <p:nvPr/>
        </p:nvSpPr>
        <p:spPr>
          <a:xfrm>
            <a:off x="786384" y="1583367"/>
            <a:ext cx="6158978" cy="2814969"/>
          </a:xfrm>
          <a:prstGeom prst="rect">
            <a:avLst/>
          </a:prstGeom>
          <a:solidFill>
            <a:srgbClr val="F2EFEA"/>
          </a:solidFill>
          <a:ln/>
        </p:spPr>
      </p:sp>
      <p:sp>
        <p:nvSpPr>
          <p:cNvPr id="7" name="Shape 4"/>
          <p:cNvSpPr/>
          <p:nvPr/>
        </p:nvSpPr>
        <p:spPr>
          <a:xfrm>
            <a:off x="786384" y="1583367"/>
            <a:ext cx="27432" cy="2814969"/>
          </a:xfrm>
          <a:prstGeom prst="rect">
            <a:avLst/>
          </a:prstGeom>
          <a:solidFill>
            <a:srgbClr val="C0402A"/>
          </a:solidFill>
          <a:ln/>
        </p:spPr>
      </p:sp>
      <p:sp>
        <p:nvSpPr>
          <p:cNvPr id="8" name="Text 5"/>
          <p:cNvSpPr/>
          <p:nvPr/>
        </p:nvSpPr>
        <p:spPr>
          <a:xfrm>
            <a:off x="1042416" y="1732258"/>
            <a:ext cx="5720066" cy="2517187"/>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def rag_answer(question: str) -&gt; str:</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"""One question in, one answer out."""</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return ""</a:t>
            </a:r>
            <a:endParaRPr lang="en-US" sz="1300" dirty="0"/>
          </a:p>
          <a:p>
            <a:pPr indent="0" marL="0">
              <a:lnSpc>
                <a:spcPts val="1900"/>
              </a:lnSpc>
              <a:buNone/>
            </a:pP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def rag_answer_batch(questions: list[str]) -&gt; list[str]:</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"""Many questions in, the same number of answers out,</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in the same order."""</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return [rag_answer(q) for q in questions]</a:t>
            </a:r>
            <a:endParaRPr lang="en-US" sz="1300" dirty="0"/>
          </a:p>
        </p:txBody>
      </p:sp>
      <p:sp>
        <p:nvSpPr>
          <p:cNvPr id="9" name="Shape 6"/>
          <p:cNvSpPr/>
          <p:nvPr/>
        </p:nvSpPr>
        <p:spPr>
          <a:xfrm>
            <a:off x="7370119" y="1583367"/>
            <a:ext cx="4035192" cy="16750"/>
          </a:xfrm>
          <a:prstGeom prst="rect">
            <a:avLst/>
          </a:prstGeom>
          <a:solidFill>
            <a:srgbClr val="141414"/>
          </a:solidFill>
          <a:ln/>
        </p:spPr>
      </p:sp>
      <p:sp>
        <p:nvSpPr>
          <p:cNvPr id="10" name="Text 7"/>
          <p:cNvSpPr/>
          <p:nvPr/>
        </p:nvSpPr>
        <p:spPr>
          <a:xfrm>
            <a:off x="7370119" y="1732258"/>
            <a:ext cx="4035192" cy="35025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rag_answer</a:t>
            </a:r>
            <a:endParaRPr lang="en-US" sz="1950" dirty="0"/>
          </a:p>
        </p:txBody>
      </p:sp>
      <p:sp>
        <p:nvSpPr>
          <p:cNvPr id="11" name="Text 8"/>
          <p:cNvSpPr/>
          <p:nvPr/>
        </p:nvSpPr>
        <p:spPr>
          <a:xfrm>
            <a:off x="7370119" y="2156959"/>
            <a:ext cx="4035192" cy="602284"/>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What the competition contract turns on. One question, one string.</a:t>
            </a:r>
            <a:endParaRPr lang="en-US" sz="1450" dirty="0"/>
          </a:p>
        </p:txBody>
      </p:sp>
      <p:sp>
        <p:nvSpPr>
          <p:cNvPr id="12" name="Shape 9"/>
          <p:cNvSpPr/>
          <p:nvPr/>
        </p:nvSpPr>
        <p:spPr>
          <a:xfrm>
            <a:off x="7370119" y="2830328"/>
            <a:ext cx="4035192" cy="22334"/>
          </a:xfrm>
          <a:prstGeom prst="rect">
            <a:avLst/>
          </a:prstGeom>
          <a:solidFill>
            <a:srgbClr val="C0402A"/>
          </a:solidFill>
          <a:ln/>
        </p:spPr>
      </p:sp>
      <p:sp>
        <p:nvSpPr>
          <p:cNvPr id="13" name="Text 10"/>
          <p:cNvSpPr/>
          <p:nvPr/>
        </p:nvSpPr>
        <p:spPr>
          <a:xfrm>
            <a:off x="7370119" y="2979219"/>
            <a:ext cx="4035192" cy="35025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rag_answer_batch</a:t>
            </a:r>
            <a:endParaRPr lang="en-US" sz="1950" dirty="0"/>
          </a:p>
        </p:txBody>
      </p:sp>
      <p:sp>
        <p:nvSpPr>
          <p:cNvPr id="14" name="Text 11"/>
          <p:cNvSpPr/>
          <p:nvPr/>
        </p:nvSpPr>
        <p:spPr>
          <a:xfrm>
            <a:off x="7370119" y="3403920"/>
            <a:ext cx="4035192" cy="880162"/>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Answers several questions in one call. Ships working, and you do not need to change it.</a:t>
            </a:r>
            <a:endParaRPr lang="en-US" sz="1450" dirty="0"/>
          </a:p>
        </p:txBody>
      </p:sp>
      <p:sp>
        <p:nvSpPr>
          <p:cNvPr id="15" name="Text 12"/>
          <p:cNvSpPr/>
          <p:nvPr/>
        </p:nvSpPr>
        <p:spPr>
          <a:xfrm>
            <a:off x="786384" y="4621672"/>
            <a:ext cx="9769413" cy="837511"/>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The batch version ships as a loop over the single one. That is correct, and you do not need to change it.</a:t>
            </a:r>
            <a:endParaRPr lang="en-US" sz="1550" dirty="0"/>
          </a:p>
        </p:txBody>
      </p:sp>
      <p:sp>
        <p:nvSpPr>
          <p:cNvPr id="16" name="Shape 13"/>
          <p:cNvSpPr/>
          <p:nvPr/>
        </p:nvSpPr>
        <p:spPr>
          <a:xfrm>
            <a:off x="786384" y="5305640"/>
            <a:ext cx="10618927" cy="930568"/>
          </a:xfrm>
          <a:prstGeom prst="roundRect">
            <a:avLst>
              <a:gd name="adj" fmla="val 4913"/>
            </a:avLst>
          </a:prstGeom>
          <a:solidFill>
            <a:srgbClr val="F7E6E0"/>
          </a:solidFill>
          <a:ln/>
        </p:spPr>
      </p:sp>
      <p:sp>
        <p:nvSpPr>
          <p:cNvPr id="17" name="Text 14"/>
          <p:cNvSpPr/>
          <p:nvPr/>
        </p:nvSpPr>
        <p:spPr>
          <a:xfrm>
            <a:off x="1060704" y="5491753"/>
            <a:ext cx="10070287" cy="558341"/>
          </a:xfrm>
          <a:prstGeom prst="rect">
            <a:avLst/>
          </a:prstGeom>
          <a:noFill/>
          <a:ln/>
        </p:spPr>
        <p:txBody>
          <a:bodyPr wrap="square" lIns="0" tIns="0" rIns="0" bIns="0" rtlCol="0" anchor="ctr"/>
          <a:lstStyle/>
          <a:p>
            <a:pPr indent="0" marL="0">
              <a:lnSpc>
                <a:spcPts val="2200"/>
              </a:lnSpc>
              <a:buNone/>
            </a:pPr>
            <a:r>
              <a:rPr lang="en-US" sz="1550" dirty="0">
                <a:solidFill>
                  <a:srgbClr val="5A3D14"/>
                </a:solidFill>
                <a:latin typeface="Arial" pitchFamily="34" charset="0"/>
                <a:ea typeface="Arial" pitchFamily="34" charset="-122"/>
                <a:cs typeface="Arial" pitchFamily="34" charset="-120"/>
              </a:rPr>
              <a:t>The 30 second limit is per question, not per batch. Ten questions in 250 seconds is 25 seconds each and passes. One of them taking 40 on its own does not.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API Keys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11</a:t>
            </a:r>
            <a:endParaRPr lang="en-US" sz="1200" dirty="0"/>
          </a:p>
        </p:txBody>
      </p:sp>
      <p:sp>
        <p:nvSpPr>
          <p:cNvPr id="5" name="Shape 3"/>
          <p:cNvSpPr/>
          <p:nvPr/>
        </p:nvSpPr>
        <p:spPr>
          <a:xfrm>
            <a:off x="786384" y="1608247"/>
            <a:ext cx="5521842" cy="2229947"/>
          </a:xfrm>
          <a:prstGeom prst="rect">
            <a:avLst/>
          </a:prstGeom>
          <a:solidFill>
            <a:srgbClr val="F2EFEA"/>
          </a:solidFill>
          <a:ln/>
        </p:spPr>
      </p:sp>
      <p:sp>
        <p:nvSpPr>
          <p:cNvPr id="6" name="Shape 4"/>
          <p:cNvSpPr/>
          <p:nvPr/>
        </p:nvSpPr>
        <p:spPr>
          <a:xfrm>
            <a:off x="786384" y="1608247"/>
            <a:ext cx="27432" cy="2229947"/>
          </a:xfrm>
          <a:prstGeom prst="rect">
            <a:avLst/>
          </a:prstGeom>
          <a:solidFill>
            <a:srgbClr val="C0402A"/>
          </a:solidFill>
          <a:ln/>
        </p:spPr>
      </p:sp>
      <p:sp>
        <p:nvSpPr>
          <p:cNvPr id="7" name="Text 5"/>
          <p:cNvSpPr/>
          <p:nvPr/>
        </p:nvSpPr>
        <p:spPr>
          <a:xfrm>
            <a:off x="1042416" y="1801368"/>
            <a:ext cx="5082930" cy="1843705"/>
          </a:xfrm>
          <a:prstGeom prst="rect">
            <a:avLst/>
          </a:prstGeom>
          <a:noFill/>
          <a:ln/>
        </p:spPr>
        <p:txBody>
          <a:bodyPr wrap="square" lIns="0" tIns="0" rIns="0" bIns="0" rtlCol="0" anchor="t"/>
          <a:lstStyle/>
          <a:p>
            <a:pPr indent="0" marL="0">
              <a:lnSpc>
                <a:spcPts val="1850"/>
              </a:lnSpc>
              <a:buNone/>
            </a:pPr>
            <a:r>
              <a:rPr lang="en-US" sz="1250" dirty="0">
                <a:solidFill>
                  <a:srgbClr val="2A2724"/>
                </a:solidFill>
                <a:latin typeface="Courier New" pitchFamily="34" charset="0"/>
                <a:ea typeface="Courier New" pitchFamily="34" charset="-122"/>
                <a:cs typeface="Courier New" pitchFamily="34" charset="-120"/>
              </a:rPr>
              <a:t># .env  (never commit this file)</a:t>
            </a:r>
            <a:endParaRPr lang="en-US" sz="1250" dirty="0"/>
          </a:p>
          <a:p>
            <a:pPr indent="0" marL="0">
              <a:lnSpc>
                <a:spcPts val="1850"/>
              </a:lnSpc>
              <a:buNone/>
            </a:pPr>
            <a:endParaRPr lang="en-US" sz="1250" dirty="0"/>
          </a:p>
          <a:p>
            <a:pPr indent="0" marL="0">
              <a:lnSpc>
                <a:spcPts val="1850"/>
              </a:lnSpc>
              <a:buNone/>
            </a:pPr>
            <a:r>
              <a:rPr lang="en-US" sz="1250" dirty="0">
                <a:solidFill>
                  <a:srgbClr val="2A2724"/>
                </a:solidFill>
                <a:latin typeface="Courier New" pitchFamily="34" charset="0"/>
                <a:ea typeface="Courier New" pitchFamily="34" charset="-122"/>
                <a:cs typeface="Courier New" pitchFamily="34" charset="-120"/>
              </a:rPr>
              <a:t>AZURE_OPENAI_API_KEY=...</a:t>
            </a:r>
            <a:endParaRPr lang="en-US" sz="1250" dirty="0"/>
          </a:p>
          <a:p>
            <a:pPr indent="0" marL="0">
              <a:lnSpc>
                <a:spcPts val="1850"/>
              </a:lnSpc>
              <a:buNone/>
            </a:pPr>
            <a:r>
              <a:rPr lang="en-US" sz="1250" dirty="0">
                <a:solidFill>
                  <a:srgbClr val="2A2724"/>
                </a:solidFill>
                <a:latin typeface="Courier New" pitchFamily="34" charset="0"/>
                <a:ea typeface="Courier New" pitchFamily="34" charset="-122"/>
                <a:cs typeface="Courier New" pitchFamily="34" charset="-120"/>
              </a:rPr>
              <a:t>AZURE_CHAT_BASE=https://api-iw...</a:t>
            </a:r>
            <a:endParaRPr lang="en-US" sz="1250" dirty="0"/>
          </a:p>
          <a:p>
            <a:pPr indent="0" marL="0">
              <a:lnSpc>
                <a:spcPts val="1850"/>
              </a:lnSpc>
              <a:buNone/>
            </a:pPr>
            <a:r>
              <a:rPr lang="en-US" sz="1250" dirty="0">
                <a:solidFill>
                  <a:srgbClr val="2A2724"/>
                </a:solidFill>
                <a:latin typeface="Courier New" pitchFamily="34" charset="0"/>
                <a:ea typeface="Courier New" pitchFamily="34" charset="-122"/>
                <a:cs typeface="Courier New" pitchFamily="34" charset="-120"/>
              </a:rPr>
              <a:t>AZURE_EMBED_BASE=https://api-iw...</a:t>
            </a:r>
            <a:endParaRPr lang="en-US" sz="1250" dirty="0"/>
          </a:p>
        </p:txBody>
      </p:sp>
      <p:sp>
        <p:nvSpPr>
          <p:cNvPr id="8" name="Text 6"/>
          <p:cNvSpPr/>
          <p:nvPr/>
        </p:nvSpPr>
        <p:spPr>
          <a:xfrm>
            <a:off x="786384" y="4152016"/>
            <a:ext cx="5521842" cy="410383"/>
          </a:xfrm>
          <a:prstGeom prst="rect">
            <a:avLst/>
          </a:prstGeom>
          <a:noFill/>
          <a:ln/>
        </p:spPr>
        <p:txBody>
          <a:bodyPr wrap="square" lIns="0" tIns="0" rIns="0" bIns="0" rtlCol="0" anchor="ctr"/>
          <a:lstStyle/>
          <a:p>
            <a:pPr indent="0" marL="0">
              <a:buNone/>
            </a:pPr>
            <a:r>
              <a:rPr lang="en-US" sz="1800" b="1" dirty="0">
                <a:solidFill>
                  <a:srgbClr val="141414"/>
                </a:solidFill>
                <a:latin typeface="Arial" pitchFamily="34" charset="0"/>
                <a:ea typeface="Arial" pitchFamily="34" charset="-122"/>
                <a:cs typeface="Arial" pitchFamily="34" charset="-120"/>
              </a:rPr>
              <a:t>Available models</a:t>
            </a:r>
            <a:endParaRPr lang="en-US" sz="1800" dirty="0"/>
          </a:p>
        </p:txBody>
      </p:sp>
      <p:sp>
        <p:nvSpPr>
          <p:cNvPr id="9" name="Shape 7"/>
          <p:cNvSpPr/>
          <p:nvPr/>
        </p:nvSpPr>
        <p:spPr>
          <a:xfrm>
            <a:off x="877824" y="4813859"/>
            <a:ext cx="155448" cy="24140"/>
          </a:xfrm>
          <a:prstGeom prst="rect">
            <a:avLst/>
          </a:prstGeom>
          <a:solidFill>
            <a:srgbClr val="C0402A"/>
          </a:solidFill>
          <a:ln/>
        </p:spPr>
      </p:sp>
      <p:sp>
        <p:nvSpPr>
          <p:cNvPr id="10" name="Text 8"/>
          <p:cNvSpPr/>
          <p:nvPr/>
        </p:nvSpPr>
        <p:spPr>
          <a:xfrm>
            <a:off x="1188720" y="4658959"/>
            <a:ext cx="5210946" cy="441228"/>
          </a:xfrm>
          <a:prstGeom prst="rect">
            <a:avLst/>
          </a:prstGeom>
          <a:noFill/>
          <a:ln/>
        </p:spPr>
        <p:txBody>
          <a:bodyPr wrap="square" lIns="0" tIns="0" rIns="0" bIns="0" rtlCol="0" anchor="t"/>
          <a:lstStyle/>
          <a:p>
            <a:pPr indent="0" marL="0">
              <a:lnSpc>
                <a:spcPts val="2200"/>
              </a:lnSpc>
              <a:buNone/>
            </a:pPr>
            <a:r>
              <a:rPr lang="en-US" sz="1500" dirty="0">
                <a:solidFill>
                  <a:srgbClr val="141414"/>
                </a:solidFill>
                <a:latin typeface="Arial" pitchFamily="34" charset="0"/>
                <a:ea typeface="Arial" pitchFamily="34" charset="-122"/>
                <a:cs typeface="Arial" pitchFamily="34" charset="-120"/>
              </a:rPr>
              <a:t>gpt-4o-mini, for chat</a:t>
            </a:r>
            <a:endParaRPr lang="en-US" sz="1500" dirty="0"/>
          </a:p>
        </p:txBody>
      </p:sp>
      <p:sp>
        <p:nvSpPr>
          <p:cNvPr id="11" name="Shape 9"/>
          <p:cNvSpPr/>
          <p:nvPr/>
        </p:nvSpPr>
        <p:spPr>
          <a:xfrm>
            <a:off x="877824" y="5336896"/>
            <a:ext cx="155448" cy="24140"/>
          </a:xfrm>
          <a:prstGeom prst="rect">
            <a:avLst/>
          </a:prstGeom>
          <a:solidFill>
            <a:srgbClr val="C0402A"/>
          </a:solidFill>
          <a:ln/>
        </p:spPr>
      </p:sp>
      <p:sp>
        <p:nvSpPr>
          <p:cNvPr id="12" name="Text 10"/>
          <p:cNvSpPr/>
          <p:nvPr/>
        </p:nvSpPr>
        <p:spPr>
          <a:xfrm>
            <a:off x="1188720" y="5181996"/>
            <a:ext cx="5210946" cy="441228"/>
          </a:xfrm>
          <a:prstGeom prst="rect">
            <a:avLst/>
          </a:prstGeom>
          <a:noFill/>
          <a:ln/>
        </p:spPr>
        <p:txBody>
          <a:bodyPr wrap="square" lIns="0" tIns="0" rIns="0" bIns="0" rtlCol="0" anchor="t"/>
          <a:lstStyle/>
          <a:p>
            <a:pPr indent="0" marL="0">
              <a:lnSpc>
                <a:spcPts val="2200"/>
              </a:lnSpc>
              <a:buNone/>
            </a:pPr>
            <a:r>
              <a:rPr lang="en-US" sz="1500" dirty="0">
                <a:solidFill>
                  <a:srgbClr val="141414"/>
                </a:solidFill>
                <a:latin typeface="Arial" pitchFamily="34" charset="0"/>
                <a:ea typeface="Arial" pitchFamily="34" charset="-122"/>
                <a:cs typeface="Arial" pitchFamily="34" charset="-120"/>
              </a:rPr>
              <a:t>gpt-5-mini, for reading images</a:t>
            </a:r>
            <a:endParaRPr lang="en-US" sz="1500" dirty="0"/>
          </a:p>
        </p:txBody>
      </p:sp>
      <p:sp>
        <p:nvSpPr>
          <p:cNvPr id="13" name="Shape 11"/>
          <p:cNvSpPr/>
          <p:nvPr/>
        </p:nvSpPr>
        <p:spPr>
          <a:xfrm>
            <a:off x="877824" y="5859932"/>
            <a:ext cx="155448" cy="24140"/>
          </a:xfrm>
          <a:prstGeom prst="rect">
            <a:avLst/>
          </a:prstGeom>
          <a:solidFill>
            <a:srgbClr val="C0402A"/>
          </a:solidFill>
          <a:ln/>
        </p:spPr>
      </p:sp>
      <p:sp>
        <p:nvSpPr>
          <p:cNvPr id="14" name="Text 12"/>
          <p:cNvSpPr/>
          <p:nvPr/>
        </p:nvSpPr>
        <p:spPr>
          <a:xfrm>
            <a:off x="1188720" y="5705033"/>
            <a:ext cx="5210946" cy="441228"/>
          </a:xfrm>
          <a:prstGeom prst="rect">
            <a:avLst/>
          </a:prstGeom>
          <a:noFill/>
          <a:ln/>
        </p:spPr>
        <p:txBody>
          <a:bodyPr wrap="square" lIns="0" tIns="0" rIns="0" bIns="0" rtlCol="0" anchor="t"/>
          <a:lstStyle/>
          <a:p>
            <a:pPr indent="0" marL="0">
              <a:lnSpc>
                <a:spcPts val="2200"/>
              </a:lnSpc>
              <a:buNone/>
            </a:pPr>
            <a:r>
              <a:rPr lang="en-US" sz="1500" dirty="0">
                <a:solidFill>
                  <a:srgbClr val="141414"/>
                </a:solidFill>
                <a:latin typeface="Arial" pitchFamily="34" charset="0"/>
                <a:ea typeface="Arial" pitchFamily="34" charset="-122"/>
                <a:cs typeface="Arial" pitchFamily="34" charset="-120"/>
              </a:rPr>
              <a:t>text-embedding-3-small, for embeddings</a:t>
            </a:r>
            <a:endParaRPr lang="en-US" sz="1500" dirty="0"/>
          </a:p>
        </p:txBody>
      </p:sp>
      <p:sp>
        <p:nvSpPr>
          <p:cNvPr id="15" name="Shape 13"/>
          <p:cNvSpPr/>
          <p:nvPr/>
        </p:nvSpPr>
        <p:spPr>
          <a:xfrm>
            <a:off x="6732983" y="1608247"/>
            <a:ext cx="4672328" cy="2051914"/>
          </a:xfrm>
          <a:prstGeom prst="roundRect">
            <a:avLst>
              <a:gd name="adj" fmla="val 2228"/>
            </a:avLst>
          </a:prstGeom>
          <a:solidFill>
            <a:srgbClr val="F7E6E0"/>
          </a:solidFill>
          <a:ln/>
        </p:spPr>
      </p:sp>
      <p:sp>
        <p:nvSpPr>
          <p:cNvPr id="16" name="Text 14"/>
          <p:cNvSpPr/>
          <p:nvPr/>
        </p:nvSpPr>
        <p:spPr>
          <a:xfrm>
            <a:off x="6970727" y="1849648"/>
            <a:ext cx="4196840" cy="434523"/>
          </a:xfrm>
          <a:prstGeom prst="rect">
            <a:avLst/>
          </a:prstGeom>
          <a:noFill/>
          <a:ln/>
        </p:spPr>
        <p:txBody>
          <a:bodyPr wrap="square" lIns="0" tIns="0" rIns="0" bIns="0" rtlCol="0" anchor="ctr"/>
          <a:lstStyle/>
          <a:p>
            <a:pPr indent="0" marL="0">
              <a:buNone/>
            </a:pPr>
            <a:r>
              <a:rPr lang="en-US" sz="1700" b="1" dirty="0">
                <a:solidFill>
                  <a:srgbClr val="6B4410"/>
                </a:solidFill>
                <a:latin typeface="Arial" pitchFamily="34" charset="0"/>
                <a:ea typeface="Arial" pitchFamily="34" charset="-122"/>
                <a:cs typeface="Arial" pitchFamily="34" charset="-120"/>
              </a:rPr>
              <a:t>Do not commit your key</a:t>
            </a:r>
            <a:endParaRPr lang="en-US" sz="1700" dirty="0"/>
          </a:p>
        </p:txBody>
      </p:sp>
      <p:sp>
        <p:nvSpPr>
          <p:cNvPr id="17" name="Text 15"/>
          <p:cNvSpPr/>
          <p:nvPr/>
        </p:nvSpPr>
        <p:spPr>
          <a:xfrm>
            <a:off x="6970727" y="2356592"/>
            <a:ext cx="4196840" cy="1086307"/>
          </a:xfrm>
          <a:prstGeom prst="rect">
            <a:avLst/>
          </a:prstGeom>
          <a:noFill/>
          <a:ln/>
        </p:spPr>
        <p:txBody>
          <a:bodyPr wrap="square" lIns="0" tIns="0" rIns="0" bIns="0" rtlCol="0" anchor="ctr"/>
          <a:lstStyle/>
          <a:p>
            <a:pPr indent="0" marL="0">
              <a:lnSpc>
                <a:spcPts val="2100"/>
              </a:lnSpc>
              <a:buNone/>
            </a:pPr>
            <a:r>
              <a:rPr lang="en-US" sz="1450" dirty="0">
                <a:solidFill>
                  <a:srgbClr val="5A3D14"/>
                </a:solidFill>
                <a:latin typeface="Arial" pitchFamily="34" charset="0"/>
                <a:ea typeface="Arial" pitchFamily="34" charset="-122"/>
                <a:cs typeface="Arial" pitchFamily="34" charset="-120"/>
              </a:rPr>
              <a:t>A committed key gets rotated, which breaks your submission. Check .env is in .gitignore before your first commit.</a:t>
            </a:r>
            <a:endParaRPr lang="en-US" sz="1450" dirty="0"/>
          </a:p>
        </p:txBody>
      </p:sp>
      <p:sp>
        <p:nvSpPr>
          <p:cNvPr id="18" name="Shape 16"/>
          <p:cNvSpPr/>
          <p:nvPr/>
        </p:nvSpPr>
        <p:spPr>
          <a:xfrm>
            <a:off x="6732983" y="3853282"/>
            <a:ext cx="4672328" cy="21726"/>
          </a:xfrm>
          <a:prstGeom prst="rect">
            <a:avLst/>
          </a:prstGeom>
          <a:solidFill>
            <a:srgbClr val="141414"/>
          </a:solidFill>
          <a:ln/>
        </p:spPr>
      </p:sp>
      <p:sp>
        <p:nvSpPr>
          <p:cNvPr id="19" name="Text 17"/>
          <p:cNvSpPr/>
          <p:nvPr/>
        </p:nvSpPr>
        <p:spPr>
          <a:xfrm>
            <a:off x="6732983" y="4046403"/>
            <a:ext cx="467232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Reading an error</a:t>
            </a:r>
            <a:endParaRPr lang="en-US" sz="1950" dirty="0"/>
          </a:p>
        </p:txBody>
      </p:sp>
      <p:sp>
        <p:nvSpPr>
          <p:cNvPr id="20" name="Text 18"/>
          <p:cNvSpPr/>
          <p:nvPr/>
        </p:nvSpPr>
        <p:spPr>
          <a:xfrm>
            <a:off x="6732983" y="4597268"/>
            <a:ext cx="4672328" cy="111648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401  the key is wrong or was never loaded</a:t>
            </a: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429  rate limited, wait and retry</a:t>
            </a: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timeout  usually your prompt is too large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Verifying Your Setup</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12</a:t>
            </a:r>
            <a:endParaRPr lang="en-US" sz="1200" dirty="0"/>
          </a:p>
        </p:txBody>
      </p:sp>
      <p:sp>
        <p:nvSpPr>
          <p:cNvPr id="5" name="Shape 3"/>
          <p:cNvSpPr/>
          <p:nvPr/>
        </p:nvSpPr>
        <p:spPr>
          <a:xfrm>
            <a:off x="786384" y="1608247"/>
            <a:ext cx="6371356" cy="3651199"/>
          </a:xfrm>
          <a:prstGeom prst="rect">
            <a:avLst/>
          </a:prstGeom>
          <a:solidFill>
            <a:srgbClr val="F2EFEA"/>
          </a:solidFill>
          <a:ln/>
        </p:spPr>
      </p:sp>
      <p:sp>
        <p:nvSpPr>
          <p:cNvPr id="6" name="Shape 4"/>
          <p:cNvSpPr/>
          <p:nvPr/>
        </p:nvSpPr>
        <p:spPr>
          <a:xfrm>
            <a:off x="786384" y="1608247"/>
            <a:ext cx="27432" cy="3651199"/>
          </a:xfrm>
          <a:prstGeom prst="rect">
            <a:avLst/>
          </a:prstGeom>
          <a:solidFill>
            <a:srgbClr val="C0402A"/>
          </a:solidFill>
          <a:ln/>
        </p:spPr>
      </p:sp>
      <p:sp>
        <p:nvSpPr>
          <p:cNvPr id="7" name="Text 5"/>
          <p:cNvSpPr/>
          <p:nvPr/>
        </p:nvSpPr>
        <p:spPr>
          <a:xfrm>
            <a:off x="1042416" y="1801368"/>
            <a:ext cx="5932444" cy="3264957"/>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python check_setup.py</a:t>
            </a: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python 3.11.7            PASS</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requests, bs4, chromadb  PASS</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.env loaded              PASS</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chat call                PASS   0.9s</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embedding call           PASS   0.2s</a:t>
            </a: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READY</a:t>
            </a:r>
            <a:endParaRPr lang="en-US" sz="1300" dirty="0"/>
          </a:p>
        </p:txBody>
      </p:sp>
      <p:sp>
        <p:nvSpPr>
          <p:cNvPr id="8" name="Shape 6"/>
          <p:cNvSpPr/>
          <p:nvPr/>
        </p:nvSpPr>
        <p:spPr>
          <a:xfrm>
            <a:off x="7582497" y="1608247"/>
            <a:ext cx="3822814" cy="21726"/>
          </a:xfrm>
          <a:prstGeom prst="rect">
            <a:avLst/>
          </a:prstGeom>
          <a:solidFill>
            <a:srgbClr val="141414"/>
          </a:solidFill>
          <a:ln/>
        </p:spPr>
      </p:sp>
      <p:sp>
        <p:nvSpPr>
          <p:cNvPr id="9" name="Text 7"/>
          <p:cNvSpPr/>
          <p:nvPr/>
        </p:nvSpPr>
        <p:spPr>
          <a:xfrm>
            <a:off x="7582497" y="1801368"/>
            <a:ext cx="3822814"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Before 16 September</a:t>
            </a:r>
            <a:endParaRPr lang="en-US" sz="1950" dirty="0"/>
          </a:p>
        </p:txBody>
      </p:sp>
      <p:sp>
        <p:nvSpPr>
          <p:cNvPr id="10" name="Text 8"/>
          <p:cNvSpPr/>
          <p:nvPr/>
        </p:nvSpPr>
        <p:spPr>
          <a:xfrm>
            <a:off x="7582497" y="2352233"/>
            <a:ext cx="3822814" cy="1820570"/>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Run it and get READY before 16 September.</a:t>
            </a:r>
            <a:endParaRPr lang="en-US" sz="1400" dirty="0"/>
          </a:p>
          <a:p>
            <a:pPr indent="0" marL="0">
              <a:lnSpc>
                <a:spcPts val="2100"/>
              </a:lnSpc>
              <a:buNone/>
            </a:pP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If it fails, bring the output to the start of Workshop 1 rather than working through it during the labs.</a:t>
            </a:r>
            <a:endParaRPr lang="en-US" sz="1400" dirty="0"/>
          </a:p>
        </p:txBody>
      </p:sp>
      <p:sp>
        <p:nvSpPr>
          <p:cNvPr id="11" name="Text 9"/>
          <p:cNvSpPr/>
          <p:nvPr/>
        </p:nvSpPr>
        <p:spPr>
          <a:xfrm>
            <a:off x="786384" y="5180990"/>
            <a:ext cx="10618927" cy="603504"/>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Most failures are a missing dependency or a key that was never loaded from .env.</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Working as a Team</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13</a:t>
            </a:r>
            <a:endParaRPr lang="en-US" sz="1200" dirty="0"/>
          </a:p>
        </p:txBody>
      </p:sp>
      <p:sp>
        <p:nvSpPr>
          <p:cNvPr id="5" name="Shape 3"/>
          <p:cNvSpPr/>
          <p:nvPr/>
        </p:nvSpPr>
        <p:spPr>
          <a:xfrm>
            <a:off x="786384" y="1680667"/>
            <a:ext cx="5181448" cy="21726"/>
          </a:xfrm>
          <a:prstGeom prst="rect">
            <a:avLst/>
          </a:prstGeom>
          <a:solidFill>
            <a:srgbClr val="141414"/>
          </a:solidFill>
          <a:ln/>
        </p:spPr>
      </p:sp>
      <p:sp>
        <p:nvSpPr>
          <p:cNvPr id="6" name="Text 4"/>
          <p:cNvSpPr/>
          <p:nvPr/>
        </p:nvSpPr>
        <p:spPr>
          <a:xfrm>
            <a:off x="786384" y="1873788"/>
            <a:ext cx="518144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One branch per person</a:t>
            </a:r>
            <a:endParaRPr lang="en-US" sz="1950" dirty="0"/>
          </a:p>
        </p:txBody>
      </p:sp>
      <p:sp>
        <p:nvSpPr>
          <p:cNvPr id="7" name="Text 5"/>
          <p:cNvSpPr/>
          <p:nvPr/>
        </p:nvSpPr>
        <p:spPr>
          <a:xfrm>
            <a:off x="786384" y="2424654"/>
            <a:ext cx="5181448" cy="881786"/>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Merge through pull requests. Trivial to set up, saves an argument in week three.</a:t>
            </a:r>
            <a:endParaRPr lang="en-US" sz="1750" dirty="0"/>
          </a:p>
        </p:txBody>
      </p:sp>
      <p:sp>
        <p:nvSpPr>
          <p:cNvPr id="8" name="Shape 6"/>
          <p:cNvSpPr/>
          <p:nvPr/>
        </p:nvSpPr>
        <p:spPr>
          <a:xfrm>
            <a:off x="6223864" y="1680667"/>
            <a:ext cx="5181448" cy="21726"/>
          </a:xfrm>
          <a:prstGeom prst="rect">
            <a:avLst/>
          </a:prstGeom>
          <a:solidFill>
            <a:srgbClr val="141414"/>
          </a:solidFill>
          <a:ln/>
        </p:spPr>
      </p:sp>
      <p:sp>
        <p:nvSpPr>
          <p:cNvPr id="9" name="Text 7"/>
          <p:cNvSpPr/>
          <p:nvPr/>
        </p:nvSpPr>
        <p:spPr>
          <a:xfrm>
            <a:off x="6223864" y="1873788"/>
            <a:ext cx="518144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Agree who owns the index</a:t>
            </a:r>
            <a:endParaRPr lang="en-US" sz="1950" dirty="0"/>
          </a:p>
        </p:txBody>
      </p:sp>
      <p:sp>
        <p:nvSpPr>
          <p:cNvPr id="10" name="Text 8"/>
          <p:cNvSpPr/>
          <p:nvPr/>
        </p:nvSpPr>
        <p:spPr>
          <a:xfrm>
            <a:off x="6223864" y="2424654"/>
            <a:ext cx="5181448" cy="1292504"/>
          </a:xfrm>
          <a:prstGeom prst="rect">
            <a:avLst/>
          </a:prstGeom>
          <a:noFill/>
          <a:ln/>
        </p:spPr>
        <p:txBody>
          <a:bodyPr wrap="square" lIns="0" tIns="0" rIns="0" bIns="0" rtlCol="0" anchor="t"/>
          <a:lstStyle/>
          <a:p>
            <a:pPr indent="0" marL="0">
              <a:lnSpc>
                <a:spcPts val="2450"/>
              </a:lnSpc>
              <a:buNone/>
            </a:pPr>
            <a:r>
              <a:rPr lang="en-US" sz="1750" dirty="0">
                <a:solidFill>
                  <a:srgbClr val="141414"/>
                </a:solidFill>
                <a:latin typeface="Arial" pitchFamily="34" charset="0"/>
                <a:ea typeface="Arial" pitchFamily="34" charset="-122"/>
                <a:cs typeface="Arial" pitchFamily="34" charset="-120"/>
              </a:rPr>
              <a:t>Two people rebuilding the vector database at once produces conflicting binary files, and git cannot merge those.</a:t>
            </a:r>
            <a:endParaRPr lang="en-US" sz="1750" dirty="0"/>
          </a:p>
        </p:txBody>
      </p:sp>
      <p:sp>
        <p:nvSpPr>
          <p:cNvPr id="11" name="Text 9"/>
          <p:cNvSpPr/>
          <p:nvPr/>
        </p:nvSpPr>
        <p:spPr>
          <a:xfrm>
            <a:off x="786384" y="3973982"/>
            <a:ext cx="8495142" cy="844906"/>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Teams are 2 to 3 undergraduates in Years 1 to 3, plus an optional Year 4 mentor. Twenty teams enter, five reach the final.</a:t>
            </a:r>
            <a:endParaRPr lang="en-US" sz="1600" dirty="0"/>
          </a:p>
        </p:txBody>
      </p:sp>
      <p:sp>
        <p:nvSpPr>
          <p:cNvPr id="12" name="Text 10"/>
          <p:cNvSpPr/>
          <p:nvPr/>
        </p:nvSpPr>
        <p:spPr>
          <a:xfrm>
            <a:off x="786384" y="4939589"/>
            <a:ext cx="8495142" cy="844906"/>
          </a:xfrm>
          <a:prstGeom prst="rect">
            <a:avLst/>
          </a:prstGeom>
          <a:noFill/>
          <a:ln/>
        </p:spPr>
        <p:txBody>
          <a:bodyPr wrap="square" lIns="0" tIns="0" rIns="0" bIns="0" rtlCol="0" anchor="ctr"/>
          <a:lstStyle/>
          <a:p>
            <a:pPr indent="0" marL="0">
              <a:lnSpc>
                <a:spcPts val="2300"/>
              </a:lnSpc>
              <a:buNone/>
            </a:pPr>
            <a:r>
              <a:rPr lang="en-US" sz="1550" dirty="0">
                <a:solidFill>
                  <a:srgbClr val="6E6A63"/>
                </a:solidFill>
                <a:latin typeface="Arial" pitchFamily="34" charset="0"/>
                <a:ea typeface="Arial" pitchFamily="34" charset="-122"/>
                <a:cs typeface="Arial" pitchFamily="34" charset="-120"/>
              </a:rPr>
              <a:t>Non-competitors get the materials and both workshops, but do not submit or appear on the leaderboard.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Before Workshop 1</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14</a:t>
            </a:r>
            <a:endParaRPr lang="en-US" sz="1200" dirty="0"/>
          </a:p>
        </p:txBody>
      </p:sp>
      <p:sp>
        <p:nvSpPr>
          <p:cNvPr id="5" name="Shape 3"/>
          <p:cNvSpPr/>
          <p:nvPr/>
        </p:nvSpPr>
        <p:spPr>
          <a:xfrm>
            <a:off x="786384" y="1849648"/>
            <a:ext cx="155448" cy="24140"/>
          </a:xfrm>
          <a:prstGeom prst="rect">
            <a:avLst/>
          </a:prstGeom>
          <a:solidFill>
            <a:srgbClr val="C0402A"/>
          </a:solidFill>
          <a:ln/>
        </p:spPr>
      </p:sp>
      <p:sp>
        <p:nvSpPr>
          <p:cNvPr id="6" name="Text 4"/>
          <p:cNvSpPr/>
          <p:nvPr/>
        </p:nvSpPr>
        <p:spPr>
          <a:xfrm>
            <a:off x="1097280" y="1680667"/>
            <a:ext cx="9246138" cy="474756"/>
          </a:xfrm>
          <a:prstGeom prst="rect">
            <a:avLst/>
          </a:prstGeom>
          <a:noFill/>
          <a:ln/>
        </p:spPr>
        <p:txBody>
          <a:bodyPr wrap="square" lIns="0" tIns="0" rIns="0" bIns="0" rtlCol="0" anchor="t"/>
          <a:lstStyle/>
          <a:p>
            <a:pPr indent="0" marL="0">
              <a:lnSpc>
                <a:spcPts val="2400"/>
              </a:lnSpc>
              <a:buNone/>
            </a:pPr>
            <a:r>
              <a:rPr lang="en-US" sz="1700" dirty="0">
                <a:solidFill>
                  <a:srgbClr val="141414"/>
                </a:solidFill>
                <a:latin typeface="Arial" pitchFamily="34" charset="0"/>
                <a:ea typeface="Arial" pitchFamily="34" charset="-122"/>
                <a:cs typeface="Arial" pitchFamily="34" charset="-120"/>
              </a:rPr>
              <a:t>Python, VS Code and GitHub CLI installed.</a:t>
            </a:r>
            <a:endParaRPr lang="en-US" sz="1700" dirty="0"/>
          </a:p>
        </p:txBody>
      </p:sp>
      <p:sp>
        <p:nvSpPr>
          <p:cNvPr id="7" name="Shape 5"/>
          <p:cNvSpPr/>
          <p:nvPr/>
        </p:nvSpPr>
        <p:spPr>
          <a:xfrm>
            <a:off x="786384" y="2513503"/>
            <a:ext cx="155448" cy="24140"/>
          </a:xfrm>
          <a:prstGeom prst="rect">
            <a:avLst/>
          </a:prstGeom>
          <a:solidFill>
            <a:srgbClr val="C0402A"/>
          </a:solidFill>
          <a:ln/>
        </p:spPr>
      </p:sp>
      <p:sp>
        <p:nvSpPr>
          <p:cNvPr id="8" name="Text 6"/>
          <p:cNvSpPr/>
          <p:nvPr/>
        </p:nvSpPr>
        <p:spPr>
          <a:xfrm>
            <a:off x="1097280" y="2344522"/>
            <a:ext cx="9246138" cy="474756"/>
          </a:xfrm>
          <a:prstGeom prst="rect">
            <a:avLst/>
          </a:prstGeom>
          <a:noFill/>
          <a:ln/>
        </p:spPr>
        <p:txBody>
          <a:bodyPr wrap="square" lIns="0" tIns="0" rIns="0" bIns="0" rtlCol="0" anchor="t"/>
          <a:lstStyle/>
          <a:p>
            <a:pPr indent="0" marL="0">
              <a:lnSpc>
                <a:spcPts val="2400"/>
              </a:lnSpc>
              <a:buNone/>
            </a:pPr>
            <a:r>
              <a:rPr lang="en-US" sz="1700" dirty="0">
                <a:solidFill>
                  <a:srgbClr val="141414"/>
                </a:solidFill>
                <a:latin typeface="Arial" pitchFamily="34" charset="0"/>
                <a:ea typeface="Arial" pitchFamily="34" charset="-122"/>
                <a:cs typeface="Arial" pitchFamily="34" charset="-120"/>
              </a:rPr>
              <a:t>Team repository cloned, dependencies installed.</a:t>
            </a:r>
            <a:endParaRPr lang="en-US" sz="1700" dirty="0"/>
          </a:p>
        </p:txBody>
      </p:sp>
      <p:sp>
        <p:nvSpPr>
          <p:cNvPr id="9" name="Shape 7"/>
          <p:cNvSpPr/>
          <p:nvPr/>
        </p:nvSpPr>
        <p:spPr>
          <a:xfrm>
            <a:off x="786384" y="3177357"/>
            <a:ext cx="155448" cy="24140"/>
          </a:xfrm>
          <a:prstGeom prst="rect">
            <a:avLst/>
          </a:prstGeom>
          <a:solidFill>
            <a:srgbClr val="C0402A"/>
          </a:solidFill>
          <a:ln/>
        </p:spPr>
      </p:sp>
      <p:sp>
        <p:nvSpPr>
          <p:cNvPr id="10" name="Text 8"/>
          <p:cNvSpPr/>
          <p:nvPr/>
        </p:nvSpPr>
        <p:spPr>
          <a:xfrm>
            <a:off x="1097280" y="3008376"/>
            <a:ext cx="9246138" cy="474756"/>
          </a:xfrm>
          <a:prstGeom prst="rect">
            <a:avLst/>
          </a:prstGeom>
          <a:noFill/>
          <a:ln/>
        </p:spPr>
        <p:txBody>
          <a:bodyPr wrap="square" lIns="0" tIns="0" rIns="0" bIns="0" rtlCol="0" anchor="t"/>
          <a:lstStyle/>
          <a:p>
            <a:pPr indent="0" marL="0">
              <a:lnSpc>
                <a:spcPts val="2400"/>
              </a:lnSpc>
              <a:buNone/>
            </a:pPr>
            <a:r>
              <a:rPr lang="en-US" sz="1700" dirty="0">
                <a:solidFill>
                  <a:srgbClr val="141414"/>
                </a:solidFill>
                <a:latin typeface="Arial" pitchFamily="34" charset="0"/>
                <a:ea typeface="Arial" pitchFamily="34" charset="-122"/>
                <a:cs typeface="Arial" pitchFamily="34" charset="-120"/>
              </a:rPr>
              <a:t>API key in .env, and .env in .gitignore.</a:t>
            </a:r>
            <a:endParaRPr lang="en-US" sz="1700" dirty="0"/>
          </a:p>
        </p:txBody>
      </p:sp>
      <p:sp>
        <p:nvSpPr>
          <p:cNvPr id="11" name="Shape 9"/>
          <p:cNvSpPr/>
          <p:nvPr/>
        </p:nvSpPr>
        <p:spPr>
          <a:xfrm>
            <a:off x="786384" y="3841212"/>
            <a:ext cx="155448" cy="24140"/>
          </a:xfrm>
          <a:prstGeom prst="rect">
            <a:avLst/>
          </a:prstGeom>
          <a:solidFill>
            <a:srgbClr val="C0402A"/>
          </a:solidFill>
          <a:ln/>
        </p:spPr>
      </p:sp>
      <p:sp>
        <p:nvSpPr>
          <p:cNvPr id="12" name="Text 10"/>
          <p:cNvSpPr/>
          <p:nvPr/>
        </p:nvSpPr>
        <p:spPr>
          <a:xfrm>
            <a:off x="1097280" y="3672230"/>
            <a:ext cx="9246138" cy="474756"/>
          </a:xfrm>
          <a:prstGeom prst="rect">
            <a:avLst/>
          </a:prstGeom>
          <a:noFill/>
          <a:ln/>
        </p:spPr>
        <p:txBody>
          <a:bodyPr wrap="square" lIns="0" tIns="0" rIns="0" bIns="0" rtlCol="0" anchor="t"/>
          <a:lstStyle/>
          <a:p>
            <a:pPr indent="0" marL="0">
              <a:lnSpc>
                <a:spcPts val="2400"/>
              </a:lnSpc>
              <a:buNone/>
            </a:pPr>
            <a:r>
              <a:rPr lang="en-US" sz="1700" dirty="0">
                <a:solidFill>
                  <a:srgbClr val="141414"/>
                </a:solidFill>
                <a:latin typeface="Arial" pitchFamily="34" charset="0"/>
                <a:ea typeface="Arial" pitchFamily="34" charset="-122"/>
                <a:cs typeface="Arial" pitchFamily="34" charset="-120"/>
              </a:rPr>
              <a:t>Setup check returning READY, summary line submitted.</a:t>
            </a:r>
            <a:endParaRPr lang="en-US" sz="1700" dirty="0"/>
          </a:p>
        </p:txBody>
      </p:sp>
      <p:sp>
        <p:nvSpPr>
          <p:cNvPr id="13" name="Text 11"/>
          <p:cNvSpPr/>
          <p:nvPr/>
        </p:nvSpPr>
        <p:spPr>
          <a:xfrm>
            <a:off x="786384" y="4698187"/>
            <a:ext cx="9557034" cy="844906"/>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Workshop 1 starts with the pipeline, not with installation. Time spent on setup during the session is time taken from the labs.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Challenge 2026: Workshop 0</dc:title>
  <dc:subject>PptxGenJS Presentation</dc:subject>
  <dc:creator>Tam Wing Fan Innovation Wing</dc:creator>
  <cp:lastModifiedBy>Tam Wing Fan Innovation Wing</cp:lastModifiedBy>
  <cp:revision>1</cp:revision>
  <dcterms:created xsi:type="dcterms:W3CDTF">2026-09-07T08:42:44Z</dcterms:created>
  <dcterms:modified xsi:type="dcterms:W3CDTF">2026-09-07T08:42:44Z</dcterms:modified>
</cp:coreProperties>
</file>